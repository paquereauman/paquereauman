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répondent sur ardoise avant de cliquer. 1 bonne réponse = 1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dit un mot qui lui évoque le Maghreb ; on construit un nuage de mots au tableau. Puis formation de 3 équipes : Atlas, Sahara, Médina.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puis « Réponses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repérer les lignes 300 mm et 150 mm sur la carte.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Préciser qu'en dessous de 250 mm de précipitations, il n'y a plus d'agriculture possible (sans irrigation).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 tableau sur leur fiche, puis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Calaméo : https://www.calameo.com/read/000005419914424b872ed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http://fr.calameo.com/read/00000541937ce663e2326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http://fr.calameo.com/read/000005419fb38f20f0ef7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Cliquer sur chaque « ? » pour révéler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sensible : rappeler que l'immense majorité des musulmans rejette le terrorisme. Ne pas confondre islam et islamisme.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 laisser les élèves poser leurs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Bouazizi : vendeur ambulant de Sidi Bouzid.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distribuer les étiquettes dans le désordre, les équipes les remettent dans l'ordre.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 rouge : le Maghreb, carrefour entre l'Afrique, l'Orient et l'Europe.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indices un par un ; les équipes devinent. Cliquer sur une carte pour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Imprimer les étiquettes ; chaque équipe les classe. Puis cliquer pour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10', questions en binômes 15', correction collective 10'.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 sur chaque carte pour révéler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devinent lettre par lettre (pendu).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Médina → Vieille ville entourée de remparts ; Casbah → Citadelle, quartier fortifié ; Oasis → Point d'eau dans le désert ; Hammam → Bain de vapeur traditionnel ; Riad → Maison avec jardin intérieur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7.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 Id="rId4" Type="http://schemas.openxmlformats.org/officeDocument/2006/relationships/slide" Target="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 Id="rId4"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 Id="rId4" Type="http://schemas.openxmlformats.org/officeDocument/2006/relationships/slide" Target="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xml"/><Relationship Id="rId4" Type="http://schemas.openxmlformats.org/officeDocument/2006/relationships/slide" Target="slide38.xml"/><Relationship Id="rId5" Type="http://schemas.openxmlformats.org/officeDocument/2006/relationships/slide" Target="slide39.xml"/><Relationship Id="rId6" Type="http://schemas.openxmlformats.org/officeDocument/2006/relationships/slide" Target="slide99.xml"/><Relationship Id="rId7" Type="http://schemas.openxmlformats.org/officeDocument/2006/relationships/slide" Target="slide102.xml"/><Relationship Id="rId8" Type="http://schemas.openxmlformats.org/officeDocument/2006/relationships/slide" Target="slide119.xml"/><Relationship Id="rId9" Type="http://schemas.openxmlformats.org/officeDocument/2006/relationships/slide" Target="slide60.xml"/><Relationship Id="rId10" Type="http://schemas.openxmlformats.org/officeDocument/2006/relationships/slide" Target="slide140.xml"/><Relationship Id="rId11" Type="http://schemas.openxmlformats.org/officeDocument/2006/relationships/slide" Target="slide75.xml"/><Relationship Id="rId12" Type="http://schemas.openxmlformats.org/officeDocument/2006/relationships/slide" Target="slide88.xml"/><Relationship Id="rId13" Type="http://schemas.openxmlformats.org/officeDocument/2006/relationships/slide" Target="slide134.xml"/><Relationship Id="rId14" Type="http://schemas.openxmlformats.org/officeDocument/2006/relationships/slide" Target="slide141.xml"/><Relationship Id="rId15" Type="http://schemas.openxmlformats.org/officeDocument/2006/relationships/slide" Target="slide144.xml"/><Relationship Id="rId16" Type="http://schemas.openxmlformats.org/officeDocument/2006/relationships/slide" Target="slide146.xml"/><Relationship Id="rId17" Type="http://schemas.openxmlformats.org/officeDocument/2006/relationships/slide" Target="slide149.xml"/><Relationship Id="rId18" Type="http://schemas.openxmlformats.org/officeDocument/2006/relationships/slide" Target="slide15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slide" Target="slide37.xml"/><Relationship Id="rId5" Type="http://schemas.openxmlformats.org/officeDocument/2006/relationships/slide" Target="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slide" Target="slide37.xml"/><Relationship Id="rId5" Type="http://schemas.openxmlformats.org/officeDocument/2006/relationships/slide" Target="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37.xml"/><Relationship Id="rId4"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slide" Target="slide37.xml"/><Relationship Id="rId5"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37.xml"/><Relationship Id="rId4" Type="http://schemas.openxmlformats.org/officeDocument/2006/relationships/slide" Target="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37.xml"/><Relationship Id="rId4" Type="http://schemas.openxmlformats.org/officeDocument/2006/relationships/slide" Target="slide5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slide" Target="slide37.xml"/><Relationship Id="rId5" Type="http://schemas.openxmlformats.org/officeDocument/2006/relationships/slide" Target="slide5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37.xml"/><Relationship Id="rId4" Type="http://schemas.openxmlformats.org/officeDocument/2006/relationships/slide" Target="slide5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5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slide" Target="slide37.xml"/><Relationship Id="rId5" Type="http://schemas.openxmlformats.org/officeDocument/2006/relationships/slide" Target="slide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37.xml"/><Relationship Id="rId4" Type="http://schemas.openxmlformats.org/officeDocument/2006/relationships/slide" Target="slide6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6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37.xml"/><Relationship Id="rId4" Type="http://schemas.openxmlformats.org/officeDocument/2006/relationships/slide" Target="slide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slide" Target="slide37.xml"/><Relationship Id="rId4" Type="http://schemas.openxmlformats.org/officeDocument/2006/relationships/slide" Target="slide6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slide" Target="slide37.xml"/><Relationship Id="rId4" Type="http://schemas.openxmlformats.org/officeDocument/2006/relationships/slide" Target="slide7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slide" Target="slide37.xml"/><Relationship Id="rId4" Type="http://schemas.openxmlformats.org/officeDocument/2006/relationships/slide" Target="slide7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 Id="rId4" Type="http://schemas.openxmlformats.org/officeDocument/2006/relationships/slide" Target="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3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slide" Target="slide37.xml"/><Relationship Id="rId4" Type="http://schemas.openxmlformats.org/officeDocument/2006/relationships/slide" Target="slide7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37.xml"/><Relationship Id="rId4" Type="http://schemas.openxmlformats.org/officeDocument/2006/relationships/slide" Target="slide7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37.xml"/><Relationship Id="rId4" Type="http://schemas.openxmlformats.org/officeDocument/2006/relationships/slide" Target="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37.xml"/><Relationship Id="rId4" Type="http://schemas.openxmlformats.org/officeDocument/2006/relationships/slide" Target="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37.xml"/><Relationship Id="rId4" Type="http://schemas.openxmlformats.org/officeDocument/2006/relationships/slide" Target="slide8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37.xml"/><Relationship Id="rId4" Type="http://schemas.openxmlformats.org/officeDocument/2006/relationships/slide" Target="slide8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3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9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3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3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9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9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37.xml"/><Relationship Id="rId5" Type="http://schemas.openxmlformats.org/officeDocument/2006/relationships/slide" Target="slide10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4.xml"/><Relationship Id="rId4" Type="http://schemas.openxmlformats.org/officeDocument/2006/relationships/slide" Target="slide10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6.xml"/><Relationship Id="rId4" Type="http://schemas.openxmlformats.org/officeDocument/2006/relationships/slide" Target="slide10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0.xml"/><Relationship Id="rId4" Type="http://schemas.openxmlformats.org/officeDocument/2006/relationships/slide" Target="slide10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3.xml"/><Relationship Id="rId4" Type="http://schemas.openxmlformats.org/officeDocument/2006/relationships/slide" Target="slide11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6.xml"/><Relationship Id="rId4" Type="http://schemas.openxmlformats.org/officeDocument/2006/relationships/slide" Target="slide115.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3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slide" Target="slide37.xml"/><Relationship Id="rId4" Type="http://schemas.openxmlformats.org/officeDocument/2006/relationships/slide" Target="slide120.xml"/><Relationship Id="rId5" Type="http://schemas.openxmlformats.org/officeDocument/2006/relationships/slide" Target="slide122.xml"/><Relationship Id="rId6" Type="http://schemas.openxmlformats.org/officeDocument/2006/relationships/slide" Target="slide124.xml"/><Relationship Id="rId7" Type="http://schemas.openxmlformats.org/officeDocument/2006/relationships/slide" Target="slide126.xml"/><Relationship Id="rId8" Type="http://schemas.openxmlformats.org/officeDocument/2006/relationships/slide" Target="slide128.xml"/><Relationship Id="rId9" Type="http://schemas.openxmlformats.org/officeDocument/2006/relationships/slide" Target="slide13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slide" Target="slide37.xml"/><Relationship Id="rId4" Type="http://schemas.openxmlformats.org/officeDocument/2006/relationships/slide" Target="slide13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slide" Target="slide37.xml"/><Relationship Id="rId4" Type="http://schemas.openxmlformats.org/officeDocument/2006/relationships/slide" Target="slide13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37.xml"/><Relationship Id="rId4" Type="http://schemas.openxmlformats.org/officeDocument/2006/relationships/slide" Target="slide13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3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slide" Target="slide37.xml"/><Relationship Id="rId4" Type="http://schemas.openxmlformats.org/officeDocument/2006/relationships/slide" Target="slide13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3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slide" Target="slide37.xml"/><Relationship Id="rId4" Type="http://schemas.openxmlformats.org/officeDocument/2006/relationships/slide" Target="slide13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slide" Target="slide37.xml"/><Relationship Id="rId4" Type="http://schemas.openxmlformats.org/officeDocument/2006/relationships/slide" Target="slide14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4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slide" Target="slide37.xml"/><Relationship Id="rId4" Type="http://schemas.openxmlformats.org/officeDocument/2006/relationships/slide" Target="slide14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slide" Target="slide37.xml"/><Relationship Id="rId4" Type="http://schemas.openxmlformats.org/officeDocument/2006/relationships/slide" Target="slide14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slide" Target="slide3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slide" Target="slide3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Jeu d'ouverture : Devine où c'est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828800"/>
            <a:ext cx="10972800" cy="1371600"/>
          </a:xfrm>
          <a:prstGeom prst="rect">
            <a:avLst/>
          </a:prstGeom>
          <a:noFill/>
        </p:spPr>
        <p:txBody>
          <a:bodyPr wrap="square">
            <a:spAutoFit/>
          </a:bodyPr>
          <a:lstStyle/>
          <a:p>
            <a:pPr algn="ctr">
              <a:spcAft>
                <a:spcPts val="600"/>
              </a:spcAft>
              <a:defRPr sz="3000" b="1">
                <a:solidFill>
                  <a:srgbClr val="FFFFFF"/>
                </a:solidFill>
              </a:defRPr>
            </a:pPr>
            <a:r>
              <a:t>📸 Des photos vont apparaître…</a:t>
            </a:r>
          </a:p>
          <a:p>
            <a:pPr algn="ctr">
              <a:spcAft>
                <a:spcPts val="600"/>
              </a:spcAft>
              <a:defRPr sz="3000" b="1">
                <a:solidFill>
                  <a:srgbClr val="FFFFFF"/>
                </a:solidFill>
              </a:defRPr>
            </a:pPr>
            <a:r>
              <a:t>Devine : où est-ce ? qu'est-ce que c'est ?</a:t>
            </a:r>
          </a:p>
          <a:p>
            <a:pPr algn="ctr">
              <a:spcAft>
                <a:spcPts val="600"/>
              </a:spcAft>
              <a:defRPr sz="3000" b="1">
                <a:solidFill>
                  <a:srgbClr val="FFFFFF"/>
                </a:solidFill>
              </a:defRPr>
            </a:pPr>
            <a:r>
              <a:t>1 bonne réponse = 1 point pour ton équipe !</a:t>
            </a:r>
          </a:p>
        </p:txBody>
      </p:sp>
      <p:sp>
        <p:nvSpPr>
          <p:cNvPr id="35" name="Rounded Rectangle 34">
            <a:hlinkClick action="ppaction://hlinksldjump" r:id="rId4"/>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C'est parti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1/17 : Où se trouve le Maghreb sur cette carte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rcRect t="28653" b="2865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Encadré rouge, au nord-ouest de l'Afrique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Au Moyen-Orient</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En Europe du Sud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Encadré rouge, au nord-ouest de l'Afrique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548640" y="1371600"/>
            <a:ext cx="4788642" cy="4206240"/>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Encadré rouge, au nord-ouest de l'Afrique</a:t>
            </a:r>
          </a:p>
          <a:p>
            <a:pPr algn="l">
              <a:spcAft>
                <a:spcPts val="600"/>
              </a:spcAft>
              <a:defRPr sz="2000" b="0">
                <a:solidFill>
                  <a:srgbClr val="2B2B2B"/>
                </a:solidFill>
              </a:defRPr>
            </a:pPr>
          </a:p>
          <a:p>
            <a:pPr algn="l">
              <a:spcAft>
                <a:spcPts val="600"/>
              </a:spcAft>
              <a:defRPr sz="2000" b="0">
                <a:solidFill>
                  <a:srgbClr val="2B2B2B"/>
                </a:solidFill>
              </a:defRPr>
            </a:pPr>
            <a:r>
              <a:t>Le Maghreb est au nord-ouest de l'Afrique, face à l'Europe : seulement 14 km entre le Maroc et l'Espagne (détroit de Gibraltar) !</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2/17 : Où sommes-nous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yen-atlas.png"/>
          <p:cNvPicPr>
            <a:picLocks noChangeAspect="1"/>
          </p:cNvPicPr>
          <p:nvPr/>
        </p:nvPicPr>
        <p:blipFill>
          <a:blip r:embed="rId2"/>
          <a:srcRect t="11486" b="1148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Les Alpes suisses</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Moyen Atlas (Maroc)</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Les Pyrénées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Moyen Atlas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yen-atlas.png"/>
          <p:cNvPicPr>
            <a:picLocks noChangeAspect="1"/>
          </p:cNvPicPr>
          <p:nvPr/>
        </p:nvPicPr>
        <p:blipFill>
          <a:blip r:embed="rId2"/>
          <a:stretch>
            <a:fillRect/>
          </a:stretch>
        </p:blipFill>
        <p:spPr>
          <a:xfrm>
            <a:off x="548640" y="1371600"/>
            <a:ext cx="6400800" cy="3116179"/>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Moyen Atlas (Maroc)</a:t>
            </a:r>
          </a:p>
          <a:p>
            <a:pPr algn="l">
              <a:spcAft>
                <a:spcPts val="600"/>
              </a:spcAft>
              <a:defRPr sz="2000" b="0">
                <a:solidFill>
                  <a:srgbClr val="2B2B2B"/>
                </a:solidFill>
              </a:defRPr>
            </a:pPr>
          </a:p>
          <a:p>
            <a:pPr algn="l">
              <a:spcAft>
                <a:spcPts val="600"/>
              </a:spcAft>
              <a:defRPr sz="2000" b="0">
                <a:solidFill>
                  <a:srgbClr val="2B2B2B"/>
                </a:solidFill>
              </a:defRPr>
            </a:pPr>
            <a:r>
              <a:t>Le Moyen Atlas, près de Fès : montagnes vertes et villages.</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3/17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Couscous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Paella</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Couscous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Risotto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Couscous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Couscous</a:t>
            </a:r>
          </a:p>
          <a:p>
            <a:pPr algn="l">
              <a:spcAft>
                <a:spcPts val="600"/>
              </a:spcAft>
              <a:defRPr sz="2000" b="0">
                <a:solidFill>
                  <a:srgbClr val="2B2B2B"/>
                </a:solidFill>
              </a:defRPr>
            </a:pPr>
          </a:p>
          <a:p>
            <a:pPr algn="l">
              <a:spcAft>
                <a:spcPts val="600"/>
              </a:spcAft>
              <a:defRPr sz="2000" b="0">
                <a:solidFill>
                  <a:srgbClr val="2B2B2B"/>
                </a:solidFill>
              </a:defRPr>
            </a:pPr>
            <a:r>
              <a:t>Le couscous : plat à base de semoule de blé, inscrit au patrimoine de l'UNESCO (2020).</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4/17 : Où sommes-nous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Sahara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Sahara (Maroc)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Plage de Bretagne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Désert d'Atacama (Chili)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Sahara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Sahara (Maroc)</a:t>
            </a:r>
          </a:p>
          <a:p>
            <a:pPr algn="l">
              <a:spcAft>
                <a:spcPts val="600"/>
              </a:spcAft>
              <a:defRPr sz="2000" b="0">
                <a:solidFill>
                  <a:srgbClr val="2B2B2B"/>
                </a:solidFill>
              </a:defRPr>
            </a:pPr>
          </a:p>
          <a:p>
            <a:pPr algn="l">
              <a:spcAft>
                <a:spcPts val="600"/>
              </a:spcAft>
              <a:defRPr sz="2000" b="0">
                <a:solidFill>
                  <a:srgbClr val="2B2B2B"/>
                </a:solidFill>
              </a:defRPr>
            </a:pPr>
            <a:r>
              <a:t>Les dunes de l'Erg Chebbi, près de Merzouga : le Sahara marocain.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5/17 : Quelle est cette ville bleue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Chefchaouen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Santorin (Grèce)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Chefchaouen (Maroc)</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Venise (Italie)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Chefchaouen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Chefchaouen (Maroc)</a:t>
            </a:r>
          </a:p>
          <a:p>
            <a:pPr algn="l">
              <a:spcAft>
                <a:spcPts val="600"/>
              </a:spcAft>
              <a:defRPr sz="2000" b="0">
                <a:solidFill>
                  <a:srgbClr val="2B2B2B"/>
                </a:solidFill>
              </a:defRPr>
            </a:pPr>
          </a:p>
          <a:p>
            <a:pPr algn="l">
              <a:spcAft>
                <a:spcPts val="600"/>
              </a:spcAft>
              <a:defRPr sz="2000" b="0">
                <a:solidFill>
                  <a:srgbClr val="2B2B2B"/>
                </a:solidFill>
              </a:defRPr>
            </a:pPr>
            <a:r>
              <a:t>Chefchaouen, la « perle bleue » du Rif, au nord du Maroc.</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6/17 : Blanc et bleu… où est-ce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Sidi Bou Saïd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Sidi Bou Saïd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Nice (France)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Lisbonne (Portugal)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Sidi Bou Saïd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Sidi Bou Saïd (Tunisie)</a:t>
            </a:r>
          </a:p>
          <a:p>
            <a:pPr algn="l">
              <a:spcAft>
                <a:spcPts val="600"/>
              </a:spcAft>
              <a:defRPr sz="2000" b="0">
                <a:solidFill>
                  <a:srgbClr val="2B2B2B"/>
                </a:solidFill>
              </a:defRPr>
            </a:pPr>
          </a:p>
          <a:p>
            <a:pPr algn="l">
              <a:spcAft>
                <a:spcPts val="600"/>
              </a:spcAft>
              <a:defRPr sz="2000" b="0">
                <a:solidFill>
                  <a:srgbClr val="2B2B2B"/>
                </a:solidFill>
              </a:defRPr>
            </a:pPr>
            <a:r>
              <a:t>Sidi Bou Saïd, village blanc et bleu près de Tunis.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7/17 : Quelle est cette place célèbre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Place Jemaa el-Fna (Marrakech)</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Place Jemaa el-Fna (Marrakech)</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Place Rouge (Moscou)</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Times Square (New York)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Place Jemaa el-Fna (Marrakech)</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Place Jemaa el-Fna (Marrakech)</a:t>
            </a:r>
          </a:p>
          <a:p>
            <a:pPr algn="l">
              <a:spcAft>
                <a:spcPts val="600"/>
              </a:spcAft>
              <a:defRPr sz="2000" b="0">
                <a:solidFill>
                  <a:srgbClr val="2B2B2B"/>
                </a:solidFill>
              </a:defRPr>
            </a:pPr>
          </a:p>
          <a:p>
            <a:pPr algn="l">
              <a:spcAft>
                <a:spcPts val="600"/>
              </a:spcAft>
              <a:defRPr sz="2000" b="0">
                <a:solidFill>
                  <a:srgbClr val="2B2B2B"/>
                </a:solidFill>
              </a:defRPr>
            </a:pPr>
            <a:r>
              <a:t>Jemaa el-Fna, à Marrakech : conteurs, musiciens et marchés le soir.</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8/17 : Comment s'appelle ce plat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Tajine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Fondue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Tajine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Wok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Tajine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Tajine</a:t>
            </a:r>
          </a:p>
          <a:p>
            <a:pPr algn="l">
              <a:spcAft>
                <a:spcPts val="600"/>
              </a:spcAft>
              <a:defRPr sz="2000" b="0">
                <a:solidFill>
                  <a:srgbClr val="2B2B2B"/>
                </a:solidFill>
              </a:defRPr>
            </a:pPr>
          </a:p>
          <a:p>
            <a:pPr algn="l">
              <a:spcAft>
                <a:spcPts val="600"/>
              </a:spcAft>
              <a:defRPr sz="2000" b="0">
                <a:solidFill>
                  <a:srgbClr val="2B2B2B"/>
                </a:solidFill>
              </a:defRPr>
            </a:pPr>
            <a:r>
              <a:t>Le tajine : plat et cuisson à l'étouffée dans un pot en terre.</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9/17 : Quelle est cette vieille ville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La Casbah d'Alger (Algérie)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La Casbah d'Alger (Algérie)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Montmartre (Paris)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Caire (Égypte)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La Casbah d'Alger (Algérie)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La Casbah d'Alger (Algérie)</a:t>
            </a:r>
          </a:p>
          <a:p>
            <a:pPr algn="l">
              <a:spcAft>
                <a:spcPts val="600"/>
              </a:spcAft>
              <a:defRPr sz="2000" b="0">
                <a:solidFill>
                  <a:srgbClr val="2B2B2B"/>
                </a:solidFill>
              </a:defRPr>
            </a:pPr>
          </a:p>
          <a:p>
            <a:pPr algn="l">
              <a:spcAft>
                <a:spcPts val="600"/>
              </a:spcAft>
              <a:defRPr sz="2000" b="0">
                <a:solidFill>
                  <a:srgbClr val="2B2B2B"/>
                </a:solidFill>
              </a:defRPr>
            </a:pPr>
            <a:r>
              <a:t>La Casbah d'Alger, inscrite au patrimoine mondial de l'UNESCO.</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10/17 : Quelles sont ces montagnes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Hoggar (Algérie)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Les Alpes</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Hoggar (Algérie)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Les Rocheuses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Hoggar (Algérie)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Hoggar (Algérie)</a:t>
            </a:r>
          </a:p>
          <a:p>
            <a:pPr algn="l">
              <a:spcAft>
                <a:spcPts val="600"/>
              </a:spcAft>
              <a:defRPr sz="2000" b="0">
                <a:solidFill>
                  <a:srgbClr val="2B2B2B"/>
                </a:solidFill>
              </a:defRPr>
            </a:pPr>
          </a:p>
          <a:p>
            <a:pPr algn="l">
              <a:spcAft>
                <a:spcPts val="600"/>
              </a:spcAft>
              <a:defRPr sz="2000" b="0">
                <a:solidFill>
                  <a:srgbClr val="2B2B2B"/>
                </a:solidFill>
              </a:defRPr>
            </a:pPr>
            <a:r>
              <a:t>Le Hoggar, massif volcanique du Sahara algérien.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11/17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Une oasis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oasis</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Une forêt tropicale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jardin parisien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Une oasis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Une oasis</a:t>
            </a:r>
          </a:p>
          <a:p>
            <a:pPr algn="l">
              <a:spcAft>
                <a:spcPts val="600"/>
              </a:spcAft>
              <a:defRPr sz="2000" b="0">
                <a:solidFill>
                  <a:srgbClr val="2B2B2B"/>
                </a:solidFill>
              </a:defRPr>
            </a:pPr>
          </a:p>
          <a:p>
            <a:pPr algn="l">
              <a:spcAft>
                <a:spcPts val="600"/>
              </a:spcAft>
              <a:defRPr sz="2000" b="0">
                <a:solidFill>
                  <a:srgbClr val="2B2B2B"/>
                </a:solidFill>
              </a:defRPr>
            </a:pPr>
            <a:r>
              <a:t>Une oasis : îlot de verdure grâce à l'eau, avec des palmiers-dattiers.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12/17 : Quel est ce sommet enneigé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Toubkal (Haut Atlas,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Mont Blanc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Kilimandjaro</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Toubkal (Haut Atlas, Maroc)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Toubkal (Haut Atlas,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Toubkal (Haut Atlas, Maroc)</a:t>
            </a:r>
          </a:p>
          <a:p>
            <a:pPr algn="l">
              <a:spcAft>
                <a:spcPts val="600"/>
              </a:spcAft>
              <a:defRPr sz="2000" b="0">
                <a:solidFill>
                  <a:srgbClr val="2B2B2B"/>
                </a:solidFill>
              </a:defRPr>
            </a:pPr>
          </a:p>
          <a:p>
            <a:pPr algn="l">
              <a:spcAft>
                <a:spcPts val="600"/>
              </a:spcAft>
              <a:defRPr sz="2000" b="0">
                <a:solidFill>
                  <a:srgbClr val="2B2B2B"/>
                </a:solidFill>
              </a:defRPr>
            </a:pPr>
            <a:r>
              <a:t>Le Toubkal (4 167 m), plus haut sommet d'Afrique du Nord.</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13/17 : Quelle boisson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Thé à la menthe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Thé à la menthe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Café au lait</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Chocolat chaud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Thé à la menthe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Thé à la menthe</a:t>
            </a:r>
          </a:p>
          <a:p>
            <a:pPr algn="l">
              <a:spcAft>
                <a:spcPts val="600"/>
              </a:spcAft>
              <a:defRPr sz="2000" b="0">
                <a:solidFill>
                  <a:srgbClr val="2B2B2B"/>
                </a:solidFill>
              </a:defRPr>
            </a:pPr>
          </a:p>
          <a:p>
            <a:pPr algn="l">
              <a:spcAft>
                <a:spcPts val="600"/>
              </a:spcAft>
              <a:defRPr sz="2000" b="0">
                <a:solidFill>
                  <a:srgbClr val="2B2B2B"/>
                </a:solidFill>
              </a:defRPr>
            </a:pPr>
            <a:r>
              <a:t>Le thé à la menthe, symbole d'hospitalité au Maghreb.</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14/17 : Quel est ce monument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Grande Mosquée de Kairouan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Grande Mosquée de Kairouan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Notre-Dame de Paris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Taj Mahal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Grande Mosquée de Kairouan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Grande Mosquée de Kairouan (Tunisie)</a:t>
            </a:r>
          </a:p>
          <a:p>
            <a:pPr algn="l">
              <a:spcAft>
                <a:spcPts val="600"/>
              </a:spcAft>
              <a:defRPr sz="2000" b="0">
                <a:solidFill>
                  <a:srgbClr val="2B2B2B"/>
                </a:solidFill>
              </a:defRPr>
            </a:pPr>
          </a:p>
          <a:p>
            <a:pPr algn="l">
              <a:spcAft>
                <a:spcPts val="600"/>
              </a:spcAft>
              <a:defRPr sz="2000" b="0">
                <a:solidFill>
                  <a:srgbClr val="2B2B2B"/>
                </a:solidFill>
              </a:defRPr>
            </a:pPr>
            <a:r>
              <a:t>La Grande Mosquée de Kairouan, l'une des plus anciennes d'Afrique du Nord (VIIe–IXe 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15/17 : Quel est cet art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zellige (mosaïque)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 zellige (mosaïque)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vitrail</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graffiti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zellige (mosaïque)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zellige (mosaïque)</a:t>
            </a:r>
          </a:p>
          <a:p>
            <a:pPr algn="l">
              <a:spcAft>
                <a:spcPts val="600"/>
              </a:spcAft>
              <a:defRPr sz="2000" b="0">
                <a:solidFill>
                  <a:srgbClr val="2B2B2B"/>
                </a:solidFill>
              </a:defRPr>
            </a:pPr>
          </a:p>
          <a:p>
            <a:pPr algn="l">
              <a:spcAft>
                <a:spcPts val="600"/>
              </a:spcAft>
              <a:defRPr sz="2000" b="0">
                <a:solidFill>
                  <a:srgbClr val="2B2B2B"/>
                </a:solidFill>
              </a:defRPr>
            </a:pPr>
            <a:r>
              <a:t>Le zellige : mosaïque de petits carreaux d'argile émaillés, typique de l'art maghrébin (motifs géométriques, pas de figures humaines).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16/17 : Que voit-on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rcRect t="20216" b="2021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usine en France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 gisement de pétrole au Sahara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volcan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 gisement de pétrole au Sahara</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548640" y="1371600"/>
            <a:ext cx="6400800" cy="4029594"/>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 gisement de pétrole au Sahara</a:t>
            </a:r>
          </a:p>
          <a:p>
            <a:pPr algn="l">
              <a:spcAft>
                <a:spcPts val="600"/>
              </a:spcAft>
              <a:defRPr sz="2000" b="0">
                <a:solidFill>
                  <a:srgbClr val="2B2B2B"/>
                </a:solidFill>
              </a:defRPr>
            </a:pPr>
          </a:p>
          <a:p>
            <a:pPr algn="l">
              <a:spcAft>
                <a:spcPts val="600"/>
              </a:spcAft>
              <a:defRPr sz="2000" b="0">
                <a:solidFill>
                  <a:srgbClr val="2B2B2B"/>
                </a:solidFill>
              </a:defRPr>
            </a:pPr>
            <a:r>
              <a:t>Hassi Messaoud (Algérie) : le pétrole et le gaz sont la 1re richesse de l'Algérie.</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17/17 : Où est cet hôtel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rcRect t="18223" b="1822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Monastir (Tunisie)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Miami (USA)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Cannes (France)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Monastir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548640" y="1371600"/>
            <a:ext cx="6400800" cy="3776869"/>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Monastir (Tunisie)</a:t>
            </a:r>
          </a:p>
          <a:p>
            <a:pPr algn="l">
              <a:spcAft>
                <a:spcPts val="600"/>
              </a:spcAft>
              <a:defRPr sz="2000" b="0">
                <a:solidFill>
                  <a:srgbClr val="2B2B2B"/>
                </a:solidFill>
              </a:defRPr>
            </a:pPr>
          </a:p>
          <a:p>
            <a:pPr algn="l">
              <a:spcAft>
                <a:spcPts val="600"/>
              </a:spcAft>
              <a:defRPr sz="2000" b="0">
                <a:solidFill>
                  <a:srgbClr val="2B2B2B"/>
                </a:solidFill>
              </a:defRPr>
            </a:pPr>
            <a:r>
              <a:t>Monastir : le tourisme balnéaire est essentiel pour la Tunisie depuis les années 1960.</a:t>
            </a:r>
          </a:p>
        </p:txBody>
      </p:sp>
      <p:sp>
        <p:nvSpPr>
          <p:cNvPr id="35" name="Rounded Rectangle 34">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Menu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457200" y="137160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Devine où c'est ?  (15')</a:t>
            </a:r>
          </a:p>
        </p:txBody>
      </p:sp>
      <p:sp>
        <p:nvSpPr>
          <p:cNvPr id="34" name="Rounded Rectangle 33">
            <a:hlinkClick action="ppaction://hlinksldjump" r:id="rId4"/>
          </p:cNvPr>
          <p:cNvSpPr/>
          <p:nvPr/>
        </p:nvSpPr>
        <p:spPr>
          <a:xfrm>
            <a:off x="3291840" y="137160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Brise-glace  (10')</a:t>
            </a:r>
          </a:p>
        </p:txBody>
      </p:sp>
      <p:sp>
        <p:nvSpPr>
          <p:cNvPr id="35" name="Rounded Rectangle 34">
            <a:hlinkClick action="ppaction://hlinksldjump" r:id="rId5"/>
          </p:cNvPr>
          <p:cNvSpPr/>
          <p:nvPr/>
        </p:nvSpPr>
        <p:spPr>
          <a:xfrm>
            <a:off x="6126480" y="137160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 Carte d'identité &amp; relief  (30')</a:t>
            </a:r>
          </a:p>
        </p:txBody>
      </p:sp>
      <p:sp>
        <p:nvSpPr>
          <p:cNvPr id="36" name="Rounded Rectangle 35">
            <a:hlinkClick action="ppaction://hlinksldjump" r:id="rId6"/>
          </p:cNvPr>
          <p:cNvSpPr/>
          <p:nvPr/>
        </p:nvSpPr>
        <p:spPr>
          <a:xfrm>
            <a:off x="8961120" y="137160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C.O. Vidéo  (20')</a:t>
            </a:r>
          </a:p>
        </p:txBody>
      </p:sp>
      <p:sp>
        <p:nvSpPr>
          <p:cNvPr id="37" name="Rounded Rectangle 36">
            <a:hlinkClick action="ppaction://hlinksldjump" r:id="rId7"/>
          </p:cNvPr>
          <p:cNvSpPr/>
          <p:nvPr/>
        </p:nvSpPr>
        <p:spPr>
          <a:xfrm>
            <a:off x="457200" y="256032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 géo  (10')</a:t>
            </a:r>
          </a:p>
        </p:txBody>
      </p:sp>
      <p:sp>
        <p:nvSpPr>
          <p:cNvPr id="38" name="Rounded Rectangle 37">
            <a:hlinkClick action="ppaction://hlinksldjump" r:id="rId8"/>
          </p:cNvPr>
          <p:cNvSpPr/>
          <p:nvPr/>
        </p:nvSpPr>
        <p:spPr>
          <a:xfrm>
            <a:off x="3291840" y="256032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V. Histoire (3 000 ans)  (40')</a:t>
            </a:r>
          </a:p>
        </p:txBody>
      </p:sp>
      <p:sp>
        <p:nvSpPr>
          <p:cNvPr id="39" name="Rounded Rectangle 38">
            <a:hlinkClick action="ppaction://hlinksldjump" r:id="rId9"/>
          </p:cNvPr>
          <p:cNvSpPr/>
          <p:nvPr/>
        </p:nvSpPr>
        <p:spPr>
          <a:xfrm>
            <a:off x="6126480" y="256032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 Littoral &amp; intérieur  (30')</a:t>
            </a:r>
          </a:p>
        </p:txBody>
      </p:sp>
      <p:sp>
        <p:nvSpPr>
          <p:cNvPr id="40" name="Rounded Rectangle 39">
            <a:hlinkClick action="ppaction://hlinksldjump" r:id="rId10"/>
          </p:cNvPr>
          <p:cNvSpPr/>
          <p:nvPr/>
        </p:nvSpPr>
        <p:spPr>
          <a:xfrm>
            <a:off x="8961120" y="256032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Pause  (10')</a:t>
            </a:r>
          </a:p>
        </p:txBody>
      </p:sp>
      <p:sp>
        <p:nvSpPr>
          <p:cNvPr id="41" name="Rounded Rectangle 40">
            <a:hlinkClick action="ppaction://hlinksldjump" r:id="rId11"/>
          </p:cNvPr>
          <p:cNvSpPr/>
          <p:nvPr/>
        </p:nvSpPr>
        <p:spPr>
          <a:xfrm>
            <a:off x="457200" y="3749039"/>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III. Démographie &amp; émigration  (30')</a:t>
            </a:r>
          </a:p>
        </p:txBody>
      </p:sp>
      <p:sp>
        <p:nvSpPr>
          <p:cNvPr id="42" name="Rounded Rectangle 41">
            <a:hlinkClick action="ppaction://hlinksldjump" r:id="rId12"/>
          </p:cNvPr>
          <p:cNvSpPr/>
          <p:nvPr/>
        </p:nvSpPr>
        <p:spPr>
          <a:xfrm>
            <a:off x="3291840" y="3749039"/>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IV. Islam &amp; conflits  (30')</a:t>
            </a:r>
          </a:p>
        </p:txBody>
      </p:sp>
      <p:sp>
        <p:nvSpPr>
          <p:cNvPr id="43" name="Rounded Rectangle 42">
            <a:hlinkClick action="ppaction://hlinksldjump" r:id="rId13"/>
          </p:cNvPr>
          <p:cNvSpPr/>
          <p:nvPr/>
        </p:nvSpPr>
        <p:spPr>
          <a:xfrm>
            <a:off x="6126480" y="3749039"/>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C.E. B1 : 3 textes  (25')</a:t>
            </a:r>
          </a:p>
        </p:txBody>
      </p:sp>
      <p:sp>
        <p:nvSpPr>
          <p:cNvPr id="44" name="Rounded Rectangle 43">
            <a:hlinkClick action="ppaction://hlinksldjump" r:id="rId14"/>
          </p:cNvPr>
          <p:cNvSpPr/>
          <p:nvPr/>
        </p:nvSpPr>
        <p:spPr>
          <a:xfrm>
            <a:off x="8961120" y="3749039"/>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C.E. Yasmine  (20')</a:t>
            </a:r>
          </a:p>
        </p:txBody>
      </p:sp>
      <p:sp>
        <p:nvSpPr>
          <p:cNvPr id="45" name="Rounded Rectangle 44">
            <a:hlinkClick action="ppaction://hlinksldjump" r:id="rId15"/>
          </p:cNvPr>
          <p:cNvSpPr/>
          <p:nvPr/>
        </p:nvSpPr>
        <p:spPr>
          <a:xfrm>
            <a:off x="457200" y="493776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Cuisine &amp; culture  (10')</a:t>
            </a:r>
          </a:p>
        </p:txBody>
      </p:sp>
      <p:sp>
        <p:nvSpPr>
          <p:cNvPr id="46" name="Rounded Rectangle 45">
            <a:hlinkClick action="ppaction://hlinksldjump" r:id="rId16"/>
          </p:cNvPr>
          <p:cNvSpPr/>
          <p:nvPr/>
        </p:nvSpPr>
        <p:spPr>
          <a:xfrm>
            <a:off x="3291840" y="493776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Jeux de mots  (10')</a:t>
            </a:r>
          </a:p>
        </p:txBody>
      </p:sp>
      <p:sp>
        <p:nvSpPr>
          <p:cNvPr id="47" name="Rounded Rectangle 46">
            <a:hlinkClick action="ppaction://hlinksldjump" r:id="rId17"/>
          </p:cNvPr>
          <p:cNvSpPr/>
          <p:nvPr/>
        </p:nvSpPr>
        <p:spPr>
          <a:xfrm>
            <a:off x="6126480" y="493776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Défi final  (5')</a:t>
            </a:r>
          </a:p>
        </p:txBody>
      </p:sp>
      <p:sp>
        <p:nvSpPr>
          <p:cNvPr id="48" name="Rounded Rectangle 47">
            <a:hlinkClick action="ppaction://hlinksldjump" r:id="rId18"/>
          </p:cNvPr>
          <p:cNvSpPr/>
          <p:nvPr/>
        </p:nvSpPr>
        <p:spPr>
          <a:xfrm>
            <a:off x="8961120" y="493776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Bilan  (5')</a:t>
            </a:r>
          </a:p>
        </p:txBody>
      </p:sp>
      <p:sp>
        <p:nvSpPr>
          <p:cNvPr id="49" name="TextBox 48"/>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4 h 30 (3 à 4 séances)  •  Score des équipes au tableau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 Brise-glace : le Maghreb en 1 mot</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Tour de table : 1 mot, 1 image, 1 souvenir associé au Maghreb</a:t>
            </a:r>
          </a:p>
          <a:p>
            <a:pPr algn="l">
              <a:spcAft>
                <a:spcPts val="600"/>
              </a:spcAft>
              <a:defRPr sz="2200" b="0">
                <a:solidFill>
                  <a:srgbClr val="2B2B2B"/>
                </a:solidFill>
              </a:defRPr>
            </a:pPr>
            <a:r>
              <a:t>• On construit ensemble un nuage de mots au tableau ☁️</a:t>
            </a:r>
          </a:p>
          <a:p>
            <a:pPr algn="l">
              <a:spcAft>
                <a:spcPts val="600"/>
              </a:spcAft>
              <a:defRPr sz="2200" b="0">
                <a:solidFill>
                  <a:srgbClr val="2B2B2B"/>
                </a:solidFill>
              </a:defRPr>
            </a:pPr>
            <a:r>
              <a:t>• Formez 3 équipes : 🏔️ ATLAS  •  🏜️ SAHARA  •  🕌 MÉDINA</a:t>
            </a:r>
          </a:p>
          <a:p>
            <a:pPr algn="l">
              <a:spcAft>
                <a:spcPts val="600"/>
              </a:spcAft>
              <a:defRPr sz="2200" b="0">
                <a:solidFill>
                  <a:srgbClr val="2B2B2B"/>
                </a:solidFill>
              </a:defRPr>
            </a:pPr>
            <a:r>
              <a:t>• Chaque bonne réponse = 1 point — le score suit toute la séance !</a:t>
            </a:r>
          </a:p>
        </p:txBody>
      </p:sp>
      <p:sp>
        <p:nvSpPr>
          <p:cNvPr id="35" name="TextBox 34"/>
          <p:cNvSpPr txBox="1"/>
          <p:nvPr/>
        </p:nvSpPr>
        <p:spPr>
          <a:xfrm>
            <a:off x="640080" y="4937760"/>
            <a:ext cx="10972800" cy="914400"/>
          </a:xfrm>
          <a:prstGeom prst="rect">
            <a:avLst/>
          </a:prstGeom>
          <a:noFill/>
        </p:spPr>
        <p:txBody>
          <a:bodyPr wrap="square">
            <a:spAutoFit/>
          </a:bodyPr>
          <a:lstStyle/>
          <a:p>
            <a:pPr algn="l">
              <a:spcAft>
                <a:spcPts val="600"/>
              </a:spcAft>
              <a:defRPr sz="2000" b="1">
                <a:solidFill>
                  <a:srgbClr val="B84A1E"/>
                </a:solidFill>
              </a:defRPr>
            </a:pPr>
            <a:r>
              <a:t>« Maghreb » (المغرب) signifie en arabe : « le couchant », l'Occident — là où le soleil se couche.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Les autres paysages du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400" b="1">
                <a:solidFill>
                  <a:srgbClr val="1F4E79"/>
                </a:solidFill>
              </a:defRPr>
            </a:pPr>
            <a:r>
              <a:t>❓ Quels sont les autres massifs montagneux du Maghreb ?</a:t>
            </a:r>
          </a:p>
          <a:p>
            <a:pPr algn="l">
              <a:spcAft>
                <a:spcPts val="600"/>
              </a:spcAft>
              <a:defRPr sz="2400" b="1">
                <a:solidFill>
                  <a:srgbClr val="1F4E79"/>
                </a:solidFill>
              </a:defRPr>
            </a:pPr>
            <a:r>
              <a:t>❓ Par quoi se caractérise le littoral ?</a:t>
            </a:r>
          </a:p>
          <a:p>
            <a:pPr algn="l">
              <a:spcAft>
                <a:spcPts val="600"/>
              </a:spcAft>
              <a:defRPr sz="2400" b="1">
                <a:solidFill>
                  <a:srgbClr val="1F4E79"/>
                </a:solidFill>
              </a:defRPr>
            </a:pPr>
            <a:r>
              <a:t>❓ Qu'est-ce qui domine au Maghreb ?</a:t>
            </a:r>
          </a:p>
          <a:p>
            <a:pPr algn="l">
              <a:spcAft>
                <a:spcPts val="600"/>
              </a:spcAft>
              <a:defRPr sz="2400" b="1">
                <a:solidFill>
                  <a:srgbClr val="1F4E79"/>
                </a:solidFill>
              </a:defRPr>
            </a:pPr>
            <a:r>
              <a:t>❓ Comment se nomment les îlots de verdure dans le désert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222 :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2743200"/>
          </a:xfrm>
          <a:prstGeom prst="rect">
            <a:avLst/>
          </a:prstGeom>
          <a:noFill/>
        </p:spPr>
        <p:txBody>
          <a:bodyPr wrap="square">
            <a:spAutoFit/>
          </a:bodyPr>
          <a:lstStyle/>
          <a:p>
            <a:pPr algn="l">
              <a:spcAft>
                <a:spcPts val="600"/>
              </a:spcAft>
              <a:defRPr sz="2000" b="1">
                <a:solidFill>
                  <a:srgbClr val="1F4E79"/>
                </a:solidFill>
              </a:defRPr>
            </a:pPr>
            <a:r>
              <a:t>❓ Quel est le niveau des précipitations dans la région ?</a:t>
            </a:r>
          </a:p>
          <a:p>
            <a:pPr algn="l">
              <a:spcAft>
                <a:spcPts val="600"/>
              </a:spcAft>
              <a:defRPr sz="2000" b="1">
                <a:solidFill>
                  <a:srgbClr val="1F4E79"/>
                </a:solidFill>
              </a:defRPr>
            </a:pPr>
            <a:r>
              <a:t>❓ Où pleut-il le plus ?</a:t>
            </a:r>
          </a:p>
        </p:txBody>
      </p:sp>
      <p:sp>
        <p:nvSpPr>
          <p:cNvPr id="35" name="Rounded Rectangle 34">
            <a:hlinkClick action="ppaction://hlinksldjump" r:id="rId5"/>
          </p:cNvPr>
          <p:cNvSpPr/>
          <p:nvPr/>
        </p:nvSpPr>
        <p:spPr>
          <a:xfrm>
            <a:off x="6858000" y="3291840"/>
            <a:ext cx="237744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 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 des précipitations globalement faibles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200" b="0">
                <a:solidFill>
                  <a:srgbClr val="2B2B2B"/>
                </a:solidFill>
              </a:defRPr>
            </a:pPr>
            <a:r>
              <a:t>✅ Les précipitations sont globalement FAIBLES.</a:t>
            </a:r>
          </a:p>
          <a:p>
            <a:pPr algn="l">
              <a:spcAft>
                <a:spcPts val="600"/>
              </a:spcAft>
              <a:defRPr sz="2200" b="0">
                <a:solidFill>
                  <a:srgbClr val="2B2B2B"/>
                </a:solidFill>
              </a:defRPr>
            </a:pPr>
            <a:r>
              <a:t>• Plus de 300 mm/an seulement sur une étroite bande au nord (littoral, Atlas).</a:t>
            </a:r>
          </a:p>
          <a:p>
            <a:pPr algn="l">
              <a:spcAft>
                <a:spcPts val="600"/>
              </a:spcAft>
              <a:defRPr sz="2200" b="0">
                <a:solidFill>
                  <a:srgbClr val="2B2B2B"/>
                </a:solidFill>
              </a:defRPr>
            </a:pPr>
            <a:r>
              <a:t>• Moins de 150 mm/an dans le Sahara : un climat désertique.</a:t>
            </a:r>
          </a:p>
          <a:p>
            <a:pPr algn="l">
              <a:spcAft>
                <a:spcPts val="600"/>
              </a:spcAft>
              <a:defRPr sz="2200" b="0">
                <a:solidFill>
                  <a:srgbClr val="2B2B2B"/>
                </a:solidFill>
              </a:defRPr>
            </a:pPr>
            <a:r>
              <a:t>💡 Comparaison : Paris reçoit environ 640 mm de pluie par 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3657600"/>
          </a:xfrm>
          <a:prstGeom prst="rect">
            <a:avLst/>
          </a:prstGeom>
          <a:noFill/>
        </p:spPr>
        <p:txBody>
          <a:bodyPr wrap="square">
            <a:spAutoFit/>
          </a:bodyPr>
          <a:lstStyle/>
          <a:p>
            <a:pPr algn="l">
              <a:spcAft>
                <a:spcPts val="600"/>
              </a:spcAft>
              <a:defRPr sz="2400" b="1">
                <a:solidFill>
                  <a:srgbClr val="1F4E79"/>
                </a:solidFill>
              </a:defRPr>
            </a:pPr>
            <a:r>
              <a:t>❓ Cette faiblesse des précipitations est-elle généralisée ?</a:t>
            </a:r>
          </a:p>
          <a:p>
            <a:pPr algn="l">
              <a:spcAft>
                <a:spcPts val="600"/>
              </a:spcAft>
              <a:defRPr sz="2400" b="1">
                <a:solidFill>
                  <a:srgbClr val="1F4E79"/>
                </a:solidFill>
              </a:defRPr>
            </a:pPr>
            <a:r>
              <a:t>❓ Lesquelles des régions sont plus arrosées ?</a:t>
            </a:r>
          </a:p>
          <a:p>
            <a:pPr algn="l">
              <a:spcAft>
                <a:spcPts val="600"/>
              </a:spcAft>
              <a:defRPr sz="2400" b="1">
                <a:solidFill>
                  <a:srgbClr val="1F4E79"/>
                </a:solidFill>
              </a:defRPr>
            </a:pPr>
            <a:r>
              <a:t>❓ Quels sont les climats du Maghreb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Complète le tableau</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28800" y="2606040"/>
            <a:ext cx="8503920" cy="640080"/>
          </a:xfrm>
          <a:prstGeom prst="rect">
            <a:avLst/>
          </a:prstGeom>
          <a:noFill/>
        </p:spPr>
        <p:txBody>
          <a:bodyPr wrap="square">
            <a:spAutoFit/>
          </a:bodyPr>
          <a:lstStyle/>
          <a:p>
            <a:pPr algn="ctr">
              <a:spcAft>
                <a:spcPts val="600"/>
              </a:spcAft>
              <a:defRPr sz="2200" b="0">
                <a:solidFill>
                  <a:srgbClr val="2B2B2B"/>
                </a:solidFill>
              </a:defRPr>
            </a:pPr>
            <a:r>
              <a:t>1. ……………………</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28800" y="3703320"/>
            <a:ext cx="8503920" cy="640080"/>
          </a:xfrm>
          <a:prstGeom prst="rect">
            <a:avLst/>
          </a:prstGeom>
          <a:noFill/>
        </p:spPr>
        <p:txBody>
          <a:bodyPr wrap="square">
            <a:spAutoFit/>
          </a:bodyPr>
          <a:lstStyle/>
          <a:p>
            <a:pPr algn="ctr">
              <a:spcAft>
                <a:spcPts val="600"/>
              </a:spcAft>
              <a:defRPr sz="2200" b="0">
                <a:solidFill>
                  <a:srgbClr val="2B2B2B"/>
                </a:solidFill>
              </a:defRPr>
            </a:pPr>
            <a:r>
              <a:t>2. ……………………</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28800" y="4800600"/>
            <a:ext cx="8503920" cy="640080"/>
          </a:xfrm>
          <a:prstGeom prst="rect">
            <a:avLst/>
          </a:prstGeom>
          <a:noFill/>
        </p:spPr>
        <p:txBody>
          <a:bodyPr wrap="square">
            <a:spAutoFit/>
          </a:bodyPr>
          <a:lstStyle/>
          <a:p>
            <a:pPr algn="ctr">
              <a:spcAft>
                <a:spcPts val="600"/>
              </a:spcAft>
              <a:defRPr sz="2200" b="0">
                <a:solidFill>
                  <a:srgbClr val="2B2B2B"/>
                </a:solidFill>
              </a:defRPr>
            </a:pPr>
            <a:r>
              <a:t>3. ……………………</a:t>
            </a:r>
          </a:p>
        </p:txBody>
      </p:sp>
      <p:sp>
        <p:nvSpPr>
          <p:cNvPr id="41" name="Rounded Rectangle 40">
            <a:hlinkClick action="ppaction://hlinksldjump" r:id="rId4"/>
          </p:cNvPr>
          <p:cNvSpPr/>
          <p:nvPr/>
        </p:nvSpPr>
        <p:spPr>
          <a:xfrm>
            <a:off x="8595360" y="5760720"/>
            <a:ext cx="256032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tableau</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Maghreb 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645920"/>
            <a:ext cx="10972800" cy="3657600"/>
          </a:xfrm>
          <a:prstGeom prst="rect">
            <a:avLst/>
          </a:prstGeom>
          <a:noFill/>
        </p:spPr>
        <p:txBody>
          <a:bodyPr wrap="square">
            <a:spAutoFit/>
          </a:bodyPr>
          <a:lstStyle/>
          <a:p>
            <a:pPr algn="l">
              <a:spcAft>
                <a:spcPts val="600"/>
              </a:spcAft>
              <a:defRPr sz="2400" b="0">
                <a:solidFill>
                  <a:srgbClr val="2B2B2B"/>
                </a:solidFill>
              </a:defRPr>
            </a:pPr>
            <a:r>
              <a:t>✅ La religion musulmane (islam) domine.</a:t>
            </a:r>
          </a:p>
          <a:p>
            <a:pPr algn="l">
              <a:spcAft>
                <a:spcPts val="600"/>
              </a:spcAft>
              <a:defRPr sz="2400" b="0">
                <a:solidFill>
                  <a:srgbClr val="2B2B2B"/>
                </a:solidFill>
              </a:defRPr>
            </a:pPr>
            <a:r>
              <a:t>✅ Depuis les VIIe–VIIIe siècles, avec les conquêtes arabo-musulmanes.</a:t>
            </a:r>
          </a:p>
          <a:p>
            <a:pPr algn="l">
              <a:spcAft>
                <a:spcPts val="600"/>
              </a:spcAft>
              <a:defRPr sz="2400" b="0">
                <a:solidFill>
                  <a:srgbClr val="2B2B2B"/>
                </a:solidFill>
              </a:defRPr>
            </a:pPr>
            <a:r>
              <a:t>🕋 Lieux saints de l'islam : La Mecque et Médine (Arabie saoudite).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Quels sont les deux peuples présents au Maghreb ?</a:t>
            </a:r>
          </a:p>
          <a:p>
            <a:pPr algn="l">
              <a:spcAft>
                <a:spcPts val="600"/>
              </a:spcAft>
              <a:defRPr sz="2000" b="0">
                <a:solidFill>
                  <a:srgbClr val="2B2B2B"/>
                </a:solidFill>
              </a:defRPr>
            </a:pPr>
            <a:r>
              <a:t>• 2. Où habitent les Berbères ? Cite 2 pays et 3 régions.</a:t>
            </a:r>
          </a:p>
          <a:p>
            <a:pPr algn="l">
              <a:spcAft>
                <a:spcPts val="600"/>
              </a:spcAft>
              <a:defRPr sz="2000" b="0">
                <a:solidFill>
                  <a:srgbClr val="2B2B2B"/>
                </a:solidFill>
              </a:defRPr>
            </a:pPr>
            <a:r>
              <a:t>• 3. Vrai/Faux : les Berbères ne parlent que le berbère. Justifie avec le texte.</a:t>
            </a:r>
          </a:p>
          <a:p>
            <a:pPr algn="l">
              <a:spcAft>
                <a:spcPts val="600"/>
              </a:spcAft>
              <a:defRPr sz="2000" b="0">
                <a:solidFill>
                  <a:srgbClr val="2B2B2B"/>
                </a:solidFill>
              </a:defRPr>
            </a:pPr>
            <a:r>
              <a:t>• 4. Quelle langue parle-t-on dans les villes ? Quelle exception ?</a:t>
            </a:r>
          </a:p>
          <a:p>
            <a:pPr algn="l">
              <a:spcAft>
                <a:spcPts val="600"/>
              </a:spcAft>
              <a:defRPr sz="2000" b="0">
                <a:solidFill>
                  <a:srgbClr val="2B2B2B"/>
                </a:solidFill>
              </a:defRPr>
            </a:pPr>
            <a:r>
              <a:t>• 5. Qu'est-ce que le « burnous » ?</a:t>
            </a:r>
          </a:p>
          <a:p>
            <a:pPr algn="l">
              <a:spcAft>
                <a:spcPts val="600"/>
              </a:spcAft>
              <a:defRPr sz="2000" b="0">
                <a:solidFill>
                  <a:srgbClr val="2B2B2B"/>
                </a:solidFill>
              </a:defRPr>
            </a:pPr>
            <a:r>
              <a:t>• 6. Quel est « le plat le plus prestigieux » ? De quoi est-il fait ?</a:t>
            </a:r>
          </a:p>
          <a:p>
            <a:pPr algn="l">
              <a:spcAft>
                <a:spcPts val="600"/>
              </a:spcAft>
              <a:defRPr sz="2000" b="0">
                <a:solidFill>
                  <a:srgbClr val="2B2B2B"/>
                </a:solidFill>
              </a:defRPr>
            </a:pPr>
            <a:r>
              <a:t>• 7. Qui est l'auteur ? En quelle année ?</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5 p. 221 : les Arabes et les Berbères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abes-berberes.png"/>
          <p:cNvPicPr>
            <a:picLocks noChangeAspect="1"/>
          </p:cNvPicPr>
          <p:nvPr/>
        </p:nvPicPr>
        <p:blipFill>
          <a:blip r:embed="rId3"/>
          <a:stretch>
            <a:fillRect/>
          </a:stretch>
        </p:blipFill>
        <p:spPr>
          <a:xfrm>
            <a:off x="457200" y="1280160"/>
            <a:ext cx="5662507" cy="5029200"/>
          </a:xfrm>
          <a:prstGeom prst="rect">
            <a:avLst/>
          </a:prstGeom>
        </p:spPr>
      </p:pic>
      <p:sp>
        <p:nvSpPr>
          <p:cNvPr id="34" name="TextBox 33"/>
          <p:cNvSpPr txBox="1"/>
          <p:nvPr/>
        </p:nvSpPr>
        <p:spPr>
          <a:xfrm>
            <a:off x="6949440" y="1371600"/>
            <a:ext cx="4846320" cy="4114800"/>
          </a:xfrm>
          <a:prstGeom prst="rect">
            <a:avLst/>
          </a:prstGeom>
          <a:noFill/>
        </p:spPr>
        <p:txBody>
          <a:bodyPr wrap="square">
            <a:spAutoFit/>
          </a:bodyPr>
          <a:lstStyle/>
          <a:p>
            <a:pPr algn="l">
              <a:spcAft>
                <a:spcPts val="600"/>
              </a:spcAft>
              <a:defRPr sz="1900" b="1">
                <a:solidFill>
                  <a:srgbClr val="1F4E79"/>
                </a:solidFill>
              </a:defRPr>
            </a:pPr>
            <a:r>
              <a:t>❓ Où vivent les arabophones ?</a:t>
            </a:r>
          </a:p>
          <a:p>
            <a:pPr algn="l">
              <a:spcAft>
                <a:spcPts val="600"/>
              </a:spcAft>
              <a:defRPr sz="1900" b="1">
                <a:solidFill>
                  <a:srgbClr val="1F4E79"/>
                </a:solidFill>
              </a:defRPr>
            </a:pPr>
            <a:r>
              <a:t>❓ Où vivent les berbérophones ?</a:t>
            </a:r>
          </a:p>
          <a:p>
            <a:pPr algn="l">
              <a:spcAft>
                <a:spcPts val="600"/>
              </a:spcAft>
              <a:defRPr sz="1900" b="1">
                <a:solidFill>
                  <a:srgbClr val="1F4E79"/>
                </a:solidFill>
              </a:defRPr>
            </a:pPr>
            <a:r>
              <a:t>❓ Quelle part de la population parle berbère au Maroc ? en Algérie ?</a:t>
            </a:r>
          </a:p>
          <a:p>
            <a:pPr algn="l">
              <a:spcAft>
                <a:spcPts val="600"/>
              </a:spcAft>
              <a:defRPr sz="1900" b="1">
                <a:solidFill>
                  <a:srgbClr val="1F4E79"/>
                </a:solidFill>
              </a:defRPr>
            </a:pPr>
            <a:r>
              <a:t>❓ Pourquoi le Sahara est-il presque vide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Arabes et Berbères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463040"/>
            <a:ext cx="10972800" cy="4846320"/>
          </a:xfrm>
          <a:prstGeom prst="rect">
            <a:avLst/>
          </a:prstGeom>
          <a:noFill/>
        </p:spPr>
        <p:txBody>
          <a:bodyPr wrap="square">
            <a:spAutoFit/>
          </a:bodyPr>
          <a:lstStyle/>
          <a:p>
            <a:pPr algn="l">
              <a:spcAft>
                <a:spcPts val="600"/>
              </a:spcAft>
              <a:defRPr sz="2000" b="0">
                <a:solidFill>
                  <a:srgbClr val="2B2B2B"/>
                </a:solidFill>
              </a:defRPr>
            </a:pPr>
            <a:r>
              <a:t>• Arabophones : plaines littorales et villes (Casablanca, Rabat, Alger, Oran, Tunis).</a:t>
            </a:r>
          </a:p>
          <a:p>
            <a:pPr algn="l">
              <a:spcAft>
                <a:spcPts val="600"/>
              </a:spcAft>
              <a:defRPr sz="2000" b="0">
                <a:solidFill>
                  <a:srgbClr val="2B2B2B"/>
                </a:solidFill>
              </a:defRPr>
            </a:pPr>
            <a:r>
              <a:t>• Berbérophones : surtout dans les montagnes (Rif, Atlas, Kabylie, Aurès) et autour d'Agadir.</a:t>
            </a:r>
          </a:p>
          <a:p>
            <a:pPr algn="l">
              <a:spcAft>
                <a:spcPts val="600"/>
              </a:spcAft>
              <a:defRPr sz="2000" b="0">
                <a:solidFill>
                  <a:srgbClr val="2B2B2B"/>
                </a:solidFill>
              </a:defRPr>
            </a:pPr>
            <a:r>
              <a:t>• Berbérophones : environ 33 % au Maroc et 25 % en Algérie (très peu en Tunisie).</a:t>
            </a:r>
          </a:p>
          <a:p>
            <a:pPr algn="l">
              <a:spcAft>
                <a:spcPts val="600"/>
              </a:spcAft>
              <a:defRPr sz="2000" b="0">
                <a:solidFill>
                  <a:srgbClr val="2B2B2B"/>
                </a:solidFill>
              </a:defRPr>
            </a:pPr>
            <a:r>
              <a:t>• Le Sahara : moins de 10 hab/km², car le climat désertique y rend la vie difficile.</a:t>
            </a:r>
          </a:p>
          <a:p>
            <a:pPr algn="l">
              <a:spcAft>
                <a:spcPts val="600"/>
              </a:spcAft>
              <a:defRPr sz="2000" b="0">
                <a:solidFill>
                  <a:srgbClr val="2B2B2B"/>
                </a:solidFill>
              </a:defRPr>
            </a:pPr>
            <a:r>
              <a:t>• ➡️ Les Berbères sont le peuple d'origine ; les Arabes sont arrivés avec l'islam (VIIe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Trace écrite — B/ Le monde arabo-musulman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828800"/>
            <a:ext cx="11064240" cy="292608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2011680"/>
            <a:ext cx="10515600" cy="2743200"/>
          </a:xfrm>
          <a:prstGeom prst="rect">
            <a:avLst/>
          </a:prstGeom>
          <a:noFill/>
        </p:spPr>
        <p:txBody>
          <a:bodyPr wrap="square">
            <a:spAutoFit/>
          </a:bodyPr>
          <a:lstStyle/>
          <a:p>
            <a:pPr algn="l">
              <a:spcAft>
                <a:spcPts val="600"/>
              </a:spcAft>
              <a:defRPr sz="2200" b="1">
                <a:solidFill>
                  <a:srgbClr val="1A2FC8"/>
                </a:solidFill>
              </a:defRPr>
            </a:pPr>
            <a:r>
              <a:t>✏️ Trace écrite :</a:t>
            </a:r>
          </a:p>
          <a:p>
            <a:pPr algn="l">
              <a:spcAft>
                <a:spcPts val="600"/>
              </a:spcAft>
              <a:defRPr sz="2200" b="1">
                <a:solidFill>
                  <a:srgbClr val="1A2FC8"/>
                </a:solidFill>
              </a:defRPr>
            </a:pPr>
            <a:r>
              <a:t>La population du Maghreb est composée majoritairement d'Arabes, mais les Berbères sont également nombreux.</a:t>
            </a:r>
          </a:p>
          <a:p>
            <a:pPr algn="l">
              <a:spcAft>
                <a:spcPts val="600"/>
              </a:spcAft>
              <a:defRPr sz="2200" b="1">
                <a:solidFill>
                  <a:srgbClr val="1A2FC8"/>
                </a:solidFill>
              </a:defRPr>
            </a:pPr>
            <a:r>
              <a:t>La religion de la majorité de la population est l'islam.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Un littoral plus attractif que l'intérieur</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2 : littoral et intérieur</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en quoi le littoral est-il le cœur économique du Maghreb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La répartition de la population   •   B/ Un littoral plus développé</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4 p. 223 : la répartition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partition.png"/>
          <p:cNvPicPr>
            <a:picLocks noChangeAspect="1"/>
          </p:cNvPicPr>
          <p:nvPr/>
        </p:nvPicPr>
        <p:blipFill>
          <a:blip r:embed="rId2"/>
          <a:stretch>
            <a:fillRect/>
          </a:stretch>
        </p:blipFill>
        <p:spPr>
          <a:xfrm>
            <a:off x="457200" y="1280160"/>
            <a:ext cx="6105832" cy="4937760"/>
          </a:xfrm>
          <a:prstGeom prst="rect">
            <a:avLst/>
          </a:prstGeom>
        </p:spPr>
      </p:pic>
      <p:sp>
        <p:nvSpPr>
          <p:cNvPr id="34" name="TextBox 33"/>
          <p:cNvSpPr txBox="1"/>
          <p:nvPr/>
        </p:nvSpPr>
        <p:spPr>
          <a:xfrm>
            <a:off x="6837351" y="1371600"/>
            <a:ext cx="5049848" cy="4206240"/>
          </a:xfrm>
          <a:prstGeom prst="rect">
            <a:avLst/>
          </a:prstGeom>
          <a:noFill/>
        </p:spPr>
        <p:txBody>
          <a:bodyPr wrap="square">
            <a:spAutoFit/>
          </a:bodyPr>
          <a:lstStyle/>
          <a:p>
            <a:pPr algn="l">
              <a:spcAft>
                <a:spcPts val="600"/>
              </a:spcAft>
              <a:defRPr sz="1800" b="1">
                <a:solidFill>
                  <a:srgbClr val="1F4E79"/>
                </a:solidFill>
              </a:defRPr>
            </a:pPr>
            <a:r>
              <a:t>❓ D'après cette carte, où se concentre la population du Maghreb ?</a:t>
            </a:r>
          </a:p>
          <a:p>
            <a:pPr algn="l">
              <a:spcAft>
                <a:spcPts val="600"/>
              </a:spcAft>
              <a:defRPr sz="1800" b="1">
                <a:solidFill>
                  <a:srgbClr val="1F4E79"/>
                </a:solidFill>
              </a:defRPr>
            </a:pPr>
            <a:r>
              <a:t>❓ Quelles sont les densités à l'intérieur du territoire ?</a:t>
            </a:r>
          </a:p>
          <a:p>
            <a:pPr algn="l">
              <a:spcAft>
                <a:spcPts val="600"/>
              </a:spcAft>
              <a:defRPr sz="1800" b="1">
                <a:solidFill>
                  <a:srgbClr val="1F4E79"/>
                </a:solidFill>
              </a:defRPr>
            </a:pPr>
            <a:r>
              <a:t>❓ Quelles sont les causes de cette répartition ?</a:t>
            </a:r>
          </a:p>
          <a:p>
            <a:pPr algn="l">
              <a:spcAft>
                <a:spcPts val="600"/>
              </a:spcAft>
              <a:defRPr sz="1800" b="1">
                <a:solidFill>
                  <a:srgbClr val="1F4E79"/>
                </a:solidFill>
              </a:defRPr>
            </a:pPr>
            <a:r>
              <a:t>❓ Où se situent les villes ? Quelles sont les plus importantes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 répartition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Sur le littoral.</a:t>
            </a:r>
          </a:p>
          <a:p>
            <a:pPr algn="l">
              <a:spcAft>
                <a:spcPts val="600"/>
              </a:spcAft>
              <a:defRPr sz="1900" b="0">
                <a:solidFill>
                  <a:srgbClr val="2B2B2B"/>
                </a:solidFill>
              </a:defRPr>
            </a:pPr>
            <a:r>
              <a:t>✅ Très faibles (moins de 10 hab/km²).</a:t>
            </a:r>
          </a:p>
          <a:p>
            <a:pPr algn="l">
              <a:spcAft>
                <a:spcPts val="600"/>
              </a:spcAft>
              <a:defRPr sz="1900" b="0">
                <a:solidFill>
                  <a:srgbClr val="2B2B2B"/>
                </a:solidFill>
              </a:defRPr>
            </a:pPr>
            <a:r>
              <a:t>✅ Le désert fait fuir les populations.</a:t>
            </a:r>
          </a:p>
          <a:p>
            <a:pPr algn="l">
              <a:spcAft>
                <a:spcPts val="600"/>
              </a:spcAft>
              <a:defRPr sz="1900" b="0">
                <a:solidFill>
                  <a:srgbClr val="2B2B2B"/>
                </a:solidFill>
              </a:defRPr>
            </a:pPr>
            <a:r>
              <a:t>✅ Sur le littoral : Casablanca, Rabat, Alger ; puis Agadir, Tanger, Oran, Tunis.</a:t>
            </a:r>
          </a:p>
          <a:p>
            <a:pPr algn="l">
              <a:spcAft>
                <a:spcPts val="600"/>
              </a:spcAft>
              <a:defRPr sz="1900" b="0">
                <a:solidFill>
                  <a:srgbClr val="2B2B2B"/>
                </a:solidFill>
              </a:defRPr>
            </a:pPr>
            <a:r>
              <a:t>✅ ✏️ Sur ta carte : place les zones de fortes densités et les villes, complète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territoire du Maghreb est principalement occupé par le désert, très faiblement peuplé. Au contraire, le Maghreb littoral regroupe 80 % de la population.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Doc. 3 p. 227 : un gisement pétrolier au Sahara (Hassi Messaoud)</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457200" y="1280160"/>
            <a:ext cx="6583680" cy="4144725"/>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Où a été prise la photographie ?</a:t>
            </a:r>
          </a:p>
          <a:p>
            <a:pPr algn="l">
              <a:spcAft>
                <a:spcPts val="600"/>
              </a:spcAft>
              <a:defRPr sz="1800" b="1">
                <a:solidFill>
                  <a:srgbClr val="1F4E79"/>
                </a:solidFill>
              </a:defRPr>
            </a:pPr>
            <a:r>
              <a:t>❓ Décris ce que tu vois.</a:t>
            </a:r>
          </a:p>
          <a:p>
            <a:pPr algn="l">
              <a:spcAft>
                <a:spcPts val="600"/>
              </a:spcAft>
              <a:defRPr sz="1800" b="1">
                <a:solidFill>
                  <a:srgbClr val="1F4E79"/>
                </a:solidFill>
              </a:defRPr>
            </a:pPr>
            <a:r>
              <a:t>❓ Que produit-on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un gisement pétrolier au Sahara (Hassi Messaoud)</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Au Sahara (Algérie).</a:t>
            </a:r>
          </a:p>
          <a:p>
            <a:pPr algn="l">
              <a:spcAft>
                <a:spcPts val="600"/>
              </a:spcAft>
              <a:defRPr sz="1900" b="0">
                <a:solidFill>
                  <a:srgbClr val="2B2B2B"/>
                </a:solidFill>
              </a:defRPr>
            </a:pPr>
            <a:r>
              <a:t>✅ Un gisement : torchères, réservoirs, fumées.</a:t>
            </a:r>
          </a:p>
          <a:p>
            <a:pPr algn="l">
              <a:spcAft>
                <a:spcPts val="600"/>
              </a:spcAft>
              <a:defRPr sz="1900" b="0">
                <a:solidFill>
                  <a:srgbClr val="2B2B2B"/>
                </a:solidFill>
              </a:defRPr>
            </a:pPr>
            <a:r>
              <a:t>✅ Du pétrole.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227 : les ressources intérieures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ssources.png"/>
          <p:cNvPicPr>
            <a:picLocks noChangeAspect="1"/>
          </p:cNvPicPr>
          <p:nvPr/>
        </p:nvPicPr>
        <p:blipFill>
          <a:blip r:embed="rId2"/>
          <a:stretch>
            <a:fillRect/>
          </a:stretch>
        </p:blipFill>
        <p:spPr>
          <a:xfrm>
            <a:off x="457200" y="1280160"/>
            <a:ext cx="4693920" cy="4937760"/>
          </a:xfrm>
          <a:prstGeom prst="rect">
            <a:avLst/>
          </a:prstGeom>
        </p:spPr>
      </p:pic>
      <p:sp>
        <p:nvSpPr>
          <p:cNvPr id="34" name="TextBox 33"/>
          <p:cNvSpPr txBox="1"/>
          <p:nvPr/>
        </p:nvSpPr>
        <p:spPr>
          <a:xfrm>
            <a:off x="5425440" y="1371600"/>
            <a:ext cx="6461760" cy="4206240"/>
          </a:xfrm>
          <a:prstGeom prst="rect">
            <a:avLst/>
          </a:prstGeom>
          <a:noFill/>
        </p:spPr>
        <p:txBody>
          <a:bodyPr wrap="square">
            <a:spAutoFit/>
          </a:bodyPr>
          <a:lstStyle/>
          <a:p>
            <a:pPr algn="l">
              <a:spcAft>
                <a:spcPts val="600"/>
              </a:spcAft>
              <a:defRPr sz="1800" b="1">
                <a:solidFill>
                  <a:srgbClr val="1F4E79"/>
                </a:solidFill>
              </a:defRPr>
            </a:pPr>
            <a:r>
              <a:t>❓ Quels sont les grands gisements de pétrole ?</a:t>
            </a:r>
          </a:p>
          <a:p>
            <a:pPr algn="l">
              <a:spcAft>
                <a:spcPts val="600"/>
              </a:spcAft>
              <a:defRPr sz="1800" b="1">
                <a:solidFill>
                  <a:srgbClr val="1F4E79"/>
                </a:solidFill>
              </a:defRPr>
            </a:pPr>
            <a:r>
              <a:t>❓ Quels sont les autres gisements ?</a:t>
            </a:r>
          </a:p>
          <a:p>
            <a:pPr algn="l">
              <a:spcAft>
                <a:spcPts val="600"/>
              </a:spcAft>
              <a:defRPr sz="1800" b="1">
                <a:solidFill>
                  <a:srgbClr val="1F4E79"/>
                </a:solidFill>
              </a:defRPr>
            </a:pPr>
            <a:r>
              <a:t>❓ Comment appelle-t-on ces deux produits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ressources intérieures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Hassi Messaoud et Edjeleh.</a:t>
            </a:r>
          </a:p>
          <a:p>
            <a:pPr algn="l">
              <a:spcAft>
                <a:spcPts val="600"/>
              </a:spcAft>
              <a:defRPr sz="1900" b="0">
                <a:solidFill>
                  <a:srgbClr val="2B2B2B"/>
                </a:solidFill>
              </a:defRPr>
            </a:pPr>
            <a:r>
              <a:t>✅ Les gisements de gaz, comme Hassi R'Mel.</a:t>
            </a:r>
          </a:p>
          <a:p>
            <a:pPr algn="l">
              <a:spcAft>
                <a:spcPts val="600"/>
              </a:spcAft>
              <a:defRPr sz="1900" b="0">
                <a:solidFill>
                  <a:srgbClr val="2B2B2B"/>
                </a:solidFill>
              </a:defRPr>
            </a:pPr>
            <a:r>
              <a:t>✅ Des HYDROCARBURES (pétrole + gaz). 📖 Copie la définition.</a:t>
            </a:r>
          </a:p>
          <a:p>
            <a:pPr algn="l">
              <a:spcAft>
                <a:spcPts val="600"/>
              </a:spcAft>
              <a:defRPr sz="1900" b="0">
                <a:solidFill>
                  <a:srgbClr val="2B2B2B"/>
                </a:solidFill>
              </a:defRPr>
            </a:pPr>
            <a:r>
              <a:t>✅ ✏️ Place les gisements de pétrole sur ta carte et complète la légende.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229 : le développement du littoral</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littoral.png"/>
          <p:cNvPicPr>
            <a:picLocks noChangeAspect="1"/>
          </p:cNvPicPr>
          <p:nvPr/>
        </p:nvPicPr>
        <p:blipFill>
          <a:blip r:embed="rId2"/>
          <a:stretch>
            <a:fillRect/>
          </a:stretch>
        </p:blipFill>
        <p:spPr>
          <a:xfrm>
            <a:off x="457200" y="1280160"/>
            <a:ext cx="5788685" cy="4937760"/>
          </a:xfrm>
          <a:prstGeom prst="rect">
            <a:avLst/>
          </a:prstGeom>
        </p:spPr>
      </p:pic>
      <p:sp>
        <p:nvSpPr>
          <p:cNvPr id="34" name="TextBox 33"/>
          <p:cNvSpPr txBox="1"/>
          <p:nvPr/>
        </p:nvSpPr>
        <p:spPr>
          <a:xfrm>
            <a:off x="6520205" y="1371600"/>
            <a:ext cx="5366995" cy="4206240"/>
          </a:xfrm>
          <a:prstGeom prst="rect">
            <a:avLst/>
          </a:prstGeom>
          <a:noFill/>
        </p:spPr>
        <p:txBody>
          <a:bodyPr wrap="square">
            <a:spAutoFit/>
          </a:bodyPr>
          <a:lstStyle/>
          <a:p>
            <a:pPr algn="l">
              <a:spcAft>
                <a:spcPts val="600"/>
              </a:spcAft>
              <a:defRPr sz="1800" b="1">
                <a:solidFill>
                  <a:srgbClr val="1F4E79"/>
                </a:solidFill>
              </a:defRPr>
            </a:pPr>
            <a:r>
              <a:t>❓ Que devient le pétrole extrait dans le désert ?</a:t>
            </a:r>
          </a:p>
          <a:p>
            <a:pPr algn="l">
              <a:spcAft>
                <a:spcPts val="600"/>
              </a:spcAft>
              <a:defRPr sz="1800" b="1">
                <a:solidFill>
                  <a:srgbClr val="1F4E79"/>
                </a:solidFill>
              </a:defRPr>
            </a:pPr>
            <a:r>
              <a:t>❓ Où se situent les régions industrielles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développement du littoral</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Il est surtout exporté vers l'Europe, et utilisé dans les centres industriels.</a:t>
            </a:r>
          </a:p>
          <a:p>
            <a:pPr algn="l">
              <a:spcAft>
                <a:spcPts val="600"/>
              </a:spcAft>
              <a:defRPr sz="1900" b="0">
                <a:solidFill>
                  <a:srgbClr val="2B2B2B"/>
                </a:solidFill>
              </a:defRPr>
            </a:pPr>
            <a:r>
              <a:t>✅ Sur le littoral : Casablanca, Oran-Arzew, Alger, Annaba, Tunis…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3 p. 229 : le complexe industriel d'Arzew</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zew.png"/>
          <p:cNvPicPr>
            <a:picLocks noChangeAspect="1"/>
          </p:cNvPicPr>
          <p:nvPr/>
        </p:nvPicPr>
        <p:blipFill>
          <a:blip r:embed="rId2"/>
          <a:stretch>
            <a:fillRect/>
          </a:stretch>
        </p:blipFill>
        <p:spPr>
          <a:xfrm>
            <a:off x="457200" y="1280160"/>
            <a:ext cx="3619301" cy="4937760"/>
          </a:xfrm>
          <a:prstGeom prst="rect">
            <a:avLst/>
          </a:prstGeom>
        </p:spPr>
      </p:pic>
      <p:sp>
        <p:nvSpPr>
          <p:cNvPr id="34" name="TextBox 33"/>
          <p:cNvSpPr txBox="1"/>
          <p:nvPr/>
        </p:nvSpPr>
        <p:spPr>
          <a:xfrm>
            <a:off x="4350821" y="1371600"/>
            <a:ext cx="7536378" cy="4206240"/>
          </a:xfrm>
          <a:prstGeom prst="rect">
            <a:avLst/>
          </a:prstGeom>
          <a:noFill/>
        </p:spPr>
        <p:txBody>
          <a:bodyPr wrap="square">
            <a:spAutoFit/>
          </a:bodyPr>
          <a:lstStyle/>
          <a:p>
            <a:pPr algn="l">
              <a:spcAft>
                <a:spcPts val="600"/>
              </a:spcAft>
              <a:defRPr sz="1800" b="1">
                <a:solidFill>
                  <a:srgbClr val="1F4E79"/>
                </a:solidFill>
              </a:defRPr>
            </a:pPr>
            <a:r>
              <a:t>❓ Où se situe Arzew ?</a:t>
            </a:r>
          </a:p>
          <a:p>
            <a:pPr algn="l">
              <a:spcAft>
                <a:spcPts val="600"/>
              </a:spcAft>
              <a:defRPr sz="1800" b="1">
                <a:solidFill>
                  <a:srgbClr val="1F4E79"/>
                </a:solidFill>
              </a:defRPr>
            </a:pPr>
            <a:r>
              <a:t>❓ Quelle est la surface de la zone industrielle ?</a:t>
            </a:r>
          </a:p>
          <a:p>
            <a:pPr algn="l">
              <a:spcAft>
                <a:spcPts val="600"/>
              </a:spcAft>
              <a:defRPr sz="1800" b="1">
                <a:solidFill>
                  <a:srgbClr val="1F4E79"/>
                </a:solidFill>
              </a:defRPr>
            </a:pPr>
            <a:r>
              <a:t>❓ Combien de personnes y travaillent ?</a:t>
            </a:r>
          </a:p>
          <a:p>
            <a:pPr algn="l">
              <a:spcAft>
                <a:spcPts val="600"/>
              </a:spcAft>
              <a:defRPr sz="1800" b="1">
                <a:solidFill>
                  <a:srgbClr val="1F4E79"/>
                </a:solidFill>
              </a:defRPr>
            </a:pPr>
            <a:r>
              <a:t>❓ Quelles sont les activités d'Arzew ?</a:t>
            </a:r>
          </a:p>
          <a:p>
            <a:pPr algn="l">
              <a:spcAft>
                <a:spcPts val="600"/>
              </a:spcAft>
              <a:defRPr sz="1800" b="1">
                <a:solidFill>
                  <a:srgbClr val="1F4E79"/>
                </a:solidFill>
              </a:defRPr>
            </a:pPr>
            <a:r>
              <a:t>❓ Comment s'appelle ce type de centre industriel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complexe industriel d'Arzew</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Au nord de l'Algérie, sur le littoral.</a:t>
            </a:r>
          </a:p>
          <a:p>
            <a:pPr algn="l">
              <a:spcAft>
                <a:spcPts val="600"/>
              </a:spcAft>
              <a:defRPr sz="1900" b="0">
                <a:solidFill>
                  <a:srgbClr val="2B2B2B"/>
                </a:solidFill>
              </a:defRPr>
            </a:pPr>
            <a:r>
              <a:t>✅ 1 500 hectares.</a:t>
            </a:r>
          </a:p>
          <a:p>
            <a:pPr algn="l">
              <a:spcAft>
                <a:spcPts val="600"/>
              </a:spcAft>
              <a:defRPr sz="1900" b="0">
                <a:solidFill>
                  <a:srgbClr val="2B2B2B"/>
                </a:solidFill>
              </a:defRPr>
            </a:pPr>
            <a:r>
              <a:t>✅ 10 000 travailleurs.</a:t>
            </a:r>
          </a:p>
          <a:p>
            <a:pPr algn="l">
              <a:spcAft>
                <a:spcPts val="600"/>
              </a:spcAft>
              <a:defRPr sz="1900" b="0">
                <a:solidFill>
                  <a:srgbClr val="2B2B2B"/>
                </a:solidFill>
              </a:defRPr>
            </a:pPr>
            <a:r>
              <a:t>✅ Raffinage du pétrole, liquéfaction du gaz, puis exportation (port d'Arzew + Bethioua).</a:t>
            </a:r>
          </a:p>
          <a:p>
            <a:pPr algn="l">
              <a:spcAft>
                <a:spcPts val="600"/>
              </a:spcAft>
              <a:defRPr sz="1900" b="0">
                <a:solidFill>
                  <a:srgbClr val="2B2B2B"/>
                </a:solidFill>
              </a:defRPr>
            </a:pPr>
            <a:r>
              <a:t>✅ Un COMPLEXE INDUSTRIALO-PORTUAIRE. 📖 Copie la définition.</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Si le désert possède d'importantes réserves en hydrocarbures, ceux-ci sont acheminés vers les ports d'exportation et vers les complexes industrialo-portuaires.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228 : le conditionnement des agrumes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grumes.png"/>
          <p:cNvPicPr>
            <a:picLocks noChangeAspect="1"/>
          </p:cNvPicPr>
          <p:nvPr/>
        </p:nvPicPr>
        <p:blipFill>
          <a:blip r:embed="rId2"/>
          <a:stretch>
            <a:fillRect/>
          </a:stretch>
        </p:blipFill>
        <p:spPr>
          <a:xfrm>
            <a:off x="457200" y="1280160"/>
            <a:ext cx="4608576" cy="4937760"/>
          </a:xfrm>
          <a:prstGeom prst="rect">
            <a:avLst/>
          </a:prstGeom>
        </p:spPr>
      </p:pic>
      <p:sp>
        <p:nvSpPr>
          <p:cNvPr id="34" name="TextBox 33"/>
          <p:cNvSpPr txBox="1"/>
          <p:nvPr/>
        </p:nvSpPr>
        <p:spPr>
          <a:xfrm>
            <a:off x="5340096" y="1371600"/>
            <a:ext cx="6547104" cy="4206240"/>
          </a:xfrm>
          <a:prstGeom prst="rect">
            <a:avLst/>
          </a:prstGeom>
          <a:noFill/>
        </p:spPr>
        <p:txBody>
          <a:bodyPr wrap="square">
            <a:spAutoFit/>
          </a:bodyPr>
          <a:lstStyle/>
          <a:p>
            <a:pPr algn="l">
              <a:spcAft>
                <a:spcPts val="600"/>
              </a:spcAft>
              <a:defRPr sz="1800" b="1">
                <a:solidFill>
                  <a:srgbClr val="1F4E79"/>
                </a:solidFill>
              </a:defRPr>
            </a:pPr>
            <a:r>
              <a:t>❓ Décris l'image.</a:t>
            </a:r>
          </a:p>
          <a:p>
            <a:pPr algn="l">
              <a:spcAft>
                <a:spcPts val="600"/>
              </a:spcAft>
              <a:defRPr sz="1800" b="1">
                <a:solidFill>
                  <a:srgbClr val="1F4E79"/>
                </a:solidFill>
              </a:defRPr>
            </a:pPr>
            <a:r>
              <a:t>❓ Dans quel pays cela se situe-t-il ?</a:t>
            </a:r>
          </a:p>
          <a:p>
            <a:pPr algn="l">
              <a:spcAft>
                <a:spcPts val="600"/>
              </a:spcAft>
              <a:defRPr sz="1800" b="1">
                <a:solidFill>
                  <a:srgbClr val="1F4E79"/>
                </a:solidFill>
              </a:defRPr>
            </a:pPr>
            <a:r>
              <a:t>❓ Quels sont les agrumes ?</a:t>
            </a:r>
          </a:p>
          <a:p>
            <a:pPr algn="l">
              <a:spcAft>
                <a:spcPts val="600"/>
              </a:spcAft>
              <a:defRPr sz="1800" b="1">
                <a:solidFill>
                  <a:srgbClr val="1F4E79"/>
                </a:solidFill>
              </a:defRPr>
            </a:pPr>
            <a:r>
              <a:t>❓ Qui sont les travailleurs ?</a:t>
            </a:r>
          </a:p>
          <a:p>
            <a:pPr algn="l">
              <a:spcAft>
                <a:spcPts val="600"/>
              </a:spcAft>
              <a:defRPr sz="1800" b="1">
                <a:solidFill>
                  <a:srgbClr val="1F4E79"/>
                </a:solidFill>
              </a:defRPr>
            </a:pPr>
            <a:r>
              <a:t>❓ Où se situent les régions agricoles ? Quelles autres activités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conditionnement des agrumes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Une usine de traitement des agrumes (sélection, emballage).</a:t>
            </a:r>
          </a:p>
          <a:p>
            <a:pPr algn="l">
              <a:spcAft>
                <a:spcPts val="600"/>
              </a:spcAft>
              <a:defRPr sz="1900" b="0">
                <a:solidFill>
                  <a:srgbClr val="2B2B2B"/>
                </a:solidFill>
              </a:defRPr>
            </a:pPr>
            <a:r>
              <a:t>✅ Au Maroc.</a:t>
            </a:r>
          </a:p>
          <a:p>
            <a:pPr algn="l">
              <a:spcAft>
                <a:spcPts val="600"/>
              </a:spcAft>
              <a:defRPr sz="1900" b="0">
                <a:solidFill>
                  <a:srgbClr val="2B2B2B"/>
                </a:solidFill>
              </a:defRPr>
            </a:pPr>
            <a:r>
              <a:t>✅ Des oranges.</a:t>
            </a:r>
          </a:p>
          <a:p>
            <a:pPr algn="l">
              <a:spcAft>
                <a:spcPts val="600"/>
              </a:spcAft>
              <a:defRPr sz="1900" b="0">
                <a:solidFill>
                  <a:srgbClr val="2B2B2B"/>
                </a:solidFill>
              </a:defRPr>
            </a:pPr>
            <a:r>
              <a:t>✅ Surtout des femmes, des ouvrières.</a:t>
            </a:r>
          </a:p>
          <a:p>
            <a:pPr algn="l">
              <a:spcAft>
                <a:spcPts val="600"/>
              </a:spcAft>
              <a:defRPr sz="1900" b="0">
                <a:solidFill>
                  <a:srgbClr val="2B2B2B"/>
                </a:solidFill>
              </a:defRPr>
            </a:pPr>
            <a:r>
              <a:t>✅ Dans les plaines littorales : grande céréaliculture, viticulture. ✏️ Ajoute « agriculture moderne » à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littoral est aussi une région agricole où l'on pratique une agriculture moderne pour l'exportation.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5 et 6 p. 229 : le tourisme en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457200" y="1280160"/>
            <a:ext cx="6583680" cy="3884780"/>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Quand est apparu le tourisme en Tunisie ?</a:t>
            </a:r>
          </a:p>
          <a:p>
            <a:pPr algn="l">
              <a:spcAft>
                <a:spcPts val="600"/>
              </a:spcAft>
              <a:defRPr sz="1800" b="1">
                <a:solidFill>
                  <a:srgbClr val="1F4E79"/>
                </a:solidFill>
              </a:defRPr>
            </a:pPr>
            <a:r>
              <a:t>❓ Qui sont les touristes ?</a:t>
            </a:r>
          </a:p>
          <a:p>
            <a:pPr algn="l">
              <a:spcAft>
                <a:spcPts val="600"/>
              </a:spcAft>
              <a:defRPr sz="1800" b="1">
                <a:solidFill>
                  <a:srgbClr val="1F4E79"/>
                </a:solidFill>
              </a:defRPr>
            </a:pPr>
            <a:r>
              <a:t>❓ Quelle place a le tourisme dans l'économie ?</a:t>
            </a:r>
          </a:p>
          <a:p>
            <a:pPr algn="l">
              <a:spcAft>
                <a:spcPts val="600"/>
              </a:spcAft>
              <a:defRPr sz="1800" b="1">
                <a:solidFill>
                  <a:srgbClr val="1F4E79"/>
                </a:solidFill>
              </a:defRPr>
            </a:pPr>
            <a:r>
              <a:t>❓ Qu'est-ce qui attire les touristes ? Comment viennent-ils ?</a:t>
            </a:r>
          </a:p>
          <a:p>
            <a:pPr algn="l">
              <a:spcAft>
                <a:spcPts val="600"/>
              </a:spcAft>
              <a:defRPr sz="1800" b="1">
                <a:solidFill>
                  <a:srgbClr val="1F4E79"/>
                </a:solidFill>
              </a:defRPr>
            </a:pPr>
            <a:r>
              <a:t>❓ Quelles sont les grandes stations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tourisme en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Dans les années 1960.</a:t>
            </a:r>
          </a:p>
          <a:p>
            <a:pPr algn="l">
              <a:spcAft>
                <a:spcPts val="600"/>
              </a:spcAft>
              <a:defRPr sz="1900" b="0">
                <a:solidFill>
                  <a:srgbClr val="2B2B2B"/>
                </a:solidFill>
              </a:defRPr>
            </a:pPr>
            <a:r>
              <a:t>✅ Les Européens, puis les Algériens et Libyens, et les Tunisiens eux-mêmes.</a:t>
            </a:r>
          </a:p>
          <a:p>
            <a:pPr algn="l">
              <a:spcAft>
                <a:spcPts val="600"/>
              </a:spcAft>
              <a:defRPr sz="1900" b="0">
                <a:solidFill>
                  <a:srgbClr val="2B2B2B"/>
                </a:solidFill>
              </a:defRPr>
            </a:pPr>
            <a:r>
              <a:t>✅ Une place importante (5e–6e rang méditerranéen).</a:t>
            </a:r>
          </a:p>
          <a:p>
            <a:pPr algn="l">
              <a:spcAft>
                <a:spcPts val="600"/>
              </a:spcAft>
              <a:defRPr sz="1900" b="0">
                <a:solidFill>
                  <a:srgbClr val="2B2B2B"/>
                </a:solidFill>
              </a:defRPr>
            </a:pPr>
            <a:r>
              <a:t>✅ Le soleil, la mer ; ils viennent en avion (aéroport nécessaire).</a:t>
            </a:r>
          </a:p>
          <a:p>
            <a:pPr algn="l">
              <a:spcAft>
                <a:spcPts val="600"/>
              </a:spcAft>
              <a:defRPr sz="1900" b="0">
                <a:solidFill>
                  <a:srgbClr val="2B2B2B"/>
                </a:solidFill>
              </a:defRPr>
            </a:pPr>
            <a:r>
              <a:t>✅ Hammamet et Monastir.</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les années 1960, le Maroc et la Tunisie se sont lancés dans l'activité touristique.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Les problèmes démographiques et sociaux</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3</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quels sont les problèmes du Maghreb d'aujourd'hui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Une population en augmentation   •   B/ Un foyer d'émigration vers l'Europe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1 p. 224 : l'évolution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evolution.png"/>
          <p:cNvPicPr>
            <a:picLocks noChangeAspect="1"/>
          </p:cNvPicPr>
          <p:nvPr/>
        </p:nvPicPr>
        <p:blipFill>
          <a:blip r:embed="rId2"/>
          <a:stretch>
            <a:fillRect/>
          </a:stretch>
        </p:blipFill>
        <p:spPr>
          <a:xfrm>
            <a:off x="457200" y="1280160"/>
            <a:ext cx="5523596" cy="4937760"/>
          </a:xfrm>
          <a:prstGeom prst="rect">
            <a:avLst/>
          </a:prstGeom>
        </p:spPr>
      </p:pic>
      <p:sp>
        <p:nvSpPr>
          <p:cNvPr id="34" name="TextBox 33"/>
          <p:cNvSpPr txBox="1"/>
          <p:nvPr/>
        </p:nvSpPr>
        <p:spPr>
          <a:xfrm>
            <a:off x="6255116" y="1371600"/>
            <a:ext cx="5632084" cy="4206240"/>
          </a:xfrm>
          <a:prstGeom prst="rect">
            <a:avLst/>
          </a:prstGeom>
          <a:noFill/>
        </p:spPr>
        <p:txBody>
          <a:bodyPr wrap="square">
            <a:spAutoFit/>
          </a:bodyPr>
          <a:lstStyle/>
          <a:p>
            <a:pPr algn="l">
              <a:spcAft>
                <a:spcPts val="600"/>
              </a:spcAft>
              <a:defRPr sz="1800" b="1">
                <a:solidFill>
                  <a:srgbClr val="1F4E79"/>
                </a:solidFill>
              </a:defRPr>
            </a:pPr>
            <a:r>
              <a:t>❓ Quelle est la population des trois pays en 2000 ?</a:t>
            </a:r>
          </a:p>
          <a:p>
            <a:pPr algn="l">
              <a:spcAft>
                <a:spcPts val="600"/>
              </a:spcAft>
              <a:defRPr sz="1800" b="1">
                <a:solidFill>
                  <a:srgbClr val="1F4E79"/>
                </a:solidFill>
              </a:defRPr>
            </a:pPr>
            <a:r>
              <a:t>❓ Comment a-t-elle évolué depuis 1950 ?</a:t>
            </a:r>
          </a:p>
          <a:p>
            <a:pPr algn="l">
              <a:spcAft>
                <a:spcPts val="600"/>
              </a:spcAft>
              <a:defRPr sz="1800" b="1">
                <a:solidFill>
                  <a:srgbClr val="1F4E79"/>
                </a:solidFill>
              </a:defRPr>
            </a:pPr>
            <a:r>
              <a:t>❓ 🎲 Défi calcul : par combien la population de l'Algérie a-t-elle été multipliée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l'évolution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Algérie : 31 M • Maroc : 30 M • Tunisie : 9,5 M.</a:t>
            </a:r>
          </a:p>
          <a:p>
            <a:pPr algn="l">
              <a:spcAft>
                <a:spcPts val="600"/>
              </a:spcAft>
              <a:defRPr sz="1900" b="0">
                <a:solidFill>
                  <a:srgbClr val="2B2B2B"/>
                </a:solidFill>
              </a:defRPr>
            </a:pPr>
            <a:r>
              <a:t>✅ Elle a fortement augmenté : environ × 3 en 50 ans.</a:t>
            </a:r>
          </a:p>
          <a:p>
            <a:pPr algn="l">
              <a:spcAft>
                <a:spcPts val="600"/>
              </a:spcAft>
              <a:defRPr sz="1900" b="0">
                <a:solidFill>
                  <a:srgbClr val="2B2B2B"/>
                </a:solidFill>
              </a:defRPr>
            </a:pPr>
            <a:r>
              <a:t>✅ 9 M → 31 M : environ × 3,4.</a:t>
            </a:r>
          </a:p>
          <a:p>
            <a:pPr algn="l">
              <a:spcAft>
                <a:spcPts val="600"/>
              </a:spcAft>
              <a:defRPr sz="1900" b="0">
                <a:solidFill>
                  <a:srgbClr val="2B2B2B"/>
                </a:solidFill>
              </a:defRPr>
            </a:pPr>
            <a:r>
              <a:t>✅ 💡 Aujourd'hui : Algérie ≈ 46 M, Maroc ≈ 37 M, Tunisie ≈ 12 M.</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compte environ 70 millions d'habitants (en 2000). La population a fortement augmenté depuis 50 ans.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2 p. 224 : de lourdes conséquences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nsequences.png"/>
          <p:cNvPicPr>
            <a:picLocks noChangeAspect="1"/>
          </p:cNvPicPr>
          <p:nvPr/>
        </p:nvPicPr>
        <p:blipFill>
          <a:blip r:embed="rId2"/>
          <a:stretch>
            <a:fillRect/>
          </a:stretch>
        </p:blipFill>
        <p:spPr>
          <a:xfrm>
            <a:off x="457200" y="1280160"/>
            <a:ext cx="2803310" cy="4937760"/>
          </a:xfrm>
          <a:prstGeom prst="rect">
            <a:avLst/>
          </a:prstGeom>
        </p:spPr>
      </p:pic>
      <p:sp>
        <p:nvSpPr>
          <p:cNvPr id="34" name="TextBox 33"/>
          <p:cNvSpPr txBox="1"/>
          <p:nvPr/>
        </p:nvSpPr>
        <p:spPr>
          <a:xfrm>
            <a:off x="3534830" y="1371600"/>
            <a:ext cx="8352369" cy="4206240"/>
          </a:xfrm>
          <a:prstGeom prst="rect">
            <a:avLst/>
          </a:prstGeom>
          <a:noFill/>
        </p:spPr>
        <p:txBody>
          <a:bodyPr wrap="square">
            <a:spAutoFit/>
          </a:bodyPr>
          <a:lstStyle/>
          <a:p>
            <a:pPr algn="l">
              <a:spcAft>
                <a:spcPts val="600"/>
              </a:spcAft>
              <a:defRPr sz="1800" b="1">
                <a:solidFill>
                  <a:srgbClr val="1F4E79"/>
                </a:solidFill>
              </a:defRPr>
            </a:pPr>
            <a:r>
              <a:t>❓ Évolution des effectifs scolaires algériens entre 1966 et 1988 ?</a:t>
            </a:r>
          </a:p>
          <a:p>
            <a:pPr algn="l">
              <a:spcAft>
                <a:spcPts val="600"/>
              </a:spcAft>
              <a:defRPr sz="1800" b="1">
                <a:solidFill>
                  <a:srgbClr val="1F4E79"/>
                </a:solidFill>
              </a:defRPr>
            </a:pPr>
            <a:r>
              <a:t>❓ Quelle part du budget de l'État va à l'éducation ?</a:t>
            </a:r>
          </a:p>
          <a:p>
            <a:pPr algn="l">
              <a:spcAft>
                <a:spcPts val="600"/>
              </a:spcAft>
              <a:defRPr sz="1800" b="1">
                <a:solidFill>
                  <a:srgbClr val="1F4E79"/>
                </a:solidFill>
              </a:defRPr>
            </a:pPr>
            <a:r>
              <a:t>❓ Tout le monde est-il scolarisé ? Dans quelles conditions ?</a:t>
            </a:r>
          </a:p>
          <a:p>
            <a:pPr algn="l">
              <a:spcAft>
                <a:spcPts val="600"/>
              </a:spcAft>
              <a:defRPr sz="1800" b="1">
                <a:solidFill>
                  <a:srgbClr val="1F4E79"/>
                </a:solidFill>
              </a:defRPr>
            </a:pPr>
            <a:r>
              <a:t>❓ Quelle est la 2e conséquence de la hausse du nombre de jeunes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lourdes conséquences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 1,5 million à plus de 6 millions d'élèves.</a:t>
            </a:r>
          </a:p>
          <a:p>
            <a:pPr algn="l">
              <a:spcAft>
                <a:spcPts val="600"/>
              </a:spcAft>
              <a:defRPr sz="1900" b="0">
                <a:solidFill>
                  <a:srgbClr val="2B2B2B"/>
                </a:solidFill>
              </a:defRPr>
            </a:pPr>
            <a:r>
              <a:t>✅ 30 %, c'est-à-dire beaucoup.</a:t>
            </a:r>
          </a:p>
          <a:p>
            <a:pPr algn="l">
              <a:spcAft>
                <a:spcPts val="600"/>
              </a:spcAft>
              <a:defRPr sz="1900" b="0">
                <a:solidFill>
                  <a:srgbClr val="2B2B2B"/>
                </a:solidFill>
              </a:defRPr>
            </a:pPr>
            <a:r>
              <a:t>✅ Non, seulement 80 % des jeunes, dans de mauvaises conditions.</a:t>
            </a:r>
          </a:p>
          <a:p>
            <a:pPr algn="l">
              <a:spcAft>
                <a:spcPts val="600"/>
              </a:spcAft>
              <a:defRPr sz="1900" b="0">
                <a:solidFill>
                  <a:srgbClr val="2B2B2B"/>
                </a:solidFill>
              </a:defRPr>
            </a:pPr>
            <a:r>
              <a:t>✅ Le chômage : 250 000 jeunes arrivent chaque année sur le marché du travail, mais seulement 80 000 emplois créés.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225 : le taux d'urbanisation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urbanisation.png"/>
          <p:cNvPicPr>
            <a:picLocks noChangeAspect="1"/>
          </p:cNvPicPr>
          <p:nvPr/>
        </p:nvPicPr>
        <p:blipFill>
          <a:blip r:embed="rId2"/>
          <a:stretch>
            <a:fillRect/>
          </a:stretch>
        </p:blipFill>
        <p:spPr>
          <a:xfrm>
            <a:off x="457200" y="1280160"/>
            <a:ext cx="5203231" cy="4937760"/>
          </a:xfrm>
          <a:prstGeom prst="rect">
            <a:avLst/>
          </a:prstGeom>
        </p:spPr>
      </p:pic>
      <p:sp>
        <p:nvSpPr>
          <p:cNvPr id="34" name="TextBox 33"/>
          <p:cNvSpPr txBox="1"/>
          <p:nvPr/>
        </p:nvSpPr>
        <p:spPr>
          <a:xfrm>
            <a:off x="5934751" y="1371600"/>
            <a:ext cx="5952449" cy="4206240"/>
          </a:xfrm>
          <a:prstGeom prst="rect">
            <a:avLst/>
          </a:prstGeom>
          <a:noFill/>
        </p:spPr>
        <p:txBody>
          <a:bodyPr wrap="square">
            <a:spAutoFit/>
          </a:bodyPr>
          <a:lstStyle/>
          <a:p>
            <a:pPr algn="l">
              <a:spcAft>
                <a:spcPts val="600"/>
              </a:spcAft>
              <a:defRPr sz="1800" b="1">
                <a:solidFill>
                  <a:srgbClr val="1F4E79"/>
                </a:solidFill>
              </a:defRPr>
            </a:pPr>
            <a:r>
              <a:t>❓ Comment a évolué la population urbaine ?</a:t>
            </a:r>
          </a:p>
          <a:p>
            <a:pPr algn="l">
              <a:spcAft>
                <a:spcPts val="600"/>
              </a:spcAft>
              <a:defRPr sz="1800" b="1">
                <a:solidFill>
                  <a:srgbClr val="1F4E79"/>
                </a:solidFill>
              </a:defRPr>
            </a:pPr>
            <a:r>
              <a:t>❓ À quoi ce phénomène est-il dû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taux d'urbanisation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d'environ 40 % à près de 60 % de la population (1970 → 2000).</a:t>
            </a:r>
          </a:p>
          <a:p>
            <a:pPr algn="l">
              <a:spcAft>
                <a:spcPts val="600"/>
              </a:spcAft>
              <a:defRPr sz="1900" b="0">
                <a:solidFill>
                  <a:srgbClr val="2B2B2B"/>
                </a:solidFill>
              </a:defRPr>
            </a:pPr>
            <a:r>
              <a:t>✅ Au chômage dans les campagnes (exode rural) et à la forte croissance de la population.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6 p. 225 : les problèmes dans les villes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villes.png"/>
          <p:cNvPicPr>
            <a:picLocks noChangeAspect="1"/>
          </p:cNvPicPr>
          <p:nvPr/>
        </p:nvPicPr>
        <p:blipFill>
          <a:blip r:embed="rId2"/>
          <a:stretch>
            <a:fillRect/>
          </a:stretch>
        </p:blipFill>
        <p:spPr>
          <a:xfrm>
            <a:off x="457200" y="1280160"/>
            <a:ext cx="2587386" cy="4937760"/>
          </a:xfrm>
          <a:prstGeom prst="rect">
            <a:avLst/>
          </a:prstGeom>
        </p:spPr>
      </p:pic>
      <p:sp>
        <p:nvSpPr>
          <p:cNvPr id="34" name="TextBox 33"/>
          <p:cNvSpPr txBox="1"/>
          <p:nvPr/>
        </p:nvSpPr>
        <p:spPr>
          <a:xfrm>
            <a:off x="3318906" y="1371600"/>
            <a:ext cx="8568294" cy="4206240"/>
          </a:xfrm>
          <a:prstGeom prst="rect">
            <a:avLst/>
          </a:prstGeom>
          <a:noFill/>
        </p:spPr>
        <p:txBody>
          <a:bodyPr wrap="square">
            <a:spAutoFit/>
          </a:bodyPr>
          <a:lstStyle/>
          <a:p>
            <a:pPr algn="l">
              <a:spcAft>
                <a:spcPts val="600"/>
              </a:spcAft>
              <a:defRPr sz="1800" b="1">
                <a:solidFill>
                  <a:srgbClr val="1F4E79"/>
                </a:solidFill>
              </a:defRPr>
            </a:pPr>
            <a:r>
              <a:t>❓ Quels problèmes la forte urbanisation a-t-elle entraînés ?</a:t>
            </a:r>
          </a:p>
          <a:p>
            <a:pPr algn="l">
              <a:spcAft>
                <a:spcPts val="600"/>
              </a:spcAft>
              <a:defRPr sz="1800" b="1">
                <a:solidFill>
                  <a:srgbClr val="1F4E79"/>
                </a:solidFill>
              </a:defRPr>
            </a:pPr>
            <a:r>
              <a:t>❓ Combien de personnes par logement en moyenne ?</a:t>
            </a:r>
          </a:p>
          <a:p>
            <a:pPr algn="l">
              <a:spcAft>
                <a:spcPts val="600"/>
              </a:spcAft>
              <a:defRPr sz="1800" b="1">
                <a:solidFill>
                  <a:srgbClr val="1F4E79"/>
                </a:solidFill>
              </a:defRPr>
            </a:pPr>
            <a:r>
              <a:t>❓ Où se concentrent les mécontentements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problèmes dans les villes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Logement (bidonvilles), circulation, transports, manque d'emplois.</a:t>
            </a:r>
          </a:p>
          <a:p>
            <a:pPr algn="l">
              <a:spcAft>
                <a:spcPts val="600"/>
              </a:spcAft>
              <a:defRPr sz="1900" b="0">
                <a:solidFill>
                  <a:srgbClr val="2B2B2B"/>
                </a:solidFill>
              </a:defRPr>
            </a:pPr>
            <a:r>
              <a:t>✅ 8 personnes par logement.</a:t>
            </a:r>
          </a:p>
          <a:p>
            <a:pPr algn="l">
              <a:spcAft>
                <a:spcPts val="600"/>
              </a:spcAft>
              <a:defRPr sz="1900" b="0">
                <a:solidFill>
                  <a:srgbClr val="2B2B2B"/>
                </a:solidFill>
              </a:defRPr>
            </a:pPr>
            <a:r>
              <a:t>✅ Dans les quartiers pauvres des villes : « la poudrière du pays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 les conséquences de la croissance démographique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a:hlinkClick action="ppaction://hlinksldjump" r:id="rId4"/>
          </p:cNvPr>
          <p:cNvSpPr/>
          <p:nvPr/>
        </p:nvSpPr>
        <p:spPr>
          <a:xfrm>
            <a:off x="73152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1</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a:hlinkClick action="ppaction://hlinksldjump" r:id="rId4"/>
          </p:cNvPr>
          <p:cNvSpPr/>
          <p:nvPr/>
        </p:nvSpPr>
        <p:spPr>
          <a:xfrm>
            <a:off x="4480559"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2</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a:hlinkClick action="ppaction://hlinksldjump" r:id="rId4"/>
          </p:cNvPr>
          <p:cNvSpPr/>
          <p:nvPr/>
        </p:nvSpPr>
        <p:spPr>
          <a:xfrm>
            <a:off x="822960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complété</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3152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Scolarisation de tous les enfants difficile</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80559"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Exode rural, forte croissance urbaine, bidonvilles</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22960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Chômage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 C.E. — Doc. 2 p. 230 : les migrations au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igrations.png"/>
          <p:cNvPicPr>
            <a:picLocks noChangeAspect="1"/>
          </p:cNvPicPr>
          <p:nvPr/>
        </p:nvPicPr>
        <p:blipFill>
          <a:blip r:embed="rId2"/>
          <a:stretch>
            <a:fillRect/>
          </a:stretch>
        </p:blipFill>
        <p:spPr>
          <a:xfrm>
            <a:off x="457200" y="1280160"/>
            <a:ext cx="3271266" cy="4937760"/>
          </a:xfrm>
          <a:prstGeom prst="rect">
            <a:avLst/>
          </a:prstGeom>
        </p:spPr>
      </p:pic>
      <p:sp>
        <p:nvSpPr>
          <p:cNvPr id="34" name="TextBox 33"/>
          <p:cNvSpPr txBox="1"/>
          <p:nvPr/>
        </p:nvSpPr>
        <p:spPr>
          <a:xfrm>
            <a:off x="4002786" y="1371600"/>
            <a:ext cx="7884413" cy="4206240"/>
          </a:xfrm>
          <a:prstGeom prst="rect">
            <a:avLst/>
          </a:prstGeom>
          <a:noFill/>
        </p:spPr>
        <p:txBody>
          <a:bodyPr wrap="square">
            <a:spAutoFit/>
          </a:bodyPr>
          <a:lstStyle/>
          <a:p>
            <a:pPr algn="l">
              <a:spcAft>
                <a:spcPts val="600"/>
              </a:spcAft>
              <a:defRPr sz="1800" b="1">
                <a:solidFill>
                  <a:srgbClr val="1F4E79"/>
                </a:solidFill>
              </a:defRPr>
            </a:pPr>
            <a:r>
              <a:t>❓ Face à la pauvreté, que fait une partie de la population ?</a:t>
            </a:r>
          </a:p>
          <a:p>
            <a:pPr algn="l">
              <a:spcAft>
                <a:spcPts val="600"/>
              </a:spcAft>
              <a:defRPr sz="1800" b="1">
                <a:solidFill>
                  <a:srgbClr val="1F4E79"/>
                </a:solidFill>
              </a:defRPr>
            </a:pPr>
            <a:r>
              <a:t>❓ Quelles sont les motivations ?</a:t>
            </a:r>
          </a:p>
          <a:p>
            <a:pPr algn="l">
              <a:spcAft>
                <a:spcPts val="600"/>
              </a:spcAft>
              <a:defRPr sz="1800" b="1">
                <a:solidFill>
                  <a:srgbClr val="1F4E79"/>
                </a:solidFill>
              </a:defRPr>
            </a:pPr>
            <a:r>
              <a:t>❓ Vers quels pays se dirigent les émigrés ?</a:t>
            </a:r>
          </a:p>
          <a:p>
            <a:pPr algn="l">
              <a:spcAft>
                <a:spcPts val="600"/>
              </a:spcAft>
              <a:defRPr sz="1800" b="1">
                <a:solidFill>
                  <a:srgbClr val="1F4E79"/>
                </a:solidFill>
              </a:defRPr>
            </a:pPr>
            <a:r>
              <a:t>❓ Ce phénomène est-il du passé ou du présent ?</a:t>
            </a:r>
          </a:p>
          <a:p>
            <a:pPr algn="l">
              <a:spcAft>
                <a:spcPts val="600"/>
              </a:spcAft>
              <a:defRPr sz="1800" b="1">
                <a:solidFill>
                  <a:srgbClr val="1F4E79"/>
                </a:solidFill>
              </a:defRPr>
            </a:pPr>
            <a:r>
              <a:t>❓ Quelle part des revenus du Maroc représentait l'argent envoyé en 1993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migrations au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Elle émigre vers l'Europe.</a:t>
            </a:r>
          </a:p>
          <a:p>
            <a:pPr algn="l">
              <a:spcAft>
                <a:spcPts val="600"/>
              </a:spcAft>
              <a:defRPr sz="1900" b="0">
                <a:solidFill>
                  <a:srgbClr val="2B2B2B"/>
                </a:solidFill>
              </a:defRPr>
            </a:pPr>
            <a:r>
              <a:t>✅ Le travail.</a:t>
            </a:r>
          </a:p>
          <a:p>
            <a:pPr algn="l">
              <a:spcAft>
                <a:spcPts val="600"/>
              </a:spcAft>
              <a:defRPr sz="1900" b="0">
                <a:solidFill>
                  <a:srgbClr val="2B2B2B"/>
                </a:solidFill>
              </a:defRPr>
            </a:pPr>
            <a:r>
              <a:t>✅ La France, le Benelux, l'Italie et l'Espagne.</a:t>
            </a:r>
          </a:p>
          <a:p>
            <a:pPr algn="l">
              <a:spcAft>
                <a:spcPts val="600"/>
              </a:spcAft>
              <a:defRPr sz="1900" b="0">
                <a:solidFill>
                  <a:srgbClr val="2B2B2B"/>
                </a:solidFill>
              </a:defRPr>
            </a:pPr>
            <a:r>
              <a:t>✅ Surtout du passé : l'Europe a fermé ses frontières ; aujourd'hui surtout regroupement familial (et clandestins).</a:t>
            </a:r>
          </a:p>
          <a:p>
            <a:pPr algn="l">
              <a:spcAft>
                <a:spcPts val="600"/>
              </a:spcAft>
              <a:defRPr sz="1900" b="0">
                <a:solidFill>
                  <a:srgbClr val="2B2B2B"/>
                </a:solidFill>
              </a:defRPr>
            </a:pPr>
            <a:r>
              <a:t>✅ 7,5 % (4,5 % pour la Tunisie, 2,5 % pour l'Algérie).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environ 40 ans, beaucoup de Maghrébins ont choisi d'émigrer vers l'Europe pour travailler. Aujourd'hui, l'Europe a fermé ses frontières et seul le regroupement familial est autorisé. Certains tentent toutefois encore d'émigrer : on parle de clandestins.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Islam, Moyen-Orient et conflits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011680"/>
            <a:ext cx="10972800" cy="914400"/>
          </a:xfrm>
          <a:prstGeom prst="rect">
            <a:avLst/>
          </a:prstGeom>
          <a:noFill/>
        </p:spPr>
        <p:txBody>
          <a:bodyPr wrap="square">
            <a:spAutoFit/>
          </a:bodyPr>
          <a:lstStyle/>
          <a:p>
            <a:pPr algn="ctr">
              <a:spcAft>
                <a:spcPts val="600"/>
              </a:spcAft>
              <a:defRPr sz="3400" b="1">
                <a:solidFill>
                  <a:srgbClr val="E0A11B"/>
                </a:solidFill>
              </a:defRPr>
            </a:pPr>
            <a:r>
              <a:t>Une région riche d'histoire… mais aussi de tensions</a:t>
            </a:r>
          </a:p>
        </p:txBody>
      </p:sp>
      <p:sp>
        <p:nvSpPr>
          <p:cNvPr id="35" name="TextBox 34"/>
          <p:cNvSpPr txBox="1"/>
          <p:nvPr/>
        </p:nvSpPr>
        <p:spPr>
          <a:xfrm>
            <a:off x="548640" y="3291840"/>
            <a:ext cx="10972800" cy="1371600"/>
          </a:xfrm>
          <a:prstGeom prst="rect">
            <a:avLst/>
          </a:prstGeom>
          <a:noFill/>
        </p:spPr>
        <p:txBody>
          <a:bodyPr wrap="square">
            <a:spAutoFit/>
          </a:bodyPr>
          <a:lstStyle/>
          <a:p>
            <a:pPr algn="ctr">
              <a:spcAft>
                <a:spcPts val="600"/>
              </a:spcAft>
              <a:defRPr sz="2200" b="0">
                <a:solidFill>
                  <a:srgbClr val="FFFFFF"/>
                </a:solidFill>
              </a:defRPr>
            </a:pPr>
            <a:r>
              <a:t>A/ L'arrivée de l'islam   •   B/ Sunnites et chiites</a:t>
            </a:r>
          </a:p>
          <a:p>
            <a:pPr algn="ctr">
              <a:spcAft>
                <a:spcPts val="600"/>
              </a:spcAft>
              <a:defRPr sz="2200" b="0">
                <a:solidFill>
                  <a:srgbClr val="FFFFFF"/>
                </a:solidFill>
              </a:defRPr>
            </a:pPr>
            <a:r>
              <a:t>C/ Les conflits au Moyen-Orient   •   D/ Printemps arabe et terrorisme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Quand l'islam est-il arrivé au Maghreb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610</a:t>
            </a:r>
          </a:p>
        </p:txBody>
      </p:sp>
      <p:sp>
        <p:nvSpPr>
          <p:cNvPr id="34" name="TextBox 33"/>
          <p:cNvSpPr txBox="1"/>
          <p:nvPr/>
        </p:nvSpPr>
        <p:spPr>
          <a:xfrm>
            <a:off x="2194560" y="1463040"/>
            <a:ext cx="9509760" cy="731520"/>
          </a:xfrm>
          <a:prstGeom prst="rect">
            <a:avLst/>
          </a:prstGeom>
          <a:noFill/>
        </p:spPr>
        <p:txBody>
          <a:bodyPr wrap="square">
            <a:spAutoFit/>
          </a:bodyPr>
          <a:lstStyle/>
          <a:p>
            <a:pPr algn="l">
              <a:spcAft>
                <a:spcPts val="600"/>
              </a:spcAft>
              <a:defRPr sz="1900" b="0">
                <a:solidFill>
                  <a:srgbClr val="2B2B2B"/>
                </a:solidFill>
              </a:defRPr>
            </a:pPr>
            <a:r>
              <a:t>Mahomet reçoit la Révélation à La Mecque</a:t>
            </a:r>
          </a:p>
        </p:txBody>
      </p:sp>
      <p:sp>
        <p:nvSpPr>
          <p:cNvPr id="35" name="Rounded Rectangle 34"/>
          <p:cNvSpPr/>
          <p:nvPr/>
        </p:nvSpPr>
        <p:spPr>
          <a:xfrm>
            <a:off x="548640" y="2240280"/>
            <a:ext cx="146304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622</a:t>
            </a:r>
          </a:p>
        </p:txBody>
      </p:sp>
      <p:sp>
        <p:nvSpPr>
          <p:cNvPr id="36" name="TextBox 35"/>
          <p:cNvSpPr txBox="1"/>
          <p:nvPr/>
        </p:nvSpPr>
        <p:spPr>
          <a:xfrm>
            <a:off x="2194560" y="2331720"/>
            <a:ext cx="9509760" cy="731520"/>
          </a:xfrm>
          <a:prstGeom prst="rect">
            <a:avLst/>
          </a:prstGeom>
          <a:noFill/>
        </p:spPr>
        <p:txBody>
          <a:bodyPr wrap="square">
            <a:spAutoFit/>
          </a:bodyPr>
          <a:lstStyle/>
          <a:p>
            <a:pPr algn="l">
              <a:spcAft>
                <a:spcPts val="600"/>
              </a:spcAft>
              <a:defRPr sz="1900" b="0">
                <a:solidFill>
                  <a:srgbClr val="2B2B2B"/>
                </a:solidFill>
              </a:defRPr>
            </a:pPr>
            <a:r>
              <a:t>Hégire : départ pour Médine (an 1 du calendrier musulman)</a:t>
            </a:r>
          </a:p>
        </p:txBody>
      </p:sp>
      <p:sp>
        <p:nvSpPr>
          <p:cNvPr id="37" name="Rounded Rectangle 36"/>
          <p:cNvSpPr/>
          <p:nvPr/>
        </p:nvSpPr>
        <p:spPr>
          <a:xfrm>
            <a:off x="548640" y="3108960"/>
            <a:ext cx="1463040" cy="7315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632</a:t>
            </a:r>
          </a:p>
        </p:txBody>
      </p:sp>
      <p:sp>
        <p:nvSpPr>
          <p:cNvPr id="38" name="TextBox 37"/>
          <p:cNvSpPr txBox="1"/>
          <p:nvPr/>
        </p:nvSpPr>
        <p:spPr>
          <a:xfrm>
            <a:off x="2194560" y="3200400"/>
            <a:ext cx="9509760" cy="731520"/>
          </a:xfrm>
          <a:prstGeom prst="rect">
            <a:avLst/>
          </a:prstGeom>
          <a:noFill/>
        </p:spPr>
        <p:txBody>
          <a:bodyPr wrap="square">
            <a:spAutoFit/>
          </a:bodyPr>
          <a:lstStyle/>
          <a:p>
            <a:pPr algn="l">
              <a:spcAft>
                <a:spcPts val="600"/>
              </a:spcAft>
              <a:defRPr sz="1900" b="0">
                <a:solidFill>
                  <a:srgbClr val="2B2B2B"/>
                </a:solidFill>
              </a:defRPr>
            </a:pPr>
            <a:r>
              <a:t>Mort de Mahomet</a:t>
            </a:r>
          </a:p>
        </p:txBody>
      </p:sp>
      <p:sp>
        <p:nvSpPr>
          <p:cNvPr id="39" name="Rounded Rectangle 38"/>
          <p:cNvSpPr/>
          <p:nvPr/>
        </p:nvSpPr>
        <p:spPr>
          <a:xfrm>
            <a:off x="548640" y="3977639"/>
            <a:ext cx="146304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670</a:t>
            </a:r>
          </a:p>
        </p:txBody>
      </p:sp>
      <p:sp>
        <p:nvSpPr>
          <p:cNvPr id="40" name="TextBox 39"/>
          <p:cNvSpPr txBox="1"/>
          <p:nvPr/>
        </p:nvSpPr>
        <p:spPr>
          <a:xfrm>
            <a:off x="2194560" y="4069079"/>
            <a:ext cx="9509760" cy="731520"/>
          </a:xfrm>
          <a:prstGeom prst="rect">
            <a:avLst/>
          </a:prstGeom>
          <a:noFill/>
        </p:spPr>
        <p:txBody>
          <a:bodyPr wrap="square">
            <a:spAutoFit/>
          </a:bodyPr>
          <a:lstStyle/>
          <a:p>
            <a:pPr algn="l">
              <a:spcAft>
                <a:spcPts val="600"/>
              </a:spcAft>
              <a:defRPr sz="1900" b="0">
                <a:solidFill>
                  <a:srgbClr val="2B2B2B"/>
                </a:solidFill>
              </a:defRPr>
            </a:pPr>
            <a:r>
              <a:t>Fondation de Kairouan (Tunisie), 1re grande ville musulmane du Maghreb</a:t>
            </a:r>
          </a:p>
        </p:txBody>
      </p:sp>
      <p:sp>
        <p:nvSpPr>
          <p:cNvPr id="41" name="Rounded Rectangle 40"/>
          <p:cNvSpPr/>
          <p:nvPr/>
        </p:nvSpPr>
        <p:spPr>
          <a:xfrm>
            <a:off x="548640" y="484632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711</a:t>
            </a:r>
          </a:p>
        </p:txBody>
      </p:sp>
      <p:sp>
        <p:nvSpPr>
          <p:cNvPr id="42" name="TextBox 41"/>
          <p:cNvSpPr txBox="1"/>
          <p:nvPr/>
        </p:nvSpPr>
        <p:spPr>
          <a:xfrm>
            <a:off x="2194560" y="4937760"/>
            <a:ext cx="9509760" cy="731520"/>
          </a:xfrm>
          <a:prstGeom prst="rect">
            <a:avLst/>
          </a:prstGeom>
          <a:noFill/>
        </p:spPr>
        <p:txBody>
          <a:bodyPr wrap="square">
            <a:spAutoFit/>
          </a:bodyPr>
          <a:lstStyle/>
          <a:p>
            <a:pPr algn="l">
              <a:spcAft>
                <a:spcPts val="600"/>
              </a:spcAft>
              <a:defRPr sz="1900" b="0">
                <a:solidFill>
                  <a:srgbClr val="2B2B2B"/>
                </a:solidFill>
              </a:defRPr>
            </a:pPr>
            <a:r>
              <a:t>Tariq ibn Ziyad traverse vers l'Espagne (Gibraltar = « Djebel Tariq »)</a:t>
            </a:r>
          </a:p>
        </p:txBody>
      </p:sp>
      <p:sp>
        <p:nvSpPr>
          <p:cNvPr id="43" name="TextBox 42"/>
          <p:cNvSpPr txBox="1"/>
          <p:nvPr/>
        </p:nvSpPr>
        <p:spPr>
          <a:xfrm>
            <a:off x="548640" y="5806440"/>
            <a:ext cx="10972800" cy="457200"/>
          </a:xfrm>
          <a:prstGeom prst="rect">
            <a:avLst/>
          </a:prstGeom>
          <a:noFill/>
        </p:spPr>
        <p:txBody>
          <a:bodyPr wrap="square">
            <a:spAutoFit/>
          </a:bodyPr>
          <a:lstStyle/>
          <a:p>
            <a:pPr algn="l">
              <a:spcAft>
                <a:spcPts val="600"/>
              </a:spcAft>
              <a:defRPr sz="1600" b="1">
                <a:solidFill>
                  <a:srgbClr val="B84A1E"/>
                </a:solidFill>
              </a:defRPr>
            </a:pPr>
            <a:r>
              <a:t>➡️ Les Berbères se convertissent peu à peu ; l'arabe devient la langue de la religion et des villes.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Sunnites et chiites : quelle différence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Pourquoi les musulmans se sont-ils divisés après 632 ?</a:t>
            </a:r>
          </a:p>
          <a:p>
            <a:pPr algn="l">
              <a:spcAft>
                <a:spcPts val="600"/>
              </a:spcAft>
              <a:defRPr sz="1800" b="1">
                <a:solidFill>
                  <a:srgbClr val="1F4E79"/>
                </a:solidFill>
              </a:defRPr>
            </a:pPr>
            <a:r>
              <a:t>❓ Que pensent les sunnites ? les chiites ?</a:t>
            </a:r>
          </a:p>
          <a:p>
            <a:pPr algn="l">
              <a:spcAft>
                <a:spcPts val="600"/>
              </a:spcAft>
              <a:defRPr sz="1800" b="1">
                <a:solidFill>
                  <a:srgbClr val="1F4E79"/>
                </a:solidFill>
              </a:defRPr>
            </a:pPr>
            <a:r>
              <a:t>❓ Le Maghreb est-il sunnite ou chiite ?</a:t>
            </a:r>
          </a:p>
          <a:p>
            <a:pPr algn="l">
              <a:spcAft>
                <a:spcPts val="600"/>
              </a:spcAft>
              <a:defRPr sz="1800" b="1">
                <a:solidFill>
                  <a:srgbClr val="1F4E79"/>
                </a:solidFill>
              </a:defRPr>
            </a:pPr>
            <a:r>
              <a:t>❓ Où vivent surtout les chiites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quelle différence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Désaccord sur la succession de Mahomet (qui doit diriger les musulmans ?).</a:t>
            </a:r>
          </a:p>
          <a:p>
            <a:pPr algn="l">
              <a:spcAft>
                <a:spcPts val="600"/>
              </a:spcAft>
              <a:defRPr sz="1900" b="0">
                <a:solidFill>
                  <a:srgbClr val="2B2B2B"/>
                </a:solidFill>
              </a:defRPr>
            </a:pPr>
            <a:r>
              <a:t>✅ Sunnites (≈ 85-90 %) : le chef (calife) est choisi parmi les fidèles. Chiites (≈ 10-15 %) : il doit descendre d'Ali, gendre de Mahomet (bataille de Kerbala, 680).</a:t>
            </a:r>
          </a:p>
          <a:p>
            <a:pPr algn="l">
              <a:spcAft>
                <a:spcPts val="600"/>
              </a:spcAft>
              <a:defRPr sz="1900" b="0">
                <a:solidFill>
                  <a:srgbClr val="2B2B2B"/>
                </a:solidFill>
              </a:defRPr>
            </a:pPr>
            <a:r>
              <a:t>✅ Presque entièrement sunnite (rite malékite).</a:t>
            </a:r>
          </a:p>
          <a:p>
            <a:pPr algn="l">
              <a:spcAft>
                <a:spcPts val="600"/>
              </a:spcAft>
              <a:defRPr sz="1900" b="0">
                <a:solidFill>
                  <a:srgbClr val="2B2B2B"/>
                </a:solidFill>
              </a:defRPr>
            </a:pPr>
            <a:r>
              <a:t>✅ Iran, Irak, Bahreïn, Liban (en partie).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est musulman sunnite. La division sunnites/chiites, née d'une querelle de succession, alimente aujourd'hui des rivalités au Moyen-Orient (Arabie saoudite sunnite / Iran chiite).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 Le Moyen-Orient : une région de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1948 →</a:t>
            </a:r>
          </a:p>
        </p:txBody>
      </p:sp>
      <p:sp>
        <p:nvSpPr>
          <p:cNvPr id="34" name="TextBox 33"/>
          <p:cNvSpPr txBox="1"/>
          <p:nvPr/>
        </p:nvSpPr>
        <p:spPr>
          <a:xfrm>
            <a:off x="2651760" y="1417320"/>
            <a:ext cx="8961120" cy="640080"/>
          </a:xfrm>
          <a:prstGeom prst="rect">
            <a:avLst/>
          </a:prstGeom>
          <a:noFill/>
        </p:spPr>
        <p:txBody>
          <a:bodyPr wrap="square">
            <a:spAutoFit/>
          </a:bodyPr>
          <a:lstStyle/>
          <a:p>
            <a:pPr algn="l">
              <a:spcAft>
                <a:spcPts val="600"/>
              </a:spcAft>
              <a:defRPr sz="1900" b="0">
                <a:solidFill>
                  <a:srgbClr val="2B2B2B"/>
                </a:solidFill>
              </a:defRPr>
            </a:pPr>
            <a:r>
              <a:t>Conflit israélo-palestinien</a:t>
            </a:r>
          </a:p>
        </p:txBody>
      </p:sp>
      <p:sp>
        <p:nvSpPr>
          <p:cNvPr id="35" name="Rounded Rectangle 34"/>
          <p:cNvSpPr/>
          <p:nvPr/>
        </p:nvSpPr>
        <p:spPr>
          <a:xfrm>
            <a:off x="548640" y="2121408"/>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1980–1988</a:t>
            </a:r>
          </a:p>
        </p:txBody>
      </p:sp>
      <p:sp>
        <p:nvSpPr>
          <p:cNvPr id="36" name="TextBox 35"/>
          <p:cNvSpPr txBox="1"/>
          <p:nvPr/>
        </p:nvSpPr>
        <p:spPr>
          <a:xfrm>
            <a:off x="2651760" y="2167128"/>
            <a:ext cx="8961120" cy="640080"/>
          </a:xfrm>
          <a:prstGeom prst="rect">
            <a:avLst/>
          </a:prstGeom>
          <a:noFill/>
        </p:spPr>
        <p:txBody>
          <a:bodyPr wrap="square">
            <a:spAutoFit/>
          </a:bodyPr>
          <a:lstStyle/>
          <a:p>
            <a:pPr algn="l">
              <a:spcAft>
                <a:spcPts val="600"/>
              </a:spcAft>
              <a:defRPr sz="1900" b="0">
                <a:solidFill>
                  <a:srgbClr val="2B2B2B"/>
                </a:solidFill>
              </a:defRPr>
            </a:pPr>
            <a:r>
              <a:t>Guerre Iran–Irak</a:t>
            </a:r>
          </a:p>
        </p:txBody>
      </p:sp>
      <p:sp>
        <p:nvSpPr>
          <p:cNvPr id="37" name="Rounded Rectangle 36"/>
          <p:cNvSpPr/>
          <p:nvPr/>
        </p:nvSpPr>
        <p:spPr>
          <a:xfrm>
            <a:off x="548640" y="2871215"/>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2003</a:t>
            </a:r>
          </a:p>
        </p:txBody>
      </p:sp>
      <p:sp>
        <p:nvSpPr>
          <p:cNvPr id="38" name="TextBox 37"/>
          <p:cNvSpPr txBox="1"/>
          <p:nvPr/>
        </p:nvSpPr>
        <p:spPr>
          <a:xfrm>
            <a:off x="2651760" y="2916936"/>
            <a:ext cx="8961120" cy="640080"/>
          </a:xfrm>
          <a:prstGeom prst="rect">
            <a:avLst/>
          </a:prstGeom>
          <a:noFill/>
        </p:spPr>
        <p:txBody>
          <a:bodyPr wrap="square">
            <a:spAutoFit/>
          </a:bodyPr>
          <a:lstStyle/>
          <a:p>
            <a:pPr algn="l">
              <a:spcAft>
                <a:spcPts val="600"/>
              </a:spcAft>
              <a:defRPr sz="1900" b="0">
                <a:solidFill>
                  <a:srgbClr val="2B2B2B"/>
                </a:solidFill>
              </a:defRPr>
            </a:pPr>
            <a:r>
              <a:t>Guerre en Irak (intervention américaine)</a:t>
            </a:r>
          </a:p>
        </p:txBody>
      </p:sp>
      <p:sp>
        <p:nvSpPr>
          <p:cNvPr id="39" name="Rounded Rectangle 38"/>
          <p:cNvSpPr/>
          <p:nvPr/>
        </p:nvSpPr>
        <p:spPr>
          <a:xfrm>
            <a:off x="548640" y="3621024"/>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2011 →</a:t>
            </a:r>
          </a:p>
        </p:txBody>
      </p:sp>
      <p:sp>
        <p:nvSpPr>
          <p:cNvPr id="40" name="TextBox 39"/>
          <p:cNvSpPr txBox="1"/>
          <p:nvPr/>
        </p:nvSpPr>
        <p:spPr>
          <a:xfrm>
            <a:off x="2651760" y="3666744"/>
            <a:ext cx="8961120" cy="640080"/>
          </a:xfrm>
          <a:prstGeom prst="rect">
            <a:avLst/>
          </a:prstGeom>
          <a:noFill/>
        </p:spPr>
        <p:txBody>
          <a:bodyPr wrap="square">
            <a:spAutoFit/>
          </a:bodyPr>
          <a:lstStyle/>
          <a:p>
            <a:pPr algn="l">
              <a:spcAft>
                <a:spcPts val="600"/>
              </a:spcAft>
              <a:defRPr sz="1900" b="0">
                <a:solidFill>
                  <a:srgbClr val="2B2B2B"/>
                </a:solidFill>
              </a:defRPr>
            </a:pPr>
            <a:r>
              <a:t>Guerre civile en Syrie</a:t>
            </a:r>
          </a:p>
        </p:txBody>
      </p:sp>
      <p:sp>
        <p:nvSpPr>
          <p:cNvPr id="41" name="Rounded Rectangle 40"/>
          <p:cNvSpPr/>
          <p:nvPr/>
        </p:nvSpPr>
        <p:spPr>
          <a:xfrm>
            <a:off x="548640" y="4370831"/>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2014–2019</a:t>
            </a:r>
          </a:p>
        </p:txBody>
      </p:sp>
      <p:sp>
        <p:nvSpPr>
          <p:cNvPr id="42" name="TextBox 41"/>
          <p:cNvSpPr txBox="1"/>
          <p:nvPr/>
        </p:nvSpPr>
        <p:spPr>
          <a:xfrm>
            <a:off x="2651760" y="4416552"/>
            <a:ext cx="8961120" cy="640080"/>
          </a:xfrm>
          <a:prstGeom prst="rect">
            <a:avLst/>
          </a:prstGeom>
          <a:noFill/>
        </p:spPr>
        <p:txBody>
          <a:bodyPr wrap="square">
            <a:spAutoFit/>
          </a:bodyPr>
          <a:lstStyle/>
          <a:p>
            <a:pPr algn="l">
              <a:spcAft>
                <a:spcPts val="600"/>
              </a:spcAft>
              <a:defRPr sz="1900" b="0">
                <a:solidFill>
                  <a:srgbClr val="2B2B2B"/>
                </a:solidFill>
              </a:defRPr>
            </a:pPr>
            <a:r>
              <a:t>L'État islamique (Daech) en Irak et en Syrie</a:t>
            </a:r>
          </a:p>
        </p:txBody>
      </p:sp>
      <p:sp>
        <p:nvSpPr>
          <p:cNvPr id="43" name="Rounded Rectangle 42"/>
          <p:cNvSpPr/>
          <p:nvPr/>
        </p:nvSpPr>
        <p:spPr>
          <a:xfrm>
            <a:off x="548640" y="5120640"/>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2015 →</a:t>
            </a:r>
          </a:p>
        </p:txBody>
      </p:sp>
      <p:sp>
        <p:nvSpPr>
          <p:cNvPr id="44" name="TextBox 43"/>
          <p:cNvSpPr txBox="1"/>
          <p:nvPr/>
        </p:nvSpPr>
        <p:spPr>
          <a:xfrm>
            <a:off x="2651760" y="5166359"/>
            <a:ext cx="8961120" cy="640080"/>
          </a:xfrm>
          <a:prstGeom prst="rect">
            <a:avLst/>
          </a:prstGeom>
          <a:noFill/>
        </p:spPr>
        <p:txBody>
          <a:bodyPr wrap="square">
            <a:spAutoFit/>
          </a:bodyPr>
          <a:lstStyle/>
          <a:p>
            <a:pPr algn="l">
              <a:spcAft>
                <a:spcPts val="600"/>
              </a:spcAft>
              <a:defRPr sz="1900" b="0">
                <a:solidFill>
                  <a:srgbClr val="2B2B2B"/>
                </a:solidFill>
              </a:defRPr>
            </a:pPr>
            <a:r>
              <a:t>Guerre au Yémen (rivalité Arabie saoudite / Iran)</a:t>
            </a:r>
          </a:p>
        </p:txBody>
      </p:sp>
      <p:sp>
        <p:nvSpPr>
          <p:cNvPr id="45" name="TextBox 44"/>
          <p:cNvSpPr txBox="1"/>
          <p:nvPr/>
        </p:nvSpPr>
        <p:spPr>
          <a:xfrm>
            <a:off x="548640" y="5943600"/>
            <a:ext cx="10972800" cy="457200"/>
          </a:xfrm>
          <a:prstGeom prst="rect">
            <a:avLst/>
          </a:prstGeom>
          <a:noFill/>
        </p:spPr>
        <p:txBody>
          <a:bodyPr wrap="square">
            <a:spAutoFit/>
          </a:bodyPr>
          <a:lstStyle/>
          <a:p>
            <a:pPr algn="l">
              <a:spcAft>
                <a:spcPts val="600"/>
              </a:spcAft>
              <a:defRPr sz="1600" b="1">
                <a:solidFill>
                  <a:srgbClr val="1F4E79"/>
                </a:solidFill>
              </a:defRPr>
            </a:pPr>
            <a:r>
              <a:t>💡 Causes mêlées : pétrole, frontières, religion (sunnites/chiites), rivalités entre puissances.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Printemps arabe (2010–2011)</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2377440" cy="731520"/>
          </a:xfrm>
          <a:prstGeom prst="rect">
            <a:avLst/>
          </a:prstGeom>
          <a:noFill/>
        </p:spPr>
        <p:txBody>
          <a:bodyPr wrap="square">
            <a:spAutoFit/>
          </a:bodyPr>
          <a:lstStyle/>
          <a:p>
            <a:pPr algn="l">
              <a:spcAft>
                <a:spcPts val="600"/>
              </a:spcAft>
              <a:defRPr sz="2000" b="1">
                <a:solidFill>
                  <a:srgbClr val="B84A1E"/>
                </a:solidFill>
              </a:defRPr>
            </a:pPr>
            <a:r>
              <a:t>🇹🇳 Tunisie</a:t>
            </a:r>
          </a:p>
        </p:txBody>
      </p:sp>
      <p:sp>
        <p:nvSpPr>
          <p:cNvPr id="34" name="TextBox 33"/>
          <p:cNvSpPr txBox="1"/>
          <p:nvPr/>
        </p:nvSpPr>
        <p:spPr>
          <a:xfrm>
            <a:off x="2926080" y="1389888"/>
            <a:ext cx="8778240" cy="731520"/>
          </a:xfrm>
          <a:prstGeom prst="rect">
            <a:avLst/>
          </a:prstGeom>
          <a:noFill/>
        </p:spPr>
        <p:txBody>
          <a:bodyPr wrap="square">
            <a:spAutoFit/>
          </a:bodyPr>
          <a:lstStyle/>
          <a:p>
            <a:pPr algn="l">
              <a:spcAft>
                <a:spcPts val="600"/>
              </a:spcAft>
              <a:defRPr sz="1800" b="0">
                <a:solidFill>
                  <a:srgbClr val="2B2B2B"/>
                </a:solidFill>
              </a:defRPr>
            </a:pPr>
            <a:r>
              <a:t>17 déc. 2010 : immolation de Mohamed Bouazizi → départ de Ben Ali (14 janv. 2011)</a:t>
            </a:r>
          </a:p>
        </p:txBody>
      </p:sp>
      <p:sp>
        <p:nvSpPr>
          <p:cNvPr id="35" name="TextBox 34"/>
          <p:cNvSpPr txBox="1"/>
          <p:nvPr/>
        </p:nvSpPr>
        <p:spPr>
          <a:xfrm>
            <a:off x="548640" y="2148840"/>
            <a:ext cx="2377440" cy="731520"/>
          </a:xfrm>
          <a:prstGeom prst="rect">
            <a:avLst/>
          </a:prstGeom>
          <a:noFill/>
        </p:spPr>
        <p:txBody>
          <a:bodyPr wrap="square">
            <a:spAutoFit/>
          </a:bodyPr>
          <a:lstStyle/>
          <a:p>
            <a:pPr algn="l">
              <a:spcAft>
                <a:spcPts val="600"/>
              </a:spcAft>
              <a:defRPr sz="2000" b="1">
                <a:solidFill>
                  <a:srgbClr val="B84A1E"/>
                </a:solidFill>
              </a:defRPr>
            </a:pPr>
            <a:r>
              <a:t>🇪🇬 Égypte</a:t>
            </a:r>
          </a:p>
        </p:txBody>
      </p:sp>
      <p:sp>
        <p:nvSpPr>
          <p:cNvPr id="36" name="TextBox 35"/>
          <p:cNvSpPr txBox="1"/>
          <p:nvPr/>
        </p:nvSpPr>
        <p:spPr>
          <a:xfrm>
            <a:off x="2926080" y="2167128"/>
            <a:ext cx="8778240" cy="731520"/>
          </a:xfrm>
          <a:prstGeom prst="rect">
            <a:avLst/>
          </a:prstGeom>
          <a:noFill/>
        </p:spPr>
        <p:txBody>
          <a:bodyPr wrap="square">
            <a:spAutoFit/>
          </a:bodyPr>
          <a:lstStyle/>
          <a:p>
            <a:pPr algn="l">
              <a:spcAft>
                <a:spcPts val="600"/>
              </a:spcAft>
              <a:defRPr sz="1800" b="0">
                <a:solidFill>
                  <a:srgbClr val="2B2B2B"/>
                </a:solidFill>
              </a:defRPr>
            </a:pPr>
            <a:r>
              <a:t>Février 2011 : chute de Moubarak</a:t>
            </a:r>
          </a:p>
        </p:txBody>
      </p:sp>
      <p:sp>
        <p:nvSpPr>
          <p:cNvPr id="37" name="TextBox 36"/>
          <p:cNvSpPr txBox="1"/>
          <p:nvPr/>
        </p:nvSpPr>
        <p:spPr>
          <a:xfrm>
            <a:off x="548640" y="2926080"/>
            <a:ext cx="2377440" cy="731520"/>
          </a:xfrm>
          <a:prstGeom prst="rect">
            <a:avLst/>
          </a:prstGeom>
          <a:noFill/>
        </p:spPr>
        <p:txBody>
          <a:bodyPr wrap="square">
            <a:spAutoFit/>
          </a:bodyPr>
          <a:lstStyle/>
          <a:p>
            <a:pPr algn="l">
              <a:spcAft>
                <a:spcPts val="600"/>
              </a:spcAft>
              <a:defRPr sz="2000" b="1">
                <a:solidFill>
                  <a:srgbClr val="B84A1E"/>
                </a:solidFill>
              </a:defRPr>
            </a:pPr>
            <a:r>
              <a:t>🇱🇾 Libye</a:t>
            </a:r>
          </a:p>
        </p:txBody>
      </p:sp>
      <p:sp>
        <p:nvSpPr>
          <p:cNvPr id="38" name="TextBox 37"/>
          <p:cNvSpPr txBox="1"/>
          <p:nvPr/>
        </p:nvSpPr>
        <p:spPr>
          <a:xfrm>
            <a:off x="2926080" y="2944368"/>
            <a:ext cx="8778240" cy="731520"/>
          </a:xfrm>
          <a:prstGeom prst="rect">
            <a:avLst/>
          </a:prstGeom>
          <a:noFill/>
        </p:spPr>
        <p:txBody>
          <a:bodyPr wrap="square">
            <a:spAutoFit/>
          </a:bodyPr>
          <a:lstStyle/>
          <a:p>
            <a:pPr algn="l">
              <a:spcAft>
                <a:spcPts val="600"/>
              </a:spcAft>
              <a:defRPr sz="1800" b="0">
                <a:solidFill>
                  <a:srgbClr val="2B2B2B"/>
                </a:solidFill>
              </a:defRPr>
            </a:pPr>
            <a:r>
              <a:t>2011 : guerre civile, mort de Kadhafi ; le pays reste divisé</a:t>
            </a:r>
          </a:p>
        </p:txBody>
      </p:sp>
      <p:sp>
        <p:nvSpPr>
          <p:cNvPr id="39" name="TextBox 38"/>
          <p:cNvSpPr txBox="1"/>
          <p:nvPr/>
        </p:nvSpPr>
        <p:spPr>
          <a:xfrm>
            <a:off x="548640" y="3703320"/>
            <a:ext cx="2377440" cy="731520"/>
          </a:xfrm>
          <a:prstGeom prst="rect">
            <a:avLst/>
          </a:prstGeom>
          <a:noFill/>
        </p:spPr>
        <p:txBody>
          <a:bodyPr wrap="square">
            <a:spAutoFit/>
          </a:bodyPr>
          <a:lstStyle/>
          <a:p>
            <a:pPr algn="l">
              <a:spcAft>
                <a:spcPts val="600"/>
              </a:spcAft>
              <a:defRPr sz="2000" b="1">
                <a:solidFill>
                  <a:srgbClr val="B84A1E"/>
                </a:solidFill>
              </a:defRPr>
            </a:pPr>
            <a:r>
              <a:t>🇲🇦 Maroc</a:t>
            </a:r>
          </a:p>
        </p:txBody>
      </p:sp>
      <p:sp>
        <p:nvSpPr>
          <p:cNvPr id="40" name="TextBox 39"/>
          <p:cNvSpPr txBox="1"/>
          <p:nvPr/>
        </p:nvSpPr>
        <p:spPr>
          <a:xfrm>
            <a:off x="2926080" y="3721608"/>
            <a:ext cx="8778240" cy="731520"/>
          </a:xfrm>
          <a:prstGeom prst="rect">
            <a:avLst/>
          </a:prstGeom>
          <a:noFill/>
        </p:spPr>
        <p:txBody>
          <a:bodyPr wrap="square">
            <a:spAutoFit/>
          </a:bodyPr>
          <a:lstStyle/>
          <a:p>
            <a:pPr algn="l">
              <a:spcAft>
                <a:spcPts val="600"/>
              </a:spcAft>
              <a:defRPr sz="1800" b="0">
                <a:solidFill>
                  <a:srgbClr val="2B2B2B"/>
                </a:solidFill>
              </a:defRPr>
            </a:pPr>
            <a:r>
              <a:t>2011 : manifestations, nouvelle Constitution</a:t>
            </a:r>
          </a:p>
        </p:txBody>
      </p:sp>
      <p:sp>
        <p:nvSpPr>
          <p:cNvPr id="41" name="TextBox 40"/>
          <p:cNvSpPr txBox="1"/>
          <p:nvPr/>
        </p:nvSpPr>
        <p:spPr>
          <a:xfrm>
            <a:off x="548640" y="4480560"/>
            <a:ext cx="2377440" cy="731520"/>
          </a:xfrm>
          <a:prstGeom prst="rect">
            <a:avLst/>
          </a:prstGeom>
          <a:noFill/>
        </p:spPr>
        <p:txBody>
          <a:bodyPr wrap="square">
            <a:spAutoFit/>
          </a:bodyPr>
          <a:lstStyle/>
          <a:p>
            <a:pPr algn="l">
              <a:spcAft>
                <a:spcPts val="600"/>
              </a:spcAft>
              <a:defRPr sz="2000" b="1">
                <a:solidFill>
                  <a:srgbClr val="B84A1E"/>
                </a:solidFill>
              </a:defRPr>
            </a:pPr>
            <a:r>
              <a:t>🇩🇿 Algérie</a:t>
            </a:r>
          </a:p>
        </p:txBody>
      </p:sp>
      <p:sp>
        <p:nvSpPr>
          <p:cNvPr id="42" name="TextBox 41"/>
          <p:cNvSpPr txBox="1"/>
          <p:nvPr/>
        </p:nvSpPr>
        <p:spPr>
          <a:xfrm>
            <a:off x="2926080" y="4498848"/>
            <a:ext cx="8778240" cy="731520"/>
          </a:xfrm>
          <a:prstGeom prst="rect">
            <a:avLst/>
          </a:prstGeom>
          <a:noFill/>
        </p:spPr>
        <p:txBody>
          <a:bodyPr wrap="square">
            <a:spAutoFit/>
          </a:bodyPr>
          <a:lstStyle/>
          <a:p>
            <a:pPr algn="l">
              <a:spcAft>
                <a:spcPts val="600"/>
              </a:spcAft>
              <a:defRPr sz="1800" b="0">
                <a:solidFill>
                  <a:srgbClr val="2B2B2B"/>
                </a:solidFill>
              </a:defRPr>
            </a:pPr>
            <a:r>
              <a:t>2019 : le Hirak pousse Bouteflika à partir</a:t>
            </a:r>
          </a:p>
        </p:txBody>
      </p:sp>
      <p:sp>
        <p:nvSpPr>
          <p:cNvPr id="43" name="TextBox 42"/>
          <p:cNvSpPr txBox="1"/>
          <p:nvPr/>
        </p:nvSpPr>
        <p:spPr>
          <a:xfrm>
            <a:off x="548640" y="5257800"/>
            <a:ext cx="2377440" cy="731520"/>
          </a:xfrm>
          <a:prstGeom prst="rect">
            <a:avLst/>
          </a:prstGeom>
          <a:noFill/>
        </p:spPr>
        <p:txBody>
          <a:bodyPr wrap="square">
            <a:spAutoFit/>
          </a:bodyPr>
          <a:lstStyle/>
          <a:p>
            <a:pPr algn="l">
              <a:spcAft>
                <a:spcPts val="600"/>
              </a:spcAft>
              <a:defRPr sz="2000" b="1">
                <a:solidFill>
                  <a:srgbClr val="B84A1E"/>
                </a:solidFill>
              </a:defRPr>
            </a:pPr>
            <a:r>
              <a:t>🇸🇾 Syrie</a:t>
            </a:r>
          </a:p>
        </p:txBody>
      </p:sp>
      <p:sp>
        <p:nvSpPr>
          <p:cNvPr id="44" name="TextBox 43"/>
          <p:cNvSpPr txBox="1"/>
          <p:nvPr/>
        </p:nvSpPr>
        <p:spPr>
          <a:xfrm>
            <a:off x="2926080" y="5276088"/>
            <a:ext cx="8778240" cy="731520"/>
          </a:xfrm>
          <a:prstGeom prst="rect">
            <a:avLst/>
          </a:prstGeom>
          <a:noFill/>
        </p:spPr>
        <p:txBody>
          <a:bodyPr wrap="square">
            <a:spAutoFit/>
          </a:bodyPr>
          <a:lstStyle/>
          <a:p>
            <a:pPr algn="l">
              <a:spcAft>
                <a:spcPts val="600"/>
              </a:spcAft>
              <a:defRPr sz="1800" b="0">
                <a:solidFill>
                  <a:srgbClr val="2B2B2B"/>
                </a:solidFill>
              </a:defRPr>
            </a:pPr>
            <a:r>
              <a:t>2011 : révolte réprimée → guerre civile</a:t>
            </a:r>
          </a:p>
        </p:txBody>
      </p:sp>
      <p:sp>
        <p:nvSpPr>
          <p:cNvPr id="45" name="TextBox 44"/>
          <p:cNvSpPr txBox="1"/>
          <p:nvPr/>
        </p:nvSpPr>
        <p:spPr>
          <a:xfrm>
            <a:off x="548640" y="6035040"/>
            <a:ext cx="10972800" cy="457200"/>
          </a:xfrm>
          <a:prstGeom prst="rect">
            <a:avLst/>
          </a:prstGeom>
          <a:noFill/>
        </p:spPr>
        <p:txBody>
          <a:bodyPr wrap="square">
            <a:spAutoFit/>
          </a:bodyPr>
          <a:lstStyle/>
          <a:p>
            <a:pPr algn="l">
              <a:spcAft>
                <a:spcPts val="600"/>
              </a:spcAft>
              <a:defRPr sz="1600" b="1">
                <a:solidFill>
                  <a:srgbClr val="1F4E79"/>
                </a:solidFill>
              </a:defRPr>
            </a:pPr>
            <a:r>
              <a:t>❓ Débat : pourquoi les jeunes se sont-ils révoltés ? (chômage, corruption, manque de libertés)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terrorisme : de quoi parle-t-on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Islam et islamisme, est-ce la même chose ?</a:t>
            </a:r>
          </a:p>
          <a:p>
            <a:pPr algn="l">
              <a:spcAft>
                <a:spcPts val="600"/>
              </a:spcAft>
              <a:defRPr sz="1800" b="1">
                <a:solidFill>
                  <a:srgbClr val="1F4E79"/>
                </a:solidFill>
              </a:defRPr>
            </a:pPr>
            <a:r>
              <a:t>❓ Qu'est-ce que la « décennie noire » en Algérie ?</a:t>
            </a:r>
          </a:p>
          <a:p>
            <a:pPr algn="l">
              <a:spcAft>
                <a:spcPts val="600"/>
              </a:spcAft>
              <a:defRPr sz="1800" b="1">
                <a:solidFill>
                  <a:srgbClr val="1F4E79"/>
                </a:solidFill>
              </a:defRPr>
            </a:pPr>
            <a:r>
              <a:t>❓ Cite des attentats au Maghreb.</a:t>
            </a:r>
          </a:p>
          <a:p>
            <a:pPr algn="l">
              <a:spcAft>
                <a:spcPts val="600"/>
              </a:spcAft>
              <a:defRPr sz="1800" b="1">
                <a:solidFill>
                  <a:srgbClr val="1F4E79"/>
                </a:solidFill>
              </a:defRPr>
            </a:pPr>
            <a:r>
              <a:t>❓ Qui sont les principales victimes du terrorisme islamiste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quoi parle-t-on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Non ! L'islam est une religion ; l'islamisme radical est une idéologie politique violente rejetée par la grande majorité des musulmans.</a:t>
            </a:r>
          </a:p>
          <a:p>
            <a:pPr algn="l">
              <a:spcAft>
                <a:spcPts val="600"/>
              </a:spcAft>
              <a:defRPr sz="1900" b="0">
                <a:solidFill>
                  <a:srgbClr val="2B2B2B"/>
                </a:solidFill>
              </a:defRPr>
            </a:pPr>
            <a:r>
              <a:t>✅ 1991-2002 : guerre entre l'État et des groupes islamistes armés (GIA…), des dizaines de milliers de morts.</a:t>
            </a:r>
          </a:p>
          <a:p>
            <a:pPr algn="l">
              <a:spcAft>
                <a:spcPts val="600"/>
              </a:spcAft>
              <a:defRPr sz="1900" b="0">
                <a:solidFill>
                  <a:srgbClr val="2B2B2B"/>
                </a:solidFill>
              </a:defRPr>
            </a:pPr>
            <a:r>
              <a:t>✅ Casablanca (2003), musée du Bardo et Sousse en Tunisie (2015)…</a:t>
            </a:r>
          </a:p>
          <a:p>
            <a:pPr algn="l">
              <a:spcAft>
                <a:spcPts val="600"/>
              </a:spcAft>
              <a:defRPr sz="1900" b="0">
                <a:solidFill>
                  <a:srgbClr val="2B2B2B"/>
                </a:solidFill>
              </a:defRPr>
            </a:pPr>
            <a:r>
              <a:t>✅ Surtout des musulmans eux-mêmes, au Maghreb et au Moyen-Orient.</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a connu le terrorisme islamiste (décennie noire en Algérie, attentats au Maroc et en Tunisie). Il ne faut pas confondre islam et terrorisme.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Vrai ou faux ? (islam &amp; conflits)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7680960" cy="731520"/>
          </a:xfrm>
          <a:prstGeom prst="rect">
            <a:avLst/>
          </a:prstGeom>
          <a:noFill/>
        </p:spPr>
        <p:txBody>
          <a:bodyPr wrap="square">
            <a:spAutoFit/>
          </a:bodyPr>
          <a:lstStyle/>
          <a:p>
            <a:pPr algn="l">
              <a:spcAft>
                <a:spcPts val="600"/>
              </a:spcAft>
              <a:defRPr sz="1900" b="0">
                <a:solidFill>
                  <a:srgbClr val="2B2B2B"/>
                </a:solidFill>
              </a:defRPr>
            </a:pPr>
            <a:r>
              <a:t>1. L'islam est arrivé au Maghreb au VIIe siècle.</a:t>
            </a:r>
          </a:p>
        </p:txBody>
      </p:sp>
      <p:sp>
        <p:nvSpPr>
          <p:cNvPr id="34" name="Rounded Rectangle 33">
            <a:hlinkClick action="ppaction://hlinksldjump" r:id="rId3"/>
          </p:cNvPr>
          <p:cNvSpPr/>
          <p:nvPr/>
        </p:nvSpPr>
        <p:spPr>
          <a:xfrm>
            <a:off x="8503920" y="1371600"/>
            <a:ext cx="310896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5" name="TextBox 34"/>
          <p:cNvSpPr txBox="1"/>
          <p:nvPr/>
        </p:nvSpPr>
        <p:spPr>
          <a:xfrm>
            <a:off x="548640" y="2240280"/>
            <a:ext cx="7680960" cy="731520"/>
          </a:xfrm>
          <a:prstGeom prst="rect">
            <a:avLst/>
          </a:prstGeom>
          <a:noFill/>
        </p:spPr>
        <p:txBody>
          <a:bodyPr wrap="square">
            <a:spAutoFit/>
          </a:bodyPr>
          <a:lstStyle/>
          <a:p>
            <a:pPr algn="l">
              <a:spcAft>
                <a:spcPts val="600"/>
              </a:spcAft>
              <a:defRPr sz="1900" b="0">
                <a:solidFill>
                  <a:srgbClr val="2B2B2B"/>
                </a:solidFill>
              </a:defRPr>
            </a:pPr>
            <a:r>
              <a:t>2. Le Maghreb est majoritairement chiite.</a:t>
            </a:r>
          </a:p>
        </p:txBody>
      </p:sp>
      <p:sp>
        <p:nvSpPr>
          <p:cNvPr id="36" name="Rounded Rectangle 35">
            <a:hlinkClick action="ppaction://hlinksldjump" r:id="rId3"/>
          </p:cNvPr>
          <p:cNvSpPr/>
          <p:nvPr/>
        </p:nvSpPr>
        <p:spPr>
          <a:xfrm>
            <a:off x="8503920" y="2240280"/>
            <a:ext cx="310896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7" name="TextBox 36"/>
          <p:cNvSpPr txBox="1"/>
          <p:nvPr/>
        </p:nvSpPr>
        <p:spPr>
          <a:xfrm>
            <a:off x="548640" y="3108960"/>
            <a:ext cx="7680960" cy="731520"/>
          </a:xfrm>
          <a:prstGeom prst="rect">
            <a:avLst/>
          </a:prstGeom>
          <a:noFill/>
        </p:spPr>
        <p:txBody>
          <a:bodyPr wrap="square">
            <a:spAutoFit/>
          </a:bodyPr>
          <a:lstStyle/>
          <a:p>
            <a:pPr algn="l">
              <a:spcAft>
                <a:spcPts val="600"/>
              </a:spcAft>
              <a:defRPr sz="1900" b="0">
                <a:solidFill>
                  <a:srgbClr val="2B2B2B"/>
                </a:solidFill>
              </a:defRPr>
            </a:pPr>
            <a:r>
              <a:t>3. Le Printemps arabe a commencé en Tunisie.</a:t>
            </a:r>
          </a:p>
        </p:txBody>
      </p:sp>
      <p:sp>
        <p:nvSpPr>
          <p:cNvPr id="38" name="Rounded Rectangle 37">
            <a:hlinkClick action="ppaction://hlinksldjump" r:id="rId3"/>
          </p:cNvPr>
          <p:cNvSpPr/>
          <p:nvPr/>
        </p:nvSpPr>
        <p:spPr>
          <a:xfrm>
            <a:off x="8503920" y="3108960"/>
            <a:ext cx="310896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9" name="TextBox 38"/>
          <p:cNvSpPr txBox="1"/>
          <p:nvPr/>
        </p:nvSpPr>
        <p:spPr>
          <a:xfrm>
            <a:off x="548640" y="3977639"/>
            <a:ext cx="7680960" cy="731520"/>
          </a:xfrm>
          <a:prstGeom prst="rect">
            <a:avLst/>
          </a:prstGeom>
          <a:noFill/>
        </p:spPr>
        <p:txBody>
          <a:bodyPr wrap="square">
            <a:spAutoFit/>
          </a:bodyPr>
          <a:lstStyle/>
          <a:p>
            <a:pPr algn="l">
              <a:spcAft>
                <a:spcPts val="600"/>
              </a:spcAft>
              <a:defRPr sz="1900" b="0">
                <a:solidFill>
                  <a:srgbClr val="2B2B2B"/>
                </a:solidFill>
              </a:defRPr>
            </a:pPr>
            <a:r>
              <a:t>4. Tous les musulmans soutiennent le terrorisme.</a:t>
            </a:r>
          </a:p>
        </p:txBody>
      </p:sp>
      <p:sp>
        <p:nvSpPr>
          <p:cNvPr id="40" name="Rounded Rectangle 39">
            <a:hlinkClick action="ppaction://hlinksldjump" r:id="rId3"/>
          </p:cNvPr>
          <p:cNvSpPr/>
          <p:nvPr/>
        </p:nvSpPr>
        <p:spPr>
          <a:xfrm>
            <a:off x="8503920" y="3977639"/>
            <a:ext cx="3108960" cy="6858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41" name="TextBox 40"/>
          <p:cNvSpPr txBox="1"/>
          <p:nvPr/>
        </p:nvSpPr>
        <p:spPr>
          <a:xfrm>
            <a:off x="548640" y="4846320"/>
            <a:ext cx="7680960" cy="731520"/>
          </a:xfrm>
          <a:prstGeom prst="rect">
            <a:avLst/>
          </a:prstGeom>
          <a:noFill/>
        </p:spPr>
        <p:txBody>
          <a:bodyPr wrap="square">
            <a:spAutoFit/>
          </a:bodyPr>
          <a:lstStyle/>
          <a:p>
            <a:pPr algn="l">
              <a:spcAft>
                <a:spcPts val="600"/>
              </a:spcAft>
              <a:defRPr sz="1900" b="0">
                <a:solidFill>
                  <a:srgbClr val="2B2B2B"/>
                </a:solidFill>
              </a:defRPr>
            </a:pPr>
            <a:r>
              <a:t>5. Gibraltar vient de « Djebel Tariq ».</a:t>
            </a:r>
          </a:p>
        </p:txBody>
      </p:sp>
      <p:sp>
        <p:nvSpPr>
          <p:cNvPr id="42" name="Rounded Rectangle 41">
            <a:hlinkClick action="ppaction://hlinksldjump" r:id="rId3"/>
          </p:cNvPr>
          <p:cNvSpPr/>
          <p:nvPr/>
        </p:nvSpPr>
        <p:spPr>
          <a:xfrm>
            <a:off x="8503920" y="4846320"/>
            <a:ext cx="310896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vrai/faux</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000" b="0">
                <a:solidFill>
                  <a:srgbClr val="2B2B2B"/>
                </a:solidFill>
              </a:defRPr>
            </a:pPr>
            <a:r>
              <a:t>1. L'islam est arrivé au Maghreb au VIIe siècle.  ➜  VRAI</a:t>
            </a:r>
          </a:p>
          <a:p>
            <a:pPr algn="l">
              <a:spcAft>
                <a:spcPts val="600"/>
              </a:spcAft>
              <a:defRPr sz="2000" b="0">
                <a:solidFill>
                  <a:srgbClr val="2B2B2B"/>
                </a:solidFill>
              </a:defRPr>
            </a:pPr>
            <a:r>
              <a:t>2. Le Maghreb est majoritairement chiite.  ➜  FAUX : sunnite</a:t>
            </a:r>
          </a:p>
          <a:p>
            <a:pPr algn="l">
              <a:spcAft>
                <a:spcPts val="600"/>
              </a:spcAft>
              <a:defRPr sz="2000" b="0">
                <a:solidFill>
                  <a:srgbClr val="2B2B2B"/>
                </a:solidFill>
              </a:defRPr>
            </a:pPr>
            <a:r>
              <a:t>3. Le Printemps arabe a commencé en Tunisie.  ➜  VRAI (déc. 2010)</a:t>
            </a:r>
          </a:p>
          <a:p>
            <a:pPr algn="l">
              <a:spcAft>
                <a:spcPts val="600"/>
              </a:spcAft>
              <a:defRPr sz="2000" b="0">
                <a:solidFill>
                  <a:srgbClr val="2B2B2B"/>
                </a:solidFill>
              </a:defRPr>
            </a:pPr>
            <a:r>
              <a:t>4. Tous les musulmans soutiennent le terrorisme.  ➜  FAUX : ils en sont les 1res victimes</a:t>
            </a:r>
          </a:p>
          <a:p>
            <a:pPr algn="l">
              <a:spcAft>
                <a:spcPts val="600"/>
              </a:spcAft>
              <a:defRPr sz="2000" b="0">
                <a:solidFill>
                  <a:srgbClr val="2B2B2B"/>
                </a:solidFill>
              </a:defRPr>
            </a:pPr>
            <a:r>
              <a:t>5. Gibraltar vient de « Djebel Tariq ».  ➜  VRAI</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Paysages : de la mer au désert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554480"/>
            <a:ext cx="2697480" cy="38404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828800"/>
            <a:ext cx="2514600" cy="914400"/>
          </a:xfrm>
          <a:prstGeom prst="rect">
            <a:avLst/>
          </a:prstGeom>
          <a:noFill/>
        </p:spPr>
        <p:txBody>
          <a:bodyPr wrap="square">
            <a:spAutoFit/>
          </a:bodyPr>
          <a:lstStyle/>
          <a:p>
            <a:pPr algn="ctr">
              <a:spcAft>
                <a:spcPts val="600"/>
              </a:spcAft>
              <a:defRPr sz="2400" b="1">
                <a:solidFill>
                  <a:srgbClr val="FFFFFF"/>
                </a:solidFill>
              </a:defRPr>
            </a:pPr>
            <a:r>
              <a:t>🌊 Méditerranée</a:t>
            </a:r>
          </a:p>
        </p:txBody>
      </p:sp>
      <p:sp>
        <p:nvSpPr>
          <p:cNvPr id="35" name="TextBox 34"/>
          <p:cNvSpPr txBox="1"/>
          <p:nvPr/>
        </p:nvSpPr>
        <p:spPr>
          <a:xfrm>
            <a:off x="640080" y="3017520"/>
            <a:ext cx="2514600" cy="1828800"/>
          </a:xfrm>
          <a:prstGeom prst="rect">
            <a:avLst/>
          </a:prstGeom>
          <a:noFill/>
        </p:spPr>
        <p:txBody>
          <a:bodyPr wrap="square">
            <a:spAutoFit/>
          </a:bodyPr>
          <a:lstStyle/>
          <a:p>
            <a:pPr algn="ctr">
              <a:spcAft>
                <a:spcPts val="600"/>
              </a:spcAft>
              <a:defRPr sz="1800" b="0">
                <a:solidFill>
                  <a:srgbClr val="FFFFFF"/>
                </a:solidFill>
              </a:defRPr>
            </a:pPr>
            <a:r>
              <a:t>Côtes, ports, plages au nord</a:t>
            </a:r>
          </a:p>
        </p:txBody>
      </p:sp>
      <p:sp>
        <p:nvSpPr>
          <p:cNvPr id="36" name="Rounded Rectangle 35"/>
          <p:cNvSpPr/>
          <p:nvPr/>
        </p:nvSpPr>
        <p:spPr>
          <a:xfrm>
            <a:off x="3429000" y="1554480"/>
            <a:ext cx="2697480" cy="38404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20439" y="1828800"/>
            <a:ext cx="2514600" cy="914400"/>
          </a:xfrm>
          <a:prstGeom prst="rect">
            <a:avLst/>
          </a:prstGeom>
          <a:noFill/>
        </p:spPr>
        <p:txBody>
          <a:bodyPr wrap="square">
            <a:spAutoFit/>
          </a:bodyPr>
          <a:lstStyle/>
          <a:p>
            <a:pPr algn="ctr">
              <a:spcAft>
                <a:spcPts val="600"/>
              </a:spcAft>
              <a:defRPr sz="2400" b="1">
                <a:solidFill>
                  <a:srgbClr val="FFFFFF"/>
                </a:solidFill>
              </a:defRPr>
            </a:pPr>
            <a:r>
              <a:t>🏔️ Atlas</a:t>
            </a:r>
          </a:p>
        </p:txBody>
      </p:sp>
      <p:sp>
        <p:nvSpPr>
          <p:cNvPr id="38" name="TextBox 37"/>
          <p:cNvSpPr txBox="1"/>
          <p:nvPr/>
        </p:nvSpPr>
        <p:spPr>
          <a:xfrm>
            <a:off x="3520439" y="3017520"/>
            <a:ext cx="2514600" cy="1828800"/>
          </a:xfrm>
          <a:prstGeom prst="rect">
            <a:avLst/>
          </a:prstGeom>
          <a:noFill/>
        </p:spPr>
        <p:txBody>
          <a:bodyPr wrap="square">
            <a:spAutoFit/>
          </a:bodyPr>
          <a:lstStyle/>
          <a:p>
            <a:pPr algn="ctr">
              <a:spcAft>
                <a:spcPts val="600"/>
              </a:spcAft>
              <a:defRPr sz="1800" b="0">
                <a:solidFill>
                  <a:srgbClr val="FFFFFF"/>
                </a:solidFill>
              </a:defRPr>
            </a:pPr>
            <a:r>
              <a:t>Montagnes jusqu'à 4 167 m (Toubkal)</a:t>
            </a:r>
          </a:p>
        </p:txBody>
      </p:sp>
      <p:sp>
        <p:nvSpPr>
          <p:cNvPr id="39" name="Rounded Rectangle 38"/>
          <p:cNvSpPr/>
          <p:nvPr/>
        </p:nvSpPr>
        <p:spPr>
          <a:xfrm>
            <a:off x="6309359" y="1554480"/>
            <a:ext cx="2697480" cy="38404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1828800"/>
            <a:ext cx="2514600" cy="914400"/>
          </a:xfrm>
          <a:prstGeom prst="rect">
            <a:avLst/>
          </a:prstGeom>
          <a:noFill/>
        </p:spPr>
        <p:txBody>
          <a:bodyPr wrap="square">
            <a:spAutoFit/>
          </a:bodyPr>
          <a:lstStyle/>
          <a:p>
            <a:pPr algn="ctr">
              <a:spcAft>
                <a:spcPts val="600"/>
              </a:spcAft>
              <a:defRPr sz="2400" b="1">
                <a:solidFill>
                  <a:srgbClr val="FFFFFF"/>
                </a:solidFill>
              </a:defRPr>
            </a:pPr>
            <a:r>
              <a:t>🏜️ Sahara</a:t>
            </a:r>
          </a:p>
        </p:txBody>
      </p:sp>
      <p:sp>
        <p:nvSpPr>
          <p:cNvPr id="41" name="TextBox 40"/>
          <p:cNvSpPr txBox="1"/>
          <p:nvPr/>
        </p:nvSpPr>
        <p:spPr>
          <a:xfrm>
            <a:off x="6400800" y="3017520"/>
            <a:ext cx="2514600" cy="1828800"/>
          </a:xfrm>
          <a:prstGeom prst="rect">
            <a:avLst/>
          </a:prstGeom>
          <a:noFill/>
        </p:spPr>
        <p:txBody>
          <a:bodyPr wrap="square">
            <a:spAutoFit/>
          </a:bodyPr>
          <a:lstStyle/>
          <a:p>
            <a:pPr algn="ctr">
              <a:spcAft>
                <a:spcPts val="600"/>
              </a:spcAft>
              <a:defRPr sz="1800" b="0">
                <a:solidFill>
                  <a:srgbClr val="FFFFFF"/>
                </a:solidFill>
              </a:defRPr>
            </a:pPr>
            <a:r>
              <a:t>Le plus grand désert chaud du monde</a:t>
            </a:r>
          </a:p>
        </p:txBody>
      </p:sp>
      <p:sp>
        <p:nvSpPr>
          <p:cNvPr id="42" name="Rounded Rectangle 41"/>
          <p:cNvSpPr/>
          <p:nvPr/>
        </p:nvSpPr>
        <p:spPr>
          <a:xfrm>
            <a:off x="9189719" y="1554480"/>
            <a:ext cx="2697480" cy="38404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59" y="1828800"/>
            <a:ext cx="2514600" cy="914400"/>
          </a:xfrm>
          <a:prstGeom prst="rect">
            <a:avLst/>
          </a:prstGeom>
          <a:noFill/>
        </p:spPr>
        <p:txBody>
          <a:bodyPr wrap="square">
            <a:spAutoFit/>
          </a:bodyPr>
          <a:lstStyle/>
          <a:p>
            <a:pPr algn="ctr">
              <a:spcAft>
                <a:spcPts val="600"/>
              </a:spcAft>
              <a:defRPr sz="2400" b="1">
                <a:solidFill>
                  <a:srgbClr val="FFFFFF"/>
                </a:solidFill>
              </a:defRPr>
            </a:pPr>
            <a:r>
              <a:t>🌴 Oasis</a:t>
            </a:r>
          </a:p>
        </p:txBody>
      </p:sp>
      <p:sp>
        <p:nvSpPr>
          <p:cNvPr id="44" name="TextBox 43"/>
          <p:cNvSpPr txBox="1"/>
          <p:nvPr/>
        </p:nvSpPr>
        <p:spPr>
          <a:xfrm>
            <a:off x="9281159" y="3017520"/>
            <a:ext cx="2514600" cy="1828800"/>
          </a:xfrm>
          <a:prstGeom prst="rect">
            <a:avLst/>
          </a:prstGeom>
          <a:noFill/>
        </p:spPr>
        <p:txBody>
          <a:bodyPr wrap="square">
            <a:spAutoFit/>
          </a:bodyPr>
          <a:lstStyle/>
          <a:p>
            <a:pPr algn="ctr">
              <a:spcAft>
                <a:spcPts val="600"/>
              </a:spcAft>
              <a:defRPr sz="1800" b="0">
                <a:solidFill>
                  <a:srgbClr val="FFFFFF"/>
                </a:solidFill>
              </a:defRPr>
            </a:pPr>
            <a:r>
              <a:t>Palmiers-dattiers, eau et vie</a:t>
            </a:r>
          </a:p>
        </p:txBody>
      </p:sp>
      <p:sp>
        <p:nvSpPr>
          <p:cNvPr id="45" name="TextBox 44"/>
          <p:cNvSpPr txBox="1"/>
          <p:nvPr/>
        </p:nvSpPr>
        <p:spPr>
          <a:xfrm>
            <a:off x="548640" y="5577840"/>
            <a:ext cx="10972800" cy="640080"/>
          </a:xfrm>
          <a:prstGeom prst="rect">
            <a:avLst/>
          </a:prstGeom>
          <a:noFill/>
        </p:spPr>
        <p:txBody>
          <a:bodyPr wrap="square">
            <a:spAutoFit/>
          </a:bodyPr>
          <a:lstStyle/>
          <a:p>
            <a:pPr algn="l">
              <a:spcAft>
                <a:spcPts val="600"/>
              </a:spcAft>
              <a:defRPr sz="2000" b="1">
                <a:solidFill>
                  <a:srgbClr val="B84A1E"/>
                </a:solidFill>
              </a:defRPr>
            </a:pPr>
            <a:r>
              <a:t>🎯 Activité : à l'oral, décris ton paysage préféré avec 3 adjectifs.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
        <p:nvSpPr>
          <p:cNvPr id="38" name="Rounded Rectangle 37">
            <a:hlinkClick action="ppaction://hlinksldjump" r:id="rId5"/>
          </p:cNvPr>
          <p:cNvSpPr/>
          <p:nvPr/>
        </p:nvSpPr>
        <p:spPr>
          <a:xfrm>
            <a:off x="8686800" y="5486400"/>
            <a:ext cx="246888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Fiche vidéo ➡️</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as-tu bien regardé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Quels pays sont présentés ?</a:t>
            </a:r>
          </a:p>
          <a:p>
            <a:pPr algn="l">
              <a:spcAft>
                <a:spcPts val="600"/>
              </a:spcAft>
              <a:defRPr sz="2200" b="0">
                <a:solidFill>
                  <a:srgbClr val="2B2B2B"/>
                </a:solidFill>
              </a:defRPr>
            </a:pPr>
            <a:r>
              <a:t>• Cite une ville et ce qu'on y voit.</a:t>
            </a:r>
          </a:p>
          <a:p>
            <a:pPr algn="l">
              <a:spcAft>
                <a:spcPts val="600"/>
              </a:spcAft>
              <a:defRPr sz="2200" b="0">
                <a:solidFill>
                  <a:srgbClr val="2B2B2B"/>
                </a:solidFill>
              </a:defRPr>
            </a:pPr>
            <a:r>
              <a:t>• Quel paysage t'a le plus surpris ? Pourquoi ?</a:t>
            </a:r>
          </a:p>
          <a:p>
            <a:pPr algn="l">
              <a:spcAft>
                <a:spcPts val="600"/>
              </a:spcAft>
              <a:defRPr sz="2200" b="0">
                <a:solidFill>
                  <a:srgbClr val="2B2B2B"/>
                </a:solidFill>
              </a:defRPr>
            </a:pPr>
            <a:r>
              <a:t>• Quelles langues entend-on ?</a:t>
            </a:r>
          </a:p>
          <a:p>
            <a:pPr algn="l">
              <a:spcAft>
                <a:spcPts val="600"/>
              </a:spcAft>
              <a:defRPr sz="2200" b="0">
                <a:solidFill>
                  <a:srgbClr val="2B2B2B"/>
                </a:solidFill>
              </a:defRPr>
            </a:pPr>
            <a:r>
              <a:t>• Vrai ou faux : le Maghreb est uniquement désertique.</a:t>
            </a:r>
          </a:p>
        </p:txBody>
      </p:sp>
      <p:sp>
        <p:nvSpPr>
          <p:cNvPr id="34" name="Rounded Rectangle 33">
            <a:hlinkClick action="ppaction://hlinksldjump" r:id="rId3"/>
          </p:cNvPr>
          <p:cNvSpPr/>
          <p:nvPr/>
        </p:nvSpPr>
        <p:spPr>
          <a:xfrm>
            <a:off x="8961120" y="548640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Maroc, Algérie, Tunisie (et parfois Libye, Mauritanie)</a:t>
            </a:r>
          </a:p>
          <a:p>
            <a:pPr algn="l">
              <a:spcAft>
                <a:spcPts val="600"/>
              </a:spcAft>
              <a:defRPr sz="2200" b="0">
                <a:solidFill>
                  <a:srgbClr val="2B2B2B"/>
                </a:solidFill>
              </a:defRPr>
            </a:pPr>
            <a:r>
              <a:t>• Ex. : Marrakech (place Jemaa el-Fna), Alger (la Casbah), Tunis (la médina)</a:t>
            </a:r>
          </a:p>
          <a:p>
            <a:pPr algn="l">
              <a:spcAft>
                <a:spcPts val="600"/>
              </a:spcAft>
              <a:defRPr sz="2200" b="0">
                <a:solidFill>
                  <a:srgbClr val="2B2B2B"/>
                </a:solidFill>
              </a:defRPr>
            </a:pPr>
            <a:r>
              <a:t>• Réponse libre — justifie avec « parce que… »</a:t>
            </a:r>
          </a:p>
          <a:p>
            <a:pPr algn="l">
              <a:spcAft>
                <a:spcPts val="600"/>
              </a:spcAft>
              <a:defRPr sz="2200" b="0">
                <a:solidFill>
                  <a:srgbClr val="2B2B2B"/>
                </a:solidFill>
              </a:defRPr>
            </a:pPr>
            <a:r>
              <a:t>• Arabe (darija), tamazight (berbère), français</a:t>
            </a:r>
          </a:p>
          <a:p>
            <a:pPr algn="l">
              <a:spcAft>
                <a:spcPts val="600"/>
              </a:spcAft>
              <a:defRPr sz="2200" b="0">
                <a:solidFill>
                  <a:srgbClr val="2B2B2B"/>
                </a:solidFill>
              </a:defRPr>
            </a:pPr>
            <a:r>
              <a:t>• FAUX ❌ : il y a aussi la mer, les montagnes, les villes, les oasis !</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1/5</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est la capitale du Maroc ?</a:t>
            </a:r>
          </a:p>
        </p:txBody>
      </p:sp>
      <p:sp>
        <p:nvSpPr>
          <p:cNvPr id="35" name="Rounded Rectangle 34">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Casablanca</a:t>
            </a:r>
          </a:p>
        </p:txBody>
      </p:sp>
      <p:sp>
        <p:nvSpPr>
          <p:cNvPr id="36" name="Rounded Rectangle 35">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Rabat</a:t>
            </a:r>
          </a:p>
        </p:txBody>
      </p:sp>
      <p:sp>
        <p:nvSpPr>
          <p:cNvPr id="37" name="Rounded Rectangle 36">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Marrakech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Rabat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2/5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 est le plus grand pays d'Afrique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Algérie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Libye</a:t>
            </a:r>
          </a:p>
        </p:txBody>
      </p:sp>
      <p:sp>
        <p:nvSpPr>
          <p:cNvPr id="36" name="Rounded Rectangle 35">
            <a:hlinkClick action="ppaction://hlinksldjump" r:id="rId4"/>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Égypte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Algérie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3/5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 signifie « Maghreb »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 désert</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Le couchant</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La mer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Le couchant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4/5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montagne traverse le Maghreb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Les Alpes</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L'Atlas</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L'Himalaya</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L'Atlas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5/5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mer borde le Maghreb au nord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Mer Rouge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Méditerranée</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Mer Noire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Méditerranée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Histoire : la frise du temps (récap)</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3291840"/>
            <a:ext cx="11064240" cy="109728"/>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7160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2011680"/>
            <a:ext cx="2194560" cy="914400"/>
          </a:xfrm>
          <a:prstGeom prst="rect">
            <a:avLst/>
          </a:prstGeom>
          <a:noFill/>
        </p:spPr>
        <p:txBody>
          <a:bodyPr wrap="square">
            <a:spAutoFit/>
          </a:bodyPr>
          <a:lstStyle/>
          <a:p>
            <a:pPr algn="ctr">
              <a:spcAft>
                <a:spcPts val="600"/>
              </a:spcAft>
              <a:defRPr sz="2000" b="1">
                <a:solidFill>
                  <a:srgbClr val="1F4E79"/>
                </a:solidFill>
              </a:defRPr>
            </a:pPr>
            <a:r>
              <a:t>Antiquité</a:t>
            </a:r>
          </a:p>
        </p:txBody>
      </p:sp>
      <p:sp>
        <p:nvSpPr>
          <p:cNvPr id="36" name="TextBox 35"/>
          <p:cNvSpPr txBox="1"/>
          <p:nvPr/>
        </p:nvSpPr>
        <p:spPr>
          <a:xfrm>
            <a:off x="548640" y="3840480"/>
            <a:ext cx="2194560" cy="1463040"/>
          </a:xfrm>
          <a:prstGeom prst="rect">
            <a:avLst/>
          </a:prstGeom>
          <a:noFill/>
        </p:spPr>
        <p:txBody>
          <a:bodyPr wrap="square">
            <a:spAutoFit/>
          </a:bodyPr>
          <a:lstStyle/>
          <a:p>
            <a:pPr algn="ctr">
              <a:spcAft>
                <a:spcPts val="600"/>
              </a:spcAft>
              <a:defRPr sz="1500" b="0">
                <a:solidFill>
                  <a:srgbClr val="2B2B2B"/>
                </a:solidFill>
              </a:defRPr>
            </a:pPr>
            <a:r>
              <a:t>Berbères (Amazighs), Carthage (814 av. J.-C.), Rome</a:t>
            </a:r>
          </a:p>
        </p:txBody>
      </p:sp>
      <p:sp>
        <p:nvSpPr>
          <p:cNvPr id="37" name="Oval 36"/>
          <p:cNvSpPr/>
          <p:nvPr/>
        </p:nvSpPr>
        <p:spPr>
          <a:xfrm>
            <a:off x="361188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88920" y="2011680"/>
            <a:ext cx="2194560" cy="914400"/>
          </a:xfrm>
          <a:prstGeom prst="rect">
            <a:avLst/>
          </a:prstGeom>
          <a:noFill/>
        </p:spPr>
        <p:txBody>
          <a:bodyPr wrap="square">
            <a:spAutoFit/>
          </a:bodyPr>
          <a:lstStyle/>
          <a:p>
            <a:pPr algn="ctr">
              <a:spcAft>
                <a:spcPts val="600"/>
              </a:spcAft>
              <a:defRPr sz="2000" b="1">
                <a:solidFill>
                  <a:srgbClr val="1F4E79"/>
                </a:solidFill>
              </a:defRPr>
            </a:pPr>
            <a:r>
              <a:t>VIIe s.</a:t>
            </a:r>
          </a:p>
        </p:txBody>
      </p:sp>
      <p:sp>
        <p:nvSpPr>
          <p:cNvPr id="39" name="TextBox 38"/>
          <p:cNvSpPr txBox="1"/>
          <p:nvPr/>
        </p:nvSpPr>
        <p:spPr>
          <a:xfrm>
            <a:off x="2788920" y="3840480"/>
            <a:ext cx="2194560" cy="1463040"/>
          </a:xfrm>
          <a:prstGeom prst="rect">
            <a:avLst/>
          </a:prstGeom>
          <a:noFill/>
        </p:spPr>
        <p:txBody>
          <a:bodyPr wrap="square">
            <a:spAutoFit/>
          </a:bodyPr>
          <a:lstStyle/>
          <a:p>
            <a:pPr algn="ctr">
              <a:spcAft>
                <a:spcPts val="600"/>
              </a:spcAft>
              <a:defRPr sz="1500" b="0">
                <a:solidFill>
                  <a:srgbClr val="2B2B2B"/>
                </a:solidFill>
              </a:defRPr>
            </a:pPr>
            <a:r>
              <a:t>Conquête arabe : islam et langue arabe</a:t>
            </a:r>
          </a:p>
        </p:txBody>
      </p:sp>
      <p:sp>
        <p:nvSpPr>
          <p:cNvPr id="40" name="Oval 39"/>
          <p:cNvSpPr/>
          <p:nvPr/>
        </p:nvSpPr>
        <p:spPr>
          <a:xfrm>
            <a:off x="585216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0" y="2011680"/>
            <a:ext cx="2194560" cy="914400"/>
          </a:xfrm>
          <a:prstGeom prst="rect">
            <a:avLst/>
          </a:prstGeom>
          <a:noFill/>
        </p:spPr>
        <p:txBody>
          <a:bodyPr wrap="square">
            <a:spAutoFit/>
          </a:bodyPr>
          <a:lstStyle/>
          <a:p>
            <a:pPr algn="ctr">
              <a:spcAft>
                <a:spcPts val="600"/>
              </a:spcAft>
              <a:defRPr sz="2000" b="1">
                <a:solidFill>
                  <a:srgbClr val="1F4E79"/>
                </a:solidFill>
              </a:defRPr>
            </a:pPr>
            <a:r>
              <a:t>XVIe s.</a:t>
            </a:r>
          </a:p>
        </p:txBody>
      </p:sp>
      <p:sp>
        <p:nvSpPr>
          <p:cNvPr id="42" name="TextBox 41"/>
          <p:cNvSpPr txBox="1"/>
          <p:nvPr/>
        </p:nvSpPr>
        <p:spPr>
          <a:xfrm>
            <a:off x="5029200" y="3840480"/>
            <a:ext cx="2194560" cy="1463040"/>
          </a:xfrm>
          <a:prstGeom prst="rect">
            <a:avLst/>
          </a:prstGeom>
          <a:noFill/>
        </p:spPr>
        <p:txBody>
          <a:bodyPr wrap="square">
            <a:spAutoFit/>
          </a:bodyPr>
          <a:lstStyle/>
          <a:p>
            <a:pPr algn="ctr">
              <a:spcAft>
                <a:spcPts val="600"/>
              </a:spcAft>
              <a:defRPr sz="1500" b="0">
                <a:solidFill>
                  <a:srgbClr val="2B2B2B"/>
                </a:solidFill>
              </a:defRPr>
            </a:pPr>
            <a:r>
              <a:t>Empire ottoman (Alger, Tunis, Tripoli) ; Maroc indépendant</a:t>
            </a:r>
          </a:p>
        </p:txBody>
      </p:sp>
      <p:sp>
        <p:nvSpPr>
          <p:cNvPr id="43" name="Oval 42"/>
          <p:cNvSpPr/>
          <p:nvPr/>
        </p:nvSpPr>
        <p:spPr>
          <a:xfrm>
            <a:off x="809244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2011680"/>
            <a:ext cx="2194560" cy="914400"/>
          </a:xfrm>
          <a:prstGeom prst="rect">
            <a:avLst/>
          </a:prstGeom>
          <a:noFill/>
        </p:spPr>
        <p:txBody>
          <a:bodyPr wrap="square">
            <a:spAutoFit/>
          </a:bodyPr>
          <a:lstStyle/>
          <a:p>
            <a:pPr algn="ctr">
              <a:spcAft>
                <a:spcPts val="600"/>
              </a:spcAft>
              <a:defRPr sz="2000" b="1">
                <a:solidFill>
                  <a:srgbClr val="1F4E79"/>
                </a:solidFill>
              </a:defRPr>
            </a:pPr>
            <a:r>
              <a:t>1830–1912</a:t>
            </a:r>
          </a:p>
        </p:txBody>
      </p:sp>
      <p:sp>
        <p:nvSpPr>
          <p:cNvPr id="45" name="TextBox 44"/>
          <p:cNvSpPr txBox="1"/>
          <p:nvPr/>
        </p:nvSpPr>
        <p:spPr>
          <a:xfrm>
            <a:off x="7269480" y="3840480"/>
            <a:ext cx="2194560" cy="1463040"/>
          </a:xfrm>
          <a:prstGeom prst="rect">
            <a:avLst/>
          </a:prstGeom>
          <a:noFill/>
        </p:spPr>
        <p:txBody>
          <a:bodyPr wrap="square">
            <a:spAutoFit/>
          </a:bodyPr>
          <a:lstStyle/>
          <a:p>
            <a:pPr algn="ctr">
              <a:spcAft>
                <a:spcPts val="600"/>
              </a:spcAft>
              <a:defRPr sz="1500" b="0">
                <a:solidFill>
                  <a:srgbClr val="2B2B2B"/>
                </a:solidFill>
              </a:defRPr>
            </a:pPr>
            <a:r>
              <a:t>Colonisation : France (Algérie, Tunisie, Maroc), Italie (Libye)</a:t>
            </a:r>
          </a:p>
        </p:txBody>
      </p:sp>
      <p:sp>
        <p:nvSpPr>
          <p:cNvPr id="46" name="Oval 45"/>
          <p:cNvSpPr/>
          <p:nvPr/>
        </p:nvSpPr>
        <p:spPr>
          <a:xfrm>
            <a:off x="1033272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09760" y="2011680"/>
            <a:ext cx="2194560" cy="914400"/>
          </a:xfrm>
          <a:prstGeom prst="rect">
            <a:avLst/>
          </a:prstGeom>
          <a:noFill/>
        </p:spPr>
        <p:txBody>
          <a:bodyPr wrap="square">
            <a:spAutoFit/>
          </a:bodyPr>
          <a:lstStyle/>
          <a:p>
            <a:pPr algn="ctr">
              <a:spcAft>
                <a:spcPts val="600"/>
              </a:spcAft>
              <a:defRPr sz="2000" b="1">
                <a:solidFill>
                  <a:srgbClr val="1F4E79"/>
                </a:solidFill>
              </a:defRPr>
            </a:pPr>
            <a:r>
              <a:t>1951–1962</a:t>
            </a:r>
          </a:p>
        </p:txBody>
      </p:sp>
      <p:sp>
        <p:nvSpPr>
          <p:cNvPr id="48" name="TextBox 47"/>
          <p:cNvSpPr txBox="1"/>
          <p:nvPr/>
        </p:nvSpPr>
        <p:spPr>
          <a:xfrm>
            <a:off x="9509760" y="3840480"/>
            <a:ext cx="2194560" cy="1463040"/>
          </a:xfrm>
          <a:prstGeom prst="rect">
            <a:avLst/>
          </a:prstGeom>
          <a:noFill/>
        </p:spPr>
        <p:txBody>
          <a:bodyPr wrap="square">
            <a:spAutoFit/>
          </a:bodyPr>
          <a:lstStyle/>
          <a:p>
            <a:pPr algn="ctr">
              <a:spcAft>
                <a:spcPts val="600"/>
              </a:spcAft>
              <a:defRPr sz="1500" b="0">
                <a:solidFill>
                  <a:srgbClr val="2B2B2B"/>
                </a:solidFill>
              </a:defRPr>
            </a:pPr>
            <a:r>
              <a:t>Indépendances</a:t>
            </a:r>
          </a:p>
        </p:txBody>
      </p:sp>
      <p:sp>
        <p:nvSpPr>
          <p:cNvPr id="49" name="TextBox 48"/>
          <p:cNvSpPr txBox="1"/>
          <p:nvPr/>
        </p:nvSpPr>
        <p:spPr>
          <a:xfrm>
            <a:off x="548640" y="5486400"/>
            <a:ext cx="10972800" cy="731520"/>
          </a:xfrm>
          <a:prstGeom prst="rect">
            <a:avLst/>
          </a:prstGeom>
          <a:noFill/>
        </p:spPr>
        <p:txBody>
          <a:bodyPr wrap="square">
            <a:spAutoFit/>
          </a:bodyPr>
          <a:lstStyle/>
          <a:p>
            <a:pPr algn="l">
              <a:spcAft>
                <a:spcPts val="600"/>
              </a:spcAft>
              <a:defRPr sz="1600" b="1">
                <a:solidFill>
                  <a:srgbClr val="B84A1E"/>
                </a:solidFill>
              </a:defRPr>
            </a:pPr>
            <a:r>
              <a:t>🗣️ Langues : arabe (darija), tamazight (ⵜⴰⵎⴰⵣⵉⵖⵜ), français • Salam = bonjour • Choukran = merci • Azul = bonjour (berbère)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Histoire : quelques données clés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1951</a:t>
            </a:r>
          </a:p>
        </p:txBody>
      </p:sp>
      <p:sp>
        <p:nvSpPr>
          <p:cNvPr id="34" name="TextBox 33"/>
          <p:cNvSpPr txBox="1"/>
          <p:nvPr/>
        </p:nvSpPr>
        <p:spPr>
          <a:xfrm>
            <a:off x="2560320" y="14173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0574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1956</a:t>
            </a:r>
          </a:p>
        </p:txBody>
      </p:sp>
      <p:sp>
        <p:nvSpPr>
          <p:cNvPr id="36" name="TextBox 35"/>
          <p:cNvSpPr txBox="1"/>
          <p:nvPr/>
        </p:nvSpPr>
        <p:spPr>
          <a:xfrm>
            <a:off x="2560320" y="2103120"/>
            <a:ext cx="9144000" cy="548640"/>
          </a:xfrm>
          <a:prstGeom prst="rect">
            <a:avLst/>
          </a:prstGeom>
          <a:noFill/>
        </p:spPr>
        <p:txBody>
          <a:bodyPr wrap="square">
            <a:spAutoFit/>
          </a:bodyPr>
          <a:lstStyle/>
          <a:p>
            <a:pPr algn="l">
              <a:spcAft>
                <a:spcPts val="600"/>
              </a:spcAft>
              <a:defRPr sz="1800" b="0">
                <a:solidFill>
                  <a:srgbClr val="2B2B2B"/>
                </a:solidFill>
              </a:defRPr>
            </a:pPr>
            <a:r>
              <a:t>Indépendance du Maroc (2 mars) et de la Tunisie (20 mars)</a:t>
            </a:r>
          </a:p>
        </p:txBody>
      </p:sp>
      <p:sp>
        <p:nvSpPr>
          <p:cNvPr id="37" name="Rounded Rectangle 36"/>
          <p:cNvSpPr/>
          <p:nvPr/>
        </p:nvSpPr>
        <p:spPr>
          <a:xfrm>
            <a:off x="548640" y="27432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1954–1962</a:t>
            </a:r>
          </a:p>
        </p:txBody>
      </p:sp>
      <p:sp>
        <p:nvSpPr>
          <p:cNvPr id="38" name="TextBox 37"/>
          <p:cNvSpPr txBox="1"/>
          <p:nvPr/>
        </p:nvSpPr>
        <p:spPr>
          <a:xfrm>
            <a:off x="2560320" y="2788920"/>
            <a:ext cx="9144000" cy="548640"/>
          </a:xfrm>
          <a:prstGeom prst="rect">
            <a:avLst/>
          </a:prstGeom>
          <a:noFill/>
        </p:spPr>
        <p:txBody>
          <a:bodyPr wrap="square">
            <a:spAutoFit/>
          </a:bodyPr>
          <a:lstStyle/>
          <a:p>
            <a:pPr algn="l">
              <a:spcAft>
                <a:spcPts val="600"/>
              </a:spcAft>
              <a:defRPr sz="1800" b="0">
                <a:solidFill>
                  <a:srgbClr val="2B2B2B"/>
                </a:solidFill>
              </a:defRPr>
            </a:pPr>
            <a:r>
              <a:t>Guerre d'Algérie → indépendance le 5 juillet 1962</a:t>
            </a:r>
          </a:p>
        </p:txBody>
      </p:sp>
      <p:sp>
        <p:nvSpPr>
          <p:cNvPr id="39" name="Rounded Rectangle 38"/>
          <p:cNvSpPr/>
          <p:nvPr/>
        </p:nvSpPr>
        <p:spPr>
          <a:xfrm>
            <a:off x="548640" y="34290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1960</a:t>
            </a:r>
          </a:p>
        </p:txBody>
      </p:sp>
      <p:sp>
        <p:nvSpPr>
          <p:cNvPr id="40" name="TextBox 39"/>
          <p:cNvSpPr txBox="1"/>
          <p:nvPr/>
        </p:nvSpPr>
        <p:spPr>
          <a:xfrm>
            <a:off x="2560320" y="34747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Mauritanie</a:t>
            </a:r>
          </a:p>
        </p:txBody>
      </p:sp>
      <p:sp>
        <p:nvSpPr>
          <p:cNvPr id="41" name="Rounded Rectangle 40"/>
          <p:cNvSpPr/>
          <p:nvPr/>
        </p:nvSpPr>
        <p:spPr>
          <a:xfrm>
            <a:off x="548640" y="41148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1989</a:t>
            </a:r>
          </a:p>
        </p:txBody>
      </p:sp>
      <p:sp>
        <p:nvSpPr>
          <p:cNvPr id="42" name="TextBox 41"/>
          <p:cNvSpPr txBox="1"/>
          <p:nvPr/>
        </p:nvSpPr>
        <p:spPr>
          <a:xfrm>
            <a:off x="2560320" y="4160520"/>
            <a:ext cx="9144000" cy="548640"/>
          </a:xfrm>
          <a:prstGeom prst="rect">
            <a:avLst/>
          </a:prstGeom>
          <a:noFill/>
        </p:spPr>
        <p:txBody>
          <a:bodyPr wrap="square">
            <a:spAutoFit/>
          </a:bodyPr>
          <a:lstStyle/>
          <a:p>
            <a:pPr algn="l">
              <a:spcAft>
                <a:spcPts val="600"/>
              </a:spcAft>
              <a:defRPr sz="1800" b="0">
                <a:solidFill>
                  <a:srgbClr val="2B2B2B"/>
                </a:solidFill>
              </a:defRPr>
            </a:pPr>
            <a:r>
              <a:t>Création de l'Union du Maghreb arabe (Marrakech)</a:t>
            </a:r>
          </a:p>
        </p:txBody>
      </p:sp>
      <p:sp>
        <p:nvSpPr>
          <p:cNvPr id="43" name="Rounded Rectangle 42"/>
          <p:cNvSpPr/>
          <p:nvPr/>
        </p:nvSpPr>
        <p:spPr>
          <a:xfrm>
            <a:off x="548640" y="48006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2011</a:t>
            </a:r>
          </a:p>
        </p:txBody>
      </p:sp>
      <p:sp>
        <p:nvSpPr>
          <p:cNvPr id="44" name="TextBox 43"/>
          <p:cNvSpPr txBox="1"/>
          <p:nvPr/>
        </p:nvSpPr>
        <p:spPr>
          <a:xfrm>
            <a:off x="2560320" y="4846320"/>
            <a:ext cx="9144000" cy="548640"/>
          </a:xfrm>
          <a:prstGeom prst="rect">
            <a:avLst/>
          </a:prstGeom>
          <a:noFill/>
        </p:spPr>
        <p:txBody>
          <a:bodyPr wrap="square">
            <a:spAutoFit/>
          </a:bodyPr>
          <a:lstStyle/>
          <a:p>
            <a:pPr algn="l">
              <a:spcAft>
                <a:spcPts val="600"/>
              </a:spcAft>
              <a:defRPr sz="1800" b="0">
                <a:solidFill>
                  <a:srgbClr val="2B2B2B"/>
                </a:solidFill>
              </a:defRPr>
            </a:pPr>
            <a:r>
              <a:t>« Printemps arabe » : départ de Ben Ali (Tunisie), chute de Kadhafi (Libye)</a:t>
            </a:r>
          </a:p>
        </p:txBody>
      </p:sp>
      <p:sp>
        <p:nvSpPr>
          <p:cNvPr id="45" name="Rounded Rectangle 44"/>
          <p:cNvSpPr/>
          <p:nvPr/>
        </p:nvSpPr>
        <p:spPr>
          <a:xfrm>
            <a:off x="548640" y="54864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2020</a:t>
            </a:r>
          </a:p>
        </p:txBody>
      </p:sp>
      <p:sp>
        <p:nvSpPr>
          <p:cNvPr id="46" name="TextBox 45"/>
          <p:cNvSpPr txBox="1"/>
          <p:nvPr/>
        </p:nvSpPr>
        <p:spPr>
          <a:xfrm>
            <a:off x="2560320" y="5532120"/>
            <a:ext cx="9144000" cy="548640"/>
          </a:xfrm>
          <a:prstGeom prst="rect">
            <a:avLst/>
          </a:prstGeom>
          <a:noFill/>
        </p:spPr>
        <p:txBody>
          <a:bodyPr wrap="square">
            <a:spAutoFit/>
          </a:bodyPr>
          <a:lstStyle/>
          <a:p>
            <a:pPr algn="l">
              <a:spcAft>
                <a:spcPts val="600"/>
              </a:spcAft>
              <a:defRPr sz="1800" b="0">
                <a:solidFill>
                  <a:srgbClr val="2B2B2B"/>
                </a:solidFill>
              </a:defRPr>
            </a:pPr>
            <a:r>
              <a:t>Le couscous inscrit au patrimoine de l'UNESCO (candidature commune)</a:t>
            </a:r>
          </a:p>
        </p:txBody>
      </p:sp>
      <p:sp>
        <p:nvSpPr>
          <p:cNvPr id="47" name="TextBox 46"/>
          <p:cNvSpPr txBox="1"/>
          <p:nvPr/>
        </p:nvSpPr>
        <p:spPr>
          <a:xfrm>
            <a:off x="548640" y="6217920"/>
            <a:ext cx="10058400" cy="365760"/>
          </a:xfrm>
          <a:prstGeom prst="rect">
            <a:avLst/>
          </a:prstGeom>
          <a:noFill/>
        </p:spPr>
        <p:txBody>
          <a:bodyPr wrap="square">
            <a:spAutoFit/>
          </a:bodyPr>
          <a:lstStyle/>
          <a:p>
            <a:pPr algn="l">
              <a:spcAft>
                <a:spcPts val="600"/>
              </a:spcAft>
              <a:defRPr sz="1500" b="1">
                <a:solidFill>
                  <a:srgbClr val="1F4E79"/>
                </a:solidFill>
              </a:defRPr>
            </a:pPr>
            <a:r>
              <a:t>🎯 Question : combien d'années séparent l'indépendance de la Libye de celle de l'Algérie ? (11 ans)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V. 3 000 ans d'histoire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40'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737360"/>
            <a:ext cx="10972800" cy="914400"/>
          </a:xfrm>
          <a:prstGeom prst="rect">
            <a:avLst/>
          </a:prstGeom>
          <a:noFill/>
        </p:spPr>
        <p:txBody>
          <a:bodyPr wrap="square">
            <a:spAutoFit/>
          </a:bodyPr>
          <a:lstStyle/>
          <a:p>
            <a:pPr algn="ctr">
              <a:spcAft>
                <a:spcPts val="600"/>
              </a:spcAft>
              <a:defRPr sz="3400" b="1">
                <a:solidFill>
                  <a:srgbClr val="E0A11B"/>
                </a:solidFill>
              </a:defRPr>
            </a:pPr>
            <a:r>
              <a:t>📜 Le Maghreb, un carrefour de civilisations</a:t>
            </a:r>
          </a:p>
        </p:txBody>
      </p:sp>
      <p:sp>
        <p:nvSpPr>
          <p:cNvPr id="35" name="Rounded Rectangle 34">
            <a:hlinkClick action="ppaction://hlinksldjump" r:id="rId4"/>
          </p:cNvPr>
          <p:cNvSpPr/>
          <p:nvPr/>
        </p:nvSpPr>
        <p:spPr>
          <a:xfrm>
            <a:off x="822960" y="310896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Antiquité</a:t>
            </a:r>
          </a:p>
        </p:txBody>
      </p:sp>
      <p:sp>
        <p:nvSpPr>
          <p:cNvPr id="36" name="Rounded Rectangle 35">
            <a:hlinkClick action="ppaction://hlinksldjump" r:id="rId5"/>
          </p:cNvPr>
          <p:cNvSpPr/>
          <p:nvPr/>
        </p:nvSpPr>
        <p:spPr>
          <a:xfrm>
            <a:off x="4480560" y="310896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Islam &amp; dynasties</a:t>
            </a:r>
          </a:p>
        </p:txBody>
      </p:sp>
      <p:sp>
        <p:nvSpPr>
          <p:cNvPr id="37" name="Rounded Rectangle 36">
            <a:hlinkClick action="ppaction://hlinksldjump" r:id="rId6"/>
          </p:cNvPr>
          <p:cNvSpPr/>
          <p:nvPr/>
        </p:nvSpPr>
        <p:spPr>
          <a:xfrm>
            <a:off x="8138160" y="310896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Ottomans</a:t>
            </a:r>
          </a:p>
        </p:txBody>
      </p:sp>
      <p:sp>
        <p:nvSpPr>
          <p:cNvPr id="38" name="Rounded Rectangle 37">
            <a:hlinkClick action="ppaction://hlinksldjump" r:id="rId7"/>
          </p:cNvPr>
          <p:cNvSpPr/>
          <p:nvPr/>
        </p:nvSpPr>
        <p:spPr>
          <a:xfrm>
            <a:off x="822960" y="438912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Colonisation</a:t>
            </a:r>
          </a:p>
        </p:txBody>
      </p:sp>
      <p:sp>
        <p:nvSpPr>
          <p:cNvPr id="39" name="Rounded Rectangle 38">
            <a:hlinkClick action="ppaction://hlinksldjump" r:id="rId8"/>
          </p:cNvPr>
          <p:cNvSpPr/>
          <p:nvPr/>
        </p:nvSpPr>
        <p:spPr>
          <a:xfrm>
            <a:off x="4480560" y="438912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Indépendances</a:t>
            </a:r>
          </a:p>
        </p:txBody>
      </p:sp>
      <p:sp>
        <p:nvSpPr>
          <p:cNvPr id="40" name="Rounded Rectangle 39">
            <a:hlinkClick action="ppaction://hlinksldjump" r:id="rId9"/>
          </p:cNvPr>
          <p:cNvSpPr/>
          <p:nvPr/>
        </p:nvSpPr>
        <p:spPr>
          <a:xfrm>
            <a:off x="8138160" y="438912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Qui suis-je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L'Antiquité : Berbères, Carthage et Rome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3000 av.</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Les Berbères (Amazighs, « hommes libres ») peuplent l'Afrique du Nord</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814 av. J.-C.</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Phéniciens fondent Carthage (près de Tunis)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218 av. J.-C.</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Hannibal traverse les Alpes avec des éléphants pour attaquer Rome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146 av. J.-C.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Rome détruit Carthage : l'« Africa » devient province romaine</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354–430</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Saint Augustin, Berbère né en Algérie, grand penseur chrétien</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Vestiges</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Timgad, Djemila (Algérie), Volubilis (Maroc), El Jem (Tunisie)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 signifie « Amazigh », le nom des Berbères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L'Antiquité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 signifie « Amazigh », le nom des Berbères ?</a:t>
            </a:r>
          </a:p>
          <a:p>
            <a:pPr algn="ctr">
              <a:spcAft>
                <a:spcPts val="600"/>
              </a:spcAft>
              <a:defRPr sz="2400" b="1">
                <a:solidFill>
                  <a:srgbClr val="2B2B2B"/>
                </a:solidFill>
              </a:defRPr>
            </a:pPr>
          </a:p>
          <a:p>
            <a:pPr algn="ctr">
              <a:spcAft>
                <a:spcPts val="600"/>
              </a:spcAft>
              <a:defRPr sz="2400" b="1">
                <a:solidFill>
                  <a:srgbClr val="2B2B2B"/>
                </a:solidFill>
              </a:defRPr>
            </a:pPr>
            <a:r>
              <a:t>➡️ « Homme libre ». Le Maghreb est berbère bien avant d'être arabe !</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670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Fondation de Kairouan ; conquête arabe du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711</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Tariq ibn Ziyad passe en Espagne : début d'Al-Andalus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789</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Fondation de Fès par les Idrissides (Maroc)</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859</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Fatima al-Fihri fonde la Qarawiyyin à Fès</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XIe–XIIIe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Almoravides puis Almohades : empires berbères de l'Espagne au Sahara</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1325–1354</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Ibn Battuta, né à Tanger, voyage jusqu'en Chine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Qui a fondé la plus ancienne université du monde encore en activité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Qui a fondé la plus ancienne université du monde encore en activité ?</a:t>
            </a:r>
          </a:p>
          <a:p>
            <a:pPr algn="ctr">
              <a:spcAft>
                <a:spcPts val="600"/>
              </a:spcAft>
              <a:defRPr sz="2400" b="1">
                <a:solidFill>
                  <a:srgbClr val="2B2B2B"/>
                </a:solidFill>
              </a:defRPr>
            </a:pPr>
          </a:p>
          <a:p>
            <a:pPr algn="ctr">
              <a:spcAft>
                <a:spcPts val="600"/>
              </a:spcAft>
              <a:defRPr sz="2400" b="1">
                <a:solidFill>
                  <a:srgbClr val="2B2B2B"/>
                </a:solidFill>
              </a:defRPr>
            </a:pPr>
            <a:r>
              <a:t>➡️ Une femme : Fatima al-Fihri, en 859, à Fès (la Qarawiyyin).</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1492</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Fin d'Al-Andalus : musulmans et juifs d'Espagne se réfugient au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1516–1529</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frères Barberousse prennent Alger</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XVIe s.</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Alger, Tunis et Tripoli passent sous l'Empire ottoman</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Maroc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Reste indépendant (dynasties saadienne puis alaouite, encore au pouvoir)</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Les corsaires « barbaresques » capturent des navires en Méditerranée</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 pays du Maghreb n'a jamais été ottoman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 pays du Maghreb n'a jamais été ottoman ?</a:t>
            </a:r>
          </a:p>
          <a:p>
            <a:pPr algn="ctr">
              <a:spcAft>
                <a:spcPts val="600"/>
              </a:spcAft>
              <a:defRPr sz="2400" b="1">
                <a:solidFill>
                  <a:srgbClr val="2B2B2B"/>
                </a:solidFill>
              </a:defRPr>
            </a:pPr>
          </a:p>
          <a:p>
            <a:pPr algn="ctr">
              <a:spcAft>
                <a:spcPts val="600"/>
              </a:spcAft>
              <a:defRPr sz="2400" b="1">
                <a:solidFill>
                  <a:srgbClr val="2B2B2B"/>
                </a:solidFill>
              </a:defRPr>
            </a:pPr>
            <a:r>
              <a:t>➡️ Le Maroc, gouverné par la dynastie alaouite depuis le XVIIe siècle (le roi actuel, Mohammed VI, en fait partie).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La France prend Alger ; l'Algérie devient française (3 départements)</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1832–1847</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L'émir Abd el-Kader résiste à la conquête</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1881</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Protectorat français sur la Tunisie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1911–1912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Italie en Libye ; protectorats français et espagnol sur le Maroc</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1914–1945</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Des tirailleurs maghrébins combattent pour la France dans les deux guerres mondiales</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Quelle différence entre une colonie et un protectorat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Quelle différence entre une colonie et un protectorat ?</a:t>
            </a:r>
          </a:p>
          <a:p>
            <a:pPr algn="ctr">
              <a:spcAft>
                <a:spcPts val="600"/>
              </a:spcAft>
              <a:defRPr sz="2400" b="1">
                <a:solidFill>
                  <a:srgbClr val="2B2B2B"/>
                </a:solidFill>
              </a:defRPr>
            </a:pPr>
          </a:p>
          <a:p>
            <a:pPr algn="ctr">
              <a:spcAft>
                <a:spcPts val="600"/>
              </a:spcAft>
              <a:defRPr sz="2400" b="1">
                <a:solidFill>
                  <a:srgbClr val="2B2B2B"/>
                </a:solidFill>
              </a:defRPr>
            </a:pPr>
            <a:r>
              <a:t>➡️ Colonie (Algérie) : le pays est annexé et gouverné directement. Protectorat (Maroc, Tunisie) : le souverain local reste, mais la France contrôle.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1951</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1956</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Indépendance du Maroc (Mohammed V) et de la Tunisie (Bourguiba)</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1er nov. 1954</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 Toussaint rouge » : le FLN déclenche la guerre d'Algérie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Accords d'Évian → indépendance de l'Algérie (5 juillet)</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Environ 1 million de pieds-noirs et des harkis partent pour la France</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Aujourd'hui</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Une histoire commune : des millions de Français ont des origines maghrébines</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Combien de temps a duré la guerre d'Algérie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Combien de temps a duré la guerre d'Algérie ?</a:t>
            </a:r>
          </a:p>
          <a:p>
            <a:pPr algn="ctr">
              <a:spcAft>
                <a:spcPts val="600"/>
              </a:spcAft>
              <a:defRPr sz="2400" b="1">
                <a:solidFill>
                  <a:srgbClr val="2B2B2B"/>
                </a:solidFill>
              </a:defRPr>
            </a:pPr>
          </a:p>
          <a:p>
            <a:pPr algn="ctr">
              <a:spcAft>
                <a:spcPts val="600"/>
              </a:spcAft>
              <a:defRPr sz="2400" b="1">
                <a:solidFill>
                  <a:srgbClr val="2B2B2B"/>
                </a:solidFill>
              </a:defRPr>
            </a:pPr>
            <a:r>
              <a:t>➡️ Près de 8 ans (1954-1962), avec des centaines de milliers de morts. Une mémoire encore sensible des deux côtés de la Méditerranée.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Qui suis-je ? Les grands personnages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Carthage et j'ai traversé les Alpes avec des éléphants. »</a:t>
            </a:r>
          </a:p>
        </p:txBody>
      </p:sp>
      <p:sp>
        <p:nvSpPr>
          <p:cNvPr id="35" name="Rounded Rectangle 34">
            <a:hlinkClick action="ppaction://hlinksldjump" r:id="rId4"/>
          </p:cNvPr>
          <p:cNvSpPr/>
          <p:nvPr/>
        </p:nvSpPr>
        <p:spPr>
          <a:xfrm>
            <a:off x="1097280" y="288036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6" name="Rounded Rectangle 35"/>
          <p:cNvSpPr/>
          <p:nvPr/>
        </p:nvSpPr>
        <p:spPr>
          <a:xfrm>
            <a:off x="434340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Thagaste (Algérie) et je suis un saint chrétien. »</a:t>
            </a:r>
          </a:p>
        </p:txBody>
      </p:sp>
      <p:sp>
        <p:nvSpPr>
          <p:cNvPr id="38" name="Rounded Rectangle 37">
            <a:hlinkClick action="ppaction://hlinksldjump" r:id="rId4"/>
          </p:cNvPr>
          <p:cNvSpPr/>
          <p:nvPr/>
        </p:nvSpPr>
        <p:spPr>
          <a:xfrm>
            <a:off x="4892040" y="288036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9" name="Rounded Rectangle 38"/>
          <p:cNvSpPr/>
          <p:nvPr/>
        </p:nvSpPr>
        <p:spPr>
          <a:xfrm>
            <a:off x="813816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320" y="1508760"/>
            <a:ext cx="3291840" cy="1371600"/>
          </a:xfrm>
          <a:prstGeom prst="rect">
            <a:avLst/>
          </a:prstGeom>
          <a:noFill/>
        </p:spPr>
        <p:txBody>
          <a:bodyPr wrap="square">
            <a:spAutoFit/>
          </a:bodyPr>
          <a:lstStyle/>
          <a:p>
            <a:pPr algn="l">
              <a:spcAft>
                <a:spcPts val="600"/>
              </a:spcAft>
              <a:defRPr sz="1500" b="0">
                <a:solidFill>
                  <a:srgbClr val="2B2B2B"/>
                </a:solidFill>
              </a:defRPr>
            </a:pPr>
            <a:r>
              <a:t>« Un rocher d'Espagne porte mon nom. »</a:t>
            </a:r>
          </a:p>
        </p:txBody>
      </p:sp>
      <p:sp>
        <p:nvSpPr>
          <p:cNvPr id="41" name="Rounded Rectangle 40">
            <a:hlinkClick action="ppaction://hlinksldjump" r:id="rId4"/>
          </p:cNvPr>
          <p:cNvSpPr/>
          <p:nvPr/>
        </p:nvSpPr>
        <p:spPr>
          <a:xfrm>
            <a:off x="8686800" y="288036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2" name="Rounded Rectangle 41"/>
          <p:cNvSpPr/>
          <p:nvPr/>
        </p:nvSpPr>
        <p:spPr>
          <a:xfrm>
            <a:off x="54864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3886200"/>
            <a:ext cx="3291840" cy="1371600"/>
          </a:xfrm>
          <a:prstGeom prst="rect">
            <a:avLst/>
          </a:prstGeom>
          <a:noFill/>
        </p:spPr>
        <p:txBody>
          <a:bodyPr wrap="square">
            <a:spAutoFit/>
          </a:bodyPr>
          <a:lstStyle/>
          <a:p>
            <a:pPr algn="l">
              <a:spcAft>
                <a:spcPts val="600"/>
              </a:spcAft>
              <a:defRPr sz="1500" b="0">
                <a:solidFill>
                  <a:srgbClr val="2B2B2B"/>
                </a:solidFill>
              </a:defRPr>
            </a:pPr>
            <a:r>
              <a:t>« Né à Tanger, j'ai voyagé 30 ans jusqu'en Chine. »</a:t>
            </a:r>
          </a:p>
        </p:txBody>
      </p:sp>
      <p:sp>
        <p:nvSpPr>
          <p:cNvPr id="44" name="Rounded Rectangle 43">
            <a:hlinkClick action="ppaction://hlinksldjump" r:id="rId4"/>
          </p:cNvPr>
          <p:cNvSpPr/>
          <p:nvPr/>
        </p:nvSpPr>
        <p:spPr>
          <a:xfrm>
            <a:off x="1097280" y="525780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5" name="Rounded Rectangle 44"/>
          <p:cNvSpPr/>
          <p:nvPr/>
        </p:nvSpPr>
        <p:spPr>
          <a:xfrm>
            <a:off x="434340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80560" y="3886200"/>
            <a:ext cx="3291840" cy="1371600"/>
          </a:xfrm>
          <a:prstGeom prst="rect">
            <a:avLst/>
          </a:prstGeom>
          <a:noFill/>
        </p:spPr>
        <p:txBody>
          <a:bodyPr wrap="square">
            <a:spAutoFit/>
          </a:bodyPr>
          <a:lstStyle/>
          <a:p>
            <a:pPr algn="l">
              <a:spcAft>
                <a:spcPts val="600"/>
              </a:spcAft>
              <a:defRPr sz="1500" b="0">
                <a:solidFill>
                  <a:srgbClr val="2B2B2B"/>
                </a:solidFill>
              </a:defRPr>
            </a:pPr>
            <a:r>
              <a:t>« J'ai combattu la conquête française de l'Algérie. »</a:t>
            </a:r>
          </a:p>
        </p:txBody>
      </p:sp>
      <p:sp>
        <p:nvSpPr>
          <p:cNvPr id="47" name="Rounded Rectangle 46">
            <a:hlinkClick action="ppaction://hlinksldjump" r:id="rId4"/>
          </p:cNvPr>
          <p:cNvSpPr/>
          <p:nvPr/>
        </p:nvSpPr>
        <p:spPr>
          <a:xfrm>
            <a:off x="4892040" y="525780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8" name="Rounded Rectangle 47"/>
          <p:cNvSpPr/>
          <p:nvPr/>
        </p:nvSpPr>
        <p:spPr>
          <a:xfrm>
            <a:off x="813816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75320" y="3886200"/>
            <a:ext cx="3291840" cy="1371600"/>
          </a:xfrm>
          <a:prstGeom prst="rect">
            <a:avLst/>
          </a:prstGeom>
          <a:noFill/>
        </p:spPr>
        <p:txBody>
          <a:bodyPr wrap="square">
            <a:spAutoFit/>
          </a:bodyPr>
          <a:lstStyle/>
          <a:p>
            <a:pPr algn="l">
              <a:spcAft>
                <a:spcPts val="600"/>
              </a:spcAft>
              <a:defRPr sz="1500" b="0">
                <a:solidFill>
                  <a:srgbClr val="2B2B2B"/>
                </a:solidFill>
              </a:defRPr>
            </a:pPr>
            <a:r>
              <a:t>« J'ai été le 1er président de la Tunisie et j'ai donné des droits aux femmes. »</a:t>
            </a:r>
          </a:p>
        </p:txBody>
      </p:sp>
      <p:sp>
        <p:nvSpPr>
          <p:cNvPr id="50" name="Rounded Rectangle 49">
            <a:hlinkClick action="ppaction://hlinksldjump" r:id="rId4"/>
          </p:cNvPr>
          <p:cNvSpPr/>
          <p:nvPr/>
        </p:nvSpPr>
        <p:spPr>
          <a:xfrm>
            <a:off x="8686800" y="525780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Réponses : qui suis-je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1">
                <a:solidFill>
                  <a:srgbClr val="B84A1E"/>
                </a:solidFill>
              </a:defRPr>
            </a:pPr>
            <a:r>
              <a:t>1. Hannibal</a:t>
            </a:r>
          </a:p>
          <a:p>
            <a:pPr algn="l">
              <a:spcAft>
                <a:spcPts val="600"/>
              </a:spcAft>
              <a:defRPr sz="2400" b="1">
                <a:solidFill>
                  <a:srgbClr val="B84A1E"/>
                </a:solidFill>
              </a:defRPr>
            </a:pPr>
            <a:r>
              <a:t>2. Saint Augustin</a:t>
            </a:r>
          </a:p>
          <a:p>
            <a:pPr algn="l">
              <a:spcAft>
                <a:spcPts val="600"/>
              </a:spcAft>
              <a:defRPr sz="2400" b="1">
                <a:solidFill>
                  <a:srgbClr val="B84A1E"/>
                </a:solidFill>
              </a:defRPr>
            </a:pPr>
            <a:r>
              <a:t>3. Tariq ibn Ziyad</a:t>
            </a:r>
          </a:p>
          <a:p>
            <a:pPr algn="l">
              <a:spcAft>
                <a:spcPts val="600"/>
              </a:spcAft>
              <a:defRPr sz="2400" b="1">
                <a:solidFill>
                  <a:srgbClr val="B84A1E"/>
                </a:solidFill>
              </a:defRPr>
            </a:pPr>
            <a:r>
              <a:t>4. Ibn Battuta</a:t>
            </a:r>
          </a:p>
          <a:p>
            <a:pPr algn="l">
              <a:spcAft>
                <a:spcPts val="600"/>
              </a:spcAft>
              <a:defRPr sz="2400" b="1">
                <a:solidFill>
                  <a:srgbClr val="B84A1E"/>
                </a:solidFill>
              </a:defRPr>
            </a:pPr>
            <a:r>
              <a:t>5. L'émir Abd el-Kader</a:t>
            </a:r>
          </a:p>
          <a:p>
            <a:pPr algn="l">
              <a:spcAft>
                <a:spcPts val="600"/>
              </a:spcAft>
              <a:defRPr sz="2400" b="1">
                <a:solidFill>
                  <a:srgbClr val="B84A1E"/>
                </a:solidFill>
              </a:defRPr>
            </a:pPr>
            <a:r>
              <a:t>6. Habib Bourguiba</a:t>
            </a:r>
          </a:p>
        </p:txBody>
      </p:sp>
      <p:sp>
        <p:nvSpPr>
          <p:cNvPr id="34" name="Rounded Rectangle 33">
            <a:hlinkClick action="ppaction://hlinksldjump" r:id="rId3"/>
          </p:cNvPr>
          <p:cNvSpPr/>
          <p:nvPr/>
        </p:nvSpPr>
        <p:spPr>
          <a:xfrm>
            <a:off x="8595360" y="548640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Époques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Remets l'histoire dans l'ordre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822960" y="155448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Indépendance de l'Algérie</a:t>
            </a:r>
          </a:p>
        </p:txBody>
      </p:sp>
      <p:sp>
        <p:nvSpPr>
          <p:cNvPr id="34" name="Rounded Rectangle 33"/>
          <p:cNvSpPr/>
          <p:nvPr/>
        </p:nvSpPr>
        <p:spPr>
          <a:xfrm>
            <a:off x="4480560" y="155448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Carthage</a:t>
            </a:r>
          </a:p>
        </p:txBody>
      </p:sp>
      <p:sp>
        <p:nvSpPr>
          <p:cNvPr id="35" name="Rounded Rectangle 34"/>
          <p:cNvSpPr/>
          <p:nvPr/>
        </p:nvSpPr>
        <p:spPr>
          <a:xfrm>
            <a:off x="8138160" y="155448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Kairouan</a:t>
            </a:r>
          </a:p>
        </p:txBody>
      </p:sp>
      <p:sp>
        <p:nvSpPr>
          <p:cNvPr id="36" name="Rounded Rectangle 35"/>
          <p:cNvSpPr/>
          <p:nvPr/>
        </p:nvSpPr>
        <p:spPr>
          <a:xfrm>
            <a:off x="822960" y="301752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Prise d'Alger par la France</a:t>
            </a:r>
          </a:p>
        </p:txBody>
      </p:sp>
      <p:sp>
        <p:nvSpPr>
          <p:cNvPr id="37" name="Rounded Rectangle 36"/>
          <p:cNvSpPr/>
          <p:nvPr/>
        </p:nvSpPr>
        <p:spPr>
          <a:xfrm>
            <a:off x="4480560" y="301752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la Qarawiyyin</a:t>
            </a:r>
          </a:p>
        </p:txBody>
      </p:sp>
      <p:sp>
        <p:nvSpPr>
          <p:cNvPr id="38" name="Rounded Rectangle 37"/>
          <p:cNvSpPr/>
          <p:nvPr/>
        </p:nvSpPr>
        <p:spPr>
          <a:xfrm>
            <a:off x="8138160" y="301752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Printemps arabe</a:t>
            </a:r>
          </a:p>
        </p:txBody>
      </p:sp>
      <p:sp>
        <p:nvSpPr>
          <p:cNvPr id="39" name="Rounded Rectangle 38">
            <a:hlinkClick action="ppaction://hlinksldjump" r:id="rId4"/>
          </p:cNvPr>
          <p:cNvSpPr/>
          <p:nvPr/>
        </p:nvSpPr>
        <p:spPr>
          <a:xfrm>
            <a:off x="4754880" y="4937760"/>
            <a:ext cx="265176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Correction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L'ordre chronologique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0">
                <a:solidFill>
                  <a:srgbClr val="2B2B2B"/>
                </a:solidFill>
              </a:defRPr>
            </a:pPr>
            <a:r>
              <a:t>1. Fondation de Carthage — 814 av. J.-C.</a:t>
            </a:r>
          </a:p>
          <a:p>
            <a:pPr algn="l">
              <a:spcAft>
                <a:spcPts val="600"/>
              </a:spcAft>
              <a:defRPr sz="2400" b="0">
                <a:solidFill>
                  <a:srgbClr val="2B2B2B"/>
                </a:solidFill>
              </a:defRPr>
            </a:pPr>
            <a:r>
              <a:t>2. Fondation de Kairouan — 670</a:t>
            </a:r>
          </a:p>
          <a:p>
            <a:pPr algn="l">
              <a:spcAft>
                <a:spcPts val="600"/>
              </a:spcAft>
              <a:defRPr sz="2400" b="0">
                <a:solidFill>
                  <a:srgbClr val="2B2B2B"/>
                </a:solidFill>
              </a:defRPr>
            </a:pPr>
            <a:r>
              <a:t>3. Fondation de la Qarawiyyin — 859</a:t>
            </a:r>
          </a:p>
          <a:p>
            <a:pPr algn="l">
              <a:spcAft>
                <a:spcPts val="600"/>
              </a:spcAft>
              <a:defRPr sz="2400" b="0">
                <a:solidFill>
                  <a:srgbClr val="2B2B2B"/>
                </a:solidFill>
              </a:defRPr>
            </a:pPr>
            <a:r>
              <a:t>4. Prise d'Alger par la France — 1830</a:t>
            </a:r>
          </a:p>
          <a:p>
            <a:pPr algn="l">
              <a:spcAft>
                <a:spcPts val="600"/>
              </a:spcAft>
              <a:defRPr sz="2400" b="0">
                <a:solidFill>
                  <a:srgbClr val="2B2B2B"/>
                </a:solidFill>
              </a:defRPr>
            </a:pPr>
            <a:r>
              <a:t>5. Indépendance de l'Algérie — 1962</a:t>
            </a:r>
          </a:p>
          <a:p>
            <a:pPr algn="l">
              <a:spcAft>
                <a:spcPts val="600"/>
              </a:spcAft>
              <a:defRPr sz="2400" b="0">
                <a:solidFill>
                  <a:srgbClr val="2B2B2B"/>
                </a:solidFill>
              </a:defRPr>
            </a:pPr>
            <a:r>
              <a:t>6. Printemps arabe — 2010-2011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1 : pourquoi parle-t-on français au Maghreb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Une langue héritée de l'histoire</a:t>
            </a:r>
          </a:p>
          <a:p>
            <a:pPr algn="l">
              <a:spcAft>
                <a:spcPts val="600"/>
              </a:spcAft>
              <a:defRPr sz="1500" b="0">
                <a:solidFill>
                  <a:srgbClr val="2B2B2B"/>
                </a:solidFill>
              </a:defRPr>
            </a:pPr>
            <a:r>
              <a:t>Les pays du Maghreb ont été colonisés par la France pendant plus de cent ans. Cette période a fortement influencé la langue, l'école et l'organisation administrative. Après l'indépendance, les États ont choisi l'arabe comme langue officielle, mais le français n'a pas disparu.</a:t>
            </a:r>
          </a:p>
          <a:p>
            <a:pPr algn="l">
              <a:spcAft>
                <a:spcPts val="600"/>
              </a:spcAft>
              <a:defRPr sz="1500" b="0">
                <a:solidFill>
                  <a:srgbClr val="2B2B2B"/>
                </a:solidFill>
              </a:defRPr>
            </a:pPr>
            <a:r>
              <a:t>Aujourd'hui, le français est une langue de travail et d'ouverture internationale. Il permet de faciliter les échanges économiques, le tourisme et les études à l'étranger. Même si certains pays souhaitent renforcer l'usage de l'arabe, le français reste une langue très utilisée par la population.</a:t>
            </a:r>
          </a:p>
        </p:txBody>
      </p:sp>
      <p:sp>
        <p:nvSpPr>
          <p:cNvPr id="36" name="TextBox 35"/>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Quelle période historique explique la présence du français ?</a:t>
            </a:r>
          </a:p>
          <a:p>
            <a:pPr algn="l">
              <a:spcAft>
                <a:spcPts val="600"/>
              </a:spcAft>
              <a:defRPr sz="1700" b="1">
                <a:solidFill>
                  <a:srgbClr val="1F4E79"/>
                </a:solidFill>
              </a:defRPr>
            </a:pPr>
            <a:r>
              <a:t>2. Pourquoi le français n'a-t-il pas disparu après l'indépendance ?</a:t>
            </a:r>
          </a:p>
          <a:p>
            <a:pPr algn="l">
              <a:spcAft>
                <a:spcPts val="600"/>
              </a:spcAft>
              <a:defRPr sz="1700" b="1">
                <a:solidFill>
                  <a:srgbClr val="1F4E79"/>
                </a:solidFill>
              </a:defRPr>
            </a:pPr>
            <a:r>
              <a:t>3. Quels avantages le français apporte-t-il aujourd'hui ?</a:t>
            </a:r>
          </a:p>
        </p:txBody>
      </p:sp>
      <p:sp>
        <p:nvSpPr>
          <p:cNvPr id="37" name="Rounded Rectangle 36">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1 : pourquoi parle-t-on français au Maghreb ?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Quelle période historique explique la présence du français ?</a:t>
            </a:r>
          </a:p>
          <a:p>
            <a:pPr algn="l">
              <a:spcAft>
                <a:spcPts val="600"/>
              </a:spcAft>
              <a:defRPr sz="1800" b="0">
                <a:solidFill>
                  <a:srgbClr val="2B2B2B"/>
                </a:solidFill>
              </a:defRPr>
            </a:pPr>
            <a:r>
              <a:t>   ✅ La colonisation française (plus de cent ans).</a:t>
            </a:r>
          </a:p>
          <a:p>
            <a:pPr algn="l">
              <a:spcAft>
                <a:spcPts val="600"/>
              </a:spcAft>
              <a:defRPr sz="1800" b="0">
                <a:solidFill>
                  <a:srgbClr val="2B2B2B"/>
                </a:solidFill>
              </a:defRPr>
            </a:pPr>
            <a:r>
              <a:t>2. Pourquoi le français n'a-t-il pas disparu après l'indépendance ?</a:t>
            </a:r>
          </a:p>
          <a:p>
            <a:pPr algn="l">
              <a:spcAft>
                <a:spcPts val="600"/>
              </a:spcAft>
              <a:defRPr sz="1800" b="0">
                <a:solidFill>
                  <a:srgbClr val="2B2B2B"/>
                </a:solidFill>
              </a:defRPr>
            </a:pPr>
            <a:r>
              <a:t>   ✅ Il avait marqué l'école, l'administration et la langue ; il reste une langue de travail et d'ouverture internationale.</a:t>
            </a:r>
          </a:p>
          <a:p>
            <a:pPr algn="l">
              <a:spcAft>
                <a:spcPts val="600"/>
              </a:spcAft>
              <a:defRPr sz="1800" b="0">
                <a:solidFill>
                  <a:srgbClr val="2B2B2B"/>
                </a:solidFill>
              </a:defRPr>
            </a:pPr>
            <a:r>
              <a:t>3. Quels avantages le français apporte-t-il aujourd'hui ?</a:t>
            </a:r>
          </a:p>
          <a:p>
            <a:pPr algn="l">
              <a:spcAft>
                <a:spcPts val="600"/>
              </a:spcAft>
              <a:defRPr sz="1800" b="0">
                <a:solidFill>
                  <a:srgbClr val="2B2B2B"/>
                </a:solidFill>
              </a:defRPr>
            </a:pPr>
            <a:r>
              <a:t>   ✅ Faciliter les échanges économiques, le tourisme et les études à l'étranger.</a:t>
            </a:r>
          </a:p>
        </p:txBody>
      </p:sp>
      <p:sp>
        <p:nvSpPr>
          <p:cNvPr id="34" name="Rounded Rectangle 33">
            <a:hlinkClick action="ppaction://hlinksldjump" r:id="rId3"/>
          </p:cNvPr>
          <p:cNvSpPr/>
          <p:nvPr/>
        </p:nvSpPr>
        <p:spPr>
          <a:xfrm>
            <a:off x="8595360" y="55778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Texte suivant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2 : la population du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Le Maroc est un pays du Maghreb. Depuis les années 1960, sa population augmente rapidement : c'est la croissance démographique. Aujourd'hui, le pays compte plus de 36 millions d'habitants. Cette évolution s'explique par une transition démographique. La fécondité baisse et l'espérance de vie augmente.</a:t>
            </a:r>
          </a:p>
          <a:p>
            <a:pPr algn="l">
              <a:spcAft>
                <a:spcPts val="600"/>
              </a:spcAft>
              <a:defRPr sz="1500" b="0">
                <a:solidFill>
                  <a:srgbClr val="2B2B2B"/>
                </a:solidFill>
              </a:defRPr>
            </a:pPr>
            <a:r>
              <a:t>La population est donc jeune, ce qui peut représenter un dividende démographique.</a:t>
            </a:r>
          </a:p>
          <a:p>
            <a:pPr algn="l">
              <a:spcAft>
                <a:spcPts val="600"/>
              </a:spcAft>
              <a:defRPr sz="1500" b="0">
                <a:solidFill>
                  <a:srgbClr val="2B2B2B"/>
                </a:solidFill>
              </a:defRPr>
            </a:pPr>
            <a:r>
              <a:t>Depuis plusieurs années, la population quitte les campagnes pour les villes : c'est l'exode rural. Les grandes villes attirent les habitants et la densité de population y est plus forte. La population est ainsi inégalement répartie. Cependant, cette évolution crée des défis comme le chômage des jeunes et le logement.</a:t>
            </a:r>
          </a:p>
        </p:txBody>
      </p:sp>
      <p:sp>
        <p:nvSpPr>
          <p:cNvPr id="35" name="TextBox 34"/>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C'est quoi la transition démographique au Maroc ?</a:t>
            </a:r>
          </a:p>
          <a:p>
            <a:pPr algn="l">
              <a:spcAft>
                <a:spcPts val="600"/>
              </a:spcAft>
              <a:defRPr sz="1700" b="1">
                <a:solidFill>
                  <a:srgbClr val="1F4E79"/>
                </a:solidFill>
              </a:defRPr>
            </a:pPr>
            <a:r>
              <a:t>2. C'est quoi l'exode rural ?</a:t>
            </a:r>
          </a:p>
          <a:p>
            <a:pPr algn="l">
              <a:spcAft>
                <a:spcPts val="600"/>
              </a:spcAft>
              <a:defRPr sz="1700" b="1">
                <a:solidFill>
                  <a:srgbClr val="1F4E79"/>
                </a:solidFill>
              </a:defRPr>
            </a:pPr>
            <a:r>
              <a:t>3. Quels sont deux défis liés à cette évolution de la population ?</a:t>
            </a:r>
          </a:p>
        </p:txBody>
      </p:sp>
      <p:sp>
        <p:nvSpPr>
          <p:cNvPr id="36" name="Rounded Rectangle 35">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2 : la population du Maroc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C'est quoi la transition démographique au Maroc ?</a:t>
            </a:r>
          </a:p>
          <a:p>
            <a:pPr algn="l">
              <a:spcAft>
                <a:spcPts val="600"/>
              </a:spcAft>
              <a:defRPr sz="1800" b="0">
                <a:solidFill>
                  <a:srgbClr val="2B2B2B"/>
                </a:solidFill>
              </a:defRPr>
            </a:pPr>
            <a:r>
              <a:t>   ✅ Le passage à une baisse de la fécondité et à une hausse de l'espérance de vie, après une forte croissance de la population.</a:t>
            </a:r>
          </a:p>
          <a:p>
            <a:pPr algn="l">
              <a:spcAft>
                <a:spcPts val="600"/>
              </a:spcAft>
              <a:defRPr sz="1800" b="0">
                <a:solidFill>
                  <a:srgbClr val="2B2B2B"/>
                </a:solidFill>
              </a:defRPr>
            </a:pPr>
            <a:r>
              <a:t>2. C'est quoi l'exode rural ?</a:t>
            </a:r>
          </a:p>
          <a:p>
            <a:pPr algn="l">
              <a:spcAft>
                <a:spcPts val="600"/>
              </a:spcAft>
              <a:defRPr sz="1800" b="0">
                <a:solidFill>
                  <a:srgbClr val="2B2B2B"/>
                </a:solidFill>
              </a:defRPr>
            </a:pPr>
            <a:r>
              <a:t>   ✅ Le départ des habitants des campagnes vers les villes.</a:t>
            </a:r>
          </a:p>
          <a:p>
            <a:pPr algn="l">
              <a:spcAft>
                <a:spcPts val="600"/>
              </a:spcAft>
              <a:defRPr sz="1800" b="0">
                <a:solidFill>
                  <a:srgbClr val="2B2B2B"/>
                </a:solidFill>
              </a:defRPr>
            </a:pPr>
            <a:r>
              <a:t>3. Quels sont deux défis liés à cette évolution de la population ?</a:t>
            </a:r>
          </a:p>
          <a:p>
            <a:pPr algn="l">
              <a:spcAft>
                <a:spcPts val="600"/>
              </a:spcAft>
              <a:defRPr sz="1800" b="0">
                <a:solidFill>
                  <a:srgbClr val="2B2B2B"/>
                </a:solidFill>
              </a:defRPr>
            </a:pPr>
            <a:r>
              <a:t>   ✅ Le chômage des jeunes et le logement.</a:t>
            </a:r>
          </a:p>
        </p:txBody>
      </p:sp>
      <p:sp>
        <p:nvSpPr>
          <p:cNvPr id="34" name="Rounded Rectangle 33">
            <a:hlinkClick action="ppaction://hlinksldjump" r:id="rId3"/>
          </p:cNvPr>
          <p:cNvSpPr/>
          <p:nvPr/>
        </p:nvSpPr>
        <p:spPr>
          <a:xfrm>
            <a:off x="8595360" y="55778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Texte suivant ➡️</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3 : le Maghreb, l'Europe et les tensions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Les pays du Maghreb ont une histoire commune avec l'Europe à cause de la colonisation. Avec la plupart des pays, les relations commerciales et politiques sont aujourd'hui plutôt bonnes.</a:t>
            </a:r>
          </a:p>
          <a:p>
            <a:pPr algn="l">
              <a:spcAft>
                <a:spcPts val="600"/>
              </a:spcAft>
              <a:defRPr sz="1500" b="0">
                <a:solidFill>
                  <a:srgbClr val="2B2B2B"/>
                </a:solidFill>
              </a:defRPr>
            </a:pPr>
            <a:r>
              <a:t>L'Algérie cependant a été colonisée par la France pendant plus de 130 ans. Cette histoire crée encore aujourd'hui des tensions politiques et le président algérien exprime souvent des propos contre la France. On parle de crises diplomatiques.</a:t>
            </a:r>
          </a:p>
          <a:p>
            <a:pPr algn="l">
              <a:spcAft>
                <a:spcPts val="600"/>
              </a:spcAft>
              <a:defRPr sz="1500" b="0">
                <a:solidFill>
                  <a:srgbClr val="2B2B2B"/>
                </a:solidFill>
              </a:defRPr>
            </a:pPr>
            <a:r>
              <a:t>Il existe aussi des tensions entre pays du Maghreb. L'Algérie et le Maroc sont en désaccord sur certains territoires, ce qui complique leurs relations.</a:t>
            </a:r>
          </a:p>
          <a:p>
            <a:pPr algn="l">
              <a:spcAft>
                <a:spcPts val="600"/>
              </a:spcAft>
              <a:defRPr sz="1500" b="0">
                <a:solidFill>
                  <a:srgbClr val="2B2B2B"/>
                </a:solidFill>
              </a:defRPr>
            </a:pPr>
            <a:r>
              <a:t>Depuis les révolutions arabes de 2011, des mouvements religieux ont pris plus de place dans la vie politique en Tunisie (Ennahdha) et au Maroc (Parti de la justice et du développement – PJD), tandis qu'en Algérie, l'État a gardé un contrôle plus fort pour limiter leur influence.</a:t>
            </a:r>
          </a:p>
        </p:txBody>
      </p:sp>
      <p:sp>
        <p:nvSpPr>
          <p:cNvPr id="35" name="TextBox 34"/>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Avec quel pays l'Algérie a-t-elle encore des tensions politiques ?</a:t>
            </a:r>
          </a:p>
          <a:p>
            <a:pPr algn="l">
              <a:spcAft>
                <a:spcPts val="600"/>
              </a:spcAft>
              <a:defRPr sz="1700" b="1">
                <a:solidFill>
                  <a:srgbClr val="1F4E79"/>
                </a:solidFill>
              </a:defRPr>
            </a:pPr>
            <a:r>
              <a:t>2. Quels deux pays du Maghreb sont en désaccord sur certains territoires ?</a:t>
            </a:r>
          </a:p>
          <a:p>
            <a:pPr algn="l">
              <a:spcAft>
                <a:spcPts val="600"/>
              </a:spcAft>
              <a:defRPr sz="1700" b="1">
                <a:solidFill>
                  <a:srgbClr val="1F4E79"/>
                </a:solidFill>
              </a:defRPr>
            </a:pPr>
            <a:r>
              <a:t>3. Dans quels pays des mouvements religieux ont-ils pris plus de place après 2011 ?</a:t>
            </a:r>
          </a:p>
        </p:txBody>
      </p:sp>
      <p:sp>
        <p:nvSpPr>
          <p:cNvPr id="36" name="Rounded Rectangle 35">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3 : le Maghreb, l'Europe et les tensions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Avec quel pays l'Algérie a-t-elle encore des tensions politiques ?</a:t>
            </a:r>
          </a:p>
          <a:p>
            <a:pPr algn="l">
              <a:spcAft>
                <a:spcPts val="600"/>
              </a:spcAft>
              <a:defRPr sz="1800" b="0">
                <a:solidFill>
                  <a:srgbClr val="2B2B2B"/>
                </a:solidFill>
              </a:defRPr>
            </a:pPr>
            <a:r>
              <a:t>   ✅ Avec la France (crises diplomatiques liées à 130 ans de colonisation).</a:t>
            </a:r>
          </a:p>
          <a:p>
            <a:pPr algn="l">
              <a:spcAft>
                <a:spcPts val="600"/>
              </a:spcAft>
              <a:defRPr sz="1800" b="0">
                <a:solidFill>
                  <a:srgbClr val="2B2B2B"/>
                </a:solidFill>
              </a:defRPr>
            </a:pPr>
            <a:r>
              <a:t>2. Quels deux pays du Maghreb sont en désaccord sur certains territoires ?</a:t>
            </a:r>
          </a:p>
          <a:p>
            <a:pPr algn="l">
              <a:spcAft>
                <a:spcPts val="600"/>
              </a:spcAft>
              <a:defRPr sz="1800" b="0">
                <a:solidFill>
                  <a:srgbClr val="2B2B2B"/>
                </a:solidFill>
              </a:defRPr>
            </a:pPr>
            <a:r>
              <a:t>   ✅ L'Algérie et le Maroc (notamment le Sahara occidental).</a:t>
            </a:r>
          </a:p>
          <a:p>
            <a:pPr algn="l">
              <a:spcAft>
                <a:spcPts val="600"/>
              </a:spcAft>
              <a:defRPr sz="1800" b="0">
                <a:solidFill>
                  <a:srgbClr val="2B2B2B"/>
                </a:solidFill>
              </a:defRPr>
            </a:pPr>
            <a:r>
              <a:t>3. Dans quels pays des mouvements religieux ont-ils pris plus de place après 2011 ?</a:t>
            </a:r>
          </a:p>
          <a:p>
            <a:pPr algn="l">
              <a:spcAft>
                <a:spcPts val="600"/>
              </a:spcAft>
              <a:defRPr sz="1800" b="0">
                <a:solidFill>
                  <a:srgbClr val="2B2B2B"/>
                </a:solidFill>
              </a:defRPr>
            </a:pPr>
            <a:r>
              <a:t>   ✅ En Tunisie (Ennahdha) et au Maroc (PJD).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Compréhension écrite : la lettre de Yasmine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371600"/>
            <a:ext cx="11064240" cy="4846320"/>
          </a:xfrm>
          <a:prstGeom prst="rect">
            <a:avLst/>
          </a:prstGeom>
          <a:noFill/>
        </p:spPr>
        <p:txBody>
          <a:bodyPr wrap="square">
            <a:spAutoFit/>
          </a:bodyPr>
          <a:lstStyle/>
          <a:p>
            <a:pPr algn="l">
              <a:spcAft>
                <a:spcPts val="600"/>
              </a:spcAft>
              <a:defRPr sz="1700" b="0">
                <a:solidFill>
                  <a:srgbClr val="2B2B2B"/>
                </a:solidFill>
              </a:defRPr>
            </a:pPr>
            <a:r>
              <a:t>Lettre de Yasmine, depuis Marrakech</a:t>
            </a:r>
          </a:p>
          <a:p>
            <a:pPr algn="l">
              <a:spcAft>
                <a:spcPts val="600"/>
              </a:spcAft>
              <a:defRPr sz="1700" b="0">
                <a:solidFill>
                  <a:srgbClr val="2B2B2B"/>
                </a:solidFill>
              </a:defRPr>
            </a:pPr>
            <a:r>
              <a:t>Chère Léa,</a:t>
            </a:r>
          </a:p>
          <a:p>
            <a:pPr algn="l">
              <a:spcAft>
                <a:spcPts val="600"/>
              </a:spcAft>
              <a:defRPr sz="1700" b="0">
                <a:solidFill>
                  <a:srgbClr val="2B2B2B"/>
                </a:solidFill>
              </a:defRPr>
            </a:pPr>
            <a:r>
              <a:t>Me voici enfin à Marrakech, chez ma grand-mère ! Hier matin, nous sommes allées au souk : quel spectacle ! Des épices de toutes les couleurs, des tapis, des lanternes en cuivre… On a acheté du cumin et du safran pour le couscous du vendredi.</a:t>
            </a:r>
          </a:p>
          <a:p>
            <a:pPr algn="l">
              <a:spcAft>
                <a:spcPts val="600"/>
              </a:spcAft>
              <a:defRPr sz="1700" b="0">
                <a:solidFill>
                  <a:srgbClr val="2B2B2B"/>
                </a:solidFill>
              </a:defRPr>
            </a:pPr>
            <a:r>
              <a:t>Le soir, la place Jemaa el-Fna se transforme : il y a des conteurs, des musiciens gnaoua et des dizaines de petits restaurants. J'ai goûté une harira, une soupe délicieuse.</a:t>
            </a:r>
          </a:p>
          <a:p>
            <a:pPr algn="l">
              <a:spcAft>
                <a:spcPts val="600"/>
              </a:spcAft>
              <a:defRPr sz="1700" b="0">
                <a:solidFill>
                  <a:srgbClr val="2B2B2B"/>
                </a:solidFill>
              </a:defRPr>
            </a:pPr>
            <a:r>
              <a:t>Samedi, nous partons trois jours dans le désert, près de Merzouga. Nous dormirons sous une tente berbère et nous monterons à dos de dromadaire pour voir le lever du soleil sur les dunes. J'ai hâte !</a:t>
            </a:r>
          </a:p>
          <a:p>
            <a:pPr algn="l">
              <a:spcAft>
                <a:spcPts val="600"/>
              </a:spcAft>
              <a:defRPr sz="1700" b="0">
                <a:solidFill>
                  <a:srgbClr val="2B2B2B"/>
                </a:solidFill>
              </a:defRPr>
            </a:pPr>
            <a:r>
              <a:t>Je t'envoie plein de soleil. Bisous, Yasmine</a:t>
            </a:r>
          </a:p>
        </p:txBody>
      </p:sp>
      <p:sp>
        <p:nvSpPr>
          <p:cNvPr id="35" name="Rounded Rectangle 34">
            <a:hlinkClick action="ppaction://hlinksldjump" r:id="rId4"/>
          </p:cNvPr>
          <p:cNvSpPr/>
          <p:nvPr/>
        </p:nvSpPr>
        <p:spPr>
          <a:xfrm>
            <a:off x="9326880" y="6263640"/>
            <a:ext cx="182880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Qui écrit ? À qui ? D'où ?</a:t>
            </a:r>
          </a:p>
          <a:p>
            <a:pPr algn="l">
              <a:spcAft>
                <a:spcPts val="600"/>
              </a:spcAft>
              <a:defRPr sz="2100" b="0">
                <a:solidFill>
                  <a:srgbClr val="2B2B2B"/>
                </a:solidFill>
              </a:defRPr>
            </a:pPr>
            <a:r>
              <a:t>• 2. Vrai/Faux : Yasmine est en vacances chez sa tante. Justifie.</a:t>
            </a:r>
          </a:p>
          <a:p>
            <a:pPr algn="l">
              <a:spcAft>
                <a:spcPts val="600"/>
              </a:spcAft>
              <a:defRPr sz="2100" b="0">
                <a:solidFill>
                  <a:srgbClr val="2B2B2B"/>
                </a:solidFill>
              </a:defRPr>
            </a:pPr>
            <a:r>
              <a:t>• 3. Cite 3 choses qu'on trouve au souk.</a:t>
            </a:r>
          </a:p>
          <a:p>
            <a:pPr algn="l">
              <a:spcAft>
                <a:spcPts val="600"/>
              </a:spcAft>
              <a:defRPr sz="2100" b="0">
                <a:solidFill>
                  <a:srgbClr val="2B2B2B"/>
                </a:solidFill>
              </a:defRPr>
            </a:pPr>
            <a:r>
              <a:t>• 4. Que se passe-t-il le soir sur la place Jemaa el-Fna ?</a:t>
            </a:r>
          </a:p>
          <a:p>
            <a:pPr algn="l">
              <a:spcAft>
                <a:spcPts val="600"/>
              </a:spcAft>
              <a:defRPr sz="2100" b="0">
                <a:solidFill>
                  <a:srgbClr val="2B2B2B"/>
                </a:solidFill>
              </a:defRPr>
            </a:pPr>
            <a:r>
              <a:t>• 5. Qu'est-ce que la harira ?</a:t>
            </a:r>
          </a:p>
          <a:p>
            <a:pPr algn="l">
              <a:spcAft>
                <a:spcPts val="600"/>
              </a:spcAft>
              <a:defRPr sz="2100" b="0">
                <a:solidFill>
                  <a:srgbClr val="2B2B2B"/>
                </a:solidFill>
              </a:defRPr>
            </a:pPr>
            <a:r>
              <a:t>• 6. Combien de temps durera l'excursion dans le désert ?</a:t>
            </a:r>
          </a:p>
          <a:p>
            <a:pPr algn="l">
              <a:spcAft>
                <a:spcPts val="600"/>
              </a:spcAft>
              <a:defRPr sz="2100" b="0">
                <a:solidFill>
                  <a:srgbClr val="2B2B2B"/>
                </a:solidFill>
              </a:defRPr>
            </a:pPr>
            <a:r>
              <a:t>• 7. ✍️ Production : réponds à Yasmine (5 lignes) en racontant un voyage.</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Yasmine écrit à Léa, depuis Marrakech (Maroc).</a:t>
            </a:r>
          </a:p>
          <a:p>
            <a:pPr algn="l">
              <a:spcAft>
                <a:spcPts val="600"/>
              </a:spcAft>
              <a:defRPr sz="2100" b="0">
                <a:solidFill>
                  <a:srgbClr val="2B2B2B"/>
                </a:solidFill>
              </a:defRPr>
            </a:pPr>
            <a:r>
              <a:t>• 2. FAUX : elle est chez sa grand-mère.</a:t>
            </a:r>
          </a:p>
          <a:p>
            <a:pPr algn="l">
              <a:spcAft>
                <a:spcPts val="600"/>
              </a:spcAft>
              <a:defRPr sz="2100" b="0">
                <a:solidFill>
                  <a:srgbClr val="2B2B2B"/>
                </a:solidFill>
              </a:defRPr>
            </a:pPr>
            <a:r>
              <a:t>• 3. Épices, tapis, lanternes en cuivre.</a:t>
            </a:r>
          </a:p>
          <a:p>
            <a:pPr algn="l">
              <a:spcAft>
                <a:spcPts val="600"/>
              </a:spcAft>
              <a:defRPr sz="2100" b="0">
                <a:solidFill>
                  <a:srgbClr val="2B2B2B"/>
                </a:solidFill>
              </a:defRPr>
            </a:pPr>
            <a:r>
              <a:t>• 4. Conteurs, musiciens gnaoua, petits restaurants.</a:t>
            </a:r>
          </a:p>
          <a:p>
            <a:pPr algn="l">
              <a:spcAft>
                <a:spcPts val="600"/>
              </a:spcAft>
              <a:defRPr sz="2100" b="0">
                <a:solidFill>
                  <a:srgbClr val="2B2B2B"/>
                </a:solidFill>
              </a:defRPr>
            </a:pPr>
            <a:r>
              <a:t>• 5. Une soupe (traditionnelle).</a:t>
            </a:r>
          </a:p>
          <a:p>
            <a:pPr algn="l">
              <a:spcAft>
                <a:spcPts val="600"/>
              </a:spcAft>
              <a:defRPr sz="2100" b="0">
                <a:solidFill>
                  <a:srgbClr val="2B2B2B"/>
                </a:solidFill>
              </a:defRPr>
            </a:pPr>
            <a:r>
              <a:t>• 6. Trois jours.</a:t>
            </a:r>
          </a:p>
          <a:p>
            <a:pPr algn="l">
              <a:spcAft>
                <a:spcPts val="600"/>
              </a:spcAft>
              <a:defRPr sz="2100" b="0">
                <a:solidFill>
                  <a:srgbClr val="2B2B2B"/>
                </a:solidFill>
              </a:defRPr>
            </a:pPr>
            <a:r>
              <a:t>• 7. Production libre — critères : formule d'appel, passé composé, 3 détails, formule finale.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7. Cuisine &amp; culture : devine l'image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36" name="TextBox 35"/>
          <p:cNvSpPr txBox="1"/>
          <p:nvPr/>
        </p:nvSpPr>
        <p:spPr>
          <a:xfrm>
            <a:off x="640080" y="2651760"/>
            <a:ext cx="2514600" cy="1828800"/>
          </a:xfrm>
          <a:prstGeom prst="rect">
            <a:avLst/>
          </a:prstGeom>
          <a:noFill/>
        </p:spPr>
        <p:txBody>
          <a:bodyPr wrap="square">
            <a:spAutoFit/>
          </a:bodyPr>
          <a:lstStyle/>
          <a:p>
            <a:pPr algn="ctr">
              <a:spcAft>
                <a:spcPts val="600"/>
              </a:spcAft>
              <a:defRPr sz="1600" b="0">
                <a:solidFill>
                  <a:srgbClr val="2B2B2B"/>
                </a:solidFill>
              </a:defRPr>
            </a:pPr>
            <a:r>
              <a:t>« Je cuis dans un plat en terre au couvercle pointu. »</a:t>
            </a:r>
          </a:p>
        </p:txBody>
      </p:sp>
      <p:sp>
        <p:nvSpPr>
          <p:cNvPr id="37" name="Rounded Rectangle 36">
            <a:hlinkClick action="ppaction://hlinksldjump" r:id="rId4"/>
          </p:cNvPr>
          <p:cNvSpPr/>
          <p:nvPr/>
        </p:nvSpPr>
        <p:spPr>
          <a:xfrm>
            <a:off x="914400" y="4937760"/>
            <a:ext cx="19659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38" name="Rounded Rectangle 37"/>
          <p:cNvSpPr/>
          <p:nvPr/>
        </p:nvSpPr>
        <p:spPr>
          <a:xfrm>
            <a:off x="342900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2900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0" name="TextBox 39"/>
          <p:cNvSpPr txBox="1"/>
          <p:nvPr/>
        </p:nvSpPr>
        <p:spPr>
          <a:xfrm>
            <a:off x="3520440" y="2651760"/>
            <a:ext cx="2514600" cy="1828800"/>
          </a:xfrm>
          <a:prstGeom prst="rect">
            <a:avLst/>
          </a:prstGeom>
          <a:noFill/>
        </p:spPr>
        <p:txBody>
          <a:bodyPr wrap="square">
            <a:spAutoFit/>
          </a:bodyPr>
          <a:lstStyle/>
          <a:p>
            <a:pPr algn="ctr">
              <a:spcAft>
                <a:spcPts val="600"/>
              </a:spcAft>
              <a:defRPr sz="1600" b="0">
                <a:solidFill>
                  <a:srgbClr val="2B2B2B"/>
                </a:solidFill>
              </a:defRPr>
            </a:pPr>
            <a:r>
              <a:t>« Graine de semoule, je suis servi le vendredi. »</a:t>
            </a:r>
          </a:p>
        </p:txBody>
      </p:sp>
      <p:sp>
        <p:nvSpPr>
          <p:cNvPr id="41" name="Rounded Rectangle 40">
            <a:hlinkClick action="ppaction://hlinksldjump" r:id="rId4"/>
          </p:cNvPr>
          <p:cNvSpPr/>
          <p:nvPr/>
        </p:nvSpPr>
        <p:spPr>
          <a:xfrm>
            <a:off x="3794760" y="4937760"/>
            <a:ext cx="19659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2" name="Rounded Rectangle 41"/>
          <p:cNvSpPr/>
          <p:nvPr/>
        </p:nvSpPr>
        <p:spPr>
          <a:xfrm>
            <a:off x="630935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5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4" name="TextBox 43"/>
          <p:cNvSpPr txBox="1"/>
          <p:nvPr/>
        </p:nvSpPr>
        <p:spPr>
          <a:xfrm>
            <a:off x="6400799" y="2651760"/>
            <a:ext cx="2514600" cy="1828800"/>
          </a:xfrm>
          <a:prstGeom prst="rect">
            <a:avLst/>
          </a:prstGeom>
          <a:noFill/>
        </p:spPr>
        <p:txBody>
          <a:bodyPr wrap="square">
            <a:spAutoFit/>
          </a:bodyPr>
          <a:lstStyle/>
          <a:p>
            <a:pPr algn="ctr">
              <a:spcAft>
                <a:spcPts val="600"/>
              </a:spcAft>
              <a:defRPr sz="1600" b="0">
                <a:solidFill>
                  <a:srgbClr val="2B2B2B"/>
                </a:solidFill>
              </a:defRPr>
            </a:pPr>
            <a:r>
              <a:t>« Chaussure en cuir, souvent jaune. »</a:t>
            </a:r>
          </a:p>
        </p:txBody>
      </p:sp>
      <p:sp>
        <p:nvSpPr>
          <p:cNvPr id="45" name="Rounded Rectangle 44">
            <a:hlinkClick action="ppaction://hlinksldjump" r:id="rId4"/>
          </p:cNvPr>
          <p:cNvSpPr/>
          <p:nvPr/>
        </p:nvSpPr>
        <p:spPr>
          <a:xfrm>
            <a:off x="6675120" y="4937760"/>
            <a:ext cx="196596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6" name="Rounded Rectangle 45"/>
          <p:cNvSpPr/>
          <p:nvPr/>
        </p:nvSpPr>
        <p:spPr>
          <a:xfrm>
            <a:off x="918971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1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8" name="TextBox 47"/>
          <p:cNvSpPr txBox="1"/>
          <p:nvPr/>
        </p:nvSpPr>
        <p:spPr>
          <a:xfrm>
            <a:off x="9281159" y="2651760"/>
            <a:ext cx="2514600" cy="1828800"/>
          </a:xfrm>
          <a:prstGeom prst="rect">
            <a:avLst/>
          </a:prstGeom>
          <a:noFill/>
        </p:spPr>
        <p:txBody>
          <a:bodyPr wrap="square">
            <a:spAutoFit/>
          </a:bodyPr>
          <a:lstStyle/>
          <a:p>
            <a:pPr algn="ctr">
              <a:spcAft>
                <a:spcPts val="600"/>
              </a:spcAft>
              <a:defRPr sz="1600" b="0">
                <a:solidFill>
                  <a:srgbClr val="2B2B2B"/>
                </a:solidFill>
              </a:defRPr>
            </a:pPr>
            <a:r>
              <a:t>« Marché traditionnel couvert. »</a:t>
            </a:r>
          </a:p>
        </p:txBody>
      </p:sp>
      <p:sp>
        <p:nvSpPr>
          <p:cNvPr id="49" name="Rounded Rectangle 48">
            <a:hlinkClick action="ppaction://hlinksldjump" r:id="rId4"/>
          </p:cNvPr>
          <p:cNvSpPr/>
          <p:nvPr/>
        </p:nvSpPr>
        <p:spPr>
          <a:xfrm>
            <a:off x="9555480" y="4937760"/>
            <a:ext cx="1965960" cy="6400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tajine • couscous • babouche • souk</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 Le TAJINE — plat et cuisson à l'étouffée</a:t>
            </a:r>
          </a:p>
          <a:p>
            <a:pPr algn="l">
              <a:spcAft>
                <a:spcPts val="600"/>
              </a:spcAft>
              <a:defRPr sz="2200" b="0">
                <a:solidFill>
                  <a:srgbClr val="2B2B2B"/>
                </a:solidFill>
              </a:defRPr>
            </a:pPr>
            <a:r>
              <a:t>• 🥣 Le COUSCOUS — classé au patrimoine de l'UNESCO (2020)</a:t>
            </a:r>
          </a:p>
          <a:p>
            <a:pPr algn="l">
              <a:spcAft>
                <a:spcPts val="600"/>
              </a:spcAft>
              <a:defRPr sz="2200" b="0">
                <a:solidFill>
                  <a:srgbClr val="2B2B2B"/>
                </a:solidFill>
              </a:defRPr>
            </a:pPr>
            <a:r>
              <a:t>• 🥾 La BABOUCHE</a:t>
            </a:r>
          </a:p>
          <a:p>
            <a:pPr algn="l">
              <a:spcAft>
                <a:spcPts val="600"/>
              </a:spcAft>
              <a:defRPr sz="2200" b="0">
                <a:solidFill>
                  <a:srgbClr val="2B2B2B"/>
                </a:solidFill>
              </a:defRPr>
            </a:pPr>
            <a:r>
              <a:t>• 🏺 Le SOUK</a:t>
            </a:r>
          </a:p>
          <a:p>
            <a:pPr algn="l">
              <a:spcAft>
                <a:spcPts val="600"/>
              </a:spcAft>
              <a:defRPr sz="2200" b="0">
                <a:solidFill>
                  <a:srgbClr val="2B2B2B"/>
                </a:solidFill>
              </a:defRPr>
            </a:pPr>
            <a:r>
              <a:t>• 🎵 Bonus : raï, chaâbi, gnaoua — quelles musiques connais-tu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8. Jeux de mots : le mot mystère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4800" b="1">
                <a:solidFill>
                  <a:srgbClr val="1F4E79"/>
                </a:solidFill>
              </a:defRPr>
            </a:pPr>
            <a:r>
              <a:t>_ _ _ _ _ _ _   (7 lettres)</a:t>
            </a:r>
          </a:p>
        </p:txBody>
      </p:sp>
      <p:sp>
        <p:nvSpPr>
          <p:cNvPr id="35" name="TextBox 34"/>
          <p:cNvSpPr txBox="1"/>
          <p:nvPr/>
        </p:nvSpPr>
        <p:spPr>
          <a:xfrm>
            <a:off x="548640" y="2743200"/>
            <a:ext cx="10972800" cy="914400"/>
          </a:xfrm>
          <a:prstGeom prst="rect">
            <a:avLst/>
          </a:prstGeom>
          <a:noFill/>
        </p:spPr>
        <p:txBody>
          <a:bodyPr wrap="square">
            <a:spAutoFit/>
          </a:bodyPr>
          <a:lstStyle/>
          <a:p>
            <a:pPr algn="ctr">
              <a:spcAft>
                <a:spcPts val="600"/>
              </a:spcAft>
              <a:defRPr sz="2400" b="0">
                <a:solidFill>
                  <a:srgbClr val="2B2B2B"/>
                </a:solidFill>
              </a:defRPr>
            </a:pPr>
            <a:r>
              <a:t>Indice : arbre des oasis qui donne des dattes 🌴</a:t>
            </a:r>
          </a:p>
        </p:txBody>
      </p:sp>
      <p:sp>
        <p:nvSpPr>
          <p:cNvPr id="36" name="Rounded Rectangle 35">
            <a:hlinkClick action="ppaction://hlinksldjump" r:id="rId4"/>
          </p:cNvPr>
          <p:cNvSpPr/>
          <p:nvPr/>
        </p:nvSpPr>
        <p:spPr>
          <a:xfrm>
            <a:off x="4754880" y="402336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Révéler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du mot mystère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828800"/>
            <a:ext cx="10972800" cy="1371600"/>
          </a:xfrm>
          <a:prstGeom prst="rect">
            <a:avLst/>
          </a:prstGeom>
          <a:noFill/>
        </p:spPr>
        <p:txBody>
          <a:bodyPr wrap="square">
            <a:spAutoFit/>
          </a:bodyPr>
          <a:lstStyle/>
          <a:p>
            <a:pPr algn="ctr">
              <a:spcAft>
                <a:spcPts val="600"/>
              </a:spcAft>
              <a:defRPr sz="4000" b="1">
                <a:solidFill>
                  <a:srgbClr val="B84A1E"/>
                </a:solidFill>
              </a:defRPr>
            </a:pPr>
            <a:r>
              <a:t>D A T T I E R  ✅</a:t>
            </a:r>
          </a:p>
          <a:p>
            <a:pPr algn="ctr">
              <a:spcAft>
                <a:spcPts val="600"/>
              </a:spcAft>
              <a:defRPr sz="4000" b="1">
                <a:solidFill>
                  <a:srgbClr val="B84A1E"/>
                </a:solidFill>
              </a:defRPr>
            </a:pPr>
            <a:r>
              <a:t>Le palmier-dattier : l'arbre roi des oasis 🌴</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Jeu : associe le mot et la définition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731520" y="14630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Médina</a:t>
            </a:r>
          </a:p>
        </p:txBody>
      </p:sp>
      <p:sp>
        <p:nvSpPr>
          <p:cNvPr id="34" name="Rectangle 33"/>
          <p:cNvSpPr/>
          <p:nvPr/>
        </p:nvSpPr>
        <p:spPr>
          <a:xfrm>
            <a:off x="5486400" y="14630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0" y="1554480"/>
            <a:ext cx="5852160" cy="548640"/>
          </a:xfrm>
          <a:prstGeom prst="rect">
            <a:avLst/>
          </a:prstGeom>
          <a:noFill/>
        </p:spPr>
        <p:txBody>
          <a:bodyPr wrap="square">
            <a:spAutoFit/>
          </a:bodyPr>
          <a:lstStyle/>
          <a:p>
            <a:pPr algn="l">
              <a:spcAft>
                <a:spcPts val="600"/>
              </a:spcAft>
              <a:defRPr sz="1800" b="0">
                <a:solidFill>
                  <a:srgbClr val="2B2B2B"/>
                </a:solidFill>
              </a:defRPr>
            </a:pPr>
            <a:r>
              <a:t>A. Vieille ville entourée de remparts</a:t>
            </a:r>
          </a:p>
        </p:txBody>
      </p:sp>
      <p:sp>
        <p:nvSpPr>
          <p:cNvPr id="36" name="Rounded Rectangle 35"/>
          <p:cNvSpPr/>
          <p:nvPr/>
        </p:nvSpPr>
        <p:spPr>
          <a:xfrm>
            <a:off x="731520" y="23774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Casbah</a:t>
            </a:r>
          </a:p>
        </p:txBody>
      </p:sp>
      <p:sp>
        <p:nvSpPr>
          <p:cNvPr id="37" name="Rectangle 36"/>
          <p:cNvSpPr/>
          <p:nvPr/>
        </p:nvSpPr>
        <p:spPr>
          <a:xfrm>
            <a:off x="5486400" y="23774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0" y="2468880"/>
            <a:ext cx="5852160" cy="548640"/>
          </a:xfrm>
          <a:prstGeom prst="rect">
            <a:avLst/>
          </a:prstGeom>
          <a:noFill/>
        </p:spPr>
        <p:txBody>
          <a:bodyPr wrap="square">
            <a:spAutoFit/>
          </a:bodyPr>
          <a:lstStyle/>
          <a:p>
            <a:pPr algn="l">
              <a:spcAft>
                <a:spcPts val="600"/>
              </a:spcAft>
              <a:defRPr sz="1800" b="0">
                <a:solidFill>
                  <a:srgbClr val="2B2B2B"/>
                </a:solidFill>
              </a:defRPr>
            </a:pPr>
            <a:r>
              <a:t>B. Point d'eau dans le désert</a:t>
            </a:r>
          </a:p>
        </p:txBody>
      </p:sp>
      <p:sp>
        <p:nvSpPr>
          <p:cNvPr id="39" name="Rounded Rectangle 38"/>
          <p:cNvSpPr/>
          <p:nvPr/>
        </p:nvSpPr>
        <p:spPr>
          <a:xfrm>
            <a:off x="731520" y="32918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Oasis</a:t>
            </a:r>
          </a:p>
        </p:txBody>
      </p:sp>
      <p:sp>
        <p:nvSpPr>
          <p:cNvPr id="40" name="Rectangle 39"/>
          <p:cNvSpPr/>
          <p:nvPr/>
        </p:nvSpPr>
        <p:spPr>
          <a:xfrm>
            <a:off x="5486400" y="32918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383280"/>
            <a:ext cx="5852160" cy="548640"/>
          </a:xfrm>
          <a:prstGeom prst="rect">
            <a:avLst/>
          </a:prstGeom>
          <a:noFill/>
        </p:spPr>
        <p:txBody>
          <a:bodyPr wrap="square">
            <a:spAutoFit/>
          </a:bodyPr>
          <a:lstStyle/>
          <a:p>
            <a:pPr algn="l">
              <a:spcAft>
                <a:spcPts val="600"/>
              </a:spcAft>
              <a:defRPr sz="1800" b="0">
                <a:solidFill>
                  <a:srgbClr val="2B2B2B"/>
                </a:solidFill>
              </a:defRPr>
            </a:pPr>
            <a:r>
              <a:t>C. Bain de vapeur traditionnel</a:t>
            </a:r>
          </a:p>
        </p:txBody>
      </p:sp>
      <p:sp>
        <p:nvSpPr>
          <p:cNvPr id="42" name="Rounded Rectangle 41"/>
          <p:cNvSpPr/>
          <p:nvPr/>
        </p:nvSpPr>
        <p:spPr>
          <a:xfrm>
            <a:off x="731520" y="42062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Hammam</a:t>
            </a:r>
          </a:p>
        </p:txBody>
      </p:sp>
      <p:sp>
        <p:nvSpPr>
          <p:cNvPr id="43" name="Rectangle 42"/>
          <p:cNvSpPr/>
          <p:nvPr/>
        </p:nvSpPr>
        <p:spPr>
          <a:xfrm>
            <a:off x="5486400" y="42062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0" y="4297680"/>
            <a:ext cx="5852160" cy="548640"/>
          </a:xfrm>
          <a:prstGeom prst="rect">
            <a:avLst/>
          </a:prstGeom>
          <a:noFill/>
        </p:spPr>
        <p:txBody>
          <a:bodyPr wrap="square">
            <a:spAutoFit/>
          </a:bodyPr>
          <a:lstStyle/>
          <a:p>
            <a:pPr algn="l">
              <a:spcAft>
                <a:spcPts val="600"/>
              </a:spcAft>
              <a:defRPr sz="1800" b="0">
                <a:solidFill>
                  <a:srgbClr val="2B2B2B"/>
                </a:solidFill>
              </a:defRPr>
            </a:pPr>
            <a:r>
              <a:t>D. Maison avec jardin intérieur</a:t>
            </a:r>
          </a:p>
        </p:txBody>
      </p:sp>
      <p:sp>
        <p:nvSpPr>
          <p:cNvPr id="45" name="Rounded Rectangle 44"/>
          <p:cNvSpPr/>
          <p:nvPr/>
        </p:nvSpPr>
        <p:spPr>
          <a:xfrm>
            <a:off x="731520" y="51206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Riad</a:t>
            </a:r>
          </a:p>
        </p:txBody>
      </p:sp>
      <p:sp>
        <p:nvSpPr>
          <p:cNvPr id="46" name="Rectangle 45"/>
          <p:cNvSpPr/>
          <p:nvPr/>
        </p:nvSpPr>
        <p:spPr>
          <a:xfrm>
            <a:off x="5486400" y="51206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0" y="5212080"/>
            <a:ext cx="5852160" cy="548640"/>
          </a:xfrm>
          <a:prstGeom prst="rect">
            <a:avLst/>
          </a:prstGeom>
          <a:noFill/>
        </p:spPr>
        <p:txBody>
          <a:bodyPr wrap="square">
            <a:spAutoFit/>
          </a:bodyPr>
          <a:lstStyle/>
          <a:p>
            <a:pPr algn="l">
              <a:spcAft>
                <a:spcPts val="600"/>
              </a:spcAft>
              <a:defRPr sz="1800" b="0">
                <a:solidFill>
                  <a:srgbClr val="2B2B2B"/>
                </a:solidFill>
              </a:defRPr>
            </a:pPr>
            <a:r>
              <a:t>E. Citadelle, quartier fortifié</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