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chiffres à voix haute, comparer avec la France (551 695 km², 68 M hab.). Valeurs arrondies : vérifier les dernières données Banque mondiale si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chaque équipe calcule la densité d'un pays (population ÷ superficie) et vérifie.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0.xml"/><Relationship Id="rId7" Type="http://schemas.openxmlformats.org/officeDocument/2006/relationships/slide" Target="slide25.xml"/><Relationship Id="rId8" Type="http://schemas.openxmlformats.org/officeDocument/2006/relationships/slide" Target="slide27.xml"/><Relationship Id="rId9" Type="http://schemas.openxmlformats.org/officeDocument/2006/relationships/slide" Target="slide28.xml"/><Relationship Id="rId10" Type="http://schemas.openxmlformats.org/officeDocument/2006/relationships/slide" Target="slide31.xml"/><Relationship Id="rId11" Type="http://schemas.openxmlformats.org/officeDocument/2006/relationships/slide" Target="slide33.xml"/><Relationship Id="rId12" Type="http://schemas.openxmlformats.org/officeDocument/2006/relationships/slide" Target="slide36.xml"/><Relationship Id="rId13" Type="http://schemas.openxmlformats.org/officeDocument/2006/relationships/slide" Target="slide3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2.xml"/><Relationship Id="rId4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4.xml"/><Relationship Id="rId4" Type="http://schemas.openxmlformats.org/officeDocument/2006/relationships/slide" Target="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8.xml"/><Relationship Id="rId4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Relationship Id="rId4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Relationship Id="rId4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Relationship Id="rId4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Relationship Id="rId4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Relationship Id="rId4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I. Carte d'identité  (25')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II. 🎧 C.O.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Quiz géo  (10')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IV. Histoire &amp; données  (20')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III. 📖 C.E. écrite  (30')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du Maghreb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371600"/>
            <a:ext cx="5669280" cy="4754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1) Carte d'identité régionale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0116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Superficie : ≈ 5,8 millions km² (≈ 10 × la France métropolitaine)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Population : ≈ 107 millions d'habitants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Densité : ≈ 18 hab/km² (très inégale : côtes peuplées, Sahara presque vide)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PIB : ≈ 490 milliards $ (cumulé)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Taux de chômage : ≈ 10 à 19 % selon les pays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Statut : 5 États indépendants réunis dans l'Union du Maghreb arabe (UMA, 1989)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Source : Banque mondiale 2023 (arrondis)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371600"/>
            <a:ext cx="5120640" cy="47548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E0A11B"/>
                </a:solidFill>
              </a:defRPr>
            </a:pPr>
            <a:r>
              <a:t>2) Ce qu'il faut retenir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🏔️ Relief varié : montagnes de l'Atlas au nord, plaines et côtes méditerranéennes, Sahara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☀️ Climat : méditerranéen au nord (étés chauds, hivers doux), désertique au sud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🎶 Culture riche : musique (raï, gnaoua, chaâbi), cuisine épicée, hospitalité</a:t>
            </a:r>
          </a:p>
          <a:p>
            <a:pPr algn="l">
              <a:spcAft>
                <a:spcPts val="600"/>
              </a:spcAft>
              <a:defRPr sz="1600" b="0">
                <a:solidFill>
                  <a:srgbClr val="FFFFFF"/>
                </a:solidFill>
              </a:defRPr>
            </a:pPr>
            <a:r>
              <a:t>🌍 Culture maghrébine : un mélange d'origines berbère (amazighe), arabe, africaine, andalouse et européenne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 – Carte d'identité : pays par pays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1371600"/>
            <a:ext cx="17830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14630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Pays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0" y="1371600"/>
            <a:ext cx="16916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14630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Superficie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1371600"/>
            <a:ext cx="1234439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60520" y="14630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Population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1371600"/>
            <a:ext cx="105156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4630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Densité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1371600"/>
            <a:ext cx="132588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14630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PIB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1371600"/>
            <a:ext cx="11430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09560" y="1463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Chômage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1371600"/>
            <a:ext cx="2514600" cy="73152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14630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FFFFFF"/>
                </a:solidFill>
              </a:defRPr>
            </a:pPr>
            <a:r>
              <a:t>Statut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214884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2402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🇲🇦 Maroc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214884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23160" y="224028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446 550 km²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0" y="214884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60520" y="224028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37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94960" y="214884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224028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83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214884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37960" y="22402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141 Md$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63840" y="214884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09560" y="224028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13 %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52560" y="214884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98280" y="224028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Monarchie const.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292608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01752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🇩🇿 Algérie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77440" y="292608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23160" y="301752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2 381 741 km²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0" y="292608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60520" y="301752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46 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292608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40680" y="301752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292608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301752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240 Md$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63840" y="292608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909560" y="301752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052560" y="292608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098280" y="301752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370332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4360" y="379476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🇹🇳 Tunisie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377440" y="370332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423160" y="379476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163 610 km²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0" y="370332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60520" y="379476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12 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394960" y="370332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40680" y="379476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37960" y="379476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48 Md$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63840" y="370332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09560" y="379476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16 %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52560" y="370332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98280" y="379476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480560"/>
            <a:ext cx="17830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5720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🇱🇾 Libye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480560"/>
            <a:ext cx="16916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57200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1 759 540 km²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0" y="4480560"/>
            <a:ext cx="1234439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60520" y="457200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7 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394960" y="4480560"/>
            <a:ext cx="105156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40680" y="457200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92240" y="4480560"/>
            <a:ext cx="132588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53796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50 Md$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863840" y="4480560"/>
            <a:ext cx="11430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09560" y="4572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19 %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052560" y="4480560"/>
            <a:ext cx="2514600" cy="731520"/>
          </a:xfrm>
          <a:prstGeom prst="rect">
            <a:avLst/>
          </a:prstGeom>
          <a:solidFill>
            <a:srgbClr val="FB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098280" y="457200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République (transition)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257800"/>
            <a:ext cx="17830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4360" y="53492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2B2B2B"/>
                </a:solidFill>
              </a:defRPr>
            </a:pPr>
            <a:r>
              <a:t>🇲🇷 Mauritanie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377440" y="5257800"/>
            <a:ext cx="16916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23160" y="5349240"/>
            <a:ext cx="16459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1 030 700 km²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14800" y="5257800"/>
            <a:ext cx="1234439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60520" y="5349240"/>
            <a:ext cx="118871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 M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94960" y="5257800"/>
            <a:ext cx="105156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40680" y="5349240"/>
            <a:ext cx="1005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492240" y="5257800"/>
            <a:ext cx="132588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537960" y="534924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Md$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863840" y="5257800"/>
            <a:ext cx="1143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909560" y="53492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≈ 10 %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052560" y="5257800"/>
            <a:ext cx="25146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98280" y="5349240"/>
            <a:ext cx="24688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Rép. islamique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1F4E79"/>
                </a:solidFill>
              </a:defRPr>
            </a:pPr>
            <a:r>
              <a:t>Densité en hab/km² • Source : Banque mondiale 2023 (valeurs arrondies) — capitales : Rabat, Alger, Tunis, Tripoli, Nouakchott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 – 🎧 C.O. Compréhension orale : vidéo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Berbères (Amazighs), Carthage (814 av. J.-C.), Rome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Conquête arabe : islam et langue 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XVIe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Empire ottoman (Alger, Tunis, Tripoli) ; Maroc indépendant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1830–1912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Colonisation : France (Algérie, Tunisie, Maroc), Italie (Libye)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F4E79"/>
                </a:solidFill>
              </a:defRPr>
            </a:pPr>
            <a:r>
              <a:t>1951–1962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500" b="0">
                <a:solidFill>
                  <a:srgbClr val="2B2B2B"/>
                </a:solidFill>
              </a:defRPr>
            </a:pPr>
            <a:r>
              <a:t>Indépendances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B84A1E"/>
                </a:solidFill>
              </a:defRPr>
            </a:pPr>
            <a:r>
              <a:t>🗣️ Langues : arabe (darija), tamazight (ⵜⴰⵎⴰⵣⵉⵖⵜ), français • Salam = bonjour • Choukran = merci • Azul = bonjour (berbère)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IV – Histoire : quelques données clés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3716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1417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Libye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0574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du Maroc (2 mars) et de la Tunisie (20 mars)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27432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1954–1962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2788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Guerre d'Algérie → indépendance le 5 juillet 1962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290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Indépendance de la Mauritanie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114800"/>
            <a:ext cx="1828800" cy="5943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1989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4160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Création de l'Union du Maghreb arabe (Marrakech)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800600"/>
            <a:ext cx="1828800" cy="5943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60320" y="4846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« Printemps arabe » : départ de Ben Ali (Tunisie), chute de Kadhafi (Libye)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486400"/>
            <a:ext cx="1828800" cy="5943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0320" y="5532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Le couscous inscrit au patrimoine de l'UNESCO (candidature commune)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500" b="1">
                <a:solidFill>
                  <a:srgbClr val="1F4E79"/>
                </a:solidFill>
              </a:defRPr>
            </a:pPr>
            <a:r>
              <a:t>🎯 Question : combien d'années séparent l'indépendance de la Libye de celle de l'Algérie ? (11 ans)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III – 📖 C.E.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