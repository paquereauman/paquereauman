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chiffres à voix haute, comparer avec la France (551 695 km², 68 M hab.). Valeurs arrondies : vérifier les dernières données Banque mondiale si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chaque équipe calcule la densité d'un pays (population ÷ superficie) et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complètent leur carte au fil du cours. Distribuer la carte muette.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 à partir de la carte. Cliquer sur « Réponses » pour révéler.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Questionnement oral, puis « Réponses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Insérer ici la photo de l'oasis de Bou Thramar (Insertion &gt; Image) à la place du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repérer les lignes 300 mm et 150 mm sur la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Préciser qu'en dessous de 250 mm de précipitations, il n'y a plus d'agriculture possible (sans irrigation).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élèves complètent le tableau sur leur fiche, puis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18.xml"/><Relationship Id="rId6" Type="http://schemas.openxmlformats.org/officeDocument/2006/relationships/slide" Target="slide21.xml"/><Relationship Id="rId7" Type="http://schemas.openxmlformats.org/officeDocument/2006/relationships/slide" Target="slide36.xml"/><Relationship Id="rId8" Type="http://schemas.openxmlformats.org/officeDocument/2006/relationships/slide" Target="slide38.xml"/><Relationship Id="rId9" Type="http://schemas.openxmlformats.org/officeDocument/2006/relationships/slide" Target="slide39.xml"/><Relationship Id="rId10" Type="http://schemas.openxmlformats.org/officeDocument/2006/relationships/slide" Target="slide42.xml"/><Relationship Id="rId11" Type="http://schemas.openxmlformats.org/officeDocument/2006/relationships/slide" Target="slide44.xml"/><Relationship Id="rId12" Type="http://schemas.openxmlformats.org/officeDocument/2006/relationships/slide" Target="slide47.xml"/><Relationship Id="rId13" Type="http://schemas.openxmlformats.org/officeDocument/2006/relationships/slide" Target="slide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Relationship Id="rId4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Relationship Id="rId4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3.xml"/><Relationship Id="rId4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5.xml"/><Relationship Id="rId4" Type="http://schemas.openxmlformats.org/officeDocument/2006/relationships/slide" Target="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9.xml"/><Relationship Id="rId4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2.xml"/><Relationship Id="rId4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5.xml"/><Relationship Id="rId4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Relationship Id="rId4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Relationship Id="rId4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Relationship Id="rId4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I. Carte d'identité  (25')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II. 🎧 C.O.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Quiz géo  (10')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IV. Histoire &amp; données  (20')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III. 📖 C.E. écrite  (30')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du Maghreb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371600"/>
            <a:ext cx="5669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1) Carte d'identité régionale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Superficie : ≈ 5,8 millions km² (≈ 10 × la France métropolitaine)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Population : ≈ 107 millions d'habitants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Densité : ≈ 18 hab/km² (très inégale : côtes peuplées, Sahara presque vide)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PIB : ≈ 490 milliards $ (cumulé)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Taux de chômage : ≈ 10 à 19 % selon les pays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Statut : 5 États indépendants réunis dans l'Union du Maghreb arabe (UMA, 1989)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Source : Banque mondiale 2023 (arrondis)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371600"/>
            <a:ext cx="5120640" cy="47548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E0A11B"/>
                </a:solidFill>
              </a:defRPr>
            </a:pPr>
            <a:r>
              <a:t>2) Ce qu'il faut retenir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🏔️ Relief varié : montagnes de l'Atlas au nord, plaines et côtes méditerranéennes, Sahara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☀️ Climat : méditerranéen au nord (étés chauds, hivers doux), désertique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🎶 Culture riche : musique (raï, gnaoua, chaâbi), cuisine épicée, hospitalité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🌍 Culture maghrébine : un mélange d'origines berbère (amazighe), arabe, africaine, andalouse et européenne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: pays par pays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1371600"/>
            <a:ext cx="17830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14630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371600"/>
            <a:ext cx="16916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4630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Superficie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371600"/>
            <a:ext cx="12344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14630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1371600"/>
            <a:ext cx="105156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4630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Densité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371600"/>
            <a:ext cx="13258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463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1371600"/>
            <a:ext cx="11430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1463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Chômage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1371600"/>
            <a:ext cx="25146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4630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Statut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214884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240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🇲🇦 Maroc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214884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224028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446 550 km²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14884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60520" y="224028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37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14884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24028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83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14884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22402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141 Md$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214884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2240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214884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224028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Monarchie const.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292608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0175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🇩🇿 Algérie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77440" y="292608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01752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2 381 741 km²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92608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60520" y="301752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46 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292608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30175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292608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30175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240 Md$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292608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0175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52560" y="292608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301752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370332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3794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🇹🇳 Tunisie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77440" y="370332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379476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163 610 km²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370332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0520" y="379476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370332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379476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379476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48 Md$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370332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09560" y="3794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16 %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370332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98280" y="379476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48056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5720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🇱🇾 Libye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48056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57200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1 759 540 km²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448056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60520" y="457200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 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48056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457200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92240" y="448056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3796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50 Md$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48056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09560" y="4572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52560" y="448056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098280" y="457200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 (transition)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5780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349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🇲🇷 Mauritanie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377440" y="525780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53492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1 030 700 km²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525780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60520" y="53492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5780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40680" y="53492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2240" y="525780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37960" y="53492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Md$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63840" y="525780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09560" y="53492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525780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98280" y="53492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Rép. islamique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4E79"/>
                </a:solidFill>
              </a:defRPr>
            </a:pPr>
            <a:r>
              <a:t>Densité en hab/km² • Source : Banque mondiale 2023 (valeurs arrondies) — capitales : Rabat, Alger, Tunis, Tripoli, Nouakchott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Un monde arabo-musulman • A/ Trois États méditerranéens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carte-mu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442095" cy="4754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✏️ Sur ta carte muette, place :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l'océan Atlantique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🌊 la mer Méditerranée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🗺️ le Maroc, l'Algérie, la Tunisie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🇪🇸 l'Espagne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↔️ le détroit de Gibraltar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☀️ le tropique du Cancer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 ➡️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 relief et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 massif montagneux domine au Maghreb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Est-il d'un seul bloc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Quelles sont les différentes parties de l'Atlas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Où pleut-il le plus ? Pourquoi ?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4E79"/>
                </a:solidFill>
              </a:defRPr>
            </a:pPr>
            <a:r>
              <a:t>❓ Que trouve-t-on au sud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l'Atlas, un massif en plusieurs parties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L'ATLAS domine le Maghreb.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Non, il n'est pas d'un seul bloc : il y a plusieurs parties :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Rif (nord du Maroc)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Moyen Atlas (près de Fès) ➡️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le Haut Atlas (Maroc, Toubkal 4 167 m)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l'Anti-Atlas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   • l'Atlas tellien et l'Atlas saharien (Algérie)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Il pleut plus au nord (&gt; 300 mm) : la montagne arrête les nuages venus de la mer.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✅ Au sud : le Sahara, des oasis et le Hoggar.</a:t>
            </a:r>
          </a:p>
        </p:txBody>
      </p:sp>
      <p:pic>
        <p:nvPicPr>
          <p:cNvPr id="34" name="Picture 33" descr="moyen-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5303520" cy="258197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389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Le Moyen Atlas, près de Fès (Maroc)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Les autres paysages du Maghreb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Quels sont les autres massifs montagneux du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Par quoi se caractérise le littoral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Qu'est-ce qui domine au Maghreb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Comment se nomment les îlots de verdure dans le désert ?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désert et oasis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Hoggar (sud de l'Algérie).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littoral se caractérise par des plaines.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Le désert (Sahara) domine, avec des îlots de verdure.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B2B2B"/>
                </a:solidFill>
              </a:defRPr>
            </a:pPr>
            <a:r>
              <a:t>✅ Ces îlots s'appellent des OASIS 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1463040"/>
            <a:ext cx="5303520" cy="3108960"/>
          </a:xfrm>
          <a:prstGeom prst="roundRect">
            <a:avLst/>
          </a:prstGeom>
          <a:solidFill>
            <a:srgbClr val="E8D9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6517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B84A1E"/>
                </a:solidFill>
              </a:defRPr>
            </a:pPr>
            <a:r>
              <a:t>📷 Photo : l'oasis de Bou Thramar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L'oasis de Bou Thramar (Maroc)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Doc. 1 p. 222 : les précipitations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pic>
        <p:nvPicPr>
          <p:cNvPr id="33" name="Picture 32" descr="rel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184232" cy="502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0" y="13716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❓ Quel est le niveau des précipitations dans la région ?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❓ Où pleut-il le plus ?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6858000" y="3291840"/>
            <a:ext cx="237744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: des précipitations globalement faibles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✅ Les précipitations sont globalement FAIBLES.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Plus de 300 mm/an seulement sur une étroite bande au nord (littoral, Atlas).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Moins de 150 mm/an dans le Sahara : un climat désertique.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💡 Comparaison : Paris reçoit environ 640 mm de pluie par 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Précipitations et climats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Cette faiblesse des précipitations est-elle généralisée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Lesquelles des régions sont plus arrosées ?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1F4E79"/>
                </a:solidFill>
              </a:defRPr>
            </a:pPr>
            <a:r>
              <a:t>❓ Quels sont les climats du Maghreb ?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8595360" y="5486400"/>
            <a:ext cx="256032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Réponses ➡️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deux climats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✅ Non : certaines régions sont un peu plus arrosées.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✅ Les plaines littorales et les massifs montagneux.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⚠️ En dessous de 250 mm/an, plus d'agriculture possible !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✅ Au Nord : climat MÉDITERRANÉEN 🌿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✅ Au Sud : climat DÉSERTIQUE 🏜️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B2B2B"/>
                </a:solidFill>
              </a:defRPr>
            </a:pPr>
            <a:r>
              <a:t>✏️ Sur ta carte : trace l'isohyète des 250 mm et complète la légende.</a:t>
            </a:r>
          </a:p>
        </p:txBody>
      </p:sp>
      <p:pic>
        <p:nvPicPr>
          <p:cNvPr id="34" name="Picture 33" descr="isohy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303520" cy="354935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5852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━ isohyète 250 mm (ligne bleue)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✏️ Complète le tableau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1463040"/>
            <a:ext cx="8503920" cy="82296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16002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Principaux caractères du Maghreb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237744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0" y="260604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1. ……………………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347472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0" y="370332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2. ……………………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57200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0" y="48006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3. ……………………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8595360" y="5760720"/>
            <a:ext cx="2560320" cy="54864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 ➡️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Correction du tableau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1463040"/>
            <a:ext cx="8503920" cy="82296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16002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Principaux caractères du Maghreb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237744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20240" y="2514600"/>
            <a:ext cx="8321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2B2B2B"/>
                </a:solidFill>
              </a:defRPr>
            </a:pPr>
            <a:r>
              <a:t>Importance du désert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347472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20240" y="3611880"/>
            <a:ext cx="8321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2B2B2B"/>
                </a:solidFill>
              </a:defRPr>
            </a:pPr>
            <a:r>
              <a:t>Présence d'un massif montagneux : l'Atlas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572000"/>
            <a:ext cx="8503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4709160"/>
            <a:ext cx="8321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2B2B2B"/>
                </a:solidFill>
              </a:defRPr>
            </a:pPr>
            <a:r>
              <a:t>Les domaines bioclimatiques méditerranéen et désertique, marqués par l'aridité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 – 🎧 C.O. Compréhension orale : vidéo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Berbères (Amazighs), Carthage (814 av. J.-C.), Rome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Conquête arabe : islam et langue 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XVIe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Empire ottoman (Alger, Tunis, Tripoli) ; Maroc indépendant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1830–1912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Colonisation : France (Algérie, Tunisie, Maroc), Italie (Libye)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1951–1962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Indépendances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🗣️ Langues : arabe (darija), tamazight (ⵜⴰⵎⴰⵣⵉⵖⵜ), français • Salam = bonjour • Choukran = merci • Azul = bonjour (berbère)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quelques données clés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3716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Libye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0574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du Maroc (2 mars) et de la Tunisie (20 mars)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1954–1962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Guerre d'Algérie → indépendance le 5 juillet 1962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290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Mauritanie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1148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Création de l'Union du Maghreb arabe (Marrakech)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8006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« Printemps arabe » : départ de Ben Ali (Tunisie), chute de Kadhafi (Libye)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4864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Le couscous inscrit au patrimoine de l'UNESCO (candidature commune)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🎯 Question : combien d'années séparent l'indépendance de la Libye de celle de l'Algérie ? (11 ans)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III – 📖 C.E.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