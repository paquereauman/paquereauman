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d'environ 3 h. Cliquez sur les boutons pour naviguer (mode diaporama). Le bouton 🏠 revient au menu.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Chacun dit un mot qui lui évoque le Maghreb ; on construit un nuage de mots au tableau. Puis formation de 3 équipes : Atlas, Sahara, Médina.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les chiffres à voix haute, comparer avec la France (551 695 km², 68 M hab.). Valeurs arrondies : vérifier les dernières données Banque mondiale si besoin.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Activité : chaque équipe calcule la densité d'un pays (population ÷ superficie) et vérifie.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élèves complètent leur carte au fil du cours. Distribuer la carte muette.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Questionnement oral à partir de la carte. Cliquer sur « Réponses » pour révéler.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Questionnement oral, puis « Réponses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Insérer ici la photo de l'oasis de Bou Thramar (Insertion &gt; Image) à la place du cadre.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repérer les lignes 300 mm et 150 mm sur la carte.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Préciser qu'en dessous de 250 mm de précipitations, il n'y a plus d'agriculture possible (sans irrigation).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élèves complètent le tableau sur leur fiche, puis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http://fr.calameo.com/read/0000054193e34050e91d9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5',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Calaméo : https://www.calameo.com/read/000005419914424b872ed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Remplacer le lien par la vidéo choisie (ou insérer un fichier .mp4 : Insertion &gt; Vidéo). 1er visionnage sans son, 2e avec son, 3e pour vérifier.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Activité : distribuer les étiquettes dans le désordre, les équipes les remettent dans l'ordre.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10', questions en binômes 15', correction collective 10'.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Clique sur chaque carte pour révéler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équipes devinent lettre par lettre (pendu).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 Médina → Vieille ville entourée de remparts ; Casbah → Citadelle, quartier fortifié ; Oasis → Point d'eau dans le désert ; Hammam → Bain de vapeur traditionnel ; Riad → Maison avec jardin intérieur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équipe cite le plus de mots liés au Maghreb en 60 s. 1 mot = 1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25.xml"/><Relationship Id="rId6" Type="http://schemas.openxmlformats.org/officeDocument/2006/relationships/slide" Target="slide28.xml"/><Relationship Id="rId7" Type="http://schemas.openxmlformats.org/officeDocument/2006/relationships/slide" Target="slide43.xml"/><Relationship Id="rId8" Type="http://schemas.openxmlformats.org/officeDocument/2006/relationships/slide" Target="slide45.xml"/><Relationship Id="rId9" Type="http://schemas.openxmlformats.org/officeDocument/2006/relationships/slide" Target="slide46.xml"/><Relationship Id="rId10" Type="http://schemas.openxmlformats.org/officeDocument/2006/relationships/slide" Target="slide49.xml"/><Relationship Id="rId11" Type="http://schemas.openxmlformats.org/officeDocument/2006/relationships/slide" Target="slide51.xml"/><Relationship Id="rId12" Type="http://schemas.openxmlformats.org/officeDocument/2006/relationships/slide" Target="slide54.xml"/><Relationship Id="rId13" Type="http://schemas.openxmlformats.org/officeDocument/2006/relationships/slide" Target="slide5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slide" Target="slide2.xml"/><Relationship Id="rId5" Type="http://schemas.openxmlformats.org/officeDocument/2006/relationships/slide" Target="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slide" Target="slide2.xml"/><Relationship Id="rId5" Type="http://schemas.openxmlformats.org/officeDocument/2006/relationships/slide" Target="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2.xml"/><Relationship Id="rId4" Type="http://schemas.openxmlformats.org/officeDocument/2006/relationships/slide" Target="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slide" Target="slide2.xml"/><Relationship Id="rId5"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slide" Target="slide2.xml"/><Relationship Id="rId4" Type="http://schemas.openxmlformats.org/officeDocument/2006/relationships/slide" Target="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slide" Target="slide2.xml"/><Relationship Id="rId4" Type="http://schemas.openxmlformats.org/officeDocument/2006/relationships/slide" Target="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slide" Target="slide2.xml"/><Relationship Id="rId5" Type="http://schemas.openxmlformats.org/officeDocument/2006/relationships/slide" Target="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2.xml"/><Relationship Id="rId4" Type="http://schemas.openxmlformats.org/officeDocument/2006/relationships/slide" Target="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6.png"/><Relationship Id="rId4" Type="http://schemas.openxmlformats.org/officeDocument/2006/relationships/slide" Target="slide2.xml"/><Relationship Id="rId5" Type="http://schemas.openxmlformats.org/officeDocument/2006/relationships/slide" Target="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www.youtube.com/results?search_query=le+maghreb+documentaire+maroc+alg%C3%A9rie+tunisie" TargetMode="External"/><Relationship Id="rId4" Type="http://schemas.openxmlformats.org/officeDocument/2006/relationships/slide" Target="slide2.xml"/><Relationship Id="rId5" Type="http://schemas.openxmlformats.org/officeDocument/2006/relationships/slide" Target="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0.xml"/><Relationship Id="rId4" Type="http://schemas.openxmlformats.org/officeDocument/2006/relationships/slide" Target="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2.xml"/><Relationship Id="rId4" Type="http://schemas.openxmlformats.org/officeDocument/2006/relationships/slide" Target="slide3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6.xml"/><Relationship Id="rId4" Type="http://schemas.openxmlformats.org/officeDocument/2006/relationships/slide" Target="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9.xml"/><Relationship Id="rId4" Type="http://schemas.openxmlformats.org/officeDocument/2006/relationships/slide" Target="slide3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4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42.xml"/><Relationship Id="rId4" Type="http://schemas.openxmlformats.org/officeDocument/2006/relationships/slide" Target="slide4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4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slide" Target="slide2.xml"/><Relationship Id="rId4" Type="http://schemas.openxmlformats.org/officeDocument/2006/relationships/slide" Target="slide4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4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slide" Target="slide2.xml"/><Relationship Id="rId4" Type="http://schemas.openxmlformats.org/officeDocument/2006/relationships/slide" Target="slide5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slide" Target="slide2.xml"/><Relationship Id="rId4" Type="http://schemas.openxmlformats.org/officeDocument/2006/relationships/slide" Target="slide5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slide" Target="slide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slide" Target="slide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716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716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8288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860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432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004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9436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9436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8580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580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3152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152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296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868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6868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1440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1440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6012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6012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0584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0584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5156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5156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9728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9728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4300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14300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18872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18872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1463040"/>
            <a:ext cx="11247120" cy="1371600"/>
          </a:xfrm>
          <a:prstGeom prst="rect">
            <a:avLst/>
          </a:prstGeom>
          <a:noFill/>
        </p:spPr>
        <p:txBody>
          <a:bodyPr wrap="square">
            <a:spAutoFit/>
          </a:bodyPr>
          <a:lstStyle/>
          <a:p>
            <a:pPr algn="ctr">
              <a:spcAft>
                <a:spcPts val="600"/>
              </a:spcAft>
              <a:defRPr sz="6000" b="1">
                <a:solidFill>
                  <a:srgbClr val="E0A11B"/>
                </a:solidFill>
              </a:defRPr>
            </a:pPr>
            <a:r>
              <a:t>🐪  Le MAGHREB  🌴</a:t>
            </a:r>
          </a:p>
        </p:txBody>
      </p:sp>
      <p:sp>
        <p:nvSpPr>
          <p:cNvPr id="58" name="TextBox 57"/>
          <p:cNvSpPr txBox="1"/>
          <p:nvPr/>
        </p:nvSpPr>
        <p:spPr>
          <a:xfrm>
            <a:off x="457200" y="2834640"/>
            <a:ext cx="11247120" cy="914400"/>
          </a:xfrm>
          <a:prstGeom prst="rect">
            <a:avLst/>
          </a:prstGeom>
          <a:noFill/>
        </p:spPr>
        <p:txBody>
          <a:bodyPr wrap="square">
            <a:spAutoFit/>
          </a:bodyPr>
          <a:lstStyle/>
          <a:p>
            <a:pPr algn="ctr">
              <a:spcAft>
                <a:spcPts val="600"/>
              </a:spcAft>
              <a:defRPr sz="2800" b="0">
                <a:solidFill>
                  <a:srgbClr val="FFFFFF"/>
                </a:solidFill>
              </a:defRPr>
            </a:pPr>
            <a:r>
              <a:t>Voyage ludique et interactif au pays du soleil couchant</a:t>
            </a:r>
          </a:p>
        </p:txBody>
      </p:sp>
      <p:sp>
        <p:nvSpPr>
          <p:cNvPr id="59" name="TextBox 58"/>
          <p:cNvSpPr txBox="1"/>
          <p:nvPr/>
        </p:nvSpPr>
        <p:spPr>
          <a:xfrm>
            <a:off x="457200" y="3749039"/>
            <a:ext cx="11247120" cy="914400"/>
          </a:xfrm>
          <a:prstGeom prst="rect">
            <a:avLst/>
          </a:prstGeom>
          <a:noFill/>
        </p:spPr>
        <p:txBody>
          <a:bodyPr wrap="square">
            <a:spAutoFit/>
          </a:bodyPr>
          <a:lstStyle/>
          <a:p>
            <a:pPr algn="ctr">
              <a:spcAft>
                <a:spcPts val="600"/>
              </a:spcAft>
              <a:defRPr sz="2000" b="0">
                <a:solidFill>
                  <a:srgbClr val="F6E7C8"/>
                </a:solidFill>
              </a:defRPr>
            </a:pPr>
            <a:r>
              <a:t>Algérie • Maroc • Tunisie  (+ Libye &amp; Mauritanie : le « Grand Maghreb »)</a:t>
            </a:r>
          </a:p>
        </p:txBody>
      </p:sp>
      <p:sp>
        <p:nvSpPr>
          <p:cNvPr id="60" name="Rounded Rectangle 59">
            <a:hlinkClick action="ppaction://hlinksldjump" r:id="rId3"/>
          </p:cNvPr>
          <p:cNvSpPr/>
          <p:nvPr/>
        </p:nvSpPr>
        <p:spPr>
          <a:xfrm>
            <a:off x="4754880" y="475488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 COMMENCER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Menu du voyage — clique sur une étape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a:hlinkClick action="ppaction://hlinksldjump" r:id="rId3"/>
          </p:cNvPr>
          <p:cNvSpPr/>
          <p:nvPr/>
        </p:nvSpPr>
        <p:spPr>
          <a:xfrm>
            <a:off x="548640" y="1463040"/>
            <a:ext cx="347472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 Brise-glace  (15')</a:t>
            </a:r>
          </a:p>
        </p:txBody>
      </p:sp>
      <p:sp>
        <p:nvSpPr>
          <p:cNvPr id="34" name="Rounded Rectangle 33">
            <a:hlinkClick action="ppaction://hlinksldjump" r:id="rId4"/>
          </p:cNvPr>
          <p:cNvSpPr/>
          <p:nvPr/>
        </p:nvSpPr>
        <p:spPr>
          <a:xfrm>
            <a:off x="4297679" y="1463040"/>
            <a:ext cx="3474720" cy="9144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I. Carte d'identité  (25')</a:t>
            </a:r>
          </a:p>
        </p:txBody>
      </p:sp>
      <p:sp>
        <p:nvSpPr>
          <p:cNvPr id="35" name="Rounded Rectangle 34">
            <a:hlinkClick action="ppaction://hlinksldjump" r:id="rId5"/>
          </p:cNvPr>
          <p:cNvSpPr/>
          <p:nvPr/>
        </p:nvSpPr>
        <p:spPr>
          <a:xfrm>
            <a:off x="8046719" y="1463040"/>
            <a:ext cx="3474720" cy="9144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II. 🎧 C.O. Vidéo  (25')</a:t>
            </a:r>
          </a:p>
        </p:txBody>
      </p:sp>
      <p:sp>
        <p:nvSpPr>
          <p:cNvPr id="36" name="Rounded Rectangle 35">
            <a:hlinkClick action="ppaction://hlinksldjump" r:id="rId6"/>
          </p:cNvPr>
          <p:cNvSpPr/>
          <p:nvPr/>
        </p:nvSpPr>
        <p:spPr>
          <a:xfrm>
            <a:off x="548640" y="2651760"/>
            <a:ext cx="3474720" cy="91440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Quiz géo  (10')</a:t>
            </a:r>
          </a:p>
        </p:txBody>
      </p:sp>
      <p:sp>
        <p:nvSpPr>
          <p:cNvPr id="37" name="Rounded Rectangle 36">
            <a:hlinkClick action="ppaction://hlinksldjump" r:id="rId7"/>
          </p:cNvPr>
          <p:cNvSpPr/>
          <p:nvPr/>
        </p:nvSpPr>
        <p:spPr>
          <a:xfrm>
            <a:off x="4297679" y="2651760"/>
            <a:ext cx="347472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IV. Histoire &amp; données  (20')</a:t>
            </a:r>
          </a:p>
        </p:txBody>
      </p:sp>
      <p:sp>
        <p:nvSpPr>
          <p:cNvPr id="38" name="Rounded Rectangle 37">
            <a:hlinkClick action="ppaction://hlinksldjump" r:id="rId8"/>
          </p:cNvPr>
          <p:cNvSpPr/>
          <p:nvPr/>
        </p:nvSpPr>
        <p:spPr>
          <a:xfrm>
            <a:off x="8046719" y="2651760"/>
            <a:ext cx="3474720" cy="9144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Pause  (15')</a:t>
            </a:r>
          </a:p>
        </p:txBody>
      </p:sp>
      <p:sp>
        <p:nvSpPr>
          <p:cNvPr id="39" name="Rounded Rectangle 38">
            <a:hlinkClick action="ppaction://hlinksldjump" r:id="rId9"/>
          </p:cNvPr>
          <p:cNvSpPr/>
          <p:nvPr/>
        </p:nvSpPr>
        <p:spPr>
          <a:xfrm>
            <a:off x="548640" y="3840480"/>
            <a:ext cx="3474720" cy="9144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III. 📖 C.E. écrite  (30')</a:t>
            </a:r>
          </a:p>
        </p:txBody>
      </p:sp>
      <p:sp>
        <p:nvSpPr>
          <p:cNvPr id="40" name="Rounded Rectangle 39">
            <a:hlinkClick action="ppaction://hlinksldjump" r:id="rId10"/>
          </p:cNvPr>
          <p:cNvSpPr/>
          <p:nvPr/>
        </p:nvSpPr>
        <p:spPr>
          <a:xfrm>
            <a:off x="4297679" y="3840480"/>
            <a:ext cx="3474720" cy="91440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7. Cuisine &amp; culture  (15')</a:t>
            </a:r>
          </a:p>
        </p:txBody>
      </p:sp>
      <p:sp>
        <p:nvSpPr>
          <p:cNvPr id="41" name="Rounded Rectangle 40">
            <a:hlinkClick action="ppaction://hlinksldjump" r:id="rId11"/>
          </p:cNvPr>
          <p:cNvSpPr/>
          <p:nvPr/>
        </p:nvSpPr>
        <p:spPr>
          <a:xfrm>
            <a:off x="8046719" y="3840480"/>
            <a:ext cx="347472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8. Jeux de mots  (15')</a:t>
            </a:r>
          </a:p>
        </p:txBody>
      </p:sp>
      <p:sp>
        <p:nvSpPr>
          <p:cNvPr id="42" name="Rounded Rectangle 41">
            <a:hlinkClick action="ppaction://hlinksldjump" r:id="rId12"/>
          </p:cNvPr>
          <p:cNvSpPr/>
          <p:nvPr/>
        </p:nvSpPr>
        <p:spPr>
          <a:xfrm>
            <a:off x="548640" y="5029200"/>
            <a:ext cx="3474720" cy="9144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9. Défi final par équipes  (10')</a:t>
            </a:r>
          </a:p>
        </p:txBody>
      </p:sp>
      <p:sp>
        <p:nvSpPr>
          <p:cNvPr id="43" name="Rounded Rectangle 42">
            <a:hlinkClick action="ppaction://hlinksldjump" r:id="rId13"/>
          </p:cNvPr>
          <p:cNvSpPr/>
          <p:nvPr/>
        </p:nvSpPr>
        <p:spPr>
          <a:xfrm>
            <a:off x="4297679" y="5029200"/>
            <a:ext cx="3474720" cy="9144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10. Bilan &amp; production  (10')</a:t>
            </a:r>
          </a:p>
        </p:txBody>
      </p:sp>
      <p:sp>
        <p:nvSpPr>
          <p:cNvPr id="44" name="TextBox 43"/>
          <p:cNvSpPr txBox="1"/>
          <p:nvPr/>
        </p:nvSpPr>
        <p:spPr>
          <a:xfrm>
            <a:off x="548640" y="6263640"/>
            <a:ext cx="10058400" cy="457200"/>
          </a:xfrm>
          <a:prstGeom prst="rect">
            <a:avLst/>
          </a:prstGeom>
          <a:noFill/>
        </p:spPr>
        <p:txBody>
          <a:bodyPr wrap="square">
            <a:spAutoFit/>
          </a:bodyPr>
          <a:lstStyle/>
          <a:p>
            <a:pPr algn="l">
              <a:spcAft>
                <a:spcPts val="600"/>
              </a:spcAft>
              <a:defRPr sz="1600" b="1">
                <a:solidFill>
                  <a:srgbClr val="1F4E79"/>
                </a:solidFill>
              </a:defRPr>
            </a:pPr>
            <a:r>
              <a:t>Durée totale ≈ 3 h  •  Score des équipes au tableau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1. Brise-glace : le Maghreb en 1 mot</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Tour de table : 1 mot, 1 image, 1 souvenir associé au Maghreb</a:t>
            </a:r>
          </a:p>
          <a:p>
            <a:pPr algn="l">
              <a:spcAft>
                <a:spcPts val="600"/>
              </a:spcAft>
              <a:defRPr sz="2200" b="0">
                <a:solidFill>
                  <a:srgbClr val="2B2B2B"/>
                </a:solidFill>
              </a:defRPr>
            </a:pPr>
            <a:r>
              <a:t>• On construit ensemble un nuage de mots au tableau ☁️</a:t>
            </a:r>
          </a:p>
          <a:p>
            <a:pPr algn="l">
              <a:spcAft>
                <a:spcPts val="600"/>
              </a:spcAft>
              <a:defRPr sz="2200" b="0">
                <a:solidFill>
                  <a:srgbClr val="2B2B2B"/>
                </a:solidFill>
              </a:defRPr>
            </a:pPr>
            <a:r>
              <a:t>• Formez 3 équipes : 🏔️ ATLAS  •  🏜️ SAHARA  •  🕌 MÉDINA</a:t>
            </a:r>
          </a:p>
          <a:p>
            <a:pPr algn="l">
              <a:spcAft>
                <a:spcPts val="600"/>
              </a:spcAft>
              <a:defRPr sz="2200" b="0">
                <a:solidFill>
                  <a:srgbClr val="2B2B2B"/>
                </a:solidFill>
              </a:defRPr>
            </a:pPr>
            <a:r>
              <a:t>• Chaque bonne réponse = 1 point — le score suit toute la séance !</a:t>
            </a:r>
          </a:p>
        </p:txBody>
      </p:sp>
      <p:sp>
        <p:nvSpPr>
          <p:cNvPr id="35" name="TextBox 34"/>
          <p:cNvSpPr txBox="1"/>
          <p:nvPr/>
        </p:nvSpPr>
        <p:spPr>
          <a:xfrm>
            <a:off x="640080" y="4937760"/>
            <a:ext cx="10972800" cy="914400"/>
          </a:xfrm>
          <a:prstGeom prst="rect">
            <a:avLst/>
          </a:prstGeom>
          <a:noFill/>
        </p:spPr>
        <p:txBody>
          <a:bodyPr wrap="square">
            <a:spAutoFit/>
          </a:bodyPr>
          <a:lstStyle/>
          <a:p>
            <a:pPr algn="l">
              <a:spcAft>
                <a:spcPts val="600"/>
              </a:spcAft>
              <a:defRPr sz="2000" b="1">
                <a:solidFill>
                  <a:srgbClr val="B84A1E"/>
                </a:solidFill>
              </a:defRPr>
            </a:pPr>
            <a:r>
              <a:t>« Maghreb » (المغرب) signifie en arabe : « le couchant », l'Occident — là où le soleil se couche.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Carte d'identité du Maghreb</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ounded Rectangle 33"/>
          <p:cNvSpPr/>
          <p:nvPr/>
        </p:nvSpPr>
        <p:spPr>
          <a:xfrm>
            <a:off x="548640" y="1371600"/>
            <a:ext cx="566928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1463040"/>
            <a:ext cx="5394960" cy="548640"/>
          </a:xfrm>
          <a:prstGeom prst="rect">
            <a:avLst/>
          </a:prstGeom>
          <a:noFill/>
        </p:spPr>
        <p:txBody>
          <a:bodyPr wrap="square">
            <a:spAutoFit/>
          </a:bodyPr>
          <a:lstStyle/>
          <a:p>
            <a:pPr algn="l">
              <a:spcAft>
                <a:spcPts val="600"/>
              </a:spcAft>
              <a:defRPr sz="2200" b="1">
                <a:solidFill>
                  <a:srgbClr val="B84A1E"/>
                </a:solidFill>
              </a:defRPr>
            </a:pPr>
            <a:r>
              <a:t>1) Carte d'identité régionale</a:t>
            </a:r>
          </a:p>
        </p:txBody>
      </p:sp>
      <p:sp>
        <p:nvSpPr>
          <p:cNvPr id="36" name="TextBox 35"/>
          <p:cNvSpPr txBox="1"/>
          <p:nvPr/>
        </p:nvSpPr>
        <p:spPr>
          <a:xfrm>
            <a:off x="731520" y="2011680"/>
            <a:ext cx="5394960" cy="4023360"/>
          </a:xfrm>
          <a:prstGeom prst="rect">
            <a:avLst/>
          </a:prstGeom>
          <a:noFill/>
        </p:spPr>
        <p:txBody>
          <a:bodyPr wrap="square">
            <a:spAutoFit/>
          </a:bodyPr>
          <a:lstStyle/>
          <a:p>
            <a:pPr algn="l">
              <a:spcAft>
                <a:spcPts val="600"/>
              </a:spcAft>
              <a:defRPr sz="1600" b="0">
                <a:solidFill>
                  <a:srgbClr val="2B2B2B"/>
                </a:solidFill>
              </a:defRPr>
            </a:pPr>
            <a:r>
              <a:t>Superficie : ≈ 5,8 millions km² (≈ 10 × la France métropolitaine)</a:t>
            </a:r>
          </a:p>
          <a:p>
            <a:pPr algn="l">
              <a:spcAft>
                <a:spcPts val="600"/>
              </a:spcAft>
              <a:defRPr sz="1600" b="0">
                <a:solidFill>
                  <a:srgbClr val="2B2B2B"/>
                </a:solidFill>
              </a:defRPr>
            </a:pPr>
            <a:r>
              <a:t>Population : ≈ 107 millions d'habitants</a:t>
            </a:r>
          </a:p>
          <a:p>
            <a:pPr algn="l">
              <a:spcAft>
                <a:spcPts val="600"/>
              </a:spcAft>
              <a:defRPr sz="1600" b="0">
                <a:solidFill>
                  <a:srgbClr val="2B2B2B"/>
                </a:solidFill>
              </a:defRPr>
            </a:pPr>
            <a:r>
              <a:t>Densité : ≈ 18 hab/km² (très inégale : côtes peuplées, Sahara presque vide)</a:t>
            </a:r>
          </a:p>
          <a:p>
            <a:pPr algn="l">
              <a:spcAft>
                <a:spcPts val="600"/>
              </a:spcAft>
              <a:defRPr sz="1600" b="0">
                <a:solidFill>
                  <a:srgbClr val="2B2B2B"/>
                </a:solidFill>
              </a:defRPr>
            </a:pPr>
            <a:r>
              <a:t>PIB : ≈ 490 milliards $ (cumulé)</a:t>
            </a:r>
          </a:p>
          <a:p>
            <a:pPr algn="l">
              <a:spcAft>
                <a:spcPts val="600"/>
              </a:spcAft>
              <a:defRPr sz="1600" b="0">
                <a:solidFill>
                  <a:srgbClr val="2B2B2B"/>
                </a:solidFill>
              </a:defRPr>
            </a:pPr>
            <a:r>
              <a:t>Taux de chômage : ≈ 10 à 19 % selon les pays</a:t>
            </a:r>
          </a:p>
          <a:p>
            <a:pPr algn="l">
              <a:spcAft>
                <a:spcPts val="600"/>
              </a:spcAft>
              <a:defRPr sz="1600" b="0">
                <a:solidFill>
                  <a:srgbClr val="2B2B2B"/>
                </a:solidFill>
              </a:defRPr>
            </a:pPr>
            <a:r>
              <a:t>Statut : 5 États indépendants réunis dans l'Union du Maghreb arabe (UMA, 1989)</a:t>
            </a:r>
          </a:p>
          <a:p>
            <a:pPr algn="l">
              <a:spcAft>
                <a:spcPts val="600"/>
              </a:spcAft>
              <a:defRPr sz="1600" b="0">
                <a:solidFill>
                  <a:srgbClr val="2B2B2B"/>
                </a:solidFill>
              </a:defRPr>
            </a:pPr>
            <a:r>
              <a:t>Source : Banque mondiale 2023 (arrondis)</a:t>
            </a:r>
          </a:p>
        </p:txBody>
      </p:sp>
      <p:sp>
        <p:nvSpPr>
          <p:cNvPr id="37" name="Rounded Rectangle 36"/>
          <p:cNvSpPr/>
          <p:nvPr/>
        </p:nvSpPr>
        <p:spPr>
          <a:xfrm>
            <a:off x="6492240" y="1371600"/>
            <a:ext cx="5120640" cy="47548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1463040"/>
            <a:ext cx="4846320" cy="548640"/>
          </a:xfrm>
          <a:prstGeom prst="rect">
            <a:avLst/>
          </a:prstGeom>
          <a:noFill/>
        </p:spPr>
        <p:txBody>
          <a:bodyPr wrap="square">
            <a:spAutoFit/>
          </a:bodyPr>
          <a:lstStyle/>
          <a:p>
            <a:pPr algn="l">
              <a:spcAft>
                <a:spcPts val="600"/>
              </a:spcAft>
              <a:defRPr sz="2200" b="1">
                <a:solidFill>
                  <a:srgbClr val="E0A11B"/>
                </a:solidFill>
              </a:defRPr>
            </a:pPr>
            <a:r>
              <a:t>2) Ce qu'il faut retenir</a:t>
            </a:r>
          </a:p>
        </p:txBody>
      </p:sp>
      <p:sp>
        <p:nvSpPr>
          <p:cNvPr id="39" name="TextBox 38"/>
          <p:cNvSpPr txBox="1"/>
          <p:nvPr/>
        </p:nvSpPr>
        <p:spPr>
          <a:xfrm>
            <a:off x="6675120" y="2011680"/>
            <a:ext cx="4846320" cy="4023360"/>
          </a:xfrm>
          <a:prstGeom prst="rect">
            <a:avLst/>
          </a:prstGeom>
          <a:noFill/>
        </p:spPr>
        <p:txBody>
          <a:bodyPr wrap="square">
            <a:spAutoFit/>
          </a:bodyPr>
          <a:lstStyle/>
          <a:p>
            <a:pPr algn="l">
              <a:spcAft>
                <a:spcPts val="600"/>
              </a:spcAft>
              <a:defRPr sz="1600" b="0">
                <a:solidFill>
                  <a:srgbClr val="FFFFFF"/>
                </a:solidFill>
              </a:defRPr>
            </a:pPr>
            <a:r>
              <a:t>🏔️ Relief varié : montagnes de l'Atlas au nord, plaines et côtes méditerranéennes, Sahara au sud</a:t>
            </a:r>
          </a:p>
          <a:p>
            <a:pPr algn="l">
              <a:spcAft>
                <a:spcPts val="600"/>
              </a:spcAft>
              <a:defRPr sz="1600" b="0">
                <a:solidFill>
                  <a:srgbClr val="FFFFFF"/>
                </a:solidFill>
              </a:defRPr>
            </a:pPr>
            <a:r>
              <a:t>☀️ Climat : méditerranéen au nord (étés chauds, hivers doux), désertique au sud</a:t>
            </a:r>
          </a:p>
          <a:p>
            <a:pPr algn="l">
              <a:spcAft>
                <a:spcPts val="600"/>
              </a:spcAft>
              <a:defRPr sz="1600" b="0">
                <a:solidFill>
                  <a:srgbClr val="FFFFFF"/>
                </a:solidFill>
              </a:defRPr>
            </a:pPr>
            <a:r>
              <a:t>🎶 Culture riche : musique (raï, gnaoua, chaâbi), cuisine épicée, hospitalité</a:t>
            </a:r>
          </a:p>
          <a:p>
            <a:pPr algn="l">
              <a:spcAft>
                <a:spcPts val="600"/>
              </a:spcAft>
              <a:defRPr sz="1600" b="0">
                <a:solidFill>
                  <a:srgbClr val="FFFFFF"/>
                </a:solidFill>
              </a:defRPr>
            </a:pPr>
            <a:r>
              <a:t>🌍 Culture maghrébine : un mélange d'origines berbère (amazighe), arabe, africaine, andalouse et européenne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Carte d'identité : pays par pays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548640" y="1371600"/>
            <a:ext cx="178308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4360" y="1463040"/>
            <a:ext cx="1737360" cy="640080"/>
          </a:xfrm>
          <a:prstGeom prst="rect">
            <a:avLst/>
          </a:prstGeom>
          <a:noFill/>
        </p:spPr>
        <p:txBody>
          <a:bodyPr wrap="square">
            <a:spAutoFit/>
          </a:bodyPr>
          <a:lstStyle/>
          <a:p>
            <a:pPr algn="l">
              <a:spcAft>
                <a:spcPts val="600"/>
              </a:spcAft>
              <a:defRPr sz="1500" b="1">
                <a:solidFill>
                  <a:srgbClr val="FFFFFF"/>
                </a:solidFill>
              </a:defRPr>
            </a:pPr>
            <a:r>
              <a:t>Pays</a:t>
            </a:r>
          </a:p>
        </p:txBody>
      </p:sp>
      <p:sp>
        <p:nvSpPr>
          <p:cNvPr id="35" name="Rectangle 34"/>
          <p:cNvSpPr/>
          <p:nvPr/>
        </p:nvSpPr>
        <p:spPr>
          <a:xfrm>
            <a:off x="2377440" y="1371600"/>
            <a:ext cx="1691639"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423160" y="1463040"/>
            <a:ext cx="1645919" cy="640080"/>
          </a:xfrm>
          <a:prstGeom prst="rect">
            <a:avLst/>
          </a:prstGeom>
          <a:noFill/>
        </p:spPr>
        <p:txBody>
          <a:bodyPr wrap="square">
            <a:spAutoFit/>
          </a:bodyPr>
          <a:lstStyle/>
          <a:p>
            <a:pPr algn="l">
              <a:spcAft>
                <a:spcPts val="600"/>
              </a:spcAft>
              <a:defRPr sz="1500" b="1">
                <a:solidFill>
                  <a:srgbClr val="FFFFFF"/>
                </a:solidFill>
              </a:defRPr>
            </a:pPr>
            <a:r>
              <a:t>Superficie</a:t>
            </a:r>
          </a:p>
        </p:txBody>
      </p:sp>
      <p:sp>
        <p:nvSpPr>
          <p:cNvPr id="37" name="Rectangle 36"/>
          <p:cNvSpPr/>
          <p:nvPr/>
        </p:nvSpPr>
        <p:spPr>
          <a:xfrm>
            <a:off x="4114800" y="1371600"/>
            <a:ext cx="1234439"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60520" y="1463040"/>
            <a:ext cx="1188719" cy="640080"/>
          </a:xfrm>
          <a:prstGeom prst="rect">
            <a:avLst/>
          </a:prstGeom>
          <a:noFill/>
        </p:spPr>
        <p:txBody>
          <a:bodyPr wrap="square">
            <a:spAutoFit/>
          </a:bodyPr>
          <a:lstStyle/>
          <a:p>
            <a:pPr algn="l">
              <a:spcAft>
                <a:spcPts val="600"/>
              </a:spcAft>
              <a:defRPr sz="1500" b="1">
                <a:solidFill>
                  <a:srgbClr val="FFFFFF"/>
                </a:solidFill>
              </a:defRPr>
            </a:pPr>
            <a:r>
              <a:t>Population</a:t>
            </a:r>
          </a:p>
        </p:txBody>
      </p:sp>
      <p:sp>
        <p:nvSpPr>
          <p:cNvPr id="39" name="Rectangle 38"/>
          <p:cNvSpPr/>
          <p:nvPr/>
        </p:nvSpPr>
        <p:spPr>
          <a:xfrm>
            <a:off x="5394960" y="1371600"/>
            <a:ext cx="105156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0680" y="1463040"/>
            <a:ext cx="1005839" cy="640080"/>
          </a:xfrm>
          <a:prstGeom prst="rect">
            <a:avLst/>
          </a:prstGeom>
          <a:noFill/>
        </p:spPr>
        <p:txBody>
          <a:bodyPr wrap="square">
            <a:spAutoFit/>
          </a:bodyPr>
          <a:lstStyle/>
          <a:p>
            <a:pPr algn="l">
              <a:spcAft>
                <a:spcPts val="600"/>
              </a:spcAft>
              <a:defRPr sz="1500" b="1">
                <a:solidFill>
                  <a:srgbClr val="FFFFFF"/>
                </a:solidFill>
              </a:defRPr>
            </a:pPr>
            <a:r>
              <a:t>Densité</a:t>
            </a:r>
          </a:p>
        </p:txBody>
      </p:sp>
      <p:sp>
        <p:nvSpPr>
          <p:cNvPr id="41" name="Rectangle 40"/>
          <p:cNvSpPr/>
          <p:nvPr/>
        </p:nvSpPr>
        <p:spPr>
          <a:xfrm>
            <a:off x="6492240" y="1371600"/>
            <a:ext cx="132588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37960" y="1463040"/>
            <a:ext cx="1280160" cy="640080"/>
          </a:xfrm>
          <a:prstGeom prst="rect">
            <a:avLst/>
          </a:prstGeom>
          <a:noFill/>
        </p:spPr>
        <p:txBody>
          <a:bodyPr wrap="square">
            <a:spAutoFit/>
          </a:bodyPr>
          <a:lstStyle/>
          <a:p>
            <a:pPr algn="l">
              <a:spcAft>
                <a:spcPts val="600"/>
              </a:spcAft>
              <a:defRPr sz="1500" b="1">
                <a:solidFill>
                  <a:srgbClr val="FFFFFF"/>
                </a:solidFill>
              </a:defRPr>
            </a:pPr>
            <a:r>
              <a:t>PIB</a:t>
            </a:r>
          </a:p>
        </p:txBody>
      </p:sp>
      <p:sp>
        <p:nvSpPr>
          <p:cNvPr id="43" name="Rectangle 42"/>
          <p:cNvSpPr/>
          <p:nvPr/>
        </p:nvSpPr>
        <p:spPr>
          <a:xfrm>
            <a:off x="7863840" y="1371600"/>
            <a:ext cx="114300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09560" y="1463040"/>
            <a:ext cx="1097280" cy="640080"/>
          </a:xfrm>
          <a:prstGeom prst="rect">
            <a:avLst/>
          </a:prstGeom>
          <a:noFill/>
        </p:spPr>
        <p:txBody>
          <a:bodyPr wrap="square">
            <a:spAutoFit/>
          </a:bodyPr>
          <a:lstStyle/>
          <a:p>
            <a:pPr algn="l">
              <a:spcAft>
                <a:spcPts val="600"/>
              </a:spcAft>
              <a:defRPr sz="1500" b="1">
                <a:solidFill>
                  <a:srgbClr val="FFFFFF"/>
                </a:solidFill>
              </a:defRPr>
            </a:pPr>
            <a:r>
              <a:t>Chômage</a:t>
            </a:r>
          </a:p>
        </p:txBody>
      </p:sp>
      <p:sp>
        <p:nvSpPr>
          <p:cNvPr id="45" name="Rectangle 44"/>
          <p:cNvSpPr/>
          <p:nvPr/>
        </p:nvSpPr>
        <p:spPr>
          <a:xfrm>
            <a:off x="9052560" y="1371600"/>
            <a:ext cx="251460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98280" y="1463040"/>
            <a:ext cx="2468879" cy="640080"/>
          </a:xfrm>
          <a:prstGeom prst="rect">
            <a:avLst/>
          </a:prstGeom>
          <a:noFill/>
        </p:spPr>
        <p:txBody>
          <a:bodyPr wrap="square">
            <a:spAutoFit/>
          </a:bodyPr>
          <a:lstStyle/>
          <a:p>
            <a:pPr algn="l">
              <a:spcAft>
                <a:spcPts val="600"/>
              </a:spcAft>
              <a:defRPr sz="1500" b="1">
                <a:solidFill>
                  <a:srgbClr val="FFFFFF"/>
                </a:solidFill>
              </a:defRPr>
            </a:pPr>
            <a:r>
              <a:t>Statut</a:t>
            </a:r>
          </a:p>
        </p:txBody>
      </p:sp>
      <p:sp>
        <p:nvSpPr>
          <p:cNvPr id="47" name="Rectangle 46"/>
          <p:cNvSpPr/>
          <p:nvPr/>
        </p:nvSpPr>
        <p:spPr>
          <a:xfrm>
            <a:off x="548640" y="214884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2240280"/>
            <a:ext cx="1737360" cy="640080"/>
          </a:xfrm>
          <a:prstGeom prst="rect">
            <a:avLst/>
          </a:prstGeom>
          <a:noFill/>
        </p:spPr>
        <p:txBody>
          <a:bodyPr wrap="square">
            <a:spAutoFit/>
          </a:bodyPr>
          <a:lstStyle/>
          <a:p>
            <a:pPr algn="l">
              <a:spcAft>
                <a:spcPts val="600"/>
              </a:spcAft>
              <a:defRPr sz="1500" b="1">
                <a:solidFill>
                  <a:srgbClr val="2B2B2B"/>
                </a:solidFill>
              </a:defRPr>
            </a:pPr>
            <a:r>
              <a:t>🇲🇦 Maroc</a:t>
            </a:r>
          </a:p>
        </p:txBody>
      </p:sp>
      <p:sp>
        <p:nvSpPr>
          <p:cNvPr id="49" name="Rectangle 48"/>
          <p:cNvSpPr/>
          <p:nvPr/>
        </p:nvSpPr>
        <p:spPr>
          <a:xfrm>
            <a:off x="2377440" y="214884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423160" y="2240280"/>
            <a:ext cx="1645919" cy="640080"/>
          </a:xfrm>
          <a:prstGeom prst="rect">
            <a:avLst/>
          </a:prstGeom>
          <a:noFill/>
        </p:spPr>
        <p:txBody>
          <a:bodyPr wrap="square">
            <a:spAutoFit/>
          </a:bodyPr>
          <a:lstStyle/>
          <a:p>
            <a:pPr algn="l">
              <a:spcAft>
                <a:spcPts val="600"/>
              </a:spcAft>
              <a:defRPr sz="1500" b="0">
                <a:solidFill>
                  <a:srgbClr val="2B2B2B"/>
                </a:solidFill>
              </a:defRPr>
            </a:pPr>
            <a:r>
              <a:t>446 550 km²</a:t>
            </a:r>
          </a:p>
        </p:txBody>
      </p:sp>
      <p:sp>
        <p:nvSpPr>
          <p:cNvPr id="51" name="Rectangle 50"/>
          <p:cNvSpPr/>
          <p:nvPr/>
        </p:nvSpPr>
        <p:spPr>
          <a:xfrm>
            <a:off x="4114800" y="214884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60520" y="2240280"/>
            <a:ext cx="1188719" cy="640080"/>
          </a:xfrm>
          <a:prstGeom prst="rect">
            <a:avLst/>
          </a:prstGeom>
          <a:noFill/>
        </p:spPr>
        <p:txBody>
          <a:bodyPr wrap="square">
            <a:spAutoFit/>
          </a:bodyPr>
          <a:lstStyle/>
          <a:p>
            <a:pPr algn="l">
              <a:spcAft>
                <a:spcPts val="600"/>
              </a:spcAft>
              <a:defRPr sz="1500" b="0">
                <a:solidFill>
                  <a:srgbClr val="2B2B2B"/>
                </a:solidFill>
              </a:defRPr>
            </a:pPr>
            <a:r>
              <a:t>≈ 37 M</a:t>
            </a:r>
          </a:p>
        </p:txBody>
      </p:sp>
      <p:sp>
        <p:nvSpPr>
          <p:cNvPr id="53" name="Rectangle 52"/>
          <p:cNvSpPr/>
          <p:nvPr/>
        </p:nvSpPr>
        <p:spPr>
          <a:xfrm>
            <a:off x="5394960" y="214884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440680" y="2240280"/>
            <a:ext cx="1005839" cy="640080"/>
          </a:xfrm>
          <a:prstGeom prst="rect">
            <a:avLst/>
          </a:prstGeom>
          <a:noFill/>
        </p:spPr>
        <p:txBody>
          <a:bodyPr wrap="square">
            <a:spAutoFit/>
          </a:bodyPr>
          <a:lstStyle/>
          <a:p>
            <a:pPr algn="l">
              <a:spcAft>
                <a:spcPts val="600"/>
              </a:spcAft>
              <a:defRPr sz="1500" b="0">
                <a:solidFill>
                  <a:srgbClr val="2B2B2B"/>
                </a:solidFill>
              </a:defRPr>
            </a:pPr>
            <a:r>
              <a:t>≈ 83</a:t>
            </a:r>
          </a:p>
        </p:txBody>
      </p:sp>
      <p:sp>
        <p:nvSpPr>
          <p:cNvPr id="55" name="Rectangle 54"/>
          <p:cNvSpPr/>
          <p:nvPr/>
        </p:nvSpPr>
        <p:spPr>
          <a:xfrm>
            <a:off x="6492240" y="214884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37960" y="2240280"/>
            <a:ext cx="1280160" cy="640080"/>
          </a:xfrm>
          <a:prstGeom prst="rect">
            <a:avLst/>
          </a:prstGeom>
          <a:noFill/>
        </p:spPr>
        <p:txBody>
          <a:bodyPr wrap="square">
            <a:spAutoFit/>
          </a:bodyPr>
          <a:lstStyle/>
          <a:p>
            <a:pPr algn="l">
              <a:spcAft>
                <a:spcPts val="600"/>
              </a:spcAft>
              <a:defRPr sz="1500" b="0">
                <a:solidFill>
                  <a:srgbClr val="2B2B2B"/>
                </a:solidFill>
              </a:defRPr>
            </a:pPr>
            <a:r>
              <a:t>≈ 141 Md$</a:t>
            </a:r>
          </a:p>
        </p:txBody>
      </p:sp>
      <p:sp>
        <p:nvSpPr>
          <p:cNvPr id="57" name="Rectangle 56"/>
          <p:cNvSpPr/>
          <p:nvPr/>
        </p:nvSpPr>
        <p:spPr>
          <a:xfrm>
            <a:off x="7863840" y="214884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909560" y="2240280"/>
            <a:ext cx="1097280" cy="640080"/>
          </a:xfrm>
          <a:prstGeom prst="rect">
            <a:avLst/>
          </a:prstGeom>
          <a:noFill/>
        </p:spPr>
        <p:txBody>
          <a:bodyPr wrap="square">
            <a:spAutoFit/>
          </a:bodyPr>
          <a:lstStyle/>
          <a:p>
            <a:pPr algn="l">
              <a:spcAft>
                <a:spcPts val="600"/>
              </a:spcAft>
              <a:defRPr sz="1500" b="0">
                <a:solidFill>
                  <a:srgbClr val="2B2B2B"/>
                </a:solidFill>
              </a:defRPr>
            </a:pPr>
            <a:r>
              <a:t>≈ 13 %</a:t>
            </a:r>
          </a:p>
        </p:txBody>
      </p:sp>
      <p:sp>
        <p:nvSpPr>
          <p:cNvPr id="59" name="Rectangle 58"/>
          <p:cNvSpPr/>
          <p:nvPr/>
        </p:nvSpPr>
        <p:spPr>
          <a:xfrm>
            <a:off x="9052560" y="214884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98280" y="2240280"/>
            <a:ext cx="2468879" cy="640080"/>
          </a:xfrm>
          <a:prstGeom prst="rect">
            <a:avLst/>
          </a:prstGeom>
          <a:noFill/>
        </p:spPr>
        <p:txBody>
          <a:bodyPr wrap="square">
            <a:spAutoFit/>
          </a:bodyPr>
          <a:lstStyle/>
          <a:p>
            <a:pPr algn="l">
              <a:spcAft>
                <a:spcPts val="600"/>
              </a:spcAft>
              <a:defRPr sz="1500" b="0">
                <a:solidFill>
                  <a:srgbClr val="2B2B2B"/>
                </a:solidFill>
              </a:defRPr>
            </a:pPr>
            <a:r>
              <a:t>Monarchie const.</a:t>
            </a:r>
          </a:p>
        </p:txBody>
      </p:sp>
      <p:sp>
        <p:nvSpPr>
          <p:cNvPr id="61" name="Rectangle 60"/>
          <p:cNvSpPr/>
          <p:nvPr/>
        </p:nvSpPr>
        <p:spPr>
          <a:xfrm>
            <a:off x="548640" y="2926080"/>
            <a:ext cx="17830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94360" y="3017520"/>
            <a:ext cx="1737360" cy="640080"/>
          </a:xfrm>
          <a:prstGeom prst="rect">
            <a:avLst/>
          </a:prstGeom>
          <a:noFill/>
        </p:spPr>
        <p:txBody>
          <a:bodyPr wrap="square">
            <a:spAutoFit/>
          </a:bodyPr>
          <a:lstStyle/>
          <a:p>
            <a:pPr algn="l">
              <a:spcAft>
                <a:spcPts val="600"/>
              </a:spcAft>
              <a:defRPr sz="1500" b="1">
                <a:solidFill>
                  <a:srgbClr val="2B2B2B"/>
                </a:solidFill>
              </a:defRPr>
            </a:pPr>
            <a:r>
              <a:t>🇩🇿 Algérie</a:t>
            </a:r>
          </a:p>
        </p:txBody>
      </p:sp>
      <p:sp>
        <p:nvSpPr>
          <p:cNvPr id="63" name="Rectangle 62"/>
          <p:cNvSpPr/>
          <p:nvPr/>
        </p:nvSpPr>
        <p:spPr>
          <a:xfrm>
            <a:off x="2377440" y="2926080"/>
            <a:ext cx="16916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423160" y="3017520"/>
            <a:ext cx="1645919" cy="640080"/>
          </a:xfrm>
          <a:prstGeom prst="rect">
            <a:avLst/>
          </a:prstGeom>
          <a:noFill/>
        </p:spPr>
        <p:txBody>
          <a:bodyPr wrap="square">
            <a:spAutoFit/>
          </a:bodyPr>
          <a:lstStyle/>
          <a:p>
            <a:pPr algn="l">
              <a:spcAft>
                <a:spcPts val="600"/>
              </a:spcAft>
              <a:defRPr sz="1500" b="0">
                <a:solidFill>
                  <a:srgbClr val="2B2B2B"/>
                </a:solidFill>
              </a:defRPr>
            </a:pPr>
            <a:r>
              <a:t>2 381 741 km²</a:t>
            </a:r>
          </a:p>
        </p:txBody>
      </p:sp>
      <p:sp>
        <p:nvSpPr>
          <p:cNvPr id="65" name="Rectangle 64"/>
          <p:cNvSpPr/>
          <p:nvPr/>
        </p:nvSpPr>
        <p:spPr>
          <a:xfrm>
            <a:off x="4114800" y="2926080"/>
            <a:ext cx="12344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160520" y="3017520"/>
            <a:ext cx="1188719" cy="640080"/>
          </a:xfrm>
          <a:prstGeom prst="rect">
            <a:avLst/>
          </a:prstGeom>
          <a:noFill/>
        </p:spPr>
        <p:txBody>
          <a:bodyPr wrap="square">
            <a:spAutoFit/>
          </a:bodyPr>
          <a:lstStyle/>
          <a:p>
            <a:pPr algn="l">
              <a:spcAft>
                <a:spcPts val="600"/>
              </a:spcAft>
              <a:defRPr sz="1500" b="0">
                <a:solidFill>
                  <a:srgbClr val="2B2B2B"/>
                </a:solidFill>
              </a:defRPr>
            </a:pPr>
            <a:r>
              <a:t>≈ 46 M</a:t>
            </a:r>
          </a:p>
        </p:txBody>
      </p:sp>
      <p:sp>
        <p:nvSpPr>
          <p:cNvPr id="67" name="Rectangle 66"/>
          <p:cNvSpPr/>
          <p:nvPr/>
        </p:nvSpPr>
        <p:spPr>
          <a:xfrm>
            <a:off x="5394960" y="2926080"/>
            <a:ext cx="105156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440680" y="3017520"/>
            <a:ext cx="1005839" cy="640080"/>
          </a:xfrm>
          <a:prstGeom prst="rect">
            <a:avLst/>
          </a:prstGeom>
          <a:noFill/>
        </p:spPr>
        <p:txBody>
          <a:bodyPr wrap="square">
            <a:spAutoFit/>
          </a:bodyPr>
          <a:lstStyle/>
          <a:p>
            <a:pPr algn="l">
              <a:spcAft>
                <a:spcPts val="600"/>
              </a:spcAft>
              <a:defRPr sz="1500" b="0">
                <a:solidFill>
                  <a:srgbClr val="2B2B2B"/>
                </a:solidFill>
              </a:defRPr>
            </a:pPr>
            <a:r>
              <a:t>≈ 19</a:t>
            </a:r>
          </a:p>
        </p:txBody>
      </p:sp>
      <p:sp>
        <p:nvSpPr>
          <p:cNvPr id="69" name="Rectangle 68"/>
          <p:cNvSpPr/>
          <p:nvPr/>
        </p:nvSpPr>
        <p:spPr>
          <a:xfrm>
            <a:off x="6492240" y="2926080"/>
            <a:ext cx="13258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537960" y="3017520"/>
            <a:ext cx="1280160" cy="640080"/>
          </a:xfrm>
          <a:prstGeom prst="rect">
            <a:avLst/>
          </a:prstGeom>
          <a:noFill/>
        </p:spPr>
        <p:txBody>
          <a:bodyPr wrap="square">
            <a:spAutoFit/>
          </a:bodyPr>
          <a:lstStyle/>
          <a:p>
            <a:pPr algn="l">
              <a:spcAft>
                <a:spcPts val="600"/>
              </a:spcAft>
              <a:defRPr sz="1500" b="0">
                <a:solidFill>
                  <a:srgbClr val="2B2B2B"/>
                </a:solidFill>
              </a:defRPr>
            </a:pPr>
            <a:r>
              <a:t>≈ 240 Md$</a:t>
            </a:r>
          </a:p>
        </p:txBody>
      </p:sp>
      <p:sp>
        <p:nvSpPr>
          <p:cNvPr id="71" name="Rectangle 70"/>
          <p:cNvSpPr/>
          <p:nvPr/>
        </p:nvSpPr>
        <p:spPr>
          <a:xfrm>
            <a:off x="7863840" y="2926080"/>
            <a:ext cx="11430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09560" y="3017520"/>
            <a:ext cx="1097280" cy="640080"/>
          </a:xfrm>
          <a:prstGeom prst="rect">
            <a:avLst/>
          </a:prstGeom>
          <a:noFill/>
        </p:spPr>
        <p:txBody>
          <a:bodyPr wrap="square">
            <a:spAutoFit/>
          </a:bodyPr>
          <a:lstStyle/>
          <a:p>
            <a:pPr algn="l">
              <a:spcAft>
                <a:spcPts val="600"/>
              </a:spcAft>
              <a:defRPr sz="1500" b="0">
                <a:solidFill>
                  <a:srgbClr val="2B2B2B"/>
                </a:solidFill>
              </a:defRPr>
            </a:pPr>
            <a:r>
              <a:t>≈ 12 %</a:t>
            </a:r>
          </a:p>
        </p:txBody>
      </p:sp>
      <p:sp>
        <p:nvSpPr>
          <p:cNvPr id="73" name="Rectangle 72"/>
          <p:cNvSpPr/>
          <p:nvPr/>
        </p:nvSpPr>
        <p:spPr>
          <a:xfrm>
            <a:off x="9052560" y="2926080"/>
            <a:ext cx="25146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098280" y="3017520"/>
            <a:ext cx="2468879" cy="640080"/>
          </a:xfrm>
          <a:prstGeom prst="rect">
            <a:avLst/>
          </a:prstGeom>
          <a:noFill/>
        </p:spPr>
        <p:txBody>
          <a:bodyPr wrap="square">
            <a:spAutoFit/>
          </a:bodyPr>
          <a:lstStyle/>
          <a:p>
            <a:pPr algn="l">
              <a:spcAft>
                <a:spcPts val="600"/>
              </a:spcAft>
              <a:defRPr sz="1500" b="0">
                <a:solidFill>
                  <a:srgbClr val="2B2B2B"/>
                </a:solidFill>
              </a:defRPr>
            </a:pPr>
            <a:r>
              <a:t>République</a:t>
            </a:r>
          </a:p>
        </p:txBody>
      </p:sp>
      <p:sp>
        <p:nvSpPr>
          <p:cNvPr id="75" name="Rectangle 74"/>
          <p:cNvSpPr/>
          <p:nvPr/>
        </p:nvSpPr>
        <p:spPr>
          <a:xfrm>
            <a:off x="548640" y="370332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94360" y="3794760"/>
            <a:ext cx="1737360" cy="640080"/>
          </a:xfrm>
          <a:prstGeom prst="rect">
            <a:avLst/>
          </a:prstGeom>
          <a:noFill/>
        </p:spPr>
        <p:txBody>
          <a:bodyPr wrap="square">
            <a:spAutoFit/>
          </a:bodyPr>
          <a:lstStyle/>
          <a:p>
            <a:pPr algn="l">
              <a:spcAft>
                <a:spcPts val="600"/>
              </a:spcAft>
              <a:defRPr sz="1500" b="1">
                <a:solidFill>
                  <a:srgbClr val="2B2B2B"/>
                </a:solidFill>
              </a:defRPr>
            </a:pPr>
            <a:r>
              <a:t>🇹🇳 Tunisie</a:t>
            </a:r>
          </a:p>
        </p:txBody>
      </p:sp>
      <p:sp>
        <p:nvSpPr>
          <p:cNvPr id="77" name="Rectangle 76"/>
          <p:cNvSpPr/>
          <p:nvPr/>
        </p:nvSpPr>
        <p:spPr>
          <a:xfrm>
            <a:off x="2377440" y="370332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423160" y="3794760"/>
            <a:ext cx="1645919" cy="640080"/>
          </a:xfrm>
          <a:prstGeom prst="rect">
            <a:avLst/>
          </a:prstGeom>
          <a:noFill/>
        </p:spPr>
        <p:txBody>
          <a:bodyPr wrap="square">
            <a:spAutoFit/>
          </a:bodyPr>
          <a:lstStyle/>
          <a:p>
            <a:pPr algn="l">
              <a:spcAft>
                <a:spcPts val="600"/>
              </a:spcAft>
              <a:defRPr sz="1500" b="0">
                <a:solidFill>
                  <a:srgbClr val="2B2B2B"/>
                </a:solidFill>
              </a:defRPr>
            </a:pPr>
            <a:r>
              <a:t>163 610 km²</a:t>
            </a:r>
          </a:p>
        </p:txBody>
      </p:sp>
      <p:sp>
        <p:nvSpPr>
          <p:cNvPr id="79" name="Rectangle 78"/>
          <p:cNvSpPr/>
          <p:nvPr/>
        </p:nvSpPr>
        <p:spPr>
          <a:xfrm>
            <a:off x="4114800" y="370332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60520" y="3794760"/>
            <a:ext cx="1188719" cy="640080"/>
          </a:xfrm>
          <a:prstGeom prst="rect">
            <a:avLst/>
          </a:prstGeom>
          <a:noFill/>
        </p:spPr>
        <p:txBody>
          <a:bodyPr wrap="square">
            <a:spAutoFit/>
          </a:bodyPr>
          <a:lstStyle/>
          <a:p>
            <a:pPr algn="l">
              <a:spcAft>
                <a:spcPts val="600"/>
              </a:spcAft>
              <a:defRPr sz="1500" b="0">
                <a:solidFill>
                  <a:srgbClr val="2B2B2B"/>
                </a:solidFill>
              </a:defRPr>
            </a:pPr>
            <a:r>
              <a:t>≈ 12 M</a:t>
            </a:r>
          </a:p>
        </p:txBody>
      </p:sp>
      <p:sp>
        <p:nvSpPr>
          <p:cNvPr id="81" name="Rectangle 80"/>
          <p:cNvSpPr/>
          <p:nvPr/>
        </p:nvSpPr>
        <p:spPr>
          <a:xfrm>
            <a:off x="5394960" y="370332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440680" y="3794760"/>
            <a:ext cx="1005839" cy="640080"/>
          </a:xfrm>
          <a:prstGeom prst="rect">
            <a:avLst/>
          </a:prstGeom>
          <a:noFill/>
        </p:spPr>
        <p:txBody>
          <a:bodyPr wrap="square">
            <a:spAutoFit/>
          </a:bodyPr>
          <a:lstStyle/>
          <a:p>
            <a:pPr algn="l">
              <a:spcAft>
                <a:spcPts val="600"/>
              </a:spcAft>
              <a:defRPr sz="1500" b="0">
                <a:solidFill>
                  <a:srgbClr val="2B2B2B"/>
                </a:solidFill>
              </a:defRPr>
            </a:pPr>
            <a:r>
              <a:t>≈ 75</a:t>
            </a:r>
          </a:p>
        </p:txBody>
      </p:sp>
      <p:sp>
        <p:nvSpPr>
          <p:cNvPr id="83" name="Rectangle 82"/>
          <p:cNvSpPr/>
          <p:nvPr/>
        </p:nvSpPr>
        <p:spPr>
          <a:xfrm>
            <a:off x="6492240" y="370332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537960" y="3794760"/>
            <a:ext cx="1280160" cy="640080"/>
          </a:xfrm>
          <a:prstGeom prst="rect">
            <a:avLst/>
          </a:prstGeom>
          <a:noFill/>
        </p:spPr>
        <p:txBody>
          <a:bodyPr wrap="square">
            <a:spAutoFit/>
          </a:bodyPr>
          <a:lstStyle/>
          <a:p>
            <a:pPr algn="l">
              <a:spcAft>
                <a:spcPts val="600"/>
              </a:spcAft>
              <a:defRPr sz="1500" b="0">
                <a:solidFill>
                  <a:srgbClr val="2B2B2B"/>
                </a:solidFill>
              </a:defRPr>
            </a:pPr>
            <a:r>
              <a:t>≈ 48 Md$</a:t>
            </a:r>
          </a:p>
        </p:txBody>
      </p:sp>
      <p:sp>
        <p:nvSpPr>
          <p:cNvPr id="85" name="Rectangle 84"/>
          <p:cNvSpPr/>
          <p:nvPr/>
        </p:nvSpPr>
        <p:spPr>
          <a:xfrm>
            <a:off x="7863840" y="370332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909560" y="3794760"/>
            <a:ext cx="1097280" cy="640080"/>
          </a:xfrm>
          <a:prstGeom prst="rect">
            <a:avLst/>
          </a:prstGeom>
          <a:noFill/>
        </p:spPr>
        <p:txBody>
          <a:bodyPr wrap="square">
            <a:spAutoFit/>
          </a:bodyPr>
          <a:lstStyle/>
          <a:p>
            <a:pPr algn="l">
              <a:spcAft>
                <a:spcPts val="600"/>
              </a:spcAft>
              <a:defRPr sz="1500" b="0">
                <a:solidFill>
                  <a:srgbClr val="2B2B2B"/>
                </a:solidFill>
              </a:defRPr>
            </a:pPr>
            <a:r>
              <a:t>≈ 16 %</a:t>
            </a:r>
          </a:p>
        </p:txBody>
      </p:sp>
      <p:sp>
        <p:nvSpPr>
          <p:cNvPr id="87" name="Rectangle 86"/>
          <p:cNvSpPr/>
          <p:nvPr/>
        </p:nvSpPr>
        <p:spPr>
          <a:xfrm>
            <a:off x="9052560" y="370332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098280" y="3794760"/>
            <a:ext cx="2468879" cy="640080"/>
          </a:xfrm>
          <a:prstGeom prst="rect">
            <a:avLst/>
          </a:prstGeom>
          <a:noFill/>
        </p:spPr>
        <p:txBody>
          <a:bodyPr wrap="square">
            <a:spAutoFit/>
          </a:bodyPr>
          <a:lstStyle/>
          <a:p>
            <a:pPr algn="l">
              <a:spcAft>
                <a:spcPts val="600"/>
              </a:spcAft>
              <a:defRPr sz="1500" b="0">
                <a:solidFill>
                  <a:srgbClr val="2B2B2B"/>
                </a:solidFill>
              </a:defRPr>
            </a:pPr>
            <a:r>
              <a:t>République</a:t>
            </a:r>
          </a:p>
        </p:txBody>
      </p:sp>
      <p:sp>
        <p:nvSpPr>
          <p:cNvPr id="89" name="Rectangle 88"/>
          <p:cNvSpPr/>
          <p:nvPr/>
        </p:nvSpPr>
        <p:spPr>
          <a:xfrm>
            <a:off x="548640" y="4480560"/>
            <a:ext cx="17830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94360" y="4572000"/>
            <a:ext cx="1737360" cy="640080"/>
          </a:xfrm>
          <a:prstGeom prst="rect">
            <a:avLst/>
          </a:prstGeom>
          <a:noFill/>
        </p:spPr>
        <p:txBody>
          <a:bodyPr wrap="square">
            <a:spAutoFit/>
          </a:bodyPr>
          <a:lstStyle/>
          <a:p>
            <a:pPr algn="l">
              <a:spcAft>
                <a:spcPts val="600"/>
              </a:spcAft>
              <a:defRPr sz="1500" b="1">
                <a:solidFill>
                  <a:srgbClr val="2B2B2B"/>
                </a:solidFill>
              </a:defRPr>
            </a:pPr>
            <a:r>
              <a:t>🇱🇾 Libye</a:t>
            </a:r>
          </a:p>
        </p:txBody>
      </p:sp>
      <p:sp>
        <p:nvSpPr>
          <p:cNvPr id="91" name="Rectangle 90"/>
          <p:cNvSpPr/>
          <p:nvPr/>
        </p:nvSpPr>
        <p:spPr>
          <a:xfrm>
            <a:off x="2377440" y="4480560"/>
            <a:ext cx="16916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423160" y="4572000"/>
            <a:ext cx="1645919" cy="640080"/>
          </a:xfrm>
          <a:prstGeom prst="rect">
            <a:avLst/>
          </a:prstGeom>
          <a:noFill/>
        </p:spPr>
        <p:txBody>
          <a:bodyPr wrap="square">
            <a:spAutoFit/>
          </a:bodyPr>
          <a:lstStyle/>
          <a:p>
            <a:pPr algn="l">
              <a:spcAft>
                <a:spcPts val="600"/>
              </a:spcAft>
              <a:defRPr sz="1500" b="0">
                <a:solidFill>
                  <a:srgbClr val="2B2B2B"/>
                </a:solidFill>
              </a:defRPr>
            </a:pPr>
            <a:r>
              <a:t>1 759 540 km²</a:t>
            </a:r>
          </a:p>
        </p:txBody>
      </p:sp>
      <p:sp>
        <p:nvSpPr>
          <p:cNvPr id="93" name="Rectangle 92"/>
          <p:cNvSpPr/>
          <p:nvPr/>
        </p:nvSpPr>
        <p:spPr>
          <a:xfrm>
            <a:off x="4114800" y="4480560"/>
            <a:ext cx="12344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160520" y="4572000"/>
            <a:ext cx="1188719" cy="640080"/>
          </a:xfrm>
          <a:prstGeom prst="rect">
            <a:avLst/>
          </a:prstGeom>
          <a:noFill/>
        </p:spPr>
        <p:txBody>
          <a:bodyPr wrap="square">
            <a:spAutoFit/>
          </a:bodyPr>
          <a:lstStyle/>
          <a:p>
            <a:pPr algn="l">
              <a:spcAft>
                <a:spcPts val="600"/>
              </a:spcAft>
              <a:defRPr sz="1500" b="0">
                <a:solidFill>
                  <a:srgbClr val="2B2B2B"/>
                </a:solidFill>
              </a:defRPr>
            </a:pPr>
            <a:r>
              <a:t>≈ 7 M</a:t>
            </a:r>
          </a:p>
        </p:txBody>
      </p:sp>
      <p:sp>
        <p:nvSpPr>
          <p:cNvPr id="95" name="Rectangle 94"/>
          <p:cNvSpPr/>
          <p:nvPr/>
        </p:nvSpPr>
        <p:spPr>
          <a:xfrm>
            <a:off x="5394960" y="4480560"/>
            <a:ext cx="105156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40680" y="4572000"/>
            <a:ext cx="1005839" cy="640080"/>
          </a:xfrm>
          <a:prstGeom prst="rect">
            <a:avLst/>
          </a:prstGeom>
          <a:noFill/>
        </p:spPr>
        <p:txBody>
          <a:bodyPr wrap="square">
            <a:spAutoFit/>
          </a:bodyPr>
          <a:lstStyle/>
          <a:p>
            <a:pPr algn="l">
              <a:spcAft>
                <a:spcPts val="600"/>
              </a:spcAft>
              <a:defRPr sz="1500" b="0">
                <a:solidFill>
                  <a:srgbClr val="2B2B2B"/>
                </a:solidFill>
              </a:defRPr>
            </a:pPr>
            <a:r>
              <a:t>≈ 4</a:t>
            </a:r>
          </a:p>
        </p:txBody>
      </p:sp>
      <p:sp>
        <p:nvSpPr>
          <p:cNvPr id="97" name="Rectangle 96"/>
          <p:cNvSpPr/>
          <p:nvPr/>
        </p:nvSpPr>
        <p:spPr>
          <a:xfrm>
            <a:off x="6492240" y="4480560"/>
            <a:ext cx="13258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537960" y="4572000"/>
            <a:ext cx="1280160" cy="640080"/>
          </a:xfrm>
          <a:prstGeom prst="rect">
            <a:avLst/>
          </a:prstGeom>
          <a:noFill/>
        </p:spPr>
        <p:txBody>
          <a:bodyPr wrap="square">
            <a:spAutoFit/>
          </a:bodyPr>
          <a:lstStyle/>
          <a:p>
            <a:pPr algn="l">
              <a:spcAft>
                <a:spcPts val="600"/>
              </a:spcAft>
              <a:defRPr sz="1500" b="0">
                <a:solidFill>
                  <a:srgbClr val="2B2B2B"/>
                </a:solidFill>
              </a:defRPr>
            </a:pPr>
            <a:r>
              <a:t>≈ 50 Md$</a:t>
            </a:r>
          </a:p>
        </p:txBody>
      </p:sp>
      <p:sp>
        <p:nvSpPr>
          <p:cNvPr id="99" name="Rectangle 98"/>
          <p:cNvSpPr/>
          <p:nvPr/>
        </p:nvSpPr>
        <p:spPr>
          <a:xfrm>
            <a:off x="7863840" y="4480560"/>
            <a:ext cx="11430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909560" y="4572000"/>
            <a:ext cx="1097280" cy="640080"/>
          </a:xfrm>
          <a:prstGeom prst="rect">
            <a:avLst/>
          </a:prstGeom>
          <a:noFill/>
        </p:spPr>
        <p:txBody>
          <a:bodyPr wrap="square">
            <a:spAutoFit/>
          </a:bodyPr>
          <a:lstStyle/>
          <a:p>
            <a:pPr algn="l">
              <a:spcAft>
                <a:spcPts val="600"/>
              </a:spcAft>
              <a:defRPr sz="1500" b="0">
                <a:solidFill>
                  <a:srgbClr val="2B2B2B"/>
                </a:solidFill>
              </a:defRPr>
            </a:pPr>
            <a:r>
              <a:t>≈ 19 %</a:t>
            </a:r>
          </a:p>
        </p:txBody>
      </p:sp>
      <p:sp>
        <p:nvSpPr>
          <p:cNvPr id="101" name="Rectangle 100"/>
          <p:cNvSpPr/>
          <p:nvPr/>
        </p:nvSpPr>
        <p:spPr>
          <a:xfrm>
            <a:off x="9052560" y="4480560"/>
            <a:ext cx="25146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098280" y="4572000"/>
            <a:ext cx="2468879" cy="640080"/>
          </a:xfrm>
          <a:prstGeom prst="rect">
            <a:avLst/>
          </a:prstGeom>
          <a:noFill/>
        </p:spPr>
        <p:txBody>
          <a:bodyPr wrap="square">
            <a:spAutoFit/>
          </a:bodyPr>
          <a:lstStyle/>
          <a:p>
            <a:pPr algn="l">
              <a:spcAft>
                <a:spcPts val="600"/>
              </a:spcAft>
              <a:defRPr sz="1500" b="0">
                <a:solidFill>
                  <a:srgbClr val="2B2B2B"/>
                </a:solidFill>
              </a:defRPr>
            </a:pPr>
            <a:r>
              <a:t>République (transition)</a:t>
            </a:r>
          </a:p>
        </p:txBody>
      </p:sp>
      <p:sp>
        <p:nvSpPr>
          <p:cNvPr id="103" name="Rectangle 102"/>
          <p:cNvSpPr/>
          <p:nvPr/>
        </p:nvSpPr>
        <p:spPr>
          <a:xfrm>
            <a:off x="548640" y="525780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94360" y="5349240"/>
            <a:ext cx="1737360" cy="640080"/>
          </a:xfrm>
          <a:prstGeom prst="rect">
            <a:avLst/>
          </a:prstGeom>
          <a:noFill/>
        </p:spPr>
        <p:txBody>
          <a:bodyPr wrap="square">
            <a:spAutoFit/>
          </a:bodyPr>
          <a:lstStyle/>
          <a:p>
            <a:pPr algn="l">
              <a:spcAft>
                <a:spcPts val="600"/>
              </a:spcAft>
              <a:defRPr sz="1500" b="1">
                <a:solidFill>
                  <a:srgbClr val="2B2B2B"/>
                </a:solidFill>
              </a:defRPr>
            </a:pPr>
            <a:r>
              <a:t>🇲🇷 Mauritanie</a:t>
            </a:r>
          </a:p>
        </p:txBody>
      </p:sp>
      <p:sp>
        <p:nvSpPr>
          <p:cNvPr id="105" name="Rectangle 104"/>
          <p:cNvSpPr/>
          <p:nvPr/>
        </p:nvSpPr>
        <p:spPr>
          <a:xfrm>
            <a:off x="2377440" y="525780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2423160" y="5349240"/>
            <a:ext cx="1645919" cy="640080"/>
          </a:xfrm>
          <a:prstGeom prst="rect">
            <a:avLst/>
          </a:prstGeom>
          <a:noFill/>
        </p:spPr>
        <p:txBody>
          <a:bodyPr wrap="square">
            <a:spAutoFit/>
          </a:bodyPr>
          <a:lstStyle/>
          <a:p>
            <a:pPr algn="l">
              <a:spcAft>
                <a:spcPts val="600"/>
              </a:spcAft>
              <a:defRPr sz="1500" b="0">
                <a:solidFill>
                  <a:srgbClr val="2B2B2B"/>
                </a:solidFill>
              </a:defRPr>
            </a:pPr>
            <a:r>
              <a:t>1 030 700 km²</a:t>
            </a:r>
          </a:p>
        </p:txBody>
      </p:sp>
      <p:sp>
        <p:nvSpPr>
          <p:cNvPr id="107" name="Rectangle 106"/>
          <p:cNvSpPr/>
          <p:nvPr/>
        </p:nvSpPr>
        <p:spPr>
          <a:xfrm>
            <a:off x="4114800" y="525780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4160520" y="5349240"/>
            <a:ext cx="1188719" cy="640080"/>
          </a:xfrm>
          <a:prstGeom prst="rect">
            <a:avLst/>
          </a:prstGeom>
          <a:noFill/>
        </p:spPr>
        <p:txBody>
          <a:bodyPr wrap="square">
            <a:spAutoFit/>
          </a:bodyPr>
          <a:lstStyle/>
          <a:p>
            <a:pPr algn="l">
              <a:spcAft>
                <a:spcPts val="600"/>
              </a:spcAft>
              <a:defRPr sz="1500" b="0">
                <a:solidFill>
                  <a:srgbClr val="2B2B2B"/>
                </a:solidFill>
              </a:defRPr>
            </a:pPr>
            <a:r>
              <a:t>≈ 5 M</a:t>
            </a:r>
          </a:p>
        </p:txBody>
      </p:sp>
      <p:sp>
        <p:nvSpPr>
          <p:cNvPr id="109" name="Rectangle 108"/>
          <p:cNvSpPr/>
          <p:nvPr/>
        </p:nvSpPr>
        <p:spPr>
          <a:xfrm>
            <a:off x="5394960" y="525780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5440680" y="5349240"/>
            <a:ext cx="1005839" cy="640080"/>
          </a:xfrm>
          <a:prstGeom prst="rect">
            <a:avLst/>
          </a:prstGeom>
          <a:noFill/>
        </p:spPr>
        <p:txBody>
          <a:bodyPr wrap="square">
            <a:spAutoFit/>
          </a:bodyPr>
          <a:lstStyle/>
          <a:p>
            <a:pPr algn="l">
              <a:spcAft>
                <a:spcPts val="600"/>
              </a:spcAft>
              <a:defRPr sz="1500" b="0">
                <a:solidFill>
                  <a:srgbClr val="2B2B2B"/>
                </a:solidFill>
              </a:defRPr>
            </a:pPr>
            <a:r>
              <a:t>≈ 5</a:t>
            </a:r>
          </a:p>
        </p:txBody>
      </p:sp>
      <p:sp>
        <p:nvSpPr>
          <p:cNvPr id="111" name="Rectangle 110"/>
          <p:cNvSpPr/>
          <p:nvPr/>
        </p:nvSpPr>
        <p:spPr>
          <a:xfrm>
            <a:off x="6492240" y="525780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537960" y="5349240"/>
            <a:ext cx="1280160" cy="640080"/>
          </a:xfrm>
          <a:prstGeom prst="rect">
            <a:avLst/>
          </a:prstGeom>
          <a:noFill/>
        </p:spPr>
        <p:txBody>
          <a:bodyPr wrap="square">
            <a:spAutoFit/>
          </a:bodyPr>
          <a:lstStyle/>
          <a:p>
            <a:pPr algn="l">
              <a:spcAft>
                <a:spcPts val="600"/>
              </a:spcAft>
              <a:defRPr sz="1500" b="0">
                <a:solidFill>
                  <a:srgbClr val="2B2B2B"/>
                </a:solidFill>
              </a:defRPr>
            </a:pPr>
            <a:r>
              <a:t>≈ 10 Md$</a:t>
            </a:r>
          </a:p>
        </p:txBody>
      </p:sp>
      <p:sp>
        <p:nvSpPr>
          <p:cNvPr id="113" name="Rectangle 112"/>
          <p:cNvSpPr/>
          <p:nvPr/>
        </p:nvSpPr>
        <p:spPr>
          <a:xfrm>
            <a:off x="7863840" y="525780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7909560" y="5349240"/>
            <a:ext cx="1097280" cy="640080"/>
          </a:xfrm>
          <a:prstGeom prst="rect">
            <a:avLst/>
          </a:prstGeom>
          <a:noFill/>
        </p:spPr>
        <p:txBody>
          <a:bodyPr wrap="square">
            <a:spAutoFit/>
          </a:bodyPr>
          <a:lstStyle/>
          <a:p>
            <a:pPr algn="l">
              <a:spcAft>
                <a:spcPts val="600"/>
              </a:spcAft>
              <a:defRPr sz="1500" b="0">
                <a:solidFill>
                  <a:srgbClr val="2B2B2B"/>
                </a:solidFill>
              </a:defRPr>
            </a:pPr>
            <a:r>
              <a:t>≈ 10 %</a:t>
            </a:r>
          </a:p>
        </p:txBody>
      </p:sp>
      <p:sp>
        <p:nvSpPr>
          <p:cNvPr id="115" name="Rectangle 114"/>
          <p:cNvSpPr/>
          <p:nvPr/>
        </p:nvSpPr>
        <p:spPr>
          <a:xfrm>
            <a:off x="9052560" y="525780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098280" y="5349240"/>
            <a:ext cx="2468879" cy="640080"/>
          </a:xfrm>
          <a:prstGeom prst="rect">
            <a:avLst/>
          </a:prstGeom>
          <a:noFill/>
        </p:spPr>
        <p:txBody>
          <a:bodyPr wrap="square">
            <a:spAutoFit/>
          </a:bodyPr>
          <a:lstStyle/>
          <a:p>
            <a:pPr algn="l">
              <a:spcAft>
                <a:spcPts val="600"/>
              </a:spcAft>
              <a:defRPr sz="1500" b="0">
                <a:solidFill>
                  <a:srgbClr val="2B2B2B"/>
                </a:solidFill>
              </a:defRPr>
            </a:pPr>
            <a:r>
              <a:t>Rép. islamique</a:t>
            </a:r>
          </a:p>
        </p:txBody>
      </p:sp>
      <p:sp>
        <p:nvSpPr>
          <p:cNvPr id="117" name="TextBox 116"/>
          <p:cNvSpPr txBox="1"/>
          <p:nvPr/>
        </p:nvSpPr>
        <p:spPr>
          <a:xfrm>
            <a:off x="548640" y="6080760"/>
            <a:ext cx="10058400" cy="365760"/>
          </a:xfrm>
          <a:prstGeom prst="rect">
            <a:avLst/>
          </a:prstGeom>
          <a:noFill/>
        </p:spPr>
        <p:txBody>
          <a:bodyPr wrap="square">
            <a:spAutoFit/>
          </a:bodyPr>
          <a:lstStyle/>
          <a:p>
            <a:pPr algn="l">
              <a:spcAft>
                <a:spcPts val="600"/>
              </a:spcAft>
              <a:defRPr sz="1300" b="0">
                <a:solidFill>
                  <a:srgbClr val="1F4E79"/>
                </a:solidFill>
              </a:defRPr>
            </a:pPr>
            <a:r>
              <a:t>Densité en hab/km² • Source : Banque mondiale 2023 (valeurs arrondies) — capitales : Rabat, Alger, Tunis, Tripoli, Nouakchott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Un monde arabo-musulman • A/ Trois États méditerranéens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carte-muette.png"/>
          <p:cNvPicPr>
            <a:picLocks noChangeAspect="1"/>
          </p:cNvPicPr>
          <p:nvPr/>
        </p:nvPicPr>
        <p:blipFill>
          <a:blip r:embed="rId3"/>
          <a:stretch>
            <a:fillRect/>
          </a:stretch>
        </p:blipFill>
        <p:spPr>
          <a:xfrm>
            <a:off x="548640" y="1371600"/>
            <a:ext cx="6442095" cy="4754880"/>
          </a:xfrm>
          <a:prstGeom prst="rect">
            <a:avLst/>
          </a:prstGeom>
        </p:spPr>
      </p:pic>
      <p:sp>
        <p:nvSpPr>
          <p:cNvPr id="34" name="TextBox 33"/>
          <p:cNvSpPr txBox="1"/>
          <p:nvPr/>
        </p:nvSpPr>
        <p:spPr>
          <a:xfrm>
            <a:off x="7315200" y="1371600"/>
            <a:ext cx="4389120" cy="4572000"/>
          </a:xfrm>
          <a:prstGeom prst="rect">
            <a:avLst/>
          </a:prstGeom>
          <a:noFill/>
        </p:spPr>
        <p:txBody>
          <a:bodyPr wrap="square">
            <a:spAutoFit/>
          </a:bodyPr>
          <a:lstStyle/>
          <a:p>
            <a:pPr algn="l">
              <a:spcAft>
                <a:spcPts val="600"/>
              </a:spcAft>
              <a:defRPr sz="2000" b="0">
                <a:solidFill>
                  <a:srgbClr val="2B2B2B"/>
                </a:solidFill>
              </a:defRPr>
            </a:pPr>
            <a:r>
              <a:t>✏️ Sur ta carte muette, place :</a:t>
            </a:r>
          </a:p>
          <a:p>
            <a:pPr algn="l">
              <a:spcAft>
                <a:spcPts val="600"/>
              </a:spcAft>
              <a:defRPr sz="2000" b="0">
                <a:solidFill>
                  <a:srgbClr val="2B2B2B"/>
                </a:solidFill>
              </a:defRPr>
            </a:pPr>
            <a:r>
              <a:t>🌊 l'océan Atlantique</a:t>
            </a:r>
          </a:p>
          <a:p>
            <a:pPr algn="l">
              <a:spcAft>
                <a:spcPts val="600"/>
              </a:spcAft>
              <a:defRPr sz="2000" b="0">
                <a:solidFill>
                  <a:srgbClr val="2B2B2B"/>
                </a:solidFill>
              </a:defRPr>
            </a:pPr>
            <a:r>
              <a:t>🌊 la mer Méditerranée</a:t>
            </a:r>
          </a:p>
          <a:p>
            <a:pPr algn="l">
              <a:spcAft>
                <a:spcPts val="600"/>
              </a:spcAft>
              <a:defRPr sz="2000" b="0">
                <a:solidFill>
                  <a:srgbClr val="2B2B2B"/>
                </a:solidFill>
              </a:defRPr>
            </a:pPr>
            <a:r>
              <a:t>🗺️ le Maroc, l'Algérie, la Tunisie</a:t>
            </a:r>
          </a:p>
          <a:p>
            <a:pPr algn="l">
              <a:spcAft>
                <a:spcPts val="600"/>
              </a:spcAft>
              <a:defRPr sz="2000" b="0">
                <a:solidFill>
                  <a:srgbClr val="2B2B2B"/>
                </a:solidFill>
              </a:defRPr>
            </a:pPr>
            <a:r>
              <a:t>🇪🇸 l'Espagne</a:t>
            </a:r>
          </a:p>
          <a:p>
            <a:pPr algn="l">
              <a:spcAft>
                <a:spcPts val="600"/>
              </a:spcAft>
              <a:defRPr sz="2000" b="0">
                <a:solidFill>
                  <a:srgbClr val="2B2B2B"/>
                </a:solidFill>
              </a:defRPr>
            </a:pPr>
            <a:r>
              <a:t>↔️ le détroit de Gibraltar</a:t>
            </a:r>
          </a:p>
          <a:p>
            <a:pPr algn="l">
              <a:spcAft>
                <a:spcPts val="600"/>
              </a:spcAft>
              <a:defRPr sz="2000" b="0">
                <a:solidFill>
                  <a:srgbClr val="2B2B2B"/>
                </a:solidFill>
              </a:defRPr>
            </a:pPr>
            <a:r>
              <a:t>☀️ le tropique du Cancer</a:t>
            </a:r>
          </a:p>
        </p:txBody>
      </p:sp>
      <p:sp>
        <p:nvSpPr>
          <p:cNvPr id="35" name="Rounded Rectangle 34">
            <a:hlinkClick action="ppaction://hlinksldjump" r:id="rId5"/>
          </p:cNvPr>
          <p:cNvSpPr/>
          <p:nvPr/>
        </p:nvSpPr>
        <p:spPr>
          <a:xfrm>
            <a:off x="8595360" y="5486400"/>
            <a:ext cx="256032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Le relief et les précipitations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lief.png"/>
          <p:cNvPicPr>
            <a:picLocks noChangeAspect="1"/>
          </p:cNvPicPr>
          <p:nvPr/>
        </p:nvPicPr>
        <p:blipFill>
          <a:blip r:embed="rId3"/>
          <a:stretch>
            <a:fillRect/>
          </a:stretch>
        </p:blipFill>
        <p:spPr>
          <a:xfrm>
            <a:off x="457200" y="1280160"/>
            <a:ext cx="6184232" cy="5029200"/>
          </a:xfrm>
          <a:prstGeom prst="rect">
            <a:avLst/>
          </a:prstGeom>
        </p:spPr>
      </p:pic>
      <p:sp>
        <p:nvSpPr>
          <p:cNvPr id="34" name="TextBox 33"/>
          <p:cNvSpPr txBox="1"/>
          <p:nvPr/>
        </p:nvSpPr>
        <p:spPr>
          <a:xfrm>
            <a:off x="6858000" y="1371600"/>
            <a:ext cx="4937760" cy="4114800"/>
          </a:xfrm>
          <a:prstGeom prst="rect">
            <a:avLst/>
          </a:prstGeom>
          <a:noFill/>
        </p:spPr>
        <p:txBody>
          <a:bodyPr wrap="square">
            <a:spAutoFit/>
          </a:bodyPr>
          <a:lstStyle/>
          <a:p>
            <a:pPr algn="l">
              <a:spcAft>
                <a:spcPts val="600"/>
              </a:spcAft>
              <a:defRPr sz="1900" b="1">
                <a:solidFill>
                  <a:srgbClr val="1F4E79"/>
                </a:solidFill>
              </a:defRPr>
            </a:pPr>
            <a:r>
              <a:t>❓ Quel massif montagneux domine au Maghreb ?</a:t>
            </a:r>
          </a:p>
          <a:p>
            <a:pPr algn="l">
              <a:spcAft>
                <a:spcPts val="600"/>
              </a:spcAft>
              <a:defRPr sz="1900" b="1">
                <a:solidFill>
                  <a:srgbClr val="1F4E79"/>
                </a:solidFill>
              </a:defRPr>
            </a:pPr>
            <a:r>
              <a:t>❓ Est-il d'un seul bloc ?</a:t>
            </a:r>
          </a:p>
          <a:p>
            <a:pPr algn="l">
              <a:spcAft>
                <a:spcPts val="600"/>
              </a:spcAft>
              <a:defRPr sz="1900" b="1">
                <a:solidFill>
                  <a:srgbClr val="1F4E79"/>
                </a:solidFill>
              </a:defRPr>
            </a:pPr>
            <a:r>
              <a:t>❓ Quelles sont les différentes parties de l'Atlas ?</a:t>
            </a:r>
          </a:p>
          <a:p>
            <a:pPr algn="l">
              <a:spcAft>
                <a:spcPts val="600"/>
              </a:spcAft>
              <a:defRPr sz="1900" b="1">
                <a:solidFill>
                  <a:srgbClr val="1F4E79"/>
                </a:solidFill>
              </a:defRPr>
            </a:pPr>
            <a:r>
              <a:t>❓ Où pleut-il le plus ? Pourquoi ?</a:t>
            </a:r>
          </a:p>
          <a:p>
            <a:pPr algn="l">
              <a:spcAft>
                <a:spcPts val="600"/>
              </a:spcAft>
              <a:defRPr sz="1900" b="1">
                <a:solidFill>
                  <a:srgbClr val="1F4E79"/>
                </a:solidFill>
              </a:defRPr>
            </a:pPr>
            <a:r>
              <a:t>❓ Que trouve-t-on au sud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l'Atlas, un massif en plusieurs parties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1700" b="0">
                <a:solidFill>
                  <a:srgbClr val="2B2B2B"/>
                </a:solidFill>
              </a:defRPr>
            </a:pPr>
            <a:r>
              <a:t>✅ L'ATLAS domine le Maghreb.</a:t>
            </a:r>
          </a:p>
          <a:p>
            <a:pPr algn="l">
              <a:spcAft>
                <a:spcPts val="600"/>
              </a:spcAft>
              <a:defRPr sz="1700" b="0">
                <a:solidFill>
                  <a:srgbClr val="2B2B2B"/>
                </a:solidFill>
              </a:defRPr>
            </a:pPr>
            <a:r>
              <a:t>✅ Non, il n'est pas d'un seul bloc : il y a plusieurs parties :</a:t>
            </a:r>
          </a:p>
          <a:p>
            <a:pPr algn="l">
              <a:spcAft>
                <a:spcPts val="600"/>
              </a:spcAft>
              <a:defRPr sz="1700" b="0">
                <a:solidFill>
                  <a:srgbClr val="2B2B2B"/>
                </a:solidFill>
              </a:defRPr>
            </a:pPr>
            <a:r>
              <a:t>   • le Rif (nord du Maroc)</a:t>
            </a:r>
          </a:p>
          <a:p>
            <a:pPr algn="l">
              <a:spcAft>
                <a:spcPts val="600"/>
              </a:spcAft>
              <a:defRPr sz="1700" b="0">
                <a:solidFill>
                  <a:srgbClr val="2B2B2B"/>
                </a:solidFill>
              </a:defRPr>
            </a:pPr>
            <a:r>
              <a:t>   • le Moyen Atlas (près de Fès) ➡️</a:t>
            </a:r>
          </a:p>
          <a:p>
            <a:pPr algn="l">
              <a:spcAft>
                <a:spcPts val="600"/>
              </a:spcAft>
              <a:defRPr sz="1700" b="0">
                <a:solidFill>
                  <a:srgbClr val="2B2B2B"/>
                </a:solidFill>
              </a:defRPr>
            </a:pPr>
            <a:r>
              <a:t>   • le Haut Atlas (Maroc, Toubkal 4 167 m)</a:t>
            </a:r>
          </a:p>
          <a:p>
            <a:pPr algn="l">
              <a:spcAft>
                <a:spcPts val="600"/>
              </a:spcAft>
              <a:defRPr sz="1700" b="0">
                <a:solidFill>
                  <a:srgbClr val="2B2B2B"/>
                </a:solidFill>
              </a:defRPr>
            </a:pPr>
            <a:r>
              <a:t>   • l'Anti-Atlas</a:t>
            </a:r>
          </a:p>
          <a:p>
            <a:pPr algn="l">
              <a:spcAft>
                <a:spcPts val="600"/>
              </a:spcAft>
              <a:defRPr sz="1700" b="0">
                <a:solidFill>
                  <a:srgbClr val="2B2B2B"/>
                </a:solidFill>
              </a:defRPr>
            </a:pPr>
            <a:r>
              <a:t>   • l'Atlas tellien et l'Atlas saharien (Algérie)</a:t>
            </a:r>
          </a:p>
          <a:p>
            <a:pPr algn="l">
              <a:spcAft>
                <a:spcPts val="600"/>
              </a:spcAft>
              <a:defRPr sz="1700" b="0">
                <a:solidFill>
                  <a:srgbClr val="2B2B2B"/>
                </a:solidFill>
              </a:defRPr>
            </a:pPr>
            <a:r>
              <a:t>✅ Il pleut plus au nord (&gt; 300 mm) : la montagne arrête les nuages venus de la mer.</a:t>
            </a:r>
          </a:p>
          <a:p>
            <a:pPr algn="l">
              <a:spcAft>
                <a:spcPts val="600"/>
              </a:spcAft>
              <a:defRPr sz="1700" b="0">
                <a:solidFill>
                  <a:srgbClr val="2B2B2B"/>
                </a:solidFill>
              </a:defRPr>
            </a:pPr>
            <a:r>
              <a:t>✅ Au sud : le Sahara, des oasis et le Hoggar.</a:t>
            </a:r>
          </a:p>
        </p:txBody>
      </p:sp>
      <p:pic>
        <p:nvPicPr>
          <p:cNvPr id="34" name="Picture 33" descr="moyen-atlas.png"/>
          <p:cNvPicPr>
            <a:picLocks noChangeAspect="1"/>
          </p:cNvPicPr>
          <p:nvPr/>
        </p:nvPicPr>
        <p:blipFill>
          <a:blip r:embed="rId2"/>
          <a:stretch>
            <a:fillRect/>
          </a:stretch>
        </p:blipFill>
        <p:spPr>
          <a:xfrm>
            <a:off x="6492240" y="1645920"/>
            <a:ext cx="5303520" cy="2581977"/>
          </a:xfrm>
          <a:prstGeom prst="rect">
            <a:avLst/>
          </a:prstGeom>
        </p:spPr>
      </p:pic>
      <p:sp>
        <p:nvSpPr>
          <p:cNvPr id="35" name="TextBox 34"/>
          <p:cNvSpPr txBox="1"/>
          <p:nvPr/>
        </p:nvSpPr>
        <p:spPr>
          <a:xfrm>
            <a:off x="6492240" y="4389120"/>
            <a:ext cx="5303520" cy="548640"/>
          </a:xfrm>
          <a:prstGeom prst="rect">
            <a:avLst/>
          </a:prstGeom>
          <a:noFill/>
        </p:spPr>
        <p:txBody>
          <a:bodyPr wrap="square">
            <a:spAutoFit/>
          </a:bodyPr>
          <a:lstStyle/>
          <a:p>
            <a:pPr algn="ctr">
              <a:spcAft>
                <a:spcPts val="600"/>
              </a:spcAft>
              <a:defRPr sz="1600" b="1">
                <a:solidFill>
                  <a:srgbClr val="B84A1E"/>
                </a:solidFill>
              </a:defRPr>
            </a:pPr>
            <a:r>
              <a:t>Le Moyen Atlas, près de Fès (Maroc)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Les autres paysages du Maghreb</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4114800"/>
          </a:xfrm>
          <a:prstGeom prst="rect">
            <a:avLst/>
          </a:prstGeom>
          <a:noFill/>
        </p:spPr>
        <p:txBody>
          <a:bodyPr wrap="square">
            <a:spAutoFit/>
          </a:bodyPr>
          <a:lstStyle/>
          <a:p>
            <a:pPr algn="l">
              <a:spcAft>
                <a:spcPts val="600"/>
              </a:spcAft>
              <a:defRPr sz="2400" b="1">
                <a:solidFill>
                  <a:srgbClr val="1F4E79"/>
                </a:solidFill>
              </a:defRPr>
            </a:pPr>
            <a:r>
              <a:t>❓ Quels sont les autres massifs montagneux du Maghreb ?</a:t>
            </a:r>
          </a:p>
          <a:p>
            <a:pPr algn="l">
              <a:spcAft>
                <a:spcPts val="600"/>
              </a:spcAft>
              <a:defRPr sz="2400" b="1">
                <a:solidFill>
                  <a:srgbClr val="1F4E79"/>
                </a:solidFill>
              </a:defRPr>
            </a:pPr>
            <a:r>
              <a:t>❓ Par quoi se caractérise le littoral ?</a:t>
            </a:r>
          </a:p>
          <a:p>
            <a:pPr algn="l">
              <a:spcAft>
                <a:spcPts val="600"/>
              </a:spcAft>
              <a:defRPr sz="2400" b="1">
                <a:solidFill>
                  <a:srgbClr val="1F4E79"/>
                </a:solidFill>
              </a:defRPr>
            </a:pPr>
            <a:r>
              <a:t>❓ Qu'est-ce qui domine au Maghreb ?</a:t>
            </a:r>
          </a:p>
          <a:p>
            <a:pPr algn="l">
              <a:spcAft>
                <a:spcPts val="600"/>
              </a:spcAft>
              <a:defRPr sz="2400" b="1">
                <a:solidFill>
                  <a:srgbClr val="1F4E79"/>
                </a:solidFill>
              </a:defRPr>
            </a:pPr>
            <a:r>
              <a:t>❓ Comment se nomment les îlots de verdure dans le désert ?</a:t>
            </a:r>
          </a:p>
        </p:txBody>
      </p:sp>
      <p:sp>
        <p:nvSpPr>
          <p:cNvPr id="34" name="Rounded Rectangle 33">
            <a:hlinkClick action="ppaction://hlinksldjump" r:id="rId4"/>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désert et oasis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2000" b="0">
                <a:solidFill>
                  <a:srgbClr val="2B2B2B"/>
                </a:solidFill>
              </a:defRPr>
            </a:pPr>
            <a:r>
              <a:t>✅ Le Hoggar (sud de l'Algérie).</a:t>
            </a:r>
          </a:p>
          <a:p>
            <a:pPr algn="l">
              <a:spcAft>
                <a:spcPts val="600"/>
              </a:spcAft>
              <a:defRPr sz="2000" b="0">
                <a:solidFill>
                  <a:srgbClr val="2B2B2B"/>
                </a:solidFill>
              </a:defRPr>
            </a:pPr>
            <a:r>
              <a:t>✅ Le littoral se caractérise par des plaines.</a:t>
            </a:r>
          </a:p>
          <a:p>
            <a:pPr algn="l">
              <a:spcAft>
                <a:spcPts val="600"/>
              </a:spcAft>
              <a:defRPr sz="2000" b="0">
                <a:solidFill>
                  <a:srgbClr val="2B2B2B"/>
                </a:solidFill>
              </a:defRPr>
            </a:pPr>
            <a:r>
              <a:t>✅ Le désert (Sahara) domine, avec des îlots de verdure.</a:t>
            </a:r>
          </a:p>
          <a:p>
            <a:pPr algn="l">
              <a:spcAft>
                <a:spcPts val="600"/>
              </a:spcAft>
              <a:defRPr sz="2000" b="0">
                <a:solidFill>
                  <a:srgbClr val="2B2B2B"/>
                </a:solidFill>
              </a:defRPr>
            </a:pPr>
            <a:r>
              <a:t>✅ Ces îlots s'appellent des OASIS 🌴</a:t>
            </a:r>
          </a:p>
        </p:txBody>
      </p:sp>
      <p:sp>
        <p:nvSpPr>
          <p:cNvPr id="34" name="Rounded Rectangle 33"/>
          <p:cNvSpPr/>
          <p:nvPr/>
        </p:nvSpPr>
        <p:spPr>
          <a:xfrm>
            <a:off x="6492240" y="1463040"/>
            <a:ext cx="5303520" cy="31089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0" y="2651760"/>
            <a:ext cx="5303520" cy="731520"/>
          </a:xfrm>
          <a:prstGeom prst="rect">
            <a:avLst/>
          </a:prstGeom>
          <a:noFill/>
        </p:spPr>
        <p:txBody>
          <a:bodyPr wrap="square">
            <a:spAutoFit/>
          </a:bodyPr>
          <a:lstStyle/>
          <a:p>
            <a:pPr algn="ctr">
              <a:spcAft>
                <a:spcPts val="600"/>
              </a:spcAft>
              <a:defRPr sz="1800" b="1">
                <a:solidFill>
                  <a:srgbClr val="B84A1E"/>
                </a:solidFill>
              </a:defRPr>
            </a:pPr>
            <a:r>
              <a:t>📷 Photo : l'oasis de Bou Thramar</a:t>
            </a:r>
          </a:p>
        </p:txBody>
      </p:sp>
      <p:sp>
        <p:nvSpPr>
          <p:cNvPr id="36" name="TextBox 35"/>
          <p:cNvSpPr txBox="1"/>
          <p:nvPr/>
        </p:nvSpPr>
        <p:spPr>
          <a:xfrm>
            <a:off x="6492240" y="4663440"/>
            <a:ext cx="5303520" cy="548640"/>
          </a:xfrm>
          <a:prstGeom prst="rect">
            <a:avLst/>
          </a:prstGeom>
          <a:noFill/>
        </p:spPr>
        <p:txBody>
          <a:bodyPr wrap="square">
            <a:spAutoFit/>
          </a:bodyPr>
          <a:lstStyle/>
          <a:p>
            <a:pPr algn="ctr">
              <a:spcAft>
                <a:spcPts val="600"/>
              </a:spcAft>
              <a:defRPr sz="1600" b="1">
                <a:solidFill>
                  <a:srgbClr val="B84A1E"/>
                </a:solidFill>
              </a:defRPr>
            </a:pPr>
            <a:r>
              <a:t>L'oasis de Bou Thramar (Maroc)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1 p. 222 : les précipitations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lief.png"/>
          <p:cNvPicPr>
            <a:picLocks noChangeAspect="1"/>
          </p:cNvPicPr>
          <p:nvPr/>
        </p:nvPicPr>
        <p:blipFill>
          <a:blip r:embed="rId3"/>
          <a:stretch>
            <a:fillRect/>
          </a:stretch>
        </p:blipFill>
        <p:spPr>
          <a:xfrm>
            <a:off x="457200" y="1280160"/>
            <a:ext cx="6184232" cy="5029200"/>
          </a:xfrm>
          <a:prstGeom prst="rect">
            <a:avLst/>
          </a:prstGeom>
        </p:spPr>
      </p:pic>
      <p:sp>
        <p:nvSpPr>
          <p:cNvPr id="34" name="TextBox 33"/>
          <p:cNvSpPr txBox="1"/>
          <p:nvPr/>
        </p:nvSpPr>
        <p:spPr>
          <a:xfrm>
            <a:off x="6858000" y="1371600"/>
            <a:ext cx="4937760" cy="2743200"/>
          </a:xfrm>
          <a:prstGeom prst="rect">
            <a:avLst/>
          </a:prstGeom>
          <a:noFill/>
        </p:spPr>
        <p:txBody>
          <a:bodyPr wrap="square">
            <a:spAutoFit/>
          </a:bodyPr>
          <a:lstStyle/>
          <a:p>
            <a:pPr algn="l">
              <a:spcAft>
                <a:spcPts val="600"/>
              </a:spcAft>
              <a:defRPr sz="2000" b="1">
                <a:solidFill>
                  <a:srgbClr val="1F4E79"/>
                </a:solidFill>
              </a:defRPr>
            </a:pPr>
            <a:r>
              <a:t>❓ Quel est le niveau des précipitations dans la région ?</a:t>
            </a:r>
          </a:p>
          <a:p>
            <a:pPr algn="l">
              <a:spcAft>
                <a:spcPts val="600"/>
              </a:spcAft>
              <a:defRPr sz="2000" b="1">
                <a:solidFill>
                  <a:srgbClr val="1F4E79"/>
                </a:solidFill>
              </a:defRPr>
            </a:pPr>
            <a:r>
              <a:t>❓ Où pleut-il le plus ?</a:t>
            </a:r>
          </a:p>
        </p:txBody>
      </p:sp>
      <p:sp>
        <p:nvSpPr>
          <p:cNvPr id="35" name="Rounded Rectangle 34">
            <a:hlinkClick action="ppaction://hlinksldjump" r:id="rId5"/>
          </p:cNvPr>
          <p:cNvSpPr/>
          <p:nvPr/>
        </p:nvSpPr>
        <p:spPr>
          <a:xfrm>
            <a:off x="6858000" y="3291840"/>
            <a:ext cx="237744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 : des précipitations globalement faibles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4114800"/>
          </a:xfrm>
          <a:prstGeom prst="rect">
            <a:avLst/>
          </a:prstGeom>
          <a:noFill/>
        </p:spPr>
        <p:txBody>
          <a:bodyPr wrap="square">
            <a:spAutoFit/>
          </a:bodyPr>
          <a:lstStyle/>
          <a:p>
            <a:pPr algn="l">
              <a:spcAft>
                <a:spcPts val="600"/>
              </a:spcAft>
              <a:defRPr sz="2200" b="0">
                <a:solidFill>
                  <a:srgbClr val="2B2B2B"/>
                </a:solidFill>
              </a:defRPr>
            </a:pPr>
            <a:r>
              <a:t>✅ Les précipitations sont globalement FAIBLES.</a:t>
            </a:r>
          </a:p>
          <a:p>
            <a:pPr algn="l">
              <a:spcAft>
                <a:spcPts val="600"/>
              </a:spcAft>
              <a:defRPr sz="2200" b="0">
                <a:solidFill>
                  <a:srgbClr val="2B2B2B"/>
                </a:solidFill>
              </a:defRPr>
            </a:pPr>
            <a:r>
              <a:t>• Plus de 300 mm/an seulement sur une étroite bande au nord (littoral, Atlas).</a:t>
            </a:r>
          </a:p>
          <a:p>
            <a:pPr algn="l">
              <a:spcAft>
                <a:spcPts val="600"/>
              </a:spcAft>
              <a:defRPr sz="2200" b="0">
                <a:solidFill>
                  <a:srgbClr val="2B2B2B"/>
                </a:solidFill>
              </a:defRPr>
            </a:pPr>
            <a:r>
              <a:t>• Moins de 150 mm/an dans le Sahara : un climat désertique.</a:t>
            </a:r>
          </a:p>
          <a:p>
            <a:pPr algn="l">
              <a:spcAft>
                <a:spcPts val="600"/>
              </a:spcAft>
              <a:defRPr sz="2200" b="0">
                <a:solidFill>
                  <a:srgbClr val="2B2B2B"/>
                </a:solidFill>
              </a:defRPr>
            </a:pPr>
            <a:r>
              <a:t>💡 Comparaison : Paris reçoit environ 640 mm de pluie par 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Précipitations et climats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3657600"/>
          </a:xfrm>
          <a:prstGeom prst="rect">
            <a:avLst/>
          </a:prstGeom>
          <a:noFill/>
        </p:spPr>
        <p:txBody>
          <a:bodyPr wrap="square">
            <a:spAutoFit/>
          </a:bodyPr>
          <a:lstStyle/>
          <a:p>
            <a:pPr algn="l">
              <a:spcAft>
                <a:spcPts val="600"/>
              </a:spcAft>
              <a:defRPr sz="2400" b="1">
                <a:solidFill>
                  <a:srgbClr val="1F4E79"/>
                </a:solidFill>
              </a:defRPr>
            </a:pPr>
            <a:r>
              <a:t>❓ Cette faiblesse des précipitations est-elle généralisée ?</a:t>
            </a:r>
          </a:p>
          <a:p>
            <a:pPr algn="l">
              <a:spcAft>
                <a:spcPts val="600"/>
              </a:spcAft>
              <a:defRPr sz="2400" b="1">
                <a:solidFill>
                  <a:srgbClr val="1F4E79"/>
                </a:solidFill>
              </a:defRPr>
            </a:pPr>
            <a:r>
              <a:t>❓ Lesquelles des régions sont plus arrosées ?</a:t>
            </a:r>
          </a:p>
          <a:p>
            <a:pPr algn="l">
              <a:spcAft>
                <a:spcPts val="600"/>
              </a:spcAft>
              <a:defRPr sz="2400" b="1">
                <a:solidFill>
                  <a:srgbClr val="1F4E79"/>
                </a:solidFill>
              </a:defRPr>
            </a:pPr>
            <a:r>
              <a:t>❓ Quels sont les climats du Maghreb ?</a:t>
            </a:r>
          </a:p>
        </p:txBody>
      </p:sp>
      <p:sp>
        <p:nvSpPr>
          <p:cNvPr id="34" name="Rounded Rectangle 33">
            <a:hlinkClick action="ppaction://hlinksldjump" r:id="rId4"/>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deux climats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1900" b="0">
                <a:solidFill>
                  <a:srgbClr val="2B2B2B"/>
                </a:solidFill>
              </a:defRPr>
            </a:pPr>
            <a:r>
              <a:t>✅ Non : certaines régions sont un peu plus arrosées.</a:t>
            </a:r>
          </a:p>
          <a:p>
            <a:pPr algn="l">
              <a:spcAft>
                <a:spcPts val="600"/>
              </a:spcAft>
              <a:defRPr sz="1900" b="0">
                <a:solidFill>
                  <a:srgbClr val="2B2B2B"/>
                </a:solidFill>
              </a:defRPr>
            </a:pPr>
            <a:r>
              <a:t>✅ Les plaines littorales et les massifs montagneux.</a:t>
            </a:r>
          </a:p>
          <a:p>
            <a:pPr algn="l">
              <a:spcAft>
                <a:spcPts val="600"/>
              </a:spcAft>
              <a:defRPr sz="1900" b="0">
                <a:solidFill>
                  <a:srgbClr val="2B2B2B"/>
                </a:solidFill>
              </a:defRPr>
            </a:pPr>
            <a:r>
              <a:t>⚠️ En dessous de 250 mm/an, plus d'agriculture possible !</a:t>
            </a:r>
          </a:p>
          <a:p>
            <a:pPr algn="l">
              <a:spcAft>
                <a:spcPts val="600"/>
              </a:spcAft>
              <a:defRPr sz="1900" b="0">
                <a:solidFill>
                  <a:srgbClr val="2B2B2B"/>
                </a:solidFill>
              </a:defRPr>
            </a:pPr>
            <a:r>
              <a:t>✅ Au Nord : climat MÉDITERRANÉEN 🌿</a:t>
            </a:r>
          </a:p>
          <a:p>
            <a:pPr algn="l">
              <a:spcAft>
                <a:spcPts val="600"/>
              </a:spcAft>
              <a:defRPr sz="1900" b="0">
                <a:solidFill>
                  <a:srgbClr val="2B2B2B"/>
                </a:solidFill>
              </a:defRPr>
            </a:pPr>
            <a:r>
              <a:t>✅ Au Sud : climat DÉSERTIQUE 🏜️</a:t>
            </a:r>
          </a:p>
          <a:p>
            <a:pPr algn="l">
              <a:spcAft>
                <a:spcPts val="600"/>
              </a:spcAft>
              <a:defRPr sz="1900" b="0">
                <a:solidFill>
                  <a:srgbClr val="2B2B2B"/>
                </a:solidFill>
              </a:defRPr>
            </a:pPr>
            <a:r>
              <a:t>✏️ Sur ta carte : trace l'isohyète des 250 mm et complète la légende.</a:t>
            </a:r>
          </a:p>
        </p:txBody>
      </p:sp>
      <p:pic>
        <p:nvPicPr>
          <p:cNvPr id="34" name="Picture 33" descr="isohyete.png"/>
          <p:cNvPicPr>
            <a:picLocks noChangeAspect="1"/>
          </p:cNvPicPr>
          <p:nvPr/>
        </p:nvPicPr>
        <p:blipFill>
          <a:blip r:embed="rId2"/>
          <a:stretch>
            <a:fillRect/>
          </a:stretch>
        </p:blipFill>
        <p:spPr>
          <a:xfrm>
            <a:off x="6492240" y="1371600"/>
            <a:ext cx="5303520" cy="3549358"/>
          </a:xfrm>
          <a:prstGeom prst="rect">
            <a:avLst/>
          </a:prstGeom>
        </p:spPr>
      </p:pic>
      <p:sp>
        <p:nvSpPr>
          <p:cNvPr id="35" name="TextBox 34"/>
          <p:cNvSpPr txBox="1"/>
          <p:nvPr/>
        </p:nvSpPr>
        <p:spPr>
          <a:xfrm>
            <a:off x="6492240" y="5852160"/>
            <a:ext cx="5303520" cy="457200"/>
          </a:xfrm>
          <a:prstGeom prst="rect">
            <a:avLst/>
          </a:prstGeom>
          <a:noFill/>
        </p:spPr>
        <p:txBody>
          <a:bodyPr wrap="square">
            <a:spAutoFit/>
          </a:bodyPr>
          <a:lstStyle/>
          <a:p>
            <a:pPr algn="ctr">
              <a:spcAft>
                <a:spcPts val="600"/>
              </a:spcAft>
              <a:defRPr sz="1500" b="1">
                <a:solidFill>
                  <a:srgbClr val="1F4E79"/>
                </a:solidFill>
              </a:defRPr>
            </a:pPr>
            <a:r>
              <a:t>━ isohyète 250 mm (ligne bleue)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Complète le tableau</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1828800" y="1463040"/>
            <a:ext cx="8503920" cy="82296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28800" y="1600200"/>
            <a:ext cx="8503920" cy="640080"/>
          </a:xfrm>
          <a:prstGeom prst="rect">
            <a:avLst/>
          </a:prstGeom>
          <a:noFill/>
        </p:spPr>
        <p:txBody>
          <a:bodyPr wrap="square">
            <a:spAutoFit/>
          </a:bodyPr>
          <a:lstStyle/>
          <a:p>
            <a:pPr algn="ctr">
              <a:spcAft>
                <a:spcPts val="600"/>
              </a:spcAft>
              <a:defRPr sz="2400" b="1">
                <a:solidFill>
                  <a:srgbClr val="FFFFFF"/>
                </a:solidFill>
              </a:defRPr>
            </a:pPr>
            <a:r>
              <a:t>Principaux caractères du Maghreb</a:t>
            </a:r>
          </a:p>
        </p:txBody>
      </p:sp>
      <p:sp>
        <p:nvSpPr>
          <p:cNvPr id="35" name="Rectangle 34"/>
          <p:cNvSpPr/>
          <p:nvPr/>
        </p:nvSpPr>
        <p:spPr>
          <a:xfrm>
            <a:off x="1828800" y="237744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828800" y="2606040"/>
            <a:ext cx="8503920" cy="640080"/>
          </a:xfrm>
          <a:prstGeom prst="rect">
            <a:avLst/>
          </a:prstGeom>
          <a:noFill/>
        </p:spPr>
        <p:txBody>
          <a:bodyPr wrap="square">
            <a:spAutoFit/>
          </a:bodyPr>
          <a:lstStyle/>
          <a:p>
            <a:pPr algn="ctr">
              <a:spcAft>
                <a:spcPts val="600"/>
              </a:spcAft>
              <a:defRPr sz="2200" b="0">
                <a:solidFill>
                  <a:srgbClr val="2B2B2B"/>
                </a:solidFill>
              </a:defRPr>
            </a:pPr>
            <a:r>
              <a:t>1. ……………………</a:t>
            </a:r>
          </a:p>
        </p:txBody>
      </p:sp>
      <p:sp>
        <p:nvSpPr>
          <p:cNvPr id="37" name="Rectangle 36"/>
          <p:cNvSpPr/>
          <p:nvPr/>
        </p:nvSpPr>
        <p:spPr>
          <a:xfrm>
            <a:off x="1828800" y="347472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828800" y="3703320"/>
            <a:ext cx="8503920" cy="640080"/>
          </a:xfrm>
          <a:prstGeom prst="rect">
            <a:avLst/>
          </a:prstGeom>
          <a:noFill/>
        </p:spPr>
        <p:txBody>
          <a:bodyPr wrap="square">
            <a:spAutoFit/>
          </a:bodyPr>
          <a:lstStyle/>
          <a:p>
            <a:pPr algn="ctr">
              <a:spcAft>
                <a:spcPts val="600"/>
              </a:spcAft>
              <a:defRPr sz="2200" b="0">
                <a:solidFill>
                  <a:srgbClr val="2B2B2B"/>
                </a:solidFill>
              </a:defRPr>
            </a:pPr>
            <a:r>
              <a:t>2. ……………………</a:t>
            </a:r>
          </a:p>
        </p:txBody>
      </p:sp>
      <p:sp>
        <p:nvSpPr>
          <p:cNvPr id="39" name="Rectangle 38"/>
          <p:cNvSpPr/>
          <p:nvPr/>
        </p:nvSpPr>
        <p:spPr>
          <a:xfrm>
            <a:off x="1828800" y="457200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828800" y="4800600"/>
            <a:ext cx="8503920" cy="640080"/>
          </a:xfrm>
          <a:prstGeom prst="rect">
            <a:avLst/>
          </a:prstGeom>
          <a:noFill/>
        </p:spPr>
        <p:txBody>
          <a:bodyPr wrap="square">
            <a:spAutoFit/>
          </a:bodyPr>
          <a:lstStyle/>
          <a:p>
            <a:pPr algn="ctr">
              <a:spcAft>
                <a:spcPts val="600"/>
              </a:spcAft>
              <a:defRPr sz="2200" b="0">
                <a:solidFill>
                  <a:srgbClr val="2B2B2B"/>
                </a:solidFill>
              </a:defRPr>
            </a:pPr>
            <a:r>
              <a:t>3. ……………………</a:t>
            </a:r>
          </a:p>
        </p:txBody>
      </p:sp>
      <p:sp>
        <p:nvSpPr>
          <p:cNvPr id="41" name="Rounded Rectangle 40">
            <a:hlinkClick action="ppaction://hlinksldjump" r:id="rId4"/>
          </p:cNvPr>
          <p:cNvSpPr/>
          <p:nvPr/>
        </p:nvSpPr>
        <p:spPr>
          <a:xfrm>
            <a:off x="8595360" y="5760720"/>
            <a:ext cx="256032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Correction du tableau</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1828800" y="1463040"/>
            <a:ext cx="8503920" cy="82296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28800" y="1600200"/>
            <a:ext cx="8503920" cy="640080"/>
          </a:xfrm>
          <a:prstGeom prst="rect">
            <a:avLst/>
          </a:prstGeom>
          <a:noFill/>
        </p:spPr>
        <p:txBody>
          <a:bodyPr wrap="square">
            <a:spAutoFit/>
          </a:bodyPr>
          <a:lstStyle/>
          <a:p>
            <a:pPr algn="ctr">
              <a:spcAft>
                <a:spcPts val="600"/>
              </a:spcAft>
              <a:defRPr sz="2400" b="1">
                <a:solidFill>
                  <a:srgbClr val="FFFFFF"/>
                </a:solidFill>
              </a:defRPr>
            </a:pPr>
            <a:r>
              <a:t>Principaux caractères du Maghreb</a:t>
            </a:r>
          </a:p>
        </p:txBody>
      </p:sp>
      <p:sp>
        <p:nvSpPr>
          <p:cNvPr id="35" name="Rectangle 34"/>
          <p:cNvSpPr/>
          <p:nvPr/>
        </p:nvSpPr>
        <p:spPr>
          <a:xfrm>
            <a:off x="1828800" y="237744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920240" y="2514600"/>
            <a:ext cx="8321040" cy="822960"/>
          </a:xfrm>
          <a:prstGeom prst="rect">
            <a:avLst/>
          </a:prstGeom>
          <a:noFill/>
        </p:spPr>
        <p:txBody>
          <a:bodyPr wrap="square">
            <a:spAutoFit/>
          </a:bodyPr>
          <a:lstStyle/>
          <a:p>
            <a:pPr algn="ctr">
              <a:spcAft>
                <a:spcPts val="600"/>
              </a:spcAft>
              <a:defRPr sz="2000" b="1">
                <a:solidFill>
                  <a:srgbClr val="2B2B2B"/>
                </a:solidFill>
              </a:defRPr>
            </a:pPr>
            <a:r>
              <a:t>Importance du désert</a:t>
            </a:r>
          </a:p>
        </p:txBody>
      </p:sp>
      <p:sp>
        <p:nvSpPr>
          <p:cNvPr id="37" name="Rectangle 36"/>
          <p:cNvSpPr/>
          <p:nvPr/>
        </p:nvSpPr>
        <p:spPr>
          <a:xfrm>
            <a:off x="1828800" y="347472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20240" y="3611880"/>
            <a:ext cx="8321040" cy="822960"/>
          </a:xfrm>
          <a:prstGeom prst="rect">
            <a:avLst/>
          </a:prstGeom>
          <a:noFill/>
        </p:spPr>
        <p:txBody>
          <a:bodyPr wrap="square">
            <a:spAutoFit/>
          </a:bodyPr>
          <a:lstStyle/>
          <a:p>
            <a:pPr algn="ctr">
              <a:spcAft>
                <a:spcPts val="600"/>
              </a:spcAft>
              <a:defRPr sz="2000" b="1">
                <a:solidFill>
                  <a:srgbClr val="2B2B2B"/>
                </a:solidFill>
              </a:defRPr>
            </a:pPr>
            <a:r>
              <a:t>Présence d'un massif montagneux : l'Atlas</a:t>
            </a:r>
          </a:p>
        </p:txBody>
      </p:sp>
      <p:sp>
        <p:nvSpPr>
          <p:cNvPr id="39" name="Rectangle 38"/>
          <p:cNvSpPr/>
          <p:nvPr/>
        </p:nvSpPr>
        <p:spPr>
          <a:xfrm>
            <a:off x="1828800" y="457200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920240" y="4709160"/>
            <a:ext cx="8321040" cy="822960"/>
          </a:xfrm>
          <a:prstGeom prst="rect">
            <a:avLst/>
          </a:prstGeom>
          <a:noFill/>
        </p:spPr>
        <p:txBody>
          <a:bodyPr wrap="square">
            <a:spAutoFit/>
          </a:bodyPr>
          <a:lstStyle/>
          <a:p>
            <a:pPr algn="ctr">
              <a:spcAft>
                <a:spcPts val="600"/>
              </a:spcAft>
              <a:defRPr sz="2000" b="1">
                <a:solidFill>
                  <a:srgbClr val="2B2B2B"/>
                </a:solidFill>
              </a:defRPr>
            </a:pPr>
            <a:r>
              <a:t>Les domaines bioclimatiques méditerranéen et désertique, marqués par l'aridité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Le Maghreb appartient au monde arabo-musulman</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3"/>
          <a:stretch>
            <a:fillRect/>
          </a:stretch>
        </p:blipFill>
        <p:spPr>
          <a:xfrm>
            <a:off x="457200" y="1371600"/>
            <a:ext cx="5413248" cy="4754880"/>
          </a:xfrm>
          <a:prstGeom prst="rect">
            <a:avLst/>
          </a:prstGeom>
        </p:spPr>
      </p:pic>
      <p:sp>
        <p:nvSpPr>
          <p:cNvPr id="34" name="TextBox 33"/>
          <p:cNvSpPr txBox="1"/>
          <p:nvPr/>
        </p:nvSpPr>
        <p:spPr>
          <a:xfrm>
            <a:off x="6309360" y="1463040"/>
            <a:ext cx="5486400" cy="3657600"/>
          </a:xfrm>
          <a:prstGeom prst="rect">
            <a:avLst/>
          </a:prstGeom>
          <a:noFill/>
        </p:spPr>
        <p:txBody>
          <a:bodyPr wrap="square">
            <a:spAutoFit/>
          </a:bodyPr>
          <a:lstStyle/>
          <a:p>
            <a:pPr algn="l">
              <a:spcAft>
                <a:spcPts val="600"/>
              </a:spcAft>
              <a:defRPr sz="2100" b="1">
                <a:solidFill>
                  <a:srgbClr val="1F4E79"/>
                </a:solidFill>
              </a:defRPr>
            </a:pPr>
            <a:r>
              <a:t>❓ D'après ce document et ce que tu as vu sur l'Afrique, quelle est la religion dominante au Maghreb ?</a:t>
            </a:r>
          </a:p>
          <a:p>
            <a:pPr algn="l">
              <a:spcAft>
                <a:spcPts val="600"/>
              </a:spcAft>
              <a:defRPr sz="2100" b="1">
                <a:solidFill>
                  <a:srgbClr val="1F4E79"/>
                </a:solidFill>
              </a:defRPr>
            </a:pPr>
            <a:r>
              <a:t>❓ Depuis quand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Maghreb musulman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645920"/>
            <a:ext cx="10972800" cy="3657600"/>
          </a:xfrm>
          <a:prstGeom prst="rect">
            <a:avLst/>
          </a:prstGeom>
          <a:noFill/>
        </p:spPr>
        <p:txBody>
          <a:bodyPr wrap="square">
            <a:spAutoFit/>
          </a:bodyPr>
          <a:lstStyle/>
          <a:p>
            <a:pPr algn="l">
              <a:spcAft>
                <a:spcPts val="600"/>
              </a:spcAft>
              <a:defRPr sz="2400" b="0">
                <a:solidFill>
                  <a:srgbClr val="2B2B2B"/>
                </a:solidFill>
              </a:defRPr>
            </a:pPr>
            <a:r>
              <a:t>✅ La religion musulmane (islam) domine.</a:t>
            </a:r>
          </a:p>
          <a:p>
            <a:pPr algn="l">
              <a:spcAft>
                <a:spcPts val="600"/>
              </a:spcAft>
              <a:defRPr sz="2400" b="0">
                <a:solidFill>
                  <a:srgbClr val="2B2B2B"/>
                </a:solidFill>
              </a:defRPr>
            </a:pPr>
            <a:r>
              <a:t>✅ Depuis les VIIe–VIIIe siècles, avec les conquêtes arabo-musulmanes.</a:t>
            </a:r>
          </a:p>
          <a:p>
            <a:pPr algn="l">
              <a:spcAft>
                <a:spcPts val="600"/>
              </a:spcAft>
              <a:defRPr sz="2400" b="0">
                <a:solidFill>
                  <a:srgbClr val="2B2B2B"/>
                </a:solidFill>
              </a:defRPr>
            </a:pPr>
            <a:r>
              <a:t>🕋 Lieux saints de l'islam : La Mecque et Médine (Arabie saoudite).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4 p. 221 : Les Berbères</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280160"/>
            <a:ext cx="11064240" cy="5029200"/>
          </a:xfrm>
          <a:prstGeom prst="rect">
            <a:avLst/>
          </a:prstGeom>
          <a:noFill/>
        </p:spPr>
        <p:txBody>
          <a:bodyPr wrap="square">
            <a:spAutoFit/>
          </a:bodyPr>
          <a:lstStyle/>
          <a:p>
            <a:pPr algn="l">
              <a:spcAft>
                <a:spcPts val="600"/>
              </a:spcAft>
              <a:defRPr sz="1700" b="0">
                <a:solidFill>
                  <a:srgbClr val="2B2B2B"/>
                </a:solidFill>
              </a:defRPr>
            </a:pPr>
            <a:r>
              <a:t>« Les Berbères habitent en Algérie, dans les montagnes de Kabylie et des Aurès, et surtout au Maroc, dans les montagnes du Rif et dans l'Atlas.</a:t>
            </a:r>
          </a:p>
          <a:p>
            <a:pPr algn="l">
              <a:spcAft>
                <a:spcPts val="600"/>
              </a:spcAft>
              <a:defRPr sz="1700" b="0">
                <a:solidFill>
                  <a:srgbClr val="2B2B2B"/>
                </a:solidFill>
              </a:defRPr>
            </a:pPr>
            <a:r>
              <a:t>Les Berbères sont au moins bilingues. Ils parlent le berbère et l'arabe. Seuls les très jeunes enfants, les femmes ou les vieillards n'ayant pas séjourné en ville ne parlent que le berbère : dans la ville maghrébine, en effet, on parle arabe, à l'exception de quelques villes comme Agadir au Maroc.</a:t>
            </a:r>
          </a:p>
          <a:p>
            <a:pPr algn="l">
              <a:spcAft>
                <a:spcPts val="600"/>
              </a:spcAft>
              <a:defRPr sz="1700" b="0">
                <a:solidFill>
                  <a:srgbClr val="2B2B2B"/>
                </a:solidFill>
              </a:defRPr>
            </a:pPr>
            <a:r>
              <a:t>Tous les Maghrébins, qu'ils soient arabes ou berbères, accordent une grande valeur sentimentale à des traits de la culture berbère. Il s'agit notamment du « burnous », ce long manteau de laine à capuchon pour les hommes, et surtout du « couscous »¹, le plat le plus prestigieux de la cuisine maghrébine. »</a:t>
            </a:r>
          </a:p>
          <a:p>
            <a:pPr algn="l">
              <a:spcAft>
                <a:spcPts val="600"/>
              </a:spcAft>
              <a:defRPr sz="1700" b="0">
                <a:solidFill>
                  <a:srgbClr val="2B2B2B"/>
                </a:solidFill>
              </a:defRPr>
            </a:pPr>
            <a:r>
              <a:t>D'après Yves Lacoste, Maghreb, 1995.   ¹ Plat à base de semoule de blé.</a:t>
            </a:r>
          </a:p>
        </p:txBody>
      </p:sp>
      <p:sp>
        <p:nvSpPr>
          <p:cNvPr id="35" name="Rounded Rectangle 34">
            <a:hlinkClick action="ppaction://hlinksldjump" r:id="rId4"/>
          </p:cNvPr>
          <p:cNvSpPr/>
          <p:nvPr/>
        </p:nvSpPr>
        <p:spPr>
          <a:xfrm>
            <a:off x="9144000" y="6263640"/>
            <a:ext cx="201168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Questions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Les Berbères — Questions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000" b="0">
                <a:solidFill>
                  <a:srgbClr val="2B2B2B"/>
                </a:solidFill>
              </a:defRPr>
            </a:pPr>
            <a:r>
              <a:t>• 1. Quels sont les deux peuples présents au Maghreb ?</a:t>
            </a:r>
          </a:p>
          <a:p>
            <a:pPr algn="l">
              <a:spcAft>
                <a:spcPts val="600"/>
              </a:spcAft>
              <a:defRPr sz="2000" b="0">
                <a:solidFill>
                  <a:srgbClr val="2B2B2B"/>
                </a:solidFill>
              </a:defRPr>
            </a:pPr>
            <a:r>
              <a:t>• 2. Où habitent les Berbères ? Cite 2 pays et 3 régions.</a:t>
            </a:r>
          </a:p>
          <a:p>
            <a:pPr algn="l">
              <a:spcAft>
                <a:spcPts val="600"/>
              </a:spcAft>
              <a:defRPr sz="2000" b="0">
                <a:solidFill>
                  <a:srgbClr val="2B2B2B"/>
                </a:solidFill>
              </a:defRPr>
            </a:pPr>
            <a:r>
              <a:t>• 3. Vrai/Faux : les Berbères ne parlent que le berbère. Justifie avec le texte.</a:t>
            </a:r>
          </a:p>
          <a:p>
            <a:pPr algn="l">
              <a:spcAft>
                <a:spcPts val="600"/>
              </a:spcAft>
              <a:defRPr sz="2000" b="0">
                <a:solidFill>
                  <a:srgbClr val="2B2B2B"/>
                </a:solidFill>
              </a:defRPr>
            </a:pPr>
            <a:r>
              <a:t>• 4. Quelle langue parle-t-on dans les villes ? Quelle exception ?</a:t>
            </a:r>
          </a:p>
          <a:p>
            <a:pPr algn="l">
              <a:spcAft>
                <a:spcPts val="600"/>
              </a:spcAft>
              <a:defRPr sz="2000" b="0">
                <a:solidFill>
                  <a:srgbClr val="2B2B2B"/>
                </a:solidFill>
              </a:defRPr>
            </a:pPr>
            <a:r>
              <a:t>• 5. Qu'est-ce que le « burnous » ?</a:t>
            </a:r>
          </a:p>
          <a:p>
            <a:pPr algn="l">
              <a:spcAft>
                <a:spcPts val="600"/>
              </a:spcAft>
              <a:defRPr sz="2000" b="0">
                <a:solidFill>
                  <a:srgbClr val="2B2B2B"/>
                </a:solidFill>
              </a:defRPr>
            </a:pPr>
            <a:r>
              <a:t>• 6. Quel est « le plat le plus prestigieux » ? De quoi est-il fait ?</a:t>
            </a:r>
          </a:p>
          <a:p>
            <a:pPr algn="l">
              <a:spcAft>
                <a:spcPts val="600"/>
              </a:spcAft>
              <a:defRPr sz="2000" b="0">
                <a:solidFill>
                  <a:srgbClr val="2B2B2B"/>
                </a:solidFill>
              </a:defRPr>
            </a:pPr>
            <a:r>
              <a:t>• 7. Qui est l'auteur ? En quelle année ?</a:t>
            </a:r>
          </a:p>
        </p:txBody>
      </p:sp>
      <p:sp>
        <p:nvSpPr>
          <p:cNvPr id="34" name="Rounded Rectangle 33">
            <a:hlinkClick action="ppaction://hlinksldjump" r:id="rId3"/>
          </p:cNvPr>
          <p:cNvSpPr/>
          <p:nvPr/>
        </p:nvSpPr>
        <p:spPr>
          <a:xfrm>
            <a:off x="8961120" y="5577840"/>
            <a:ext cx="21945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Les Berbères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000" b="0">
                <a:solidFill>
                  <a:srgbClr val="2B2B2B"/>
                </a:solidFill>
              </a:defRPr>
            </a:pPr>
            <a:r>
              <a:t>• 1. Les Arabes et les Berbères.</a:t>
            </a:r>
          </a:p>
          <a:p>
            <a:pPr algn="l">
              <a:spcAft>
                <a:spcPts val="600"/>
              </a:spcAft>
              <a:defRPr sz="2000" b="0">
                <a:solidFill>
                  <a:srgbClr val="2B2B2B"/>
                </a:solidFill>
              </a:defRPr>
            </a:pPr>
            <a:r>
              <a:t>• 2. En Algérie (Kabylie, Aurès) et surtout au Maroc (Rif, Atlas).</a:t>
            </a:r>
          </a:p>
          <a:p>
            <a:pPr algn="l">
              <a:spcAft>
                <a:spcPts val="600"/>
              </a:spcAft>
              <a:defRPr sz="2000" b="0">
                <a:solidFill>
                  <a:srgbClr val="2B2B2B"/>
                </a:solidFill>
              </a:defRPr>
            </a:pPr>
            <a:r>
              <a:t>• 3. FAUX : « Les Berbères sont au moins bilingues » (berbère et arabe).</a:t>
            </a:r>
          </a:p>
          <a:p>
            <a:pPr algn="l">
              <a:spcAft>
                <a:spcPts val="600"/>
              </a:spcAft>
              <a:defRPr sz="2000" b="0">
                <a:solidFill>
                  <a:srgbClr val="2B2B2B"/>
                </a:solidFill>
              </a:defRPr>
            </a:pPr>
            <a:r>
              <a:t>• 4. L'arabe, sauf quelques villes comme Agadir (Maroc).</a:t>
            </a:r>
          </a:p>
          <a:p>
            <a:pPr algn="l">
              <a:spcAft>
                <a:spcPts val="600"/>
              </a:spcAft>
              <a:defRPr sz="2000" b="0">
                <a:solidFill>
                  <a:srgbClr val="2B2B2B"/>
                </a:solidFill>
              </a:defRPr>
            </a:pPr>
            <a:r>
              <a:t>• 5. Un long manteau de laine à capuchon pour les hommes.</a:t>
            </a:r>
          </a:p>
          <a:p>
            <a:pPr algn="l">
              <a:spcAft>
                <a:spcPts val="600"/>
              </a:spcAft>
              <a:defRPr sz="2000" b="0">
                <a:solidFill>
                  <a:srgbClr val="2B2B2B"/>
                </a:solidFill>
              </a:defRPr>
            </a:pPr>
            <a:r>
              <a:t>• 6. Le couscous, à base de semoule de blé.</a:t>
            </a:r>
          </a:p>
          <a:p>
            <a:pPr algn="l">
              <a:spcAft>
                <a:spcPts val="600"/>
              </a:spcAft>
              <a:defRPr sz="2000" b="0">
                <a:solidFill>
                  <a:srgbClr val="2B2B2B"/>
                </a:solidFill>
              </a:defRPr>
            </a:pPr>
            <a:r>
              <a:t>• 7. Yves Lacoste, 1995.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5 p. 221 : les Arabes et les Berbères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rabes-berberes.png"/>
          <p:cNvPicPr>
            <a:picLocks noChangeAspect="1"/>
          </p:cNvPicPr>
          <p:nvPr/>
        </p:nvPicPr>
        <p:blipFill>
          <a:blip r:embed="rId3"/>
          <a:stretch>
            <a:fillRect/>
          </a:stretch>
        </p:blipFill>
        <p:spPr>
          <a:xfrm>
            <a:off x="457200" y="1280160"/>
            <a:ext cx="5662507" cy="5029200"/>
          </a:xfrm>
          <a:prstGeom prst="rect">
            <a:avLst/>
          </a:prstGeom>
        </p:spPr>
      </p:pic>
      <p:sp>
        <p:nvSpPr>
          <p:cNvPr id="34" name="TextBox 33"/>
          <p:cNvSpPr txBox="1"/>
          <p:nvPr/>
        </p:nvSpPr>
        <p:spPr>
          <a:xfrm>
            <a:off x="6949440" y="1371600"/>
            <a:ext cx="4846320" cy="4114800"/>
          </a:xfrm>
          <a:prstGeom prst="rect">
            <a:avLst/>
          </a:prstGeom>
          <a:noFill/>
        </p:spPr>
        <p:txBody>
          <a:bodyPr wrap="square">
            <a:spAutoFit/>
          </a:bodyPr>
          <a:lstStyle/>
          <a:p>
            <a:pPr algn="l">
              <a:spcAft>
                <a:spcPts val="600"/>
              </a:spcAft>
              <a:defRPr sz="1900" b="1">
                <a:solidFill>
                  <a:srgbClr val="1F4E79"/>
                </a:solidFill>
              </a:defRPr>
            </a:pPr>
            <a:r>
              <a:t>❓ Où vivent les arabophones ?</a:t>
            </a:r>
          </a:p>
          <a:p>
            <a:pPr algn="l">
              <a:spcAft>
                <a:spcPts val="600"/>
              </a:spcAft>
              <a:defRPr sz="1900" b="1">
                <a:solidFill>
                  <a:srgbClr val="1F4E79"/>
                </a:solidFill>
              </a:defRPr>
            </a:pPr>
            <a:r>
              <a:t>❓ Où vivent les berbérophones ?</a:t>
            </a:r>
          </a:p>
          <a:p>
            <a:pPr algn="l">
              <a:spcAft>
                <a:spcPts val="600"/>
              </a:spcAft>
              <a:defRPr sz="1900" b="1">
                <a:solidFill>
                  <a:srgbClr val="1F4E79"/>
                </a:solidFill>
              </a:defRPr>
            </a:pPr>
            <a:r>
              <a:t>❓ Quelle part de la population parle berbère au Maroc ? en Algérie ?</a:t>
            </a:r>
          </a:p>
          <a:p>
            <a:pPr algn="l">
              <a:spcAft>
                <a:spcPts val="600"/>
              </a:spcAft>
              <a:defRPr sz="1900" b="1">
                <a:solidFill>
                  <a:srgbClr val="1F4E79"/>
                </a:solidFill>
              </a:defRPr>
            </a:pPr>
            <a:r>
              <a:t>❓ Pourquoi le Sahara est-il presque vide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Arabes et Berbères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463040"/>
            <a:ext cx="10972800" cy="4846320"/>
          </a:xfrm>
          <a:prstGeom prst="rect">
            <a:avLst/>
          </a:prstGeom>
          <a:noFill/>
        </p:spPr>
        <p:txBody>
          <a:bodyPr wrap="square">
            <a:spAutoFit/>
          </a:bodyPr>
          <a:lstStyle/>
          <a:p>
            <a:pPr algn="l">
              <a:spcAft>
                <a:spcPts val="600"/>
              </a:spcAft>
              <a:defRPr sz="2000" b="0">
                <a:solidFill>
                  <a:srgbClr val="2B2B2B"/>
                </a:solidFill>
              </a:defRPr>
            </a:pPr>
            <a:r>
              <a:t>• Arabophones : plaines littorales et villes (Casablanca, Rabat, Alger, Oran, Tunis).</a:t>
            </a:r>
          </a:p>
          <a:p>
            <a:pPr algn="l">
              <a:spcAft>
                <a:spcPts val="600"/>
              </a:spcAft>
              <a:defRPr sz="2000" b="0">
                <a:solidFill>
                  <a:srgbClr val="2B2B2B"/>
                </a:solidFill>
              </a:defRPr>
            </a:pPr>
            <a:r>
              <a:t>• Berbérophones : surtout dans les montagnes (Rif, Atlas, Kabylie, Aurès) et autour d'Agadir.</a:t>
            </a:r>
          </a:p>
          <a:p>
            <a:pPr algn="l">
              <a:spcAft>
                <a:spcPts val="600"/>
              </a:spcAft>
              <a:defRPr sz="2000" b="0">
                <a:solidFill>
                  <a:srgbClr val="2B2B2B"/>
                </a:solidFill>
              </a:defRPr>
            </a:pPr>
            <a:r>
              <a:t>• Berbérophones : environ 33 % au Maroc et 25 % en Algérie (très peu en Tunisie).</a:t>
            </a:r>
          </a:p>
          <a:p>
            <a:pPr algn="l">
              <a:spcAft>
                <a:spcPts val="600"/>
              </a:spcAft>
              <a:defRPr sz="2000" b="0">
                <a:solidFill>
                  <a:srgbClr val="2B2B2B"/>
                </a:solidFill>
              </a:defRPr>
            </a:pPr>
            <a:r>
              <a:t>• Le Sahara : moins de 10 hab/km², car le climat désertique y rend la vie difficile.</a:t>
            </a:r>
          </a:p>
          <a:p>
            <a:pPr algn="l">
              <a:spcAft>
                <a:spcPts val="600"/>
              </a:spcAft>
              <a:defRPr sz="2000" b="0">
                <a:solidFill>
                  <a:srgbClr val="2B2B2B"/>
                </a:solidFill>
              </a:defRPr>
            </a:pPr>
            <a:r>
              <a:t>• ➡️ Les Berbères sont le peuple d'origine ; les Arabes sont arrivés avec l'islam (VIIe 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Paysages : de la mer au désert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554480"/>
            <a:ext cx="2697480" cy="38404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1828800"/>
            <a:ext cx="2514600" cy="914400"/>
          </a:xfrm>
          <a:prstGeom prst="rect">
            <a:avLst/>
          </a:prstGeom>
          <a:noFill/>
        </p:spPr>
        <p:txBody>
          <a:bodyPr wrap="square">
            <a:spAutoFit/>
          </a:bodyPr>
          <a:lstStyle/>
          <a:p>
            <a:pPr algn="ctr">
              <a:spcAft>
                <a:spcPts val="600"/>
              </a:spcAft>
              <a:defRPr sz="2400" b="1">
                <a:solidFill>
                  <a:srgbClr val="FFFFFF"/>
                </a:solidFill>
              </a:defRPr>
            </a:pPr>
            <a:r>
              <a:t>🌊 Méditerranée</a:t>
            </a:r>
          </a:p>
        </p:txBody>
      </p:sp>
      <p:sp>
        <p:nvSpPr>
          <p:cNvPr id="35" name="TextBox 34"/>
          <p:cNvSpPr txBox="1"/>
          <p:nvPr/>
        </p:nvSpPr>
        <p:spPr>
          <a:xfrm>
            <a:off x="640080" y="3017520"/>
            <a:ext cx="2514600" cy="1828800"/>
          </a:xfrm>
          <a:prstGeom prst="rect">
            <a:avLst/>
          </a:prstGeom>
          <a:noFill/>
        </p:spPr>
        <p:txBody>
          <a:bodyPr wrap="square">
            <a:spAutoFit/>
          </a:bodyPr>
          <a:lstStyle/>
          <a:p>
            <a:pPr algn="ctr">
              <a:spcAft>
                <a:spcPts val="600"/>
              </a:spcAft>
              <a:defRPr sz="1800" b="0">
                <a:solidFill>
                  <a:srgbClr val="FFFFFF"/>
                </a:solidFill>
              </a:defRPr>
            </a:pPr>
            <a:r>
              <a:t>Côtes, ports, plages au nord</a:t>
            </a:r>
          </a:p>
        </p:txBody>
      </p:sp>
      <p:sp>
        <p:nvSpPr>
          <p:cNvPr id="36" name="Rounded Rectangle 35"/>
          <p:cNvSpPr/>
          <p:nvPr/>
        </p:nvSpPr>
        <p:spPr>
          <a:xfrm>
            <a:off x="3429000" y="1554480"/>
            <a:ext cx="2697480" cy="38404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20439" y="1828800"/>
            <a:ext cx="2514600" cy="914400"/>
          </a:xfrm>
          <a:prstGeom prst="rect">
            <a:avLst/>
          </a:prstGeom>
          <a:noFill/>
        </p:spPr>
        <p:txBody>
          <a:bodyPr wrap="square">
            <a:spAutoFit/>
          </a:bodyPr>
          <a:lstStyle/>
          <a:p>
            <a:pPr algn="ctr">
              <a:spcAft>
                <a:spcPts val="600"/>
              </a:spcAft>
              <a:defRPr sz="2400" b="1">
                <a:solidFill>
                  <a:srgbClr val="FFFFFF"/>
                </a:solidFill>
              </a:defRPr>
            </a:pPr>
            <a:r>
              <a:t>🏔️ Atlas</a:t>
            </a:r>
          </a:p>
        </p:txBody>
      </p:sp>
      <p:sp>
        <p:nvSpPr>
          <p:cNvPr id="38" name="TextBox 37"/>
          <p:cNvSpPr txBox="1"/>
          <p:nvPr/>
        </p:nvSpPr>
        <p:spPr>
          <a:xfrm>
            <a:off x="3520439" y="3017520"/>
            <a:ext cx="2514600" cy="1828800"/>
          </a:xfrm>
          <a:prstGeom prst="rect">
            <a:avLst/>
          </a:prstGeom>
          <a:noFill/>
        </p:spPr>
        <p:txBody>
          <a:bodyPr wrap="square">
            <a:spAutoFit/>
          </a:bodyPr>
          <a:lstStyle/>
          <a:p>
            <a:pPr algn="ctr">
              <a:spcAft>
                <a:spcPts val="600"/>
              </a:spcAft>
              <a:defRPr sz="1800" b="0">
                <a:solidFill>
                  <a:srgbClr val="FFFFFF"/>
                </a:solidFill>
              </a:defRPr>
            </a:pPr>
            <a:r>
              <a:t>Montagnes jusqu'à 4 167 m (Toubkal)</a:t>
            </a:r>
          </a:p>
        </p:txBody>
      </p:sp>
      <p:sp>
        <p:nvSpPr>
          <p:cNvPr id="39" name="Rounded Rectangle 38"/>
          <p:cNvSpPr/>
          <p:nvPr/>
        </p:nvSpPr>
        <p:spPr>
          <a:xfrm>
            <a:off x="6309359" y="1554480"/>
            <a:ext cx="2697480" cy="384048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0" y="1828800"/>
            <a:ext cx="2514600" cy="914400"/>
          </a:xfrm>
          <a:prstGeom prst="rect">
            <a:avLst/>
          </a:prstGeom>
          <a:noFill/>
        </p:spPr>
        <p:txBody>
          <a:bodyPr wrap="square">
            <a:spAutoFit/>
          </a:bodyPr>
          <a:lstStyle/>
          <a:p>
            <a:pPr algn="ctr">
              <a:spcAft>
                <a:spcPts val="600"/>
              </a:spcAft>
              <a:defRPr sz="2400" b="1">
                <a:solidFill>
                  <a:srgbClr val="FFFFFF"/>
                </a:solidFill>
              </a:defRPr>
            </a:pPr>
            <a:r>
              <a:t>🏜️ Sahara</a:t>
            </a:r>
          </a:p>
        </p:txBody>
      </p:sp>
      <p:sp>
        <p:nvSpPr>
          <p:cNvPr id="41" name="TextBox 40"/>
          <p:cNvSpPr txBox="1"/>
          <p:nvPr/>
        </p:nvSpPr>
        <p:spPr>
          <a:xfrm>
            <a:off x="6400800" y="3017520"/>
            <a:ext cx="2514600" cy="1828800"/>
          </a:xfrm>
          <a:prstGeom prst="rect">
            <a:avLst/>
          </a:prstGeom>
          <a:noFill/>
        </p:spPr>
        <p:txBody>
          <a:bodyPr wrap="square">
            <a:spAutoFit/>
          </a:bodyPr>
          <a:lstStyle/>
          <a:p>
            <a:pPr algn="ctr">
              <a:spcAft>
                <a:spcPts val="600"/>
              </a:spcAft>
              <a:defRPr sz="1800" b="0">
                <a:solidFill>
                  <a:srgbClr val="FFFFFF"/>
                </a:solidFill>
              </a:defRPr>
            </a:pPr>
            <a:r>
              <a:t>Le plus grand désert chaud du monde</a:t>
            </a:r>
          </a:p>
        </p:txBody>
      </p:sp>
      <p:sp>
        <p:nvSpPr>
          <p:cNvPr id="42" name="Rounded Rectangle 41"/>
          <p:cNvSpPr/>
          <p:nvPr/>
        </p:nvSpPr>
        <p:spPr>
          <a:xfrm>
            <a:off x="9189719" y="1554480"/>
            <a:ext cx="2697480" cy="38404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81159" y="1828800"/>
            <a:ext cx="2514600" cy="914400"/>
          </a:xfrm>
          <a:prstGeom prst="rect">
            <a:avLst/>
          </a:prstGeom>
          <a:noFill/>
        </p:spPr>
        <p:txBody>
          <a:bodyPr wrap="square">
            <a:spAutoFit/>
          </a:bodyPr>
          <a:lstStyle/>
          <a:p>
            <a:pPr algn="ctr">
              <a:spcAft>
                <a:spcPts val="600"/>
              </a:spcAft>
              <a:defRPr sz="2400" b="1">
                <a:solidFill>
                  <a:srgbClr val="FFFFFF"/>
                </a:solidFill>
              </a:defRPr>
            </a:pPr>
            <a:r>
              <a:t>🌴 Oasis</a:t>
            </a:r>
          </a:p>
        </p:txBody>
      </p:sp>
      <p:sp>
        <p:nvSpPr>
          <p:cNvPr id="44" name="TextBox 43"/>
          <p:cNvSpPr txBox="1"/>
          <p:nvPr/>
        </p:nvSpPr>
        <p:spPr>
          <a:xfrm>
            <a:off x="9281159" y="3017520"/>
            <a:ext cx="2514600" cy="1828800"/>
          </a:xfrm>
          <a:prstGeom prst="rect">
            <a:avLst/>
          </a:prstGeom>
          <a:noFill/>
        </p:spPr>
        <p:txBody>
          <a:bodyPr wrap="square">
            <a:spAutoFit/>
          </a:bodyPr>
          <a:lstStyle/>
          <a:p>
            <a:pPr algn="ctr">
              <a:spcAft>
                <a:spcPts val="600"/>
              </a:spcAft>
              <a:defRPr sz="1800" b="0">
                <a:solidFill>
                  <a:srgbClr val="FFFFFF"/>
                </a:solidFill>
              </a:defRPr>
            </a:pPr>
            <a:r>
              <a:t>Palmiers-dattiers, eau et vie</a:t>
            </a:r>
          </a:p>
        </p:txBody>
      </p:sp>
      <p:sp>
        <p:nvSpPr>
          <p:cNvPr id="45" name="TextBox 44"/>
          <p:cNvSpPr txBox="1"/>
          <p:nvPr/>
        </p:nvSpPr>
        <p:spPr>
          <a:xfrm>
            <a:off x="548640" y="5577840"/>
            <a:ext cx="10972800" cy="640080"/>
          </a:xfrm>
          <a:prstGeom prst="rect">
            <a:avLst/>
          </a:prstGeom>
          <a:noFill/>
        </p:spPr>
        <p:txBody>
          <a:bodyPr wrap="square">
            <a:spAutoFit/>
          </a:bodyPr>
          <a:lstStyle/>
          <a:p>
            <a:pPr algn="l">
              <a:spcAft>
                <a:spcPts val="600"/>
              </a:spcAft>
              <a:defRPr sz="2000" b="1">
                <a:solidFill>
                  <a:srgbClr val="B84A1E"/>
                </a:solidFill>
              </a:defRPr>
            </a:pPr>
            <a:r>
              <a:t>🎯 Activité : à l'oral, décris ton paysage préféré avec 3 adjectifs.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II – 🎧 C.O. Compréhension orale : vidéo</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25'</a:t>
            </a:r>
          </a:p>
        </p:txBody>
      </p:sp>
      <p:sp>
        <p:nvSpPr>
          <p:cNvPr id="33" name="Rounded Rectangle 32">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ectangle 33"/>
          <p:cNvSpPr/>
          <p:nvPr/>
        </p:nvSpPr>
        <p:spPr>
          <a:xfrm>
            <a:off x="731520" y="1463040"/>
            <a:ext cx="6035040" cy="3840480"/>
          </a:xfrm>
          <a:prstGeom prst="rect">
            <a:avLst/>
          </a:prstGeom>
          <a:solidFill>
            <a:srgbClr val="2B2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a:hlinkClick r:id="rId3"/>
          </p:cNvPr>
          <p:cNvSpPr/>
          <p:nvPr/>
        </p:nvSpPr>
        <p:spPr>
          <a:xfrm>
            <a:off x="2377440" y="2926080"/>
            <a:ext cx="2743200" cy="9144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LANCER LA VIDÉO</a:t>
            </a:r>
          </a:p>
        </p:txBody>
      </p:sp>
      <p:sp>
        <p:nvSpPr>
          <p:cNvPr id="36" name="TextBox 35"/>
          <p:cNvSpPr txBox="1"/>
          <p:nvPr/>
        </p:nvSpPr>
        <p:spPr>
          <a:xfrm>
            <a:off x="731520" y="5394960"/>
            <a:ext cx="6035040" cy="731520"/>
          </a:xfrm>
          <a:prstGeom prst="rect">
            <a:avLst/>
          </a:prstGeom>
          <a:noFill/>
        </p:spPr>
        <p:txBody>
          <a:bodyPr wrap="square">
            <a:spAutoFit/>
          </a:bodyPr>
          <a:lstStyle/>
          <a:p>
            <a:pPr algn="ctr">
              <a:spcAft>
                <a:spcPts val="600"/>
              </a:spcAft>
              <a:defRPr sz="1400" b="0">
                <a:solidFill>
                  <a:srgbClr val="1F4E79"/>
                </a:solidFill>
              </a:defRPr>
            </a:pPr>
            <a:r>
              <a:t>(Clique pour ouvrir la vidéo — ou insère ton .mp4 ici)</a:t>
            </a:r>
          </a:p>
        </p:txBody>
      </p:sp>
      <p:sp>
        <p:nvSpPr>
          <p:cNvPr id="37" name="TextBox 36"/>
          <p:cNvSpPr txBox="1"/>
          <p:nvPr/>
        </p:nvSpPr>
        <p:spPr>
          <a:xfrm>
            <a:off x="7040880" y="1463040"/>
            <a:ext cx="4754880" cy="4572000"/>
          </a:xfrm>
          <a:prstGeom prst="rect">
            <a:avLst/>
          </a:prstGeom>
          <a:noFill/>
        </p:spPr>
        <p:txBody>
          <a:bodyPr wrap="square">
            <a:spAutoFit/>
          </a:bodyPr>
          <a:lstStyle/>
          <a:p>
            <a:pPr algn="l">
              <a:spcAft>
                <a:spcPts val="600"/>
              </a:spcAft>
              <a:defRPr sz="1800" b="0">
                <a:solidFill>
                  <a:srgbClr val="2B2B2B"/>
                </a:solidFill>
              </a:defRPr>
            </a:pPr>
            <a:r>
              <a:t>📺 Visionnage 1 — sans le son :</a:t>
            </a:r>
          </a:p>
          <a:p>
            <a:pPr algn="l">
              <a:spcAft>
                <a:spcPts val="600"/>
              </a:spcAft>
              <a:defRPr sz="1800" b="0">
                <a:solidFill>
                  <a:srgbClr val="2B2B2B"/>
                </a:solidFill>
              </a:defRPr>
            </a:pPr>
            <a:r>
              <a:t>   Quels lieux, couleurs, objets vois-tu ?</a:t>
            </a:r>
          </a:p>
          <a:p>
            <a:pPr algn="l">
              <a:spcAft>
                <a:spcPts val="600"/>
              </a:spcAft>
              <a:defRPr sz="1800" b="0">
                <a:solidFill>
                  <a:srgbClr val="2B2B2B"/>
                </a:solidFill>
              </a:defRPr>
            </a:pPr>
            <a:r>
              <a:t>📺 Visionnage 2 — avec le son :</a:t>
            </a:r>
          </a:p>
          <a:p>
            <a:pPr algn="l">
              <a:spcAft>
                <a:spcPts val="600"/>
              </a:spcAft>
              <a:defRPr sz="1800" b="0">
                <a:solidFill>
                  <a:srgbClr val="2B2B2B"/>
                </a:solidFill>
              </a:defRPr>
            </a:pPr>
            <a:r>
              <a:t>   Note 3 pays, 2 villes, 1 plat.</a:t>
            </a:r>
          </a:p>
          <a:p>
            <a:pPr algn="l">
              <a:spcAft>
                <a:spcPts val="600"/>
              </a:spcAft>
              <a:defRPr sz="1800" b="0">
                <a:solidFill>
                  <a:srgbClr val="2B2B2B"/>
                </a:solidFill>
              </a:defRPr>
            </a:pPr>
            <a:r>
              <a:t>📺 Visionnage 3 :</a:t>
            </a:r>
          </a:p>
          <a:p>
            <a:pPr algn="l">
              <a:spcAft>
                <a:spcPts val="600"/>
              </a:spcAft>
              <a:defRPr sz="1800" b="0">
                <a:solidFill>
                  <a:srgbClr val="2B2B2B"/>
                </a:solidFill>
              </a:defRPr>
            </a:pPr>
            <a:r>
              <a:t>   Réponds à la fiche vidéo ➡️</a:t>
            </a:r>
          </a:p>
        </p:txBody>
      </p:sp>
      <p:sp>
        <p:nvSpPr>
          <p:cNvPr id="38" name="Rounded Rectangle 37">
            <a:hlinkClick action="ppaction://hlinksldjump" r:id="rId5"/>
          </p:cNvPr>
          <p:cNvSpPr/>
          <p:nvPr/>
        </p:nvSpPr>
        <p:spPr>
          <a:xfrm>
            <a:off x="8686800" y="5486400"/>
            <a:ext cx="246888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Fiche vidéo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Fiche vidéo : as-tu bien regardé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Quels pays sont présentés ?</a:t>
            </a:r>
          </a:p>
          <a:p>
            <a:pPr algn="l">
              <a:spcAft>
                <a:spcPts val="600"/>
              </a:spcAft>
              <a:defRPr sz="2200" b="0">
                <a:solidFill>
                  <a:srgbClr val="2B2B2B"/>
                </a:solidFill>
              </a:defRPr>
            </a:pPr>
            <a:r>
              <a:t>• Cite une ville et ce qu'on y voit.</a:t>
            </a:r>
          </a:p>
          <a:p>
            <a:pPr algn="l">
              <a:spcAft>
                <a:spcPts val="600"/>
              </a:spcAft>
              <a:defRPr sz="2200" b="0">
                <a:solidFill>
                  <a:srgbClr val="2B2B2B"/>
                </a:solidFill>
              </a:defRPr>
            </a:pPr>
            <a:r>
              <a:t>• Quel paysage t'a le plus surpris ? Pourquoi ?</a:t>
            </a:r>
          </a:p>
          <a:p>
            <a:pPr algn="l">
              <a:spcAft>
                <a:spcPts val="600"/>
              </a:spcAft>
              <a:defRPr sz="2200" b="0">
                <a:solidFill>
                  <a:srgbClr val="2B2B2B"/>
                </a:solidFill>
              </a:defRPr>
            </a:pPr>
            <a:r>
              <a:t>• Quelles langues entend-on ?</a:t>
            </a:r>
          </a:p>
          <a:p>
            <a:pPr algn="l">
              <a:spcAft>
                <a:spcPts val="600"/>
              </a:spcAft>
              <a:defRPr sz="2200" b="0">
                <a:solidFill>
                  <a:srgbClr val="2B2B2B"/>
                </a:solidFill>
              </a:defRPr>
            </a:pPr>
            <a:r>
              <a:t>• Vrai ou faux : le Maghreb est uniquement désertique.</a:t>
            </a:r>
          </a:p>
        </p:txBody>
      </p:sp>
      <p:sp>
        <p:nvSpPr>
          <p:cNvPr id="34" name="Rounded Rectangle 33">
            <a:hlinkClick action="ppaction://hlinksldjump" r:id="rId3"/>
          </p:cNvPr>
          <p:cNvSpPr/>
          <p:nvPr/>
        </p:nvSpPr>
        <p:spPr>
          <a:xfrm>
            <a:off x="8961120" y="5486400"/>
            <a:ext cx="21945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Fiche vidéo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Maroc, Algérie, Tunisie (et parfois Libye, Mauritanie)</a:t>
            </a:r>
          </a:p>
          <a:p>
            <a:pPr algn="l">
              <a:spcAft>
                <a:spcPts val="600"/>
              </a:spcAft>
              <a:defRPr sz="2200" b="0">
                <a:solidFill>
                  <a:srgbClr val="2B2B2B"/>
                </a:solidFill>
              </a:defRPr>
            </a:pPr>
            <a:r>
              <a:t>• Ex. : Marrakech (place Jemaa el-Fna), Alger (la Casbah), Tunis (la médina)</a:t>
            </a:r>
          </a:p>
          <a:p>
            <a:pPr algn="l">
              <a:spcAft>
                <a:spcPts val="600"/>
              </a:spcAft>
              <a:defRPr sz="2200" b="0">
                <a:solidFill>
                  <a:srgbClr val="2B2B2B"/>
                </a:solidFill>
              </a:defRPr>
            </a:pPr>
            <a:r>
              <a:t>• Réponse libre — justifie avec « parce que… »</a:t>
            </a:r>
          </a:p>
          <a:p>
            <a:pPr algn="l">
              <a:spcAft>
                <a:spcPts val="600"/>
              </a:spcAft>
              <a:defRPr sz="2200" b="0">
                <a:solidFill>
                  <a:srgbClr val="2B2B2B"/>
                </a:solidFill>
              </a:defRPr>
            </a:pPr>
            <a:r>
              <a:t>• Arabe (darija), tamazight (berbère), français</a:t>
            </a:r>
          </a:p>
          <a:p>
            <a:pPr algn="l">
              <a:spcAft>
                <a:spcPts val="600"/>
              </a:spcAft>
              <a:defRPr sz="2200" b="0">
                <a:solidFill>
                  <a:srgbClr val="2B2B2B"/>
                </a:solidFill>
              </a:defRPr>
            </a:pPr>
            <a:r>
              <a:t>• FAUX ❌ : il y a aussi la mer, les montagnes, les villes, les oasis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1/5</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Quelle est la capitale du Maroc ?</a:t>
            </a:r>
          </a:p>
        </p:txBody>
      </p:sp>
      <p:sp>
        <p:nvSpPr>
          <p:cNvPr id="35" name="Rounded Rectangle 34">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Casablanca</a:t>
            </a:r>
          </a:p>
        </p:txBody>
      </p:sp>
      <p:sp>
        <p:nvSpPr>
          <p:cNvPr id="36" name="Rounded Rectangle 35">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Rabat</a:t>
            </a:r>
          </a:p>
        </p:txBody>
      </p:sp>
      <p:sp>
        <p:nvSpPr>
          <p:cNvPr id="37" name="Rounded Rectangle 36">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Marrakech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Rabat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2/5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 est le plus grand pays d'Afrique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Algérie</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Libye</a:t>
            </a:r>
          </a:p>
        </p:txBody>
      </p:sp>
      <p:sp>
        <p:nvSpPr>
          <p:cNvPr id="36" name="Rounded Rectangle 35">
            <a:hlinkClick action="ppaction://hlinksldjump" r:id="rId4"/>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Égypte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Algérie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3/5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 signifie « Maghreb »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Le désert</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Le couchant</a:t>
            </a:r>
          </a:p>
        </p:txBody>
      </p:sp>
      <p:sp>
        <p:nvSpPr>
          <p:cNvPr id="36" name="Rounded Rectangle 35">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La mer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Le couchant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4/5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Quelle montagne traverse le Maghreb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Les Alpes</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L'Atlas</a:t>
            </a:r>
          </a:p>
        </p:txBody>
      </p:sp>
      <p:sp>
        <p:nvSpPr>
          <p:cNvPr id="36" name="Rounded Rectangle 35">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L'Himalaya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L'Atlas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5/5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Quelle mer borde le Maghreb au nord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Mer Rouge</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Méditerranée</a:t>
            </a:r>
          </a:p>
        </p:txBody>
      </p:sp>
      <p:sp>
        <p:nvSpPr>
          <p:cNvPr id="36" name="Rounded Rectangle 35">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Mer Noire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Méditerranée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IV – Histoire : la frise du temps</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ectangle 33"/>
          <p:cNvSpPr/>
          <p:nvPr/>
        </p:nvSpPr>
        <p:spPr>
          <a:xfrm>
            <a:off x="548640" y="3291840"/>
            <a:ext cx="11064240" cy="109728"/>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7160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2011680"/>
            <a:ext cx="2194560" cy="914400"/>
          </a:xfrm>
          <a:prstGeom prst="rect">
            <a:avLst/>
          </a:prstGeom>
          <a:noFill/>
        </p:spPr>
        <p:txBody>
          <a:bodyPr wrap="square">
            <a:spAutoFit/>
          </a:bodyPr>
          <a:lstStyle/>
          <a:p>
            <a:pPr algn="ctr">
              <a:spcAft>
                <a:spcPts val="600"/>
              </a:spcAft>
              <a:defRPr sz="2000" b="1">
                <a:solidFill>
                  <a:srgbClr val="1F4E79"/>
                </a:solidFill>
              </a:defRPr>
            </a:pPr>
            <a:r>
              <a:t>Antiquité</a:t>
            </a:r>
          </a:p>
        </p:txBody>
      </p:sp>
      <p:sp>
        <p:nvSpPr>
          <p:cNvPr id="37" name="TextBox 36"/>
          <p:cNvSpPr txBox="1"/>
          <p:nvPr/>
        </p:nvSpPr>
        <p:spPr>
          <a:xfrm>
            <a:off x="548640" y="3840480"/>
            <a:ext cx="2194560" cy="1463040"/>
          </a:xfrm>
          <a:prstGeom prst="rect">
            <a:avLst/>
          </a:prstGeom>
          <a:noFill/>
        </p:spPr>
        <p:txBody>
          <a:bodyPr wrap="square">
            <a:spAutoFit/>
          </a:bodyPr>
          <a:lstStyle/>
          <a:p>
            <a:pPr algn="ctr">
              <a:spcAft>
                <a:spcPts val="600"/>
              </a:spcAft>
              <a:defRPr sz="1500" b="0">
                <a:solidFill>
                  <a:srgbClr val="2B2B2B"/>
                </a:solidFill>
              </a:defRPr>
            </a:pPr>
            <a:r>
              <a:t>Berbères (Amazighs), Carthage (814 av. J.-C.), Rome</a:t>
            </a:r>
          </a:p>
        </p:txBody>
      </p:sp>
      <p:sp>
        <p:nvSpPr>
          <p:cNvPr id="38" name="Oval 37"/>
          <p:cNvSpPr/>
          <p:nvPr/>
        </p:nvSpPr>
        <p:spPr>
          <a:xfrm>
            <a:off x="361188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788920" y="2011680"/>
            <a:ext cx="2194560" cy="914400"/>
          </a:xfrm>
          <a:prstGeom prst="rect">
            <a:avLst/>
          </a:prstGeom>
          <a:noFill/>
        </p:spPr>
        <p:txBody>
          <a:bodyPr wrap="square">
            <a:spAutoFit/>
          </a:bodyPr>
          <a:lstStyle/>
          <a:p>
            <a:pPr algn="ctr">
              <a:spcAft>
                <a:spcPts val="600"/>
              </a:spcAft>
              <a:defRPr sz="2000" b="1">
                <a:solidFill>
                  <a:srgbClr val="1F4E79"/>
                </a:solidFill>
              </a:defRPr>
            </a:pPr>
            <a:r>
              <a:t>VIIe s.</a:t>
            </a:r>
          </a:p>
        </p:txBody>
      </p:sp>
      <p:sp>
        <p:nvSpPr>
          <p:cNvPr id="40" name="TextBox 39"/>
          <p:cNvSpPr txBox="1"/>
          <p:nvPr/>
        </p:nvSpPr>
        <p:spPr>
          <a:xfrm>
            <a:off x="2788920" y="3840480"/>
            <a:ext cx="2194560" cy="1463040"/>
          </a:xfrm>
          <a:prstGeom prst="rect">
            <a:avLst/>
          </a:prstGeom>
          <a:noFill/>
        </p:spPr>
        <p:txBody>
          <a:bodyPr wrap="square">
            <a:spAutoFit/>
          </a:bodyPr>
          <a:lstStyle/>
          <a:p>
            <a:pPr algn="ctr">
              <a:spcAft>
                <a:spcPts val="600"/>
              </a:spcAft>
              <a:defRPr sz="1500" b="0">
                <a:solidFill>
                  <a:srgbClr val="2B2B2B"/>
                </a:solidFill>
              </a:defRPr>
            </a:pPr>
            <a:r>
              <a:t>Conquête arabe : islam et langue arabe</a:t>
            </a:r>
          </a:p>
        </p:txBody>
      </p:sp>
      <p:sp>
        <p:nvSpPr>
          <p:cNvPr id="41" name="Oval 40"/>
          <p:cNvSpPr/>
          <p:nvPr/>
        </p:nvSpPr>
        <p:spPr>
          <a:xfrm>
            <a:off x="585216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0" y="2011680"/>
            <a:ext cx="2194560" cy="914400"/>
          </a:xfrm>
          <a:prstGeom prst="rect">
            <a:avLst/>
          </a:prstGeom>
          <a:noFill/>
        </p:spPr>
        <p:txBody>
          <a:bodyPr wrap="square">
            <a:spAutoFit/>
          </a:bodyPr>
          <a:lstStyle/>
          <a:p>
            <a:pPr algn="ctr">
              <a:spcAft>
                <a:spcPts val="600"/>
              </a:spcAft>
              <a:defRPr sz="2000" b="1">
                <a:solidFill>
                  <a:srgbClr val="1F4E79"/>
                </a:solidFill>
              </a:defRPr>
            </a:pPr>
            <a:r>
              <a:t>XVIe s.</a:t>
            </a:r>
          </a:p>
        </p:txBody>
      </p:sp>
      <p:sp>
        <p:nvSpPr>
          <p:cNvPr id="43" name="TextBox 42"/>
          <p:cNvSpPr txBox="1"/>
          <p:nvPr/>
        </p:nvSpPr>
        <p:spPr>
          <a:xfrm>
            <a:off x="5029200" y="3840480"/>
            <a:ext cx="2194560" cy="1463040"/>
          </a:xfrm>
          <a:prstGeom prst="rect">
            <a:avLst/>
          </a:prstGeom>
          <a:noFill/>
        </p:spPr>
        <p:txBody>
          <a:bodyPr wrap="square">
            <a:spAutoFit/>
          </a:bodyPr>
          <a:lstStyle/>
          <a:p>
            <a:pPr algn="ctr">
              <a:spcAft>
                <a:spcPts val="600"/>
              </a:spcAft>
              <a:defRPr sz="1500" b="0">
                <a:solidFill>
                  <a:srgbClr val="2B2B2B"/>
                </a:solidFill>
              </a:defRPr>
            </a:pPr>
            <a:r>
              <a:t>Empire ottoman (Alger, Tunis, Tripoli) ; Maroc indépendant</a:t>
            </a:r>
          </a:p>
        </p:txBody>
      </p:sp>
      <p:sp>
        <p:nvSpPr>
          <p:cNvPr id="44" name="Oval 43"/>
          <p:cNvSpPr/>
          <p:nvPr/>
        </p:nvSpPr>
        <p:spPr>
          <a:xfrm>
            <a:off x="809244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69480" y="2011680"/>
            <a:ext cx="2194560" cy="914400"/>
          </a:xfrm>
          <a:prstGeom prst="rect">
            <a:avLst/>
          </a:prstGeom>
          <a:noFill/>
        </p:spPr>
        <p:txBody>
          <a:bodyPr wrap="square">
            <a:spAutoFit/>
          </a:bodyPr>
          <a:lstStyle/>
          <a:p>
            <a:pPr algn="ctr">
              <a:spcAft>
                <a:spcPts val="600"/>
              </a:spcAft>
              <a:defRPr sz="2000" b="1">
                <a:solidFill>
                  <a:srgbClr val="1F4E79"/>
                </a:solidFill>
              </a:defRPr>
            </a:pPr>
            <a:r>
              <a:t>1830–1912</a:t>
            </a:r>
          </a:p>
        </p:txBody>
      </p:sp>
      <p:sp>
        <p:nvSpPr>
          <p:cNvPr id="46" name="TextBox 45"/>
          <p:cNvSpPr txBox="1"/>
          <p:nvPr/>
        </p:nvSpPr>
        <p:spPr>
          <a:xfrm>
            <a:off x="7269480" y="3840480"/>
            <a:ext cx="2194560" cy="1463040"/>
          </a:xfrm>
          <a:prstGeom prst="rect">
            <a:avLst/>
          </a:prstGeom>
          <a:noFill/>
        </p:spPr>
        <p:txBody>
          <a:bodyPr wrap="square">
            <a:spAutoFit/>
          </a:bodyPr>
          <a:lstStyle/>
          <a:p>
            <a:pPr algn="ctr">
              <a:spcAft>
                <a:spcPts val="600"/>
              </a:spcAft>
              <a:defRPr sz="1500" b="0">
                <a:solidFill>
                  <a:srgbClr val="2B2B2B"/>
                </a:solidFill>
              </a:defRPr>
            </a:pPr>
            <a:r>
              <a:t>Colonisation : France (Algérie, Tunisie, Maroc), Italie (Libye)</a:t>
            </a:r>
          </a:p>
        </p:txBody>
      </p:sp>
      <p:sp>
        <p:nvSpPr>
          <p:cNvPr id="47" name="Oval 46"/>
          <p:cNvSpPr/>
          <p:nvPr/>
        </p:nvSpPr>
        <p:spPr>
          <a:xfrm>
            <a:off x="1033272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509760" y="2011680"/>
            <a:ext cx="2194560" cy="914400"/>
          </a:xfrm>
          <a:prstGeom prst="rect">
            <a:avLst/>
          </a:prstGeom>
          <a:noFill/>
        </p:spPr>
        <p:txBody>
          <a:bodyPr wrap="square">
            <a:spAutoFit/>
          </a:bodyPr>
          <a:lstStyle/>
          <a:p>
            <a:pPr algn="ctr">
              <a:spcAft>
                <a:spcPts val="600"/>
              </a:spcAft>
              <a:defRPr sz="2000" b="1">
                <a:solidFill>
                  <a:srgbClr val="1F4E79"/>
                </a:solidFill>
              </a:defRPr>
            </a:pPr>
            <a:r>
              <a:t>1951–1962</a:t>
            </a:r>
          </a:p>
        </p:txBody>
      </p:sp>
      <p:sp>
        <p:nvSpPr>
          <p:cNvPr id="49" name="TextBox 48"/>
          <p:cNvSpPr txBox="1"/>
          <p:nvPr/>
        </p:nvSpPr>
        <p:spPr>
          <a:xfrm>
            <a:off x="9509760" y="3840480"/>
            <a:ext cx="2194560" cy="1463040"/>
          </a:xfrm>
          <a:prstGeom prst="rect">
            <a:avLst/>
          </a:prstGeom>
          <a:noFill/>
        </p:spPr>
        <p:txBody>
          <a:bodyPr wrap="square">
            <a:spAutoFit/>
          </a:bodyPr>
          <a:lstStyle/>
          <a:p>
            <a:pPr algn="ctr">
              <a:spcAft>
                <a:spcPts val="600"/>
              </a:spcAft>
              <a:defRPr sz="1500" b="0">
                <a:solidFill>
                  <a:srgbClr val="2B2B2B"/>
                </a:solidFill>
              </a:defRPr>
            </a:pPr>
            <a:r>
              <a:t>Indépendances</a:t>
            </a:r>
          </a:p>
        </p:txBody>
      </p:sp>
      <p:sp>
        <p:nvSpPr>
          <p:cNvPr id="50" name="TextBox 49"/>
          <p:cNvSpPr txBox="1"/>
          <p:nvPr/>
        </p:nvSpPr>
        <p:spPr>
          <a:xfrm>
            <a:off x="548640" y="5486400"/>
            <a:ext cx="10972800" cy="731520"/>
          </a:xfrm>
          <a:prstGeom prst="rect">
            <a:avLst/>
          </a:prstGeom>
          <a:noFill/>
        </p:spPr>
        <p:txBody>
          <a:bodyPr wrap="square">
            <a:spAutoFit/>
          </a:bodyPr>
          <a:lstStyle/>
          <a:p>
            <a:pPr algn="l">
              <a:spcAft>
                <a:spcPts val="600"/>
              </a:spcAft>
              <a:defRPr sz="1600" b="1">
                <a:solidFill>
                  <a:srgbClr val="B84A1E"/>
                </a:solidFill>
              </a:defRPr>
            </a:pPr>
            <a:r>
              <a:t>🗣️ Langues : arabe (darija), tamazight (ⵜⴰⵎⴰⵣⵉⵖⵜ), français • Salam = bonjour • Choukran = merci • Azul = bonjour (berbère)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IV – Histoire : quelques données clés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1828800" cy="5943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1951</a:t>
            </a:r>
          </a:p>
        </p:txBody>
      </p:sp>
      <p:sp>
        <p:nvSpPr>
          <p:cNvPr id="34" name="TextBox 33"/>
          <p:cNvSpPr txBox="1"/>
          <p:nvPr/>
        </p:nvSpPr>
        <p:spPr>
          <a:xfrm>
            <a:off x="2560320" y="1417320"/>
            <a:ext cx="9144000" cy="548640"/>
          </a:xfrm>
          <a:prstGeom prst="rect">
            <a:avLst/>
          </a:prstGeom>
          <a:noFill/>
        </p:spPr>
        <p:txBody>
          <a:bodyPr wrap="square">
            <a:spAutoFit/>
          </a:bodyPr>
          <a:lstStyle/>
          <a:p>
            <a:pPr algn="l">
              <a:spcAft>
                <a:spcPts val="600"/>
              </a:spcAft>
              <a:defRPr sz="1800" b="0">
                <a:solidFill>
                  <a:srgbClr val="2B2B2B"/>
                </a:solidFill>
              </a:defRPr>
            </a:pPr>
            <a:r>
              <a:t>Indépendance de la Libye</a:t>
            </a:r>
          </a:p>
        </p:txBody>
      </p:sp>
      <p:sp>
        <p:nvSpPr>
          <p:cNvPr id="35" name="Rounded Rectangle 34"/>
          <p:cNvSpPr/>
          <p:nvPr/>
        </p:nvSpPr>
        <p:spPr>
          <a:xfrm>
            <a:off x="548640" y="2057400"/>
            <a:ext cx="1828800" cy="5943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1956</a:t>
            </a:r>
          </a:p>
        </p:txBody>
      </p:sp>
      <p:sp>
        <p:nvSpPr>
          <p:cNvPr id="36" name="TextBox 35"/>
          <p:cNvSpPr txBox="1"/>
          <p:nvPr/>
        </p:nvSpPr>
        <p:spPr>
          <a:xfrm>
            <a:off x="2560320" y="2103120"/>
            <a:ext cx="9144000" cy="548640"/>
          </a:xfrm>
          <a:prstGeom prst="rect">
            <a:avLst/>
          </a:prstGeom>
          <a:noFill/>
        </p:spPr>
        <p:txBody>
          <a:bodyPr wrap="square">
            <a:spAutoFit/>
          </a:bodyPr>
          <a:lstStyle/>
          <a:p>
            <a:pPr algn="l">
              <a:spcAft>
                <a:spcPts val="600"/>
              </a:spcAft>
              <a:defRPr sz="1800" b="0">
                <a:solidFill>
                  <a:srgbClr val="2B2B2B"/>
                </a:solidFill>
              </a:defRPr>
            </a:pPr>
            <a:r>
              <a:t>Indépendance du Maroc (2 mars) et de la Tunisie (20 mars)</a:t>
            </a:r>
          </a:p>
        </p:txBody>
      </p:sp>
      <p:sp>
        <p:nvSpPr>
          <p:cNvPr id="37" name="Rounded Rectangle 36"/>
          <p:cNvSpPr/>
          <p:nvPr/>
        </p:nvSpPr>
        <p:spPr>
          <a:xfrm>
            <a:off x="548640" y="2743200"/>
            <a:ext cx="1828800" cy="5943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1954–1962</a:t>
            </a:r>
          </a:p>
        </p:txBody>
      </p:sp>
      <p:sp>
        <p:nvSpPr>
          <p:cNvPr id="38" name="TextBox 37"/>
          <p:cNvSpPr txBox="1"/>
          <p:nvPr/>
        </p:nvSpPr>
        <p:spPr>
          <a:xfrm>
            <a:off x="2560320" y="2788920"/>
            <a:ext cx="9144000" cy="548640"/>
          </a:xfrm>
          <a:prstGeom prst="rect">
            <a:avLst/>
          </a:prstGeom>
          <a:noFill/>
        </p:spPr>
        <p:txBody>
          <a:bodyPr wrap="square">
            <a:spAutoFit/>
          </a:bodyPr>
          <a:lstStyle/>
          <a:p>
            <a:pPr algn="l">
              <a:spcAft>
                <a:spcPts val="600"/>
              </a:spcAft>
              <a:defRPr sz="1800" b="0">
                <a:solidFill>
                  <a:srgbClr val="2B2B2B"/>
                </a:solidFill>
              </a:defRPr>
            </a:pPr>
            <a:r>
              <a:t>Guerre d'Algérie → indépendance le 5 juillet 1962</a:t>
            </a:r>
          </a:p>
        </p:txBody>
      </p:sp>
      <p:sp>
        <p:nvSpPr>
          <p:cNvPr id="39" name="Rounded Rectangle 38"/>
          <p:cNvSpPr/>
          <p:nvPr/>
        </p:nvSpPr>
        <p:spPr>
          <a:xfrm>
            <a:off x="548640" y="3429000"/>
            <a:ext cx="1828800" cy="5943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1960</a:t>
            </a:r>
          </a:p>
        </p:txBody>
      </p:sp>
      <p:sp>
        <p:nvSpPr>
          <p:cNvPr id="40" name="TextBox 39"/>
          <p:cNvSpPr txBox="1"/>
          <p:nvPr/>
        </p:nvSpPr>
        <p:spPr>
          <a:xfrm>
            <a:off x="2560320" y="3474720"/>
            <a:ext cx="9144000" cy="548640"/>
          </a:xfrm>
          <a:prstGeom prst="rect">
            <a:avLst/>
          </a:prstGeom>
          <a:noFill/>
        </p:spPr>
        <p:txBody>
          <a:bodyPr wrap="square">
            <a:spAutoFit/>
          </a:bodyPr>
          <a:lstStyle/>
          <a:p>
            <a:pPr algn="l">
              <a:spcAft>
                <a:spcPts val="600"/>
              </a:spcAft>
              <a:defRPr sz="1800" b="0">
                <a:solidFill>
                  <a:srgbClr val="2B2B2B"/>
                </a:solidFill>
              </a:defRPr>
            </a:pPr>
            <a:r>
              <a:t>Indépendance de la Mauritanie</a:t>
            </a:r>
          </a:p>
        </p:txBody>
      </p:sp>
      <p:sp>
        <p:nvSpPr>
          <p:cNvPr id="41" name="Rounded Rectangle 40"/>
          <p:cNvSpPr/>
          <p:nvPr/>
        </p:nvSpPr>
        <p:spPr>
          <a:xfrm>
            <a:off x="548640" y="4114800"/>
            <a:ext cx="1828800" cy="5943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1989</a:t>
            </a:r>
          </a:p>
        </p:txBody>
      </p:sp>
      <p:sp>
        <p:nvSpPr>
          <p:cNvPr id="42" name="TextBox 41"/>
          <p:cNvSpPr txBox="1"/>
          <p:nvPr/>
        </p:nvSpPr>
        <p:spPr>
          <a:xfrm>
            <a:off x="2560320" y="4160520"/>
            <a:ext cx="9144000" cy="548640"/>
          </a:xfrm>
          <a:prstGeom prst="rect">
            <a:avLst/>
          </a:prstGeom>
          <a:noFill/>
        </p:spPr>
        <p:txBody>
          <a:bodyPr wrap="square">
            <a:spAutoFit/>
          </a:bodyPr>
          <a:lstStyle/>
          <a:p>
            <a:pPr algn="l">
              <a:spcAft>
                <a:spcPts val="600"/>
              </a:spcAft>
              <a:defRPr sz="1800" b="0">
                <a:solidFill>
                  <a:srgbClr val="2B2B2B"/>
                </a:solidFill>
              </a:defRPr>
            </a:pPr>
            <a:r>
              <a:t>Création de l'Union du Maghreb arabe (Marrakech)</a:t>
            </a:r>
          </a:p>
        </p:txBody>
      </p:sp>
      <p:sp>
        <p:nvSpPr>
          <p:cNvPr id="43" name="Rounded Rectangle 42"/>
          <p:cNvSpPr/>
          <p:nvPr/>
        </p:nvSpPr>
        <p:spPr>
          <a:xfrm>
            <a:off x="548640" y="4800600"/>
            <a:ext cx="1828800" cy="5943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2011</a:t>
            </a:r>
          </a:p>
        </p:txBody>
      </p:sp>
      <p:sp>
        <p:nvSpPr>
          <p:cNvPr id="44" name="TextBox 43"/>
          <p:cNvSpPr txBox="1"/>
          <p:nvPr/>
        </p:nvSpPr>
        <p:spPr>
          <a:xfrm>
            <a:off x="2560320" y="4846320"/>
            <a:ext cx="9144000" cy="548640"/>
          </a:xfrm>
          <a:prstGeom prst="rect">
            <a:avLst/>
          </a:prstGeom>
          <a:noFill/>
        </p:spPr>
        <p:txBody>
          <a:bodyPr wrap="square">
            <a:spAutoFit/>
          </a:bodyPr>
          <a:lstStyle/>
          <a:p>
            <a:pPr algn="l">
              <a:spcAft>
                <a:spcPts val="600"/>
              </a:spcAft>
              <a:defRPr sz="1800" b="0">
                <a:solidFill>
                  <a:srgbClr val="2B2B2B"/>
                </a:solidFill>
              </a:defRPr>
            </a:pPr>
            <a:r>
              <a:t>« Printemps arabe » : départ de Ben Ali (Tunisie), chute de Kadhafi (Libye)</a:t>
            </a:r>
          </a:p>
        </p:txBody>
      </p:sp>
      <p:sp>
        <p:nvSpPr>
          <p:cNvPr id="45" name="Rounded Rectangle 44"/>
          <p:cNvSpPr/>
          <p:nvPr/>
        </p:nvSpPr>
        <p:spPr>
          <a:xfrm>
            <a:off x="548640" y="5486400"/>
            <a:ext cx="1828800" cy="5943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2020</a:t>
            </a:r>
          </a:p>
        </p:txBody>
      </p:sp>
      <p:sp>
        <p:nvSpPr>
          <p:cNvPr id="46" name="TextBox 45"/>
          <p:cNvSpPr txBox="1"/>
          <p:nvPr/>
        </p:nvSpPr>
        <p:spPr>
          <a:xfrm>
            <a:off x="2560320" y="5532120"/>
            <a:ext cx="9144000" cy="548640"/>
          </a:xfrm>
          <a:prstGeom prst="rect">
            <a:avLst/>
          </a:prstGeom>
          <a:noFill/>
        </p:spPr>
        <p:txBody>
          <a:bodyPr wrap="square">
            <a:spAutoFit/>
          </a:bodyPr>
          <a:lstStyle/>
          <a:p>
            <a:pPr algn="l">
              <a:spcAft>
                <a:spcPts val="600"/>
              </a:spcAft>
              <a:defRPr sz="1800" b="0">
                <a:solidFill>
                  <a:srgbClr val="2B2B2B"/>
                </a:solidFill>
              </a:defRPr>
            </a:pPr>
            <a:r>
              <a:t>Le couscous inscrit au patrimoine de l'UNESCO (candidature commune)</a:t>
            </a:r>
          </a:p>
        </p:txBody>
      </p:sp>
      <p:sp>
        <p:nvSpPr>
          <p:cNvPr id="47" name="TextBox 46"/>
          <p:cNvSpPr txBox="1"/>
          <p:nvPr/>
        </p:nvSpPr>
        <p:spPr>
          <a:xfrm>
            <a:off x="548640" y="6217920"/>
            <a:ext cx="10058400" cy="365760"/>
          </a:xfrm>
          <a:prstGeom prst="rect">
            <a:avLst/>
          </a:prstGeom>
          <a:noFill/>
        </p:spPr>
        <p:txBody>
          <a:bodyPr wrap="square">
            <a:spAutoFit/>
          </a:bodyPr>
          <a:lstStyle/>
          <a:p>
            <a:pPr algn="l">
              <a:spcAft>
                <a:spcPts val="600"/>
              </a:spcAft>
              <a:defRPr sz="1500" b="1">
                <a:solidFill>
                  <a:srgbClr val="1F4E79"/>
                </a:solidFill>
              </a:defRPr>
            </a:pPr>
            <a:r>
              <a:t>🎯 Question : combien d'années séparent l'indépendance de la Libye de celle de l'Algérie ? (11 ans)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3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PAUSE — thé à la menthe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94560"/>
            <a:ext cx="10972800" cy="1828800"/>
          </a:xfrm>
          <a:prstGeom prst="rect">
            <a:avLst/>
          </a:prstGeom>
          <a:noFill/>
        </p:spPr>
        <p:txBody>
          <a:bodyPr wrap="square">
            <a:spAutoFit/>
          </a:bodyPr>
          <a:lstStyle/>
          <a:p>
            <a:pPr algn="ctr">
              <a:spcAft>
                <a:spcPts val="600"/>
              </a:spcAft>
              <a:defRPr sz="3000" b="1">
                <a:solidFill>
                  <a:srgbClr val="1E7B4A"/>
                </a:solidFill>
              </a:defRPr>
            </a:pPr>
            <a:r>
              <a:t>🫖 15 minutes de pause</a:t>
            </a:r>
          </a:p>
          <a:p>
            <a:pPr algn="ctr">
              <a:spcAft>
                <a:spcPts val="600"/>
              </a:spcAft>
              <a:defRPr sz="3000" b="1">
                <a:solidFill>
                  <a:srgbClr val="1E7B4A"/>
                </a:solidFill>
              </a:defRPr>
            </a:pPr>
            <a:r>
              <a:t>Le thé à la menthe, symbole d'hospitalité, se sert « de haut » pour faire de la mousse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III – 📖 C.E. Compréhension écrite</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371600"/>
            <a:ext cx="11064240" cy="4846320"/>
          </a:xfrm>
          <a:prstGeom prst="rect">
            <a:avLst/>
          </a:prstGeom>
          <a:noFill/>
        </p:spPr>
        <p:txBody>
          <a:bodyPr wrap="square">
            <a:spAutoFit/>
          </a:bodyPr>
          <a:lstStyle/>
          <a:p>
            <a:pPr algn="l">
              <a:spcAft>
                <a:spcPts val="600"/>
              </a:spcAft>
              <a:defRPr sz="1700" b="0">
                <a:solidFill>
                  <a:srgbClr val="2B2B2B"/>
                </a:solidFill>
              </a:defRPr>
            </a:pPr>
            <a:r>
              <a:t>Lettre de Yasmine, depuis Marrakech</a:t>
            </a:r>
          </a:p>
          <a:p>
            <a:pPr algn="l">
              <a:spcAft>
                <a:spcPts val="600"/>
              </a:spcAft>
              <a:defRPr sz="1700" b="0">
                <a:solidFill>
                  <a:srgbClr val="2B2B2B"/>
                </a:solidFill>
              </a:defRPr>
            </a:pPr>
            <a:r>
              <a:t>Chère Léa,</a:t>
            </a:r>
          </a:p>
          <a:p>
            <a:pPr algn="l">
              <a:spcAft>
                <a:spcPts val="600"/>
              </a:spcAft>
              <a:defRPr sz="1700" b="0">
                <a:solidFill>
                  <a:srgbClr val="2B2B2B"/>
                </a:solidFill>
              </a:defRPr>
            </a:pPr>
            <a:r>
              <a:t>Me voici enfin à Marrakech, chez ma grand-mère ! Hier matin, nous sommes allées au souk : quel spectacle ! Des épices de toutes les couleurs, des tapis, des lanternes en cuivre… On a acheté du cumin et du safran pour le couscous du vendredi.</a:t>
            </a:r>
          </a:p>
          <a:p>
            <a:pPr algn="l">
              <a:spcAft>
                <a:spcPts val="600"/>
              </a:spcAft>
              <a:defRPr sz="1700" b="0">
                <a:solidFill>
                  <a:srgbClr val="2B2B2B"/>
                </a:solidFill>
              </a:defRPr>
            </a:pPr>
            <a:r>
              <a:t>Le soir, la place Jemaa el-Fna se transforme : il y a des conteurs, des musiciens gnaoua et des dizaines de petits restaurants. J'ai goûté une harira, une soupe délicieuse.</a:t>
            </a:r>
          </a:p>
          <a:p>
            <a:pPr algn="l">
              <a:spcAft>
                <a:spcPts val="600"/>
              </a:spcAft>
              <a:defRPr sz="1700" b="0">
                <a:solidFill>
                  <a:srgbClr val="2B2B2B"/>
                </a:solidFill>
              </a:defRPr>
            </a:pPr>
            <a:r>
              <a:t>Samedi, nous partons trois jours dans le désert, près de Merzouga. Nous dormirons sous une tente berbère et nous monterons à dos de dromadaire pour voir le lever du soleil sur les dunes. J'ai hâte !</a:t>
            </a:r>
          </a:p>
          <a:p>
            <a:pPr algn="l">
              <a:spcAft>
                <a:spcPts val="600"/>
              </a:spcAft>
              <a:defRPr sz="1700" b="0">
                <a:solidFill>
                  <a:srgbClr val="2B2B2B"/>
                </a:solidFill>
              </a:defRPr>
            </a:pPr>
            <a:r>
              <a:t>Je t'envoie plein de soleil. Bisous, Yasmine</a:t>
            </a:r>
          </a:p>
        </p:txBody>
      </p:sp>
      <p:sp>
        <p:nvSpPr>
          <p:cNvPr id="35" name="Rounded Rectangle 34">
            <a:hlinkClick action="ppaction://hlinksldjump" r:id="rId4"/>
          </p:cNvPr>
          <p:cNvSpPr/>
          <p:nvPr/>
        </p:nvSpPr>
        <p:spPr>
          <a:xfrm>
            <a:off x="9326880" y="6263640"/>
            <a:ext cx="182880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Questions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 Questions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100" b="0">
                <a:solidFill>
                  <a:srgbClr val="2B2B2B"/>
                </a:solidFill>
              </a:defRPr>
            </a:pPr>
            <a:r>
              <a:t>• 1. Qui écrit ? À qui ? D'où ?</a:t>
            </a:r>
          </a:p>
          <a:p>
            <a:pPr algn="l">
              <a:spcAft>
                <a:spcPts val="600"/>
              </a:spcAft>
              <a:defRPr sz="2100" b="0">
                <a:solidFill>
                  <a:srgbClr val="2B2B2B"/>
                </a:solidFill>
              </a:defRPr>
            </a:pPr>
            <a:r>
              <a:t>• 2. Vrai/Faux : Yasmine est en vacances chez sa tante. Justifie.</a:t>
            </a:r>
          </a:p>
          <a:p>
            <a:pPr algn="l">
              <a:spcAft>
                <a:spcPts val="600"/>
              </a:spcAft>
              <a:defRPr sz="2100" b="0">
                <a:solidFill>
                  <a:srgbClr val="2B2B2B"/>
                </a:solidFill>
              </a:defRPr>
            </a:pPr>
            <a:r>
              <a:t>• 3. Cite 3 choses qu'on trouve au souk.</a:t>
            </a:r>
          </a:p>
          <a:p>
            <a:pPr algn="l">
              <a:spcAft>
                <a:spcPts val="600"/>
              </a:spcAft>
              <a:defRPr sz="2100" b="0">
                <a:solidFill>
                  <a:srgbClr val="2B2B2B"/>
                </a:solidFill>
              </a:defRPr>
            </a:pPr>
            <a:r>
              <a:t>• 4. Que se passe-t-il le soir sur la place Jemaa el-Fna ?</a:t>
            </a:r>
          </a:p>
          <a:p>
            <a:pPr algn="l">
              <a:spcAft>
                <a:spcPts val="600"/>
              </a:spcAft>
              <a:defRPr sz="2100" b="0">
                <a:solidFill>
                  <a:srgbClr val="2B2B2B"/>
                </a:solidFill>
              </a:defRPr>
            </a:pPr>
            <a:r>
              <a:t>• 5. Qu'est-ce que la harira ?</a:t>
            </a:r>
          </a:p>
          <a:p>
            <a:pPr algn="l">
              <a:spcAft>
                <a:spcPts val="600"/>
              </a:spcAft>
              <a:defRPr sz="2100" b="0">
                <a:solidFill>
                  <a:srgbClr val="2B2B2B"/>
                </a:solidFill>
              </a:defRPr>
            </a:pPr>
            <a:r>
              <a:t>• 6. Combien de temps durera l'excursion dans le désert ?</a:t>
            </a:r>
          </a:p>
          <a:p>
            <a:pPr algn="l">
              <a:spcAft>
                <a:spcPts val="600"/>
              </a:spcAft>
              <a:defRPr sz="2100" b="0">
                <a:solidFill>
                  <a:srgbClr val="2B2B2B"/>
                </a:solidFill>
              </a:defRPr>
            </a:pPr>
            <a:r>
              <a:t>• 7. ✍️ Production : réponds à Yasmine (5 lignes) en racontant un voyage.</a:t>
            </a:r>
          </a:p>
        </p:txBody>
      </p:sp>
      <p:sp>
        <p:nvSpPr>
          <p:cNvPr id="34" name="Rounded Rectangle 33">
            <a:hlinkClick action="ppaction://hlinksldjump" r:id="rId3"/>
          </p:cNvPr>
          <p:cNvSpPr/>
          <p:nvPr/>
        </p:nvSpPr>
        <p:spPr>
          <a:xfrm>
            <a:off x="8961120" y="5577840"/>
            <a:ext cx="21945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100" b="0">
                <a:solidFill>
                  <a:srgbClr val="2B2B2B"/>
                </a:solidFill>
              </a:defRPr>
            </a:pPr>
            <a:r>
              <a:t>• 1. Yasmine écrit à Léa, depuis Marrakech (Maroc).</a:t>
            </a:r>
          </a:p>
          <a:p>
            <a:pPr algn="l">
              <a:spcAft>
                <a:spcPts val="600"/>
              </a:spcAft>
              <a:defRPr sz="2100" b="0">
                <a:solidFill>
                  <a:srgbClr val="2B2B2B"/>
                </a:solidFill>
              </a:defRPr>
            </a:pPr>
            <a:r>
              <a:t>• 2. FAUX : elle est chez sa grand-mère.</a:t>
            </a:r>
          </a:p>
          <a:p>
            <a:pPr algn="l">
              <a:spcAft>
                <a:spcPts val="600"/>
              </a:spcAft>
              <a:defRPr sz="2100" b="0">
                <a:solidFill>
                  <a:srgbClr val="2B2B2B"/>
                </a:solidFill>
              </a:defRPr>
            </a:pPr>
            <a:r>
              <a:t>• 3. Épices, tapis, lanternes en cuivre.</a:t>
            </a:r>
          </a:p>
          <a:p>
            <a:pPr algn="l">
              <a:spcAft>
                <a:spcPts val="600"/>
              </a:spcAft>
              <a:defRPr sz="2100" b="0">
                <a:solidFill>
                  <a:srgbClr val="2B2B2B"/>
                </a:solidFill>
              </a:defRPr>
            </a:pPr>
            <a:r>
              <a:t>• 4. Conteurs, musiciens gnaoua, petits restaurants.</a:t>
            </a:r>
          </a:p>
          <a:p>
            <a:pPr algn="l">
              <a:spcAft>
                <a:spcPts val="600"/>
              </a:spcAft>
              <a:defRPr sz="2100" b="0">
                <a:solidFill>
                  <a:srgbClr val="2B2B2B"/>
                </a:solidFill>
              </a:defRPr>
            </a:pPr>
            <a:r>
              <a:t>• 5. Une soupe (traditionnelle).</a:t>
            </a:r>
          </a:p>
          <a:p>
            <a:pPr algn="l">
              <a:spcAft>
                <a:spcPts val="600"/>
              </a:spcAft>
              <a:defRPr sz="2100" b="0">
                <a:solidFill>
                  <a:srgbClr val="2B2B2B"/>
                </a:solidFill>
              </a:defRPr>
            </a:pPr>
            <a:r>
              <a:t>• 6. Trois jours.</a:t>
            </a:r>
          </a:p>
          <a:p>
            <a:pPr algn="l">
              <a:spcAft>
                <a:spcPts val="600"/>
              </a:spcAft>
              <a:defRPr sz="2100" b="0">
                <a:solidFill>
                  <a:srgbClr val="2B2B2B"/>
                </a:solidFill>
              </a:defRPr>
            </a:pPr>
            <a:r>
              <a:t>• 7. Production libre — critères : formule d'appel, passé composé, 3 détails, formule finale.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7. Cuisine &amp; culture : devine l'image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ounded Rectangle 33"/>
          <p:cNvSpPr/>
          <p:nvPr/>
        </p:nvSpPr>
        <p:spPr>
          <a:xfrm>
            <a:off x="548640"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36" name="TextBox 35"/>
          <p:cNvSpPr txBox="1"/>
          <p:nvPr/>
        </p:nvSpPr>
        <p:spPr>
          <a:xfrm>
            <a:off x="640080" y="2651760"/>
            <a:ext cx="2514600" cy="1828800"/>
          </a:xfrm>
          <a:prstGeom prst="rect">
            <a:avLst/>
          </a:prstGeom>
          <a:noFill/>
        </p:spPr>
        <p:txBody>
          <a:bodyPr wrap="square">
            <a:spAutoFit/>
          </a:bodyPr>
          <a:lstStyle/>
          <a:p>
            <a:pPr algn="ctr">
              <a:spcAft>
                <a:spcPts val="600"/>
              </a:spcAft>
              <a:defRPr sz="1600" b="0">
                <a:solidFill>
                  <a:srgbClr val="2B2B2B"/>
                </a:solidFill>
              </a:defRPr>
            </a:pPr>
            <a:r>
              <a:t>« Je cuis dans un plat en terre au couvercle pointu. »</a:t>
            </a:r>
          </a:p>
        </p:txBody>
      </p:sp>
      <p:sp>
        <p:nvSpPr>
          <p:cNvPr id="37" name="Rounded Rectangle 36">
            <a:hlinkClick action="ppaction://hlinksldjump" r:id="rId4"/>
          </p:cNvPr>
          <p:cNvSpPr/>
          <p:nvPr/>
        </p:nvSpPr>
        <p:spPr>
          <a:xfrm>
            <a:off x="914400" y="4937760"/>
            <a:ext cx="19659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
        <p:nvSpPr>
          <p:cNvPr id="38" name="Rounded Rectangle 37"/>
          <p:cNvSpPr/>
          <p:nvPr/>
        </p:nvSpPr>
        <p:spPr>
          <a:xfrm>
            <a:off x="3429000"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429000"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40" name="TextBox 39"/>
          <p:cNvSpPr txBox="1"/>
          <p:nvPr/>
        </p:nvSpPr>
        <p:spPr>
          <a:xfrm>
            <a:off x="3520440" y="2651760"/>
            <a:ext cx="2514600" cy="1828800"/>
          </a:xfrm>
          <a:prstGeom prst="rect">
            <a:avLst/>
          </a:prstGeom>
          <a:noFill/>
        </p:spPr>
        <p:txBody>
          <a:bodyPr wrap="square">
            <a:spAutoFit/>
          </a:bodyPr>
          <a:lstStyle/>
          <a:p>
            <a:pPr algn="ctr">
              <a:spcAft>
                <a:spcPts val="600"/>
              </a:spcAft>
              <a:defRPr sz="1600" b="0">
                <a:solidFill>
                  <a:srgbClr val="2B2B2B"/>
                </a:solidFill>
              </a:defRPr>
            </a:pPr>
            <a:r>
              <a:t>« Graine de semoule, je suis servi le vendredi. »</a:t>
            </a:r>
          </a:p>
        </p:txBody>
      </p:sp>
      <p:sp>
        <p:nvSpPr>
          <p:cNvPr id="41" name="Rounded Rectangle 40">
            <a:hlinkClick action="ppaction://hlinksldjump" r:id="rId4"/>
          </p:cNvPr>
          <p:cNvSpPr/>
          <p:nvPr/>
        </p:nvSpPr>
        <p:spPr>
          <a:xfrm>
            <a:off x="3794760" y="4937760"/>
            <a:ext cx="196596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
        <p:nvSpPr>
          <p:cNvPr id="42" name="Rounded Rectangle 41"/>
          <p:cNvSpPr/>
          <p:nvPr/>
        </p:nvSpPr>
        <p:spPr>
          <a:xfrm>
            <a:off x="6309359"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59"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44" name="TextBox 43"/>
          <p:cNvSpPr txBox="1"/>
          <p:nvPr/>
        </p:nvSpPr>
        <p:spPr>
          <a:xfrm>
            <a:off x="6400799" y="2651760"/>
            <a:ext cx="2514600" cy="1828800"/>
          </a:xfrm>
          <a:prstGeom prst="rect">
            <a:avLst/>
          </a:prstGeom>
          <a:noFill/>
        </p:spPr>
        <p:txBody>
          <a:bodyPr wrap="square">
            <a:spAutoFit/>
          </a:bodyPr>
          <a:lstStyle/>
          <a:p>
            <a:pPr algn="ctr">
              <a:spcAft>
                <a:spcPts val="600"/>
              </a:spcAft>
              <a:defRPr sz="1600" b="0">
                <a:solidFill>
                  <a:srgbClr val="2B2B2B"/>
                </a:solidFill>
              </a:defRPr>
            </a:pPr>
            <a:r>
              <a:t>« Chaussure en cuir, souvent jaune. »</a:t>
            </a:r>
          </a:p>
        </p:txBody>
      </p:sp>
      <p:sp>
        <p:nvSpPr>
          <p:cNvPr id="45" name="Rounded Rectangle 44">
            <a:hlinkClick action="ppaction://hlinksldjump" r:id="rId4"/>
          </p:cNvPr>
          <p:cNvSpPr/>
          <p:nvPr/>
        </p:nvSpPr>
        <p:spPr>
          <a:xfrm>
            <a:off x="6675120" y="4937760"/>
            <a:ext cx="196596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
        <p:nvSpPr>
          <p:cNvPr id="46" name="Rounded Rectangle 45"/>
          <p:cNvSpPr/>
          <p:nvPr/>
        </p:nvSpPr>
        <p:spPr>
          <a:xfrm>
            <a:off x="9189719"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89719"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48" name="TextBox 47"/>
          <p:cNvSpPr txBox="1"/>
          <p:nvPr/>
        </p:nvSpPr>
        <p:spPr>
          <a:xfrm>
            <a:off x="9281159" y="2651760"/>
            <a:ext cx="2514600" cy="1828800"/>
          </a:xfrm>
          <a:prstGeom prst="rect">
            <a:avLst/>
          </a:prstGeom>
          <a:noFill/>
        </p:spPr>
        <p:txBody>
          <a:bodyPr wrap="square">
            <a:spAutoFit/>
          </a:bodyPr>
          <a:lstStyle/>
          <a:p>
            <a:pPr algn="ctr">
              <a:spcAft>
                <a:spcPts val="600"/>
              </a:spcAft>
              <a:defRPr sz="1600" b="0">
                <a:solidFill>
                  <a:srgbClr val="2B2B2B"/>
                </a:solidFill>
              </a:defRPr>
            </a:pPr>
            <a:r>
              <a:t>« Marché traditionnel couvert. »</a:t>
            </a:r>
          </a:p>
        </p:txBody>
      </p:sp>
      <p:sp>
        <p:nvSpPr>
          <p:cNvPr id="49" name="Rounded Rectangle 48">
            <a:hlinkClick action="ppaction://hlinksldjump" r:id="rId4"/>
          </p:cNvPr>
          <p:cNvSpPr/>
          <p:nvPr/>
        </p:nvSpPr>
        <p:spPr>
          <a:xfrm>
            <a:off x="9555480" y="4937760"/>
            <a:ext cx="1965960" cy="64008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tajine • couscous • babouche • souk</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 Le TAJINE — plat et cuisson à l'étouffée</a:t>
            </a:r>
          </a:p>
          <a:p>
            <a:pPr algn="l">
              <a:spcAft>
                <a:spcPts val="600"/>
              </a:spcAft>
              <a:defRPr sz="2200" b="0">
                <a:solidFill>
                  <a:srgbClr val="2B2B2B"/>
                </a:solidFill>
              </a:defRPr>
            </a:pPr>
            <a:r>
              <a:t>• 🥣 Le COUSCOUS — classé au patrimoine de l'UNESCO (2020)</a:t>
            </a:r>
          </a:p>
          <a:p>
            <a:pPr algn="l">
              <a:spcAft>
                <a:spcPts val="600"/>
              </a:spcAft>
              <a:defRPr sz="2200" b="0">
                <a:solidFill>
                  <a:srgbClr val="2B2B2B"/>
                </a:solidFill>
              </a:defRPr>
            </a:pPr>
            <a:r>
              <a:t>• 🥾 La BABOUCHE</a:t>
            </a:r>
          </a:p>
          <a:p>
            <a:pPr algn="l">
              <a:spcAft>
                <a:spcPts val="600"/>
              </a:spcAft>
              <a:defRPr sz="2200" b="0">
                <a:solidFill>
                  <a:srgbClr val="2B2B2B"/>
                </a:solidFill>
              </a:defRPr>
            </a:pPr>
            <a:r>
              <a:t>• 🏺 Le SOUK</a:t>
            </a:r>
          </a:p>
          <a:p>
            <a:pPr algn="l">
              <a:spcAft>
                <a:spcPts val="600"/>
              </a:spcAft>
              <a:defRPr sz="2200" b="0">
                <a:solidFill>
                  <a:srgbClr val="2B2B2B"/>
                </a:solidFill>
              </a:defRPr>
            </a:pPr>
            <a:r>
              <a:t>• 🎵 Bonus : raï, chaâbi, gnaoua — quelles musiques connais-tu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8. Jeux de mots : le mot mystère</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554480"/>
            <a:ext cx="10972800" cy="914400"/>
          </a:xfrm>
          <a:prstGeom prst="rect">
            <a:avLst/>
          </a:prstGeom>
          <a:noFill/>
        </p:spPr>
        <p:txBody>
          <a:bodyPr wrap="square">
            <a:spAutoFit/>
          </a:bodyPr>
          <a:lstStyle/>
          <a:p>
            <a:pPr algn="ctr">
              <a:spcAft>
                <a:spcPts val="600"/>
              </a:spcAft>
              <a:defRPr sz="4800" b="1">
                <a:solidFill>
                  <a:srgbClr val="1F4E79"/>
                </a:solidFill>
              </a:defRPr>
            </a:pPr>
            <a:r>
              <a:t>_ _ _ _ _ _ _   (7 lettres)</a:t>
            </a:r>
          </a:p>
        </p:txBody>
      </p:sp>
      <p:sp>
        <p:nvSpPr>
          <p:cNvPr id="35" name="TextBox 34"/>
          <p:cNvSpPr txBox="1"/>
          <p:nvPr/>
        </p:nvSpPr>
        <p:spPr>
          <a:xfrm>
            <a:off x="548640" y="2743200"/>
            <a:ext cx="10972800" cy="914400"/>
          </a:xfrm>
          <a:prstGeom prst="rect">
            <a:avLst/>
          </a:prstGeom>
          <a:noFill/>
        </p:spPr>
        <p:txBody>
          <a:bodyPr wrap="square">
            <a:spAutoFit/>
          </a:bodyPr>
          <a:lstStyle/>
          <a:p>
            <a:pPr algn="ctr">
              <a:spcAft>
                <a:spcPts val="600"/>
              </a:spcAft>
              <a:defRPr sz="2400" b="0">
                <a:solidFill>
                  <a:srgbClr val="2B2B2B"/>
                </a:solidFill>
              </a:defRPr>
            </a:pPr>
            <a:r>
              <a:t>Indice : arbre des oasis qui donne des dattes 🌴</a:t>
            </a:r>
          </a:p>
        </p:txBody>
      </p:sp>
      <p:sp>
        <p:nvSpPr>
          <p:cNvPr id="36" name="Rounded Rectangle 35">
            <a:hlinkClick action="ppaction://hlinksldjump" r:id="rId4"/>
          </p:cNvPr>
          <p:cNvSpPr/>
          <p:nvPr/>
        </p:nvSpPr>
        <p:spPr>
          <a:xfrm>
            <a:off x="4754880" y="402336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Révéler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 du mot mystère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828800"/>
            <a:ext cx="10972800" cy="1371600"/>
          </a:xfrm>
          <a:prstGeom prst="rect">
            <a:avLst/>
          </a:prstGeom>
          <a:noFill/>
        </p:spPr>
        <p:txBody>
          <a:bodyPr wrap="square">
            <a:spAutoFit/>
          </a:bodyPr>
          <a:lstStyle/>
          <a:p>
            <a:pPr algn="ctr">
              <a:spcAft>
                <a:spcPts val="600"/>
              </a:spcAft>
              <a:defRPr sz="4000" b="1">
                <a:solidFill>
                  <a:srgbClr val="B84A1E"/>
                </a:solidFill>
              </a:defRPr>
            </a:pPr>
            <a:r>
              <a:t>D A T T I E R  ✅</a:t>
            </a:r>
          </a:p>
          <a:p>
            <a:pPr algn="ctr">
              <a:spcAft>
                <a:spcPts val="600"/>
              </a:spcAft>
              <a:defRPr sz="4000" b="1">
                <a:solidFill>
                  <a:srgbClr val="B84A1E"/>
                </a:solidFill>
              </a:defRPr>
            </a:pPr>
            <a:r>
              <a:t>Le palmier-dattier : l'arbre roi des oasis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Jeu : associe le mot et la définition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731520" y="14630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Médina</a:t>
            </a:r>
          </a:p>
        </p:txBody>
      </p:sp>
      <p:sp>
        <p:nvSpPr>
          <p:cNvPr id="34" name="Rectangle 33"/>
          <p:cNvSpPr/>
          <p:nvPr/>
        </p:nvSpPr>
        <p:spPr>
          <a:xfrm>
            <a:off x="5486400" y="14630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0" y="1554480"/>
            <a:ext cx="5852160" cy="548640"/>
          </a:xfrm>
          <a:prstGeom prst="rect">
            <a:avLst/>
          </a:prstGeom>
          <a:noFill/>
        </p:spPr>
        <p:txBody>
          <a:bodyPr wrap="square">
            <a:spAutoFit/>
          </a:bodyPr>
          <a:lstStyle/>
          <a:p>
            <a:pPr algn="l">
              <a:spcAft>
                <a:spcPts val="600"/>
              </a:spcAft>
              <a:defRPr sz="1800" b="0">
                <a:solidFill>
                  <a:srgbClr val="2B2B2B"/>
                </a:solidFill>
              </a:defRPr>
            </a:pPr>
            <a:r>
              <a:t>A. Vieille ville entourée de remparts</a:t>
            </a:r>
          </a:p>
        </p:txBody>
      </p:sp>
      <p:sp>
        <p:nvSpPr>
          <p:cNvPr id="36" name="Rounded Rectangle 35"/>
          <p:cNvSpPr/>
          <p:nvPr/>
        </p:nvSpPr>
        <p:spPr>
          <a:xfrm>
            <a:off x="731520" y="23774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Casbah</a:t>
            </a:r>
          </a:p>
        </p:txBody>
      </p:sp>
      <p:sp>
        <p:nvSpPr>
          <p:cNvPr id="37" name="Rectangle 36"/>
          <p:cNvSpPr/>
          <p:nvPr/>
        </p:nvSpPr>
        <p:spPr>
          <a:xfrm>
            <a:off x="5486400" y="23774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0" y="2468880"/>
            <a:ext cx="5852160" cy="548640"/>
          </a:xfrm>
          <a:prstGeom prst="rect">
            <a:avLst/>
          </a:prstGeom>
          <a:noFill/>
        </p:spPr>
        <p:txBody>
          <a:bodyPr wrap="square">
            <a:spAutoFit/>
          </a:bodyPr>
          <a:lstStyle/>
          <a:p>
            <a:pPr algn="l">
              <a:spcAft>
                <a:spcPts val="600"/>
              </a:spcAft>
              <a:defRPr sz="1800" b="0">
                <a:solidFill>
                  <a:srgbClr val="2B2B2B"/>
                </a:solidFill>
              </a:defRPr>
            </a:pPr>
            <a:r>
              <a:t>B. Point d'eau dans le désert</a:t>
            </a:r>
          </a:p>
        </p:txBody>
      </p:sp>
      <p:sp>
        <p:nvSpPr>
          <p:cNvPr id="39" name="Rounded Rectangle 38"/>
          <p:cNvSpPr/>
          <p:nvPr/>
        </p:nvSpPr>
        <p:spPr>
          <a:xfrm>
            <a:off x="731520" y="32918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Oasis</a:t>
            </a:r>
          </a:p>
        </p:txBody>
      </p:sp>
      <p:sp>
        <p:nvSpPr>
          <p:cNvPr id="40" name="Rectangle 39"/>
          <p:cNvSpPr/>
          <p:nvPr/>
        </p:nvSpPr>
        <p:spPr>
          <a:xfrm>
            <a:off x="5486400" y="32918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0" y="3383280"/>
            <a:ext cx="5852160" cy="548640"/>
          </a:xfrm>
          <a:prstGeom prst="rect">
            <a:avLst/>
          </a:prstGeom>
          <a:noFill/>
        </p:spPr>
        <p:txBody>
          <a:bodyPr wrap="square">
            <a:spAutoFit/>
          </a:bodyPr>
          <a:lstStyle/>
          <a:p>
            <a:pPr algn="l">
              <a:spcAft>
                <a:spcPts val="600"/>
              </a:spcAft>
              <a:defRPr sz="1800" b="0">
                <a:solidFill>
                  <a:srgbClr val="2B2B2B"/>
                </a:solidFill>
              </a:defRPr>
            </a:pPr>
            <a:r>
              <a:t>C. Bain de vapeur traditionnel</a:t>
            </a:r>
          </a:p>
        </p:txBody>
      </p:sp>
      <p:sp>
        <p:nvSpPr>
          <p:cNvPr id="42" name="Rounded Rectangle 41"/>
          <p:cNvSpPr/>
          <p:nvPr/>
        </p:nvSpPr>
        <p:spPr>
          <a:xfrm>
            <a:off x="731520" y="42062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Hammam</a:t>
            </a:r>
          </a:p>
        </p:txBody>
      </p:sp>
      <p:sp>
        <p:nvSpPr>
          <p:cNvPr id="43" name="Rectangle 42"/>
          <p:cNvSpPr/>
          <p:nvPr/>
        </p:nvSpPr>
        <p:spPr>
          <a:xfrm>
            <a:off x="5486400" y="42062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69280" y="4297680"/>
            <a:ext cx="5852160" cy="548640"/>
          </a:xfrm>
          <a:prstGeom prst="rect">
            <a:avLst/>
          </a:prstGeom>
          <a:noFill/>
        </p:spPr>
        <p:txBody>
          <a:bodyPr wrap="square">
            <a:spAutoFit/>
          </a:bodyPr>
          <a:lstStyle/>
          <a:p>
            <a:pPr algn="l">
              <a:spcAft>
                <a:spcPts val="600"/>
              </a:spcAft>
              <a:defRPr sz="1800" b="0">
                <a:solidFill>
                  <a:srgbClr val="2B2B2B"/>
                </a:solidFill>
              </a:defRPr>
            </a:pPr>
            <a:r>
              <a:t>D. Maison avec jardin intérieur</a:t>
            </a:r>
          </a:p>
        </p:txBody>
      </p:sp>
      <p:sp>
        <p:nvSpPr>
          <p:cNvPr id="45" name="Rounded Rectangle 44"/>
          <p:cNvSpPr/>
          <p:nvPr/>
        </p:nvSpPr>
        <p:spPr>
          <a:xfrm>
            <a:off x="731520" y="51206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Riad</a:t>
            </a:r>
          </a:p>
        </p:txBody>
      </p:sp>
      <p:sp>
        <p:nvSpPr>
          <p:cNvPr id="46" name="Rectangle 45"/>
          <p:cNvSpPr/>
          <p:nvPr/>
        </p:nvSpPr>
        <p:spPr>
          <a:xfrm>
            <a:off x="5486400" y="51206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669280" y="5212080"/>
            <a:ext cx="5852160" cy="548640"/>
          </a:xfrm>
          <a:prstGeom prst="rect">
            <a:avLst/>
          </a:prstGeom>
          <a:noFill/>
        </p:spPr>
        <p:txBody>
          <a:bodyPr wrap="square">
            <a:spAutoFit/>
          </a:bodyPr>
          <a:lstStyle/>
          <a:p>
            <a:pPr algn="l">
              <a:spcAft>
                <a:spcPts val="600"/>
              </a:spcAft>
              <a:defRPr sz="1800" b="0">
                <a:solidFill>
                  <a:srgbClr val="2B2B2B"/>
                </a:solidFill>
              </a:defRPr>
            </a:pPr>
            <a:r>
              <a:t>E. Citadelle, quartier fortifié</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9. Défi final : 60 secondes chrono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554480"/>
            <a:ext cx="10972800" cy="914400"/>
          </a:xfrm>
          <a:prstGeom prst="rect">
            <a:avLst/>
          </a:prstGeom>
          <a:noFill/>
        </p:spPr>
        <p:txBody>
          <a:bodyPr wrap="square">
            <a:spAutoFit/>
          </a:bodyPr>
          <a:lstStyle/>
          <a:p>
            <a:pPr algn="ctr">
              <a:spcAft>
                <a:spcPts val="600"/>
              </a:spcAft>
              <a:defRPr sz="8000" b="1">
                <a:solidFill>
                  <a:srgbClr val="C0392B"/>
                </a:solidFill>
              </a:defRPr>
            </a:pPr>
            <a:r>
              <a:t>⏳ 60 s</a:t>
            </a:r>
          </a:p>
        </p:txBody>
      </p:sp>
      <p:sp>
        <p:nvSpPr>
          <p:cNvPr id="35" name="TextBox 34"/>
          <p:cNvSpPr txBox="1"/>
          <p:nvPr/>
        </p:nvSpPr>
        <p:spPr>
          <a:xfrm>
            <a:off x="640080" y="3291840"/>
            <a:ext cx="10972800" cy="4846320"/>
          </a:xfrm>
          <a:prstGeom prst="rect">
            <a:avLst/>
          </a:prstGeom>
          <a:noFill/>
        </p:spPr>
        <p:txBody>
          <a:bodyPr wrap="square">
            <a:spAutoFit/>
          </a:bodyPr>
          <a:lstStyle/>
          <a:p>
            <a:pPr algn="l">
              <a:spcAft>
                <a:spcPts val="600"/>
              </a:spcAft>
              <a:defRPr sz="2200" b="0">
                <a:solidFill>
                  <a:srgbClr val="2B2B2B"/>
                </a:solidFill>
              </a:defRPr>
            </a:pPr>
            <a:r>
              <a:t>• Cite le plus de mots possibles sur le Maghreb (villes, plats, paysages…)</a:t>
            </a:r>
          </a:p>
          <a:p>
            <a:pPr algn="l">
              <a:spcAft>
                <a:spcPts val="600"/>
              </a:spcAft>
              <a:defRPr sz="2200" b="0">
                <a:solidFill>
                  <a:srgbClr val="2B2B2B"/>
                </a:solidFill>
              </a:defRPr>
            </a:pPr>
            <a:r>
              <a:t>• 1 mot correct = 1 point • pas de répétition !</a:t>
            </a:r>
          </a:p>
          <a:p>
            <a:pPr algn="l">
              <a:spcAft>
                <a:spcPts val="600"/>
              </a:spcAft>
              <a:defRPr sz="2200" b="0">
                <a:solidFill>
                  <a:srgbClr val="2B2B2B"/>
                </a:solidFill>
              </a:defRPr>
            </a:pPr>
            <a:r>
              <a:t>• 🏆 L'équipe gagnante choisit la musique de fin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10. Bilan : qu'as-tu appris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640080" y="1463040"/>
            <a:ext cx="10972800" cy="4846320"/>
          </a:xfrm>
          <a:prstGeom prst="rect">
            <a:avLst/>
          </a:prstGeom>
          <a:noFill/>
        </p:spPr>
        <p:txBody>
          <a:bodyPr wrap="square">
            <a:spAutoFit/>
          </a:bodyPr>
          <a:lstStyle/>
          <a:p>
            <a:pPr algn="l">
              <a:spcAft>
                <a:spcPts val="600"/>
              </a:spcAft>
              <a:defRPr sz="2400" b="0">
                <a:solidFill>
                  <a:srgbClr val="2B2B2B"/>
                </a:solidFill>
              </a:defRPr>
            </a:pPr>
            <a:r>
              <a:t>• 🎯 3 choses que j'ai apprises…</a:t>
            </a:r>
          </a:p>
          <a:p>
            <a:pPr algn="l">
              <a:spcAft>
                <a:spcPts val="600"/>
              </a:spcAft>
              <a:defRPr sz="2400" b="0">
                <a:solidFill>
                  <a:srgbClr val="2B2B2B"/>
                </a:solidFill>
              </a:defRPr>
            </a:pPr>
            <a:r>
              <a:t>• ❤️ 2 choses que j'ai aimées…</a:t>
            </a:r>
          </a:p>
          <a:p>
            <a:pPr algn="l">
              <a:spcAft>
                <a:spcPts val="600"/>
              </a:spcAft>
              <a:defRPr sz="2400" b="0">
                <a:solidFill>
                  <a:srgbClr val="2B2B2B"/>
                </a:solidFill>
              </a:defRPr>
            </a:pPr>
            <a:r>
              <a:t>• ❓ 1 question qu'il me reste…</a:t>
            </a:r>
          </a:p>
          <a:p>
            <a:pPr algn="l">
              <a:spcAft>
                <a:spcPts val="600"/>
              </a:spcAft>
              <a:defRPr sz="2400" b="0">
                <a:solidFill>
                  <a:srgbClr val="2B2B2B"/>
                </a:solidFill>
              </a:defRPr>
            </a:pPr>
            <a:r>
              <a:t>• ✍️ Ticket de sortie : écris une carte postale du Maghreb (3 phrases)</a:t>
            </a:r>
          </a:p>
        </p:txBody>
      </p:sp>
      <p:sp>
        <p:nvSpPr>
          <p:cNvPr id="35" name="TextBox 34"/>
          <p:cNvSpPr txBox="1"/>
          <p:nvPr/>
        </p:nvSpPr>
        <p:spPr>
          <a:xfrm>
            <a:off x="548640" y="5120640"/>
            <a:ext cx="10972800" cy="914400"/>
          </a:xfrm>
          <a:prstGeom prst="rect">
            <a:avLst/>
          </a:prstGeom>
          <a:noFill/>
        </p:spPr>
        <p:txBody>
          <a:bodyPr wrap="square">
            <a:spAutoFit/>
          </a:bodyPr>
          <a:lstStyle/>
          <a:p>
            <a:pPr algn="ctr">
              <a:spcAft>
                <a:spcPts val="600"/>
              </a:spcAft>
              <a:defRPr sz="3600" b="1">
                <a:solidFill>
                  <a:srgbClr val="B84A1E"/>
                </a:solidFill>
              </a:defRPr>
            </a:pPr>
            <a:r>
              <a:t>Choukran • Tanemmirt • Merci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