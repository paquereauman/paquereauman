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répondent sur ardoise avant de cliquer. 1 bonne réponse = 1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dit un mot qui lui évoque le Maghreb ; on construit un nuage de mots au tableau. Puis formation de 3 équipes : Atlas, Sahara, Médina.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puis « Réponses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repérer les lignes 300 mm et 150 mm sur la carte.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Préciser qu'en dessous de 250 mm de précipitations, il n'y a plus d'agriculture possible (sans irrigation).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 tableau sur leur fiche, puis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http://fr.calameo.com/read/00000541937ce663e2326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http://fr.calameo.com/read/000005419fb38f20f0ef7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Cliquer sur chaque « ? » pour révéler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sensible : rappeler que l'immense majorité des musulmans rejette le terrorisme. Ne pas confondre islam et islamisme.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 laisser les élèves poser leurs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Bouazizi : vendeur ambulant de Sidi Bouzid.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distribuer les étiquettes dans le désordre, les équipes les remettent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10', questions en binômes 15', correction collective 10'.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sur chaque carte pour révéler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devinent lettre par lettre (pendu).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Médina → Vieille ville entourée de remparts ; Casbah → Citadelle, quartier fortifié ; Oasis → Point d'eau dans le désert ; Hammam → Bain de vapeur traditionnel ; Riad → Maison avec jardin intérieur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7.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 Id="rId4"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2.xml"/><Relationship Id="rId4" Type="http://schemas.openxmlformats.org/officeDocument/2006/relationships/slide" Target="slide38.xml"/><Relationship Id="rId5" Type="http://schemas.openxmlformats.org/officeDocument/2006/relationships/slide" Target="slide39.xml"/><Relationship Id="rId6" Type="http://schemas.openxmlformats.org/officeDocument/2006/relationships/slide" Target="slide99.xml"/><Relationship Id="rId7" Type="http://schemas.openxmlformats.org/officeDocument/2006/relationships/slide" Target="slide102.xml"/><Relationship Id="rId8" Type="http://schemas.openxmlformats.org/officeDocument/2006/relationships/slide" Target="slide117.xml"/><Relationship Id="rId9" Type="http://schemas.openxmlformats.org/officeDocument/2006/relationships/slide" Target="slide60.xml"/><Relationship Id="rId10" Type="http://schemas.openxmlformats.org/officeDocument/2006/relationships/slide" Target="slide119.xml"/><Relationship Id="rId11" Type="http://schemas.openxmlformats.org/officeDocument/2006/relationships/slide" Target="slide75.xml"/><Relationship Id="rId12" Type="http://schemas.openxmlformats.org/officeDocument/2006/relationships/slide" Target="slide88.xml"/><Relationship Id="rId13" Type="http://schemas.openxmlformats.org/officeDocument/2006/relationships/slide" Target="slide120.xml"/><Relationship Id="rId14" Type="http://schemas.openxmlformats.org/officeDocument/2006/relationships/slide" Target="slide123.xml"/><Relationship Id="rId15" Type="http://schemas.openxmlformats.org/officeDocument/2006/relationships/slide" Target="slide125.xml"/><Relationship Id="rId16" Type="http://schemas.openxmlformats.org/officeDocument/2006/relationships/slide" Target="slide128.xml"/><Relationship Id="rId17" Type="http://schemas.openxmlformats.org/officeDocument/2006/relationships/slide" Target="slide1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slide" Target="slide37.xml"/><Relationship Id="rId5" Type="http://schemas.openxmlformats.org/officeDocument/2006/relationships/slide" Target="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37.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slide" Target="slide37.xml"/><Relationship Id="rId5"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37.xml"/><Relationship Id="rId4" Type="http://schemas.openxmlformats.org/officeDocument/2006/relationships/slide" Target="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37.xml"/><Relationship Id="rId4" Type="http://schemas.openxmlformats.org/officeDocument/2006/relationships/slide" Target="slide5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slide" Target="slide37.xml"/><Relationship Id="rId5" Type="http://schemas.openxmlformats.org/officeDocument/2006/relationships/slide" Target="slide5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37.xml"/><Relationship Id="rId4" Type="http://schemas.openxmlformats.org/officeDocument/2006/relationships/slide" Target="slide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slide" Target="slide37.xml"/><Relationship Id="rId5" Type="http://schemas.openxmlformats.org/officeDocument/2006/relationships/slide" Target="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37.xml"/><Relationship Id="rId4" Type="http://schemas.openxmlformats.org/officeDocument/2006/relationships/slide" Target="slide6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37.xml"/><Relationship Id="rId4" Type="http://schemas.openxmlformats.org/officeDocument/2006/relationships/slide" Target="slide6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37.xml"/><Relationship Id="rId4" Type="http://schemas.openxmlformats.org/officeDocument/2006/relationships/slide" Target="slide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slide" Target="slide37.xml"/><Relationship Id="rId4" Type="http://schemas.openxmlformats.org/officeDocument/2006/relationships/slide" Target="slide6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slide" Target="slide37.xml"/><Relationship Id="rId4" Type="http://schemas.openxmlformats.org/officeDocument/2006/relationships/slide" Target="slide7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slide" Target="slide37.xml"/><Relationship Id="rId4" Type="http://schemas.openxmlformats.org/officeDocument/2006/relationships/slide" Target="slide7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37.xml"/><Relationship Id="rId4" Type="http://schemas.openxmlformats.org/officeDocument/2006/relationships/slide" Target="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slide" Target="slide37.xml"/><Relationship Id="rId4" Type="http://schemas.openxmlformats.org/officeDocument/2006/relationships/slide" Target="slide7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37.xml"/><Relationship Id="rId4" Type="http://schemas.openxmlformats.org/officeDocument/2006/relationships/slide" Target="slide7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37.xml"/><Relationship Id="rId4" Type="http://schemas.openxmlformats.org/officeDocument/2006/relationships/slide" Target="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37.xml"/><Relationship Id="rId4" Type="http://schemas.openxmlformats.org/officeDocument/2006/relationships/slide" Target="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37.xml"/><Relationship Id="rId4" Type="http://schemas.openxmlformats.org/officeDocument/2006/relationships/slide" Target="slide8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37.xml"/><Relationship Id="rId4" Type="http://schemas.openxmlformats.org/officeDocument/2006/relationships/slide" Target="slide8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3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3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3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37.xml"/><Relationship Id="rId4" Type="http://schemas.openxmlformats.org/officeDocument/2006/relationships/slide" Target="slide9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9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37.xml"/><Relationship Id="rId5" Type="http://schemas.openxmlformats.org/officeDocument/2006/relationships/slide" Target="slide10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4.xml"/><Relationship Id="rId4" Type="http://schemas.openxmlformats.org/officeDocument/2006/relationships/slide" Target="slide10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6.xml"/><Relationship Id="rId4" Type="http://schemas.openxmlformats.org/officeDocument/2006/relationships/slide" Target="slide10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0.xml"/><Relationship Id="rId4" Type="http://schemas.openxmlformats.org/officeDocument/2006/relationships/slide" Target="slide10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3.xml"/><Relationship Id="rId4" Type="http://schemas.openxmlformats.org/officeDocument/2006/relationships/slide" Target="slide11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6.xml"/><Relationship Id="rId4" Type="http://schemas.openxmlformats.org/officeDocument/2006/relationships/slide" Target="slide115.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3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37.xml"/><Relationship Id="rId4" Type="http://schemas.openxmlformats.org/officeDocument/2006/relationships/slide" Target="slide12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 Id="rId3" Type="http://schemas.openxmlformats.org/officeDocument/2006/relationships/slide" Target="slide12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37.xml"/><Relationship Id="rId4" Type="http://schemas.openxmlformats.org/officeDocument/2006/relationships/slide" Target="slide12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slide" Target="slide37.xml"/><Relationship Id="rId4" Type="http://schemas.openxmlformats.org/officeDocument/2006/relationships/slide" Target="slide12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3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slide" Target="slide3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Jeu d'ouverture : Devine où c'est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828800"/>
            <a:ext cx="10972800" cy="1371600"/>
          </a:xfrm>
          <a:prstGeom prst="rect">
            <a:avLst/>
          </a:prstGeom>
          <a:noFill/>
        </p:spPr>
        <p:txBody>
          <a:bodyPr wrap="square">
            <a:spAutoFit/>
          </a:bodyPr>
          <a:lstStyle/>
          <a:p>
            <a:pPr algn="ctr">
              <a:spcAft>
                <a:spcPts val="600"/>
              </a:spcAft>
              <a:defRPr sz="3000" b="1">
                <a:solidFill>
                  <a:srgbClr val="FFFFFF"/>
                </a:solidFill>
              </a:defRPr>
            </a:pPr>
            <a:r>
              <a:t>📸 Des photos vont apparaître…</a:t>
            </a:r>
          </a:p>
          <a:p>
            <a:pPr algn="ctr">
              <a:spcAft>
                <a:spcPts val="600"/>
              </a:spcAft>
              <a:defRPr sz="3000" b="1">
                <a:solidFill>
                  <a:srgbClr val="FFFFFF"/>
                </a:solidFill>
              </a:defRPr>
            </a:pPr>
            <a:r>
              <a:t>Devine : où est-ce ? qu'est-ce que c'est ?</a:t>
            </a:r>
          </a:p>
          <a:p>
            <a:pPr algn="ctr">
              <a:spcAft>
                <a:spcPts val="600"/>
              </a:spcAft>
              <a:defRPr sz="3000" b="1">
                <a:solidFill>
                  <a:srgbClr val="FFFFFF"/>
                </a:solidFill>
              </a:defRPr>
            </a:pPr>
            <a:r>
              <a:t>1 bonne réponse = 1 point pour ton équipe !</a:t>
            </a:r>
          </a:p>
        </p:txBody>
      </p:sp>
      <p:sp>
        <p:nvSpPr>
          <p:cNvPr id="35" name="Rounded Rectangle 34">
            <a:hlinkClick action="ppaction://hlinksldjump" r:id="rId4"/>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C'est parti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1/17 : Où se trouve le Maghreb sur cette carte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rcRect t="28653" b="2865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Encadré rouge, au nord-ouest de l'Afrique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Au Moyen-Orient</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En Europe du Sud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Encadré rouge, au nord-ouest de l'Afrique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548640" y="1371600"/>
            <a:ext cx="4788642"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Encadré rouge, au nord-ouest de l'Afrique</a:t>
            </a:r>
          </a:p>
          <a:p>
            <a:pPr algn="l">
              <a:spcAft>
                <a:spcPts val="600"/>
              </a:spcAft>
              <a:defRPr sz="2000" b="0">
                <a:solidFill>
                  <a:srgbClr val="2B2B2B"/>
                </a:solidFill>
              </a:defRPr>
            </a:pPr>
          </a:p>
          <a:p>
            <a:pPr algn="l">
              <a:spcAft>
                <a:spcPts val="600"/>
              </a:spcAft>
              <a:defRPr sz="2000" b="0">
                <a:solidFill>
                  <a:srgbClr val="2B2B2B"/>
                </a:solidFill>
              </a:defRPr>
            </a:pPr>
            <a:r>
              <a:t>Le Maghreb est au nord-ouest de l'Afrique, face à l'Europe : seulement 14 km entre le Maroc et l'Espagne (détroit de Gibraltar) !</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2/17 : Où sommes-nous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rcRect t="11486" b="1148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 suisses</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Moyen Atlas (Maroc)</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Pyrénées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Moyen Atlas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yen-atlas.png"/>
          <p:cNvPicPr>
            <a:picLocks noChangeAspect="1"/>
          </p:cNvPicPr>
          <p:nvPr/>
        </p:nvPicPr>
        <p:blipFill>
          <a:blip r:embed="rId2"/>
          <a:stretch>
            <a:fillRect/>
          </a:stretch>
        </p:blipFill>
        <p:spPr>
          <a:xfrm>
            <a:off x="548640" y="1371600"/>
            <a:ext cx="6400800" cy="311617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Moyen Atlas (Maroc)</a:t>
            </a:r>
          </a:p>
          <a:p>
            <a:pPr algn="l">
              <a:spcAft>
                <a:spcPts val="600"/>
              </a:spcAft>
              <a:defRPr sz="2000" b="0">
                <a:solidFill>
                  <a:srgbClr val="2B2B2B"/>
                </a:solidFill>
              </a:defRPr>
            </a:pPr>
          </a:p>
          <a:p>
            <a:pPr algn="l">
              <a:spcAft>
                <a:spcPts val="600"/>
              </a:spcAft>
              <a:defRPr sz="2000" b="0">
                <a:solidFill>
                  <a:srgbClr val="2B2B2B"/>
                </a:solidFill>
              </a:defRPr>
            </a:pPr>
            <a:r>
              <a:t>Le Moyen Atlas, près de Fès : montagnes vertes et villages.</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3/17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Couscous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Paella</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Couscous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Risotto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Couscous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Couscous</a:t>
            </a:r>
          </a:p>
          <a:p>
            <a:pPr algn="l">
              <a:spcAft>
                <a:spcPts val="600"/>
              </a:spcAft>
              <a:defRPr sz="2000" b="0">
                <a:solidFill>
                  <a:srgbClr val="2B2B2B"/>
                </a:solidFill>
              </a:defRPr>
            </a:pPr>
          </a:p>
          <a:p>
            <a:pPr algn="l">
              <a:spcAft>
                <a:spcPts val="600"/>
              </a:spcAft>
              <a:defRPr sz="2000" b="0">
                <a:solidFill>
                  <a:srgbClr val="2B2B2B"/>
                </a:solidFill>
              </a:defRPr>
            </a:pPr>
            <a:r>
              <a:t>Le couscous : plat à base de semoule de blé, inscrit au patrimoine de l'UNESCO (2020).</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4/17 : Où sommes-nous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Sahara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Sahara (Maroc)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Plage de Bretagne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Désert d'Atacama (Chili)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Sahara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Sahara (Maroc)</a:t>
            </a:r>
          </a:p>
          <a:p>
            <a:pPr algn="l">
              <a:spcAft>
                <a:spcPts val="600"/>
              </a:spcAft>
              <a:defRPr sz="2000" b="0">
                <a:solidFill>
                  <a:srgbClr val="2B2B2B"/>
                </a:solidFill>
              </a:defRPr>
            </a:pPr>
          </a:p>
          <a:p>
            <a:pPr algn="l">
              <a:spcAft>
                <a:spcPts val="600"/>
              </a:spcAft>
              <a:defRPr sz="2000" b="0">
                <a:solidFill>
                  <a:srgbClr val="2B2B2B"/>
                </a:solidFill>
              </a:defRPr>
            </a:pPr>
            <a:r>
              <a:t>Les dunes de l'Erg Chebbi, près de Merzouga : le Sahara marocain.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5/17 : Quelle est cette ville bleue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Chefchaouen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Santorin (Grèce)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Chefchaouen (Maroc)</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Venise (Italie)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Chefchaouen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Chefchaouen (Maroc)</a:t>
            </a:r>
          </a:p>
          <a:p>
            <a:pPr algn="l">
              <a:spcAft>
                <a:spcPts val="600"/>
              </a:spcAft>
              <a:defRPr sz="2000" b="0">
                <a:solidFill>
                  <a:srgbClr val="2B2B2B"/>
                </a:solidFill>
              </a:defRPr>
            </a:pPr>
          </a:p>
          <a:p>
            <a:pPr algn="l">
              <a:spcAft>
                <a:spcPts val="600"/>
              </a:spcAft>
              <a:defRPr sz="2000" b="0">
                <a:solidFill>
                  <a:srgbClr val="2B2B2B"/>
                </a:solidFill>
              </a:defRPr>
            </a:pPr>
            <a:r>
              <a:t>Chefchaouen, la « perle bleue » du Rif, au nord du Maroc.</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6/17 : Blanc et bleu… où est-ce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Sidi Bou Saïd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Sidi Bou Saïd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Nice (France)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Lisbonne (Portugal)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Sidi Bou Saïd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Sidi Bou Saïd (Tunisie)</a:t>
            </a:r>
          </a:p>
          <a:p>
            <a:pPr algn="l">
              <a:spcAft>
                <a:spcPts val="600"/>
              </a:spcAft>
              <a:defRPr sz="2000" b="0">
                <a:solidFill>
                  <a:srgbClr val="2B2B2B"/>
                </a:solidFill>
              </a:defRPr>
            </a:pPr>
          </a:p>
          <a:p>
            <a:pPr algn="l">
              <a:spcAft>
                <a:spcPts val="600"/>
              </a:spcAft>
              <a:defRPr sz="2000" b="0">
                <a:solidFill>
                  <a:srgbClr val="2B2B2B"/>
                </a:solidFill>
              </a:defRPr>
            </a:pPr>
            <a:r>
              <a:t>Sidi Bou Saïd, village blanc et bleu près de Tunis.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7/17 : Quelle est cette place célèbre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Place Jemaa el-Fna (Marrakech)</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Place Jemaa el-Fna (Marrakech)</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Place Rouge (Moscou)</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Times Square (New York)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Place Jemaa el-Fna (Marrakech)</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Place Jemaa el-Fna (Marrakech)</a:t>
            </a:r>
          </a:p>
          <a:p>
            <a:pPr algn="l">
              <a:spcAft>
                <a:spcPts val="600"/>
              </a:spcAft>
              <a:defRPr sz="2000" b="0">
                <a:solidFill>
                  <a:srgbClr val="2B2B2B"/>
                </a:solidFill>
              </a:defRPr>
            </a:pPr>
          </a:p>
          <a:p>
            <a:pPr algn="l">
              <a:spcAft>
                <a:spcPts val="600"/>
              </a:spcAft>
              <a:defRPr sz="2000" b="0">
                <a:solidFill>
                  <a:srgbClr val="2B2B2B"/>
                </a:solidFill>
              </a:defRPr>
            </a:pPr>
            <a:r>
              <a:t>Jemaa el-Fna, à Marrakech : conteurs, musiciens et marchés le soir.</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8/17 : Comment s'appelle ce plat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Tajine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Fondue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Tajine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Wok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Tajine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Tajine</a:t>
            </a:r>
          </a:p>
          <a:p>
            <a:pPr algn="l">
              <a:spcAft>
                <a:spcPts val="600"/>
              </a:spcAft>
              <a:defRPr sz="2000" b="0">
                <a:solidFill>
                  <a:srgbClr val="2B2B2B"/>
                </a:solidFill>
              </a:defRPr>
            </a:pPr>
          </a:p>
          <a:p>
            <a:pPr algn="l">
              <a:spcAft>
                <a:spcPts val="600"/>
              </a:spcAft>
              <a:defRPr sz="2000" b="0">
                <a:solidFill>
                  <a:srgbClr val="2B2B2B"/>
                </a:solidFill>
              </a:defRPr>
            </a:pPr>
            <a:r>
              <a:t>Le tajine : plat et cuisson à l'étouffée dans un pot en terre.</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9/17 : Quelle est cette vieille ville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La Casbah d'Alger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La Casbah d'Alger (Algérie)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Montmartre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Caire (Égypte)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La Casbah d'Alger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La Casbah d'Alger (Algérie)</a:t>
            </a:r>
          </a:p>
          <a:p>
            <a:pPr algn="l">
              <a:spcAft>
                <a:spcPts val="600"/>
              </a:spcAft>
              <a:defRPr sz="2000" b="0">
                <a:solidFill>
                  <a:srgbClr val="2B2B2B"/>
                </a:solidFill>
              </a:defRPr>
            </a:pPr>
          </a:p>
          <a:p>
            <a:pPr algn="l">
              <a:spcAft>
                <a:spcPts val="600"/>
              </a:spcAft>
              <a:defRPr sz="2000" b="0">
                <a:solidFill>
                  <a:srgbClr val="2B2B2B"/>
                </a:solidFill>
              </a:defRPr>
            </a:pPr>
            <a:r>
              <a:t>La Casbah d'Alger, inscrite au patrimoine mondial de l'UNESCO.</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10/17 : Quelles sont ces montagnes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Hoggar (Algérie)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Les Alpes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Hoggar (Algérie)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Les Rocheuses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Hoggar (Algérie)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Hoggar (Algérie)</a:t>
            </a:r>
          </a:p>
          <a:p>
            <a:pPr algn="l">
              <a:spcAft>
                <a:spcPts val="600"/>
              </a:spcAft>
              <a:defRPr sz="2000" b="0">
                <a:solidFill>
                  <a:srgbClr val="2B2B2B"/>
                </a:solidFill>
              </a:defRPr>
            </a:pPr>
          </a:p>
          <a:p>
            <a:pPr algn="l">
              <a:spcAft>
                <a:spcPts val="600"/>
              </a:spcAft>
              <a:defRPr sz="2000" b="0">
                <a:solidFill>
                  <a:srgbClr val="2B2B2B"/>
                </a:solidFill>
              </a:defRPr>
            </a:pPr>
            <a:r>
              <a:t>Le Hoggar, massif volcanique du Sahara algérien.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11/17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Une oasis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oasis</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Une forêt tropicale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jardin parisien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Une oasis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Une oasis</a:t>
            </a:r>
          </a:p>
          <a:p>
            <a:pPr algn="l">
              <a:spcAft>
                <a:spcPts val="600"/>
              </a:spcAft>
              <a:defRPr sz="2000" b="0">
                <a:solidFill>
                  <a:srgbClr val="2B2B2B"/>
                </a:solidFill>
              </a:defRPr>
            </a:pPr>
          </a:p>
          <a:p>
            <a:pPr algn="l">
              <a:spcAft>
                <a:spcPts val="600"/>
              </a:spcAft>
              <a:defRPr sz="2000" b="0">
                <a:solidFill>
                  <a:srgbClr val="2B2B2B"/>
                </a:solidFill>
              </a:defRPr>
            </a:pPr>
            <a:r>
              <a:t>Une oasis : îlot de verdure grâce à l'eau, avec des palmiers-dattiers.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12/17 : Quel est ce sommet enneigé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Toubkal (Haut Atlas,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Mont Blanc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Kilimandjaro</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Toubkal (Haut Atlas, Maroc)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Toubkal (Haut Atlas,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Toubkal (Haut Atlas, Maroc)</a:t>
            </a:r>
          </a:p>
          <a:p>
            <a:pPr algn="l">
              <a:spcAft>
                <a:spcPts val="600"/>
              </a:spcAft>
              <a:defRPr sz="2000" b="0">
                <a:solidFill>
                  <a:srgbClr val="2B2B2B"/>
                </a:solidFill>
              </a:defRPr>
            </a:pPr>
          </a:p>
          <a:p>
            <a:pPr algn="l">
              <a:spcAft>
                <a:spcPts val="600"/>
              </a:spcAft>
              <a:defRPr sz="2000" b="0">
                <a:solidFill>
                  <a:srgbClr val="2B2B2B"/>
                </a:solidFill>
              </a:defRPr>
            </a:pPr>
            <a:r>
              <a:t>Le Toubkal (4 167 m), plus haut sommet d'Afrique du Nord.</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13/17 : Quelle boisson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Thé à la menthe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Thé à la menthe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Café au lait</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Chocolat chaud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Thé à la menthe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Thé à la menthe</a:t>
            </a:r>
          </a:p>
          <a:p>
            <a:pPr algn="l">
              <a:spcAft>
                <a:spcPts val="600"/>
              </a:spcAft>
              <a:defRPr sz="2000" b="0">
                <a:solidFill>
                  <a:srgbClr val="2B2B2B"/>
                </a:solidFill>
              </a:defRPr>
            </a:pPr>
          </a:p>
          <a:p>
            <a:pPr algn="l">
              <a:spcAft>
                <a:spcPts val="600"/>
              </a:spcAft>
              <a:defRPr sz="2000" b="0">
                <a:solidFill>
                  <a:srgbClr val="2B2B2B"/>
                </a:solidFill>
              </a:defRPr>
            </a:pPr>
            <a:r>
              <a:t>Le thé à la menthe, symbole d'hospitalité au Maghreb.</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14/17 : Quel est ce monument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Grande Mosquée de Kairouan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Grande Mosquée de Kairouan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Notre-Dame de Paris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Taj Mahal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Grande Mosquée de Kairouan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Grande Mosquée de Kairouan (Tunisie)</a:t>
            </a:r>
          </a:p>
          <a:p>
            <a:pPr algn="l">
              <a:spcAft>
                <a:spcPts val="600"/>
              </a:spcAft>
              <a:defRPr sz="2000" b="0">
                <a:solidFill>
                  <a:srgbClr val="2B2B2B"/>
                </a:solidFill>
              </a:defRPr>
            </a:pPr>
          </a:p>
          <a:p>
            <a:pPr algn="l">
              <a:spcAft>
                <a:spcPts val="600"/>
              </a:spcAft>
              <a:defRPr sz="2000" b="0">
                <a:solidFill>
                  <a:srgbClr val="2B2B2B"/>
                </a:solidFill>
              </a:defRPr>
            </a:pPr>
            <a:r>
              <a:t>La Grande Mosquée de Kairouan, l'une des plus anciennes d'Afrique du Nord (VIIe–IXe 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15/17 : Quel est cet art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zellige (mosaïque)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 zellige (mosaïque)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vitrail</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graffiti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zellige (mosaïque)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zellige (mosaïque)</a:t>
            </a:r>
          </a:p>
          <a:p>
            <a:pPr algn="l">
              <a:spcAft>
                <a:spcPts val="600"/>
              </a:spcAft>
              <a:defRPr sz="2000" b="0">
                <a:solidFill>
                  <a:srgbClr val="2B2B2B"/>
                </a:solidFill>
              </a:defRPr>
            </a:pPr>
          </a:p>
          <a:p>
            <a:pPr algn="l">
              <a:spcAft>
                <a:spcPts val="600"/>
              </a:spcAft>
              <a:defRPr sz="2000" b="0">
                <a:solidFill>
                  <a:srgbClr val="2B2B2B"/>
                </a:solidFill>
              </a:defRPr>
            </a:pPr>
            <a:r>
              <a:t>Le zellige : mosaïque de petits carreaux d'argile émaillés, typique de l'art maghrébin (motifs géométriques, pas de figures humaines).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16/17 : Que voit-on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rcRect t="20216" b="2021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usine en France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 gisement de pétrole au Sahara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volcan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 gisement de pétrole au Sahara</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548640" y="1371600"/>
            <a:ext cx="6400800" cy="4029594"/>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 gisement de pétrole au Sahara</a:t>
            </a:r>
          </a:p>
          <a:p>
            <a:pPr algn="l">
              <a:spcAft>
                <a:spcPts val="600"/>
              </a:spcAft>
              <a:defRPr sz="2000" b="0">
                <a:solidFill>
                  <a:srgbClr val="2B2B2B"/>
                </a:solidFill>
              </a:defRPr>
            </a:pPr>
          </a:p>
          <a:p>
            <a:pPr algn="l">
              <a:spcAft>
                <a:spcPts val="600"/>
              </a:spcAft>
              <a:defRPr sz="2000" b="0">
                <a:solidFill>
                  <a:srgbClr val="2B2B2B"/>
                </a:solidFill>
              </a:defRPr>
            </a:pPr>
            <a:r>
              <a:t>Hassi Messaoud (Algérie) : le pétrole et le gaz sont la 1re richesse de l'Algérie.</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17/17 : Où est cet hôtel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rcRect t="18223" b="1822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Monastir (Tunisie)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Miami (USA)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Cannes (France)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Monastir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548640" y="1371600"/>
            <a:ext cx="6400800" cy="3776869"/>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Monastir (Tunisie)</a:t>
            </a:r>
          </a:p>
          <a:p>
            <a:pPr algn="l">
              <a:spcAft>
                <a:spcPts val="600"/>
              </a:spcAft>
              <a:defRPr sz="2000" b="0">
                <a:solidFill>
                  <a:srgbClr val="2B2B2B"/>
                </a:solidFill>
              </a:defRPr>
            </a:pPr>
          </a:p>
          <a:p>
            <a:pPr algn="l">
              <a:spcAft>
                <a:spcPts val="600"/>
              </a:spcAft>
              <a:defRPr sz="2000" b="0">
                <a:solidFill>
                  <a:srgbClr val="2B2B2B"/>
                </a:solidFill>
              </a:defRPr>
            </a:pPr>
            <a:r>
              <a:t>Monastir : le tourisme balnéaire est essentiel pour la Tunisie depuis les années 1960.</a:t>
            </a:r>
          </a:p>
        </p:txBody>
      </p:sp>
      <p:sp>
        <p:nvSpPr>
          <p:cNvPr id="35" name="Rounded Rectangle 34">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Menu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457200" y="137160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Devine où c'est ?  (15')</a:t>
            </a:r>
          </a:p>
        </p:txBody>
      </p:sp>
      <p:sp>
        <p:nvSpPr>
          <p:cNvPr id="34" name="Rounded Rectangle 33">
            <a:hlinkClick action="ppaction://hlinksldjump" r:id="rId4"/>
          </p:cNvPr>
          <p:cNvSpPr/>
          <p:nvPr/>
        </p:nvSpPr>
        <p:spPr>
          <a:xfrm>
            <a:off x="3291840" y="137160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Brise-glace  (10')</a:t>
            </a:r>
          </a:p>
        </p:txBody>
      </p:sp>
      <p:sp>
        <p:nvSpPr>
          <p:cNvPr id="35" name="Rounded Rectangle 34">
            <a:hlinkClick action="ppaction://hlinksldjump" r:id="rId5"/>
          </p:cNvPr>
          <p:cNvSpPr/>
          <p:nvPr/>
        </p:nvSpPr>
        <p:spPr>
          <a:xfrm>
            <a:off x="6126480" y="137160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 Carte d'identité &amp; relief  (30')</a:t>
            </a:r>
          </a:p>
        </p:txBody>
      </p:sp>
      <p:sp>
        <p:nvSpPr>
          <p:cNvPr id="36" name="Rounded Rectangle 35">
            <a:hlinkClick action="ppaction://hlinksldjump" r:id="rId6"/>
          </p:cNvPr>
          <p:cNvSpPr/>
          <p:nvPr/>
        </p:nvSpPr>
        <p:spPr>
          <a:xfrm>
            <a:off x="8961120" y="137160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C.O. Vidéo  (20')</a:t>
            </a:r>
          </a:p>
        </p:txBody>
      </p:sp>
      <p:sp>
        <p:nvSpPr>
          <p:cNvPr id="37" name="Rounded Rectangle 36">
            <a:hlinkClick action="ppaction://hlinksldjump" r:id="rId7"/>
          </p:cNvPr>
          <p:cNvSpPr/>
          <p:nvPr/>
        </p:nvSpPr>
        <p:spPr>
          <a:xfrm>
            <a:off x="457200" y="256032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Quiz géo  (10')</a:t>
            </a:r>
          </a:p>
        </p:txBody>
      </p:sp>
      <p:sp>
        <p:nvSpPr>
          <p:cNvPr id="38" name="Rounded Rectangle 37">
            <a:hlinkClick action="ppaction://hlinksldjump" r:id="rId8"/>
          </p:cNvPr>
          <p:cNvSpPr/>
          <p:nvPr/>
        </p:nvSpPr>
        <p:spPr>
          <a:xfrm>
            <a:off x="3291840" y="256032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Histoire &amp; données  (15')</a:t>
            </a:r>
          </a:p>
        </p:txBody>
      </p:sp>
      <p:sp>
        <p:nvSpPr>
          <p:cNvPr id="39" name="Rounded Rectangle 38">
            <a:hlinkClick action="ppaction://hlinksldjump" r:id="rId9"/>
          </p:cNvPr>
          <p:cNvSpPr/>
          <p:nvPr/>
        </p:nvSpPr>
        <p:spPr>
          <a:xfrm>
            <a:off x="6126480" y="256032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 Littoral &amp; intérieur  (30')</a:t>
            </a:r>
          </a:p>
        </p:txBody>
      </p:sp>
      <p:sp>
        <p:nvSpPr>
          <p:cNvPr id="40" name="Rounded Rectangle 39">
            <a:hlinkClick action="ppaction://hlinksldjump" r:id="rId10"/>
          </p:cNvPr>
          <p:cNvSpPr/>
          <p:nvPr/>
        </p:nvSpPr>
        <p:spPr>
          <a:xfrm>
            <a:off x="8961120" y="256032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Pause  (10')</a:t>
            </a:r>
          </a:p>
        </p:txBody>
      </p:sp>
      <p:sp>
        <p:nvSpPr>
          <p:cNvPr id="41" name="Rounded Rectangle 40">
            <a:hlinkClick action="ppaction://hlinksldjump" r:id="rId11"/>
          </p:cNvPr>
          <p:cNvSpPr/>
          <p:nvPr/>
        </p:nvSpPr>
        <p:spPr>
          <a:xfrm>
            <a:off x="457200" y="3749039"/>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III. Démographie &amp; émigration  (30')</a:t>
            </a:r>
          </a:p>
        </p:txBody>
      </p:sp>
      <p:sp>
        <p:nvSpPr>
          <p:cNvPr id="42" name="Rounded Rectangle 41">
            <a:hlinkClick action="ppaction://hlinksldjump" r:id="rId12"/>
          </p:cNvPr>
          <p:cNvSpPr/>
          <p:nvPr/>
        </p:nvSpPr>
        <p:spPr>
          <a:xfrm>
            <a:off x="3291840" y="3749039"/>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IV. Islam &amp; conflits  (30')</a:t>
            </a:r>
          </a:p>
        </p:txBody>
      </p:sp>
      <p:sp>
        <p:nvSpPr>
          <p:cNvPr id="43" name="Rounded Rectangle 42">
            <a:hlinkClick action="ppaction://hlinksldjump" r:id="rId13"/>
          </p:cNvPr>
          <p:cNvSpPr/>
          <p:nvPr/>
        </p:nvSpPr>
        <p:spPr>
          <a:xfrm>
            <a:off x="6126480" y="3749039"/>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Yasmine  (20')</a:t>
            </a:r>
          </a:p>
        </p:txBody>
      </p:sp>
      <p:sp>
        <p:nvSpPr>
          <p:cNvPr id="44" name="Rounded Rectangle 43">
            <a:hlinkClick action="ppaction://hlinksldjump" r:id="rId14"/>
          </p:cNvPr>
          <p:cNvSpPr/>
          <p:nvPr/>
        </p:nvSpPr>
        <p:spPr>
          <a:xfrm>
            <a:off x="8961120" y="3749039"/>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Cuisine &amp; culture  (10')</a:t>
            </a:r>
          </a:p>
        </p:txBody>
      </p:sp>
      <p:sp>
        <p:nvSpPr>
          <p:cNvPr id="45" name="Rounded Rectangle 44">
            <a:hlinkClick action="ppaction://hlinksldjump" r:id="rId15"/>
          </p:cNvPr>
          <p:cNvSpPr/>
          <p:nvPr/>
        </p:nvSpPr>
        <p:spPr>
          <a:xfrm>
            <a:off x="457200" y="493776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Jeux de mots  (10')</a:t>
            </a:r>
          </a:p>
        </p:txBody>
      </p:sp>
      <p:sp>
        <p:nvSpPr>
          <p:cNvPr id="46" name="Rounded Rectangle 45">
            <a:hlinkClick action="ppaction://hlinksldjump" r:id="rId16"/>
          </p:cNvPr>
          <p:cNvSpPr/>
          <p:nvPr/>
        </p:nvSpPr>
        <p:spPr>
          <a:xfrm>
            <a:off x="3291840" y="493776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Défi final  (5')</a:t>
            </a:r>
          </a:p>
        </p:txBody>
      </p:sp>
      <p:sp>
        <p:nvSpPr>
          <p:cNvPr id="47" name="Rounded Rectangle 46">
            <a:hlinkClick action="ppaction://hlinksldjump" r:id="rId17"/>
          </p:cNvPr>
          <p:cNvSpPr/>
          <p:nvPr/>
        </p:nvSpPr>
        <p:spPr>
          <a:xfrm>
            <a:off x="6126480" y="493776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Bilan  (5')</a:t>
            </a:r>
          </a:p>
        </p:txBody>
      </p:sp>
      <p:sp>
        <p:nvSpPr>
          <p:cNvPr id="48" name="TextBox 47"/>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4 h (3 séances)  •  Score des équipes au tableau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 Brise-glace : le Maghreb en 1 mot</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Tour de table : 1 mot, 1 image, 1 souvenir associé au Maghreb</a:t>
            </a:r>
          </a:p>
          <a:p>
            <a:pPr algn="l">
              <a:spcAft>
                <a:spcPts val="600"/>
              </a:spcAft>
              <a:defRPr sz="2200" b="0">
                <a:solidFill>
                  <a:srgbClr val="2B2B2B"/>
                </a:solidFill>
              </a:defRPr>
            </a:pPr>
            <a:r>
              <a:t>• On construit ensemble un nuage de mots au tableau ☁️</a:t>
            </a:r>
          </a:p>
          <a:p>
            <a:pPr algn="l">
              <a:spcAft>
                <a:spcPts val="600"/>
              </a:spcAft>
              <a:defRPr sz="2200" b="0">
                <a:solidFill>
                  <a:srgbClr val="2B2B2B"/>
                </a:solidFill>
              </a:defRPr>
            </a:pPr>
            <a:r>
              <a:t>• Formez 3 équipes : 🏔️ ATLAS  •  🏜️ SAHARA  •  🕌 MÉDINA</a:t>
            </a:r>
          </a:p>
          <a:p>
            <a:pPr algn="l">
              <a:spcAft>
                <a:spcPts val="600"/>
              </a:spcAft>
              <a:defRPr sz="2200" b="0">
                <a:solidFill>
                  <a:srgbClr val="2B2B2B"/>
                </a:solidFill>
              </a:defRPr>
            </a:pPr>
            <a:r>
              <a:t>• Chaque bonne réponse = 1 point — le score suit toute la séance !</a:t>
            </a:r>
          </a:p>
        </p:txBody>
      </p:sp>
      <p:sp>
        <p:nvSpPr>
          <p:cNvPr id="35" name="TextBox 34"/>
          <p:cNvSpPr txBox="1"/>
          <p:nvPr/>
        </p:nvSpPr>
        <p:spPr>
          <a:xfrm>
            <a:off x="640080" y="4937760"/>
            <a:ext cx="10972800" cy="914400"/>
          </a:xfrm>
          <a:prstGeom prst="rect">
            <a:avLst/>
          </a:prstGeom>
          <a:noFill/>
        </p:spPr>
        <p:txBody>
          <a:bodyPr wrap="square">
            <a:spAutoFit/>
          </a:bodyPr>
          <a:lstStyle/>
          <a:p>
            <a:pPr algn="l">
              <a:spcAft>
                <a:spcPts val="600"/>
              </a:spcAft>
              <a:defRPr sz="2000" b="1">
                <a:solidFill>
                  <a:srgbClr val="B84A1E"/>
                </a:solidFill>
              </a:defRPr>
            </a:pPr>
            <a:r>
              <a:t>« Maghreb » (المغرب) signifie en arabe : « le couchant », l'Occident — là où le soleil se couche.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Les autres paysages du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400" b="1">
                <a:solidFill>
                  <a:srgbClr val="1F4E79"/>
                </a:solidFill>
              </a:defRPr>
            </a:pPr>
            <a:r>
              <a:t>❓ Quels sont les autres massifs montagneux du Maghreb ?</a:t>
            </a:r>
          </a:p>
          <a:p>
            <a:pPr algn="l">
              <a:spcAft>
                <a:spcPts val="600"/>
              </a:spcAft>
              <a:defRPr sz="2400" b="1">
                <a:solidFill>
                  <a:srgbClr val="1F4E79"/>
                </a:solidFill>
              </a:defRPr>
            </a:pPr>
            <a:r>
              <a:t>❓ Par quoi se caractérise le littoral ?</a:t>
            </a:r>
          </a:p>
          <a:p>
            <a:pPr algn="l">
              <a:spcAft>
                <a:spcPts val="600"/>
              </a:spcAft>
              <a:defRPr sz="2400" b="1">
                <a:solidFill>
                  <a:srgbClr val="1F4E79"/>
                </a:solidFill>
              </a:defRPr>
            </a:pPr>
            <a:r>
              <a:t>❓ Qu'est-ce qui domine au Maghreb ?</a:t>
            </a:r>
          </a:p>
          <a:p>
            <a:pPr algn="l">
              <a:spcAft>
                <a:spcPts val="600"/>
              </a:spcAft>
              <a:defRPr sz="2400" b="1">
                <a:solidFill>
                  <a:srgbClr val="1F4E79"/>
                </a:solidFill>
              </a:defRPr>
            </a:pPr>
            <a:r>
              <a:t>❓ Comment se nomment les îlots de verdure dans le désert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222 :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2743200"/>
          </a:xfrm>
          <a:prstGeom prst="rect">
            <a:avLst/>
          </a:prstGeom>
          <a:noFill/>
        </p:spPr>
        <p:txBody>
          <a:bodyPr wrap="square">
            <a:spAutoFit/>
          </a:bodyPr>
          <a:lstStyle/>
          <a:p>
            <a:pPr algn="l">
              <a:spcAft>
                <a:spcPts val="600"/>
              </a:spcAft>
              <a:defRPr sz="2000" b="1">
                <a:solidFill>
                  <a:srgbClr val="1F4E79"/>
                </a:solidFill>
              </a:defRPr>
            </a:pPr>
            <a:r>
              <a:t>❓ Quel est le niveau des précipitations dans la région ?</a:t>
            </a:r>
          </a:p>
          <a:p>
            <a:pPr algn="l">
              <a:spcAft>
                <a:spcPts val="600"/>
              </a:spcAft>
              <a:defRPr sz="2000" b="1">
                <a:solidFill>
                  <a:srgbClr val="1F4E79"/>
                </a:solidFill>
              </a:defRPr>
            </a:pPr>
            <a:r>
              <a:t>❓ Où pleut-il le plus ?</a:t>
            </a:r>
          </a:p>
        </p:txBody>
      </p:sp>
      <p:sp>
        <p:nvSpPr>
          <p:cNvPr id="35" name="Rounded Rectangle 34">
            <a:hlinkClick action="ppaction://hlinksldjump" r:id="rId5"/>
          </p:cNvPr>
          <p:cNvSpPr/>
          <p:nvPr/>
        </p:nvSpPr>
        <p:spPr>
          <a:xfrm>
            <a:off x="6858000" y="3291840"/>
            <a:ext cx="237744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 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 des précipitations globalement faibles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200" b="0">
                <a:solidFill>
                  <a:srgbClr val="2B2B2B"/>
                </a:solidFill>
              </a:defRPr>
            </a:pPr>
            <a:r>
              <a:t>✅ Les précipitations sont globalement FAIBLES.</a:t>
            </a:r>
          </a:p>
          <a:p>
            <a:pPr algn="l">
              <a:spcAft>
                <a:spcPts val="600"/>
              </a:spcAft>
              <a:defRPr sz="2200" b="0">
                <a:solidFill>
                  <a:srgbClr val="2B2B2B"/>
                </a:solidFill>
              </a:defRPr>
            </a:pPr>
            <a:r>
              <a:t>• Plus de 300 mm/an seulement sur une étroite bande au nord (littoral, Atlas).</a:t>
            </a:r>
          </a:p>
          <a:p>
            <a:pPr algn="l">
              <a:spcAft>
                <a:spcPts val="600"/>
              </a:spcAft>
              <a:defRPr sz="2200" b="0">
                <a:solidFill>
                  <a:srgbClr val="2B2B2B"/>
                </a:solidFill>
              </a:defRPr>
            </a:pPr>
            <a:r>
              <a:t>• Moins de 150 mm/an dans le Sahara : un climat désertique.</a:t>
            </a:r>
          </a:p>
          <a:p>
            <a:pPr algn="l">
              <a:spcAft>
                <a:spcPts val="600"/>
              </a:spcAft>
              <a:defRPr sz="2200" b="0">
                <a:solidFill>
                  <a:srgbClr val="2B2B2B"/>
                </a:solidFill>
              </a:defRPr>
            </a:pPr>
            <a:r>
              <a:t>💡 Comparaison : Paris reçoit environ 640 mm de pluie par 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3657600"/>
          </a:xfrm>
          <a:prstGeom prst="rect">
            <a:avLst/>
          </a:prstGeom>
          <a:noFill/>
        </p:spPr>
        <p:txBody>
          <a:bodyPr wrap="square">
            <a:spAutoFit/>
          </a:bodyPr>
          <a:lstStyle/>
          <a:p>
            <a:pPr algn="l">
              <a:spcAft>
                <a:spcPts val="600"/>
              </a:spcAft>
              <a:defRPr sz="2400" b="1">
                <a:solidFill>
                  <a:srgbClr val="1F4E79"/>
                </a:solidFill>
              </a:defRPr>
            </a:pPr>
            <a:r>
              <a:t>❓ Cette faiblesse des précipitations est-elle généralisée ?</a:t>
            </a:r>
          </a:p>
          <a:p>
            <a:pPr algn="l">
              <a:spcAft>
                <a:spcPts val="600"/>
              </a:spcAft>
              <a:defRPr sz="2400" b="1">
                <a:solidFill>
                  <a:srgbClr val="1F4E79"/>
                </a:solidFill>
              </a:defRPr>
            </a:pPr>
            <a:r>
              <a:t>❓ Lesquelles des régions sont plus arrosées ?</a:t>
            </a:r>
          </a:p>
          <a:p>
            <a:pPr algn="l">
              <a:spcAft>
                <a:spcPts val="600"/>
              </a:spcAft>
              <a:defRPr sz="2400" b="1">
                <a:solidFill>
                  <a:srgbClr val="1F4E79"/>
                </a:solidFill>
              </a:defRPr>
            </a:pPr>
            <a:r>
              <a:t>❓ Quels sont les climats du Maghreb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Complète le tableau</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2606040"/>
            <a:ext cx="8503920" cy="640080"/>
          </a:xfrm>
          <a:prstGeom prst="rect">
            <a:avLst/>
          </a:prstGeom>
          <a:noFill/>
        </p:spPr>
        <p:txBody>
          <a:bodyPr wrap="square">
            <a:spAutoFit/>
          </a:bodyPr>
          <a:lstStyle/>
          <a:p>
            <a:pPr algn="ctr">
              <a:spcAft>
                <a:spcPts val="600"/>
              </a:spcAft>
              <a:defRPr sz="2200" b="0">
                <a:solidFill>
                  <a:srgbClr val="2B2B2B"/>
                </a:solidFill>
              </a:defRPr>
            </a:pPr>
            <a:r>
              <a:t>1. ……………………</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28800" y="3703320"/>
            <a:ext cx="8503920" cy="640080"/>
          </a:xfrm>
          <a:prstGeom prst="rect">
            <a:avLst/>
          </a:prstGeom>
          <a:noFill/>
        </p:spPr>
        <p:txBody>
          <a:bodyPr wrap="square">
            <a:spAutoFit/>
          </a:bodyPr>
          <a:lstStyle/>
          <a:p>
            <a:pPr algn="ctr">
              <a:spcAft>
                <a:spcPts val="600"/>
              </a:spcAft>
              <a:defRPr sz="2200" b="0">
                <a:solidFill>
                  <a:srgbClr val="2B2B2B"/>
                </a:solidFill>
              </a:defRPr>
            </a:pPr>
            <a:r>
              <a:t>2. ……………………</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28800" y="4800600"/>
            <a:ext cx="8503920" cy="640080"/>
          </a:xfrm>
          <a:prstGeom prst="rect">
            <a:avLst/>
          </a:prstGeom>
          <a:noFill/>
        </p:spPr>
        <p:txBody>
          <a:bodyPr wrap="square">
            <a:spAutoFit/>
          </a:bodyPr>
          <a:lstStyle/>
          <a:p>
            <a:pPr algn="ctr">
              <a:spcAft>
                <a:spcPts val="600"/>
              </a:spcAft>
              <a:defRPr sz="2200" b="0">
                <a:solidFill>
                  <a:srgbClr val="2B2B2B"/>
                </a:solidFill>
              </a:defRPr>
            </a:pPr>
            <a:r>
              <a:t>3. ……………………</a:t>
            </a:r>
          </a:p>
        </p:txBody>
      </p:sp>
      <p:sp>
        <p:nvSpPr>
          <p:cNvPr id="41" name="Rounded Rectangle 40">
            <a:hlinkClick action="ppaction://hlinksldjump" r:id="rId4"/>
          </p:cNvPr>
          <p:cNvSpPr/>
          <p:nvPr/>
        </p:nvSpPr>
        <p:spPr>
          <a:xfrm>
            <a:off x="8595360" y="5760720"/>
            <a:ext cx="256032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tableau</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Maghreb 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645920"/>
            <a:ext cx="10972800" cy="3657600"/>
          </a:xfrm>
          <a:prstGeom prst="rect">
            <a:avLst/>
          </a:prstGeom>
          <a:noFill/>
        </p:spPr>
        <p:txBody>
          <a:bodyPr wrap="square">
            <a:spAutoFit/>
          </a:bodyPr>
          <a:lstStyle/>
          <a:p>
            <a:pPr algn="l">
              <a:spcAft>
                <a:spcPts val="600"/>
              </a:spcAft>
              <a:defRPr sz="2400" b="0">
                <a:solidFill>
                  <a:srgbClr val="2B2B2B"/>
                </a:solidFill>
              </a:defRPr>
            </a:pPr>
            <a:r>
              <a:t>✅ La religion musulmane (islam) domine.</a:t>
            </a:r>
          </a:p>
          <a:p>
            <a:pPr algn="l">
              <a:spcAft>
                <a:spcPts val="600"/>
              </a:spcAft>
              <a:defRPr sz="2400" b="0">
                <a:solidFill>
                  <a:srgbClr val="2B2B2B"/>
                </a:solidFill>
              </a:defRPr>
            </a:pPr>
            <a:r>
              <a:t>✅ Depuis les VIIe–VIIIe siècles, avec les conquêtes arabo-musulmanes.</a:t>
            </a:r>
          </a:p>
          <a:p>
            <a:pPr algn="l">
              <a:spcAft>
                <a:spcPts val="600"/>
              </a:spcAft>
              <a:defRPr sz="2400" b="0">
                <a:solidFill>
                  <a:srgbClr val="2B2B2B"/>
                </a:solidFill>
              </a:defRPr>
            </a:pPr>
            <a:r>
              <a:t>🕋 Lieux saints de l'islam : La Mecque et Médine (Arabie saoudite).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Quels sont les deux peuples présents au Maghreb ?</a:t>
            </a:r>
          </a:p>
          <a:p>
            <a:pPr algn="l">
              <a:spcAft>
                <a:spcPts val="600"/>
              </a:spcAft>
              <a:defRPr sz="2000" b="0">
                <a:solidFill>
                  <a:srgbClr val="2B2B2B"/>
                </a:solidFill>
              </a:defRPr>
            </a:pPr>
            <a:r>
              <a:t>• 2. Où habitent les Berbères ? Cite 2 pays et 3 régions.</a:t>
            </a:r>
          </a:p>
          <a:p>
            <a:pPr algn="l">
              <a:spcAft>
                <a:spcPts val="600"/>
              </a:spcAft>
              <a:defRPr sz="2000" b="0">
                <a:solidFill>
                  <a:srgbClr val="2B2B2B"/>
                </a:solidFill>
              </a:defRPr>
            </a:pPr>
            <a:r>
              <a:t>• 3. Vrai/Faux : les Berbères ne parlent que le berbère. Justifie avec le texte.</a:t>
            </a:r>
          </a:p>
          <a:p>
            <a:pPr algn="l">
              <a:spcAft>
                <a:spcPts val="600"/>
              </a:spcAft>
              <a:defRPr sz="2000" b="0">
                <a:solidFill>
                  <a:srgbClr val="2B2B2B"/>
                </a:solidFill>
              </a:defRPr>
            </a:pPr>
            <a:r>
              <a:t>• 4. Quelle langue parle-t-on dans les villes ? Quelle exception ?</a:t>
            </a:r>
          </a:p>
          <a:p>
            <a:pPr algn="l">
              <a:spcAft>
                <a:spcPts val="600"/>
              </a:spcAft>
              <a:defRPr sz="2000" b="0">
                <a:solidFill>
                  <a:srgbClr val="2B2B2B"/>
                </a:solidFill>
              </a:defRPr>
            </a:pPr>
            <a:r>
              <a:t>• 5. Qu'est-ce que le « burnous » ?</a:t>
            </a:r>
          </a:p>
          <a:p>
            <a:pPr algn="l">
              <a:spcAft>
                <a:spcPts val="600"/>
              </a:spcAft>
              <a:defRPr sz="2000" b="0">
                <a:solidFill>
                  <a:srgbClr val="2B2B2B"/>
                </a:solidFill>
              </a:defRPr>
            </a:pPr>
            <a:r>
              <a:t>• 6. Quel est « le plat le plus prestigieux » ? De quoi est-il fait ?</a:t>
            </a:r>
          </a:p>
          <a:p>
            <a:pPr algn="l">
              <a:spcAft>
                <a:spcPts val="600"/>
              </a:spcAft>
              <a:defRPr sz="2000" b="0">
                <a:solidFill>
                  <a:srgbClr val="2B2B2B"/>
                </a:solidFill>
              </a:defRPr>
            </a:pPr>
            <a:r>
              <a:t>• 7. Qui est l'auteur ? En quelle année ?</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Trace écrite — B/ Le monde arabo-musulman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828800"/>
            <a:ext cx="11064240" cy="292608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2011680"/>
            <a:ext cx="10515600" cy="2743200"/>
          </a:xfrm>
          <a:prstGeom prst="rect">
            <a:avLst/>
          </a:prstGeom>
          <a:noFill/>
        </p:spPr>
        <p:txBody>
          <a:bodyPr wrap="square">
            <a:spAutoFit/>
          </a:bodyPr>
          <a:lstStyle/>
          <a:p>
            <a:pPr algn="l">
              <a:spcAft>
                <a:spcPts val="600"/>
              </a:spcAft>
              <a:defRPr sz="2200" b="1">
                <a:solidFill>
                  <a:srgbClr val="1A2FC8"/>
                </a:solidFill>
              </a:defRPr>
            </a:pPr>
            <a:r>
              <a:t>✏️ Trace écrite :</a:t>
            </a:r>
          </a:p>
          <a:p>
            <a:pPr algn="l">
              <a:spcAft>
                <a:spcPts val="600"/>
              </a:spcAft>
              <a:defRPr sz="2200" b="1">
                <a:solidFill>
                  <a:srgbClr val="1A2FC8"/>
                </a:solidFill>
              </a:defRPr>
            </a:pPr>
            <a:r>
              <a:t>La population du Maghreb est composée majoritairement d'Arabes, mais les Berbères sont également nombreux.</a:t>
            </a:r>
          </a:p>
          <a:p>
            <a:pPr algn="l">
              <a:spcAft>
                <a:spcPts val="600"/>
              </a:spcAft>
              <a:defRPr sz="2200" b="1">
                <a:solidFill>
                  <a:srgbClr val="1A2FC8"/>
                </a:solidFill>
              </a:defRPr>
            </a:pPr>
            <a:r>
              <a:t>La religion de la majorité de la population est l'islam.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Un littoral plus attractif que l'intérieur</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2 : littoral et intérieur</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en quoi le littoral est-il le cœur économique du Maghreb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La répartition de la population   •   B/ Un littoral plus développé</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4 p. 223 : la répartition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partition.png"/>
          <p:cNvPicPr>
            <a:picLocks noChangeAspect="1"/>
          </p:cNvPicPr>
          <p:nvPr/>
        </p:nvPicPr>
        <p:blipFill>
          <a:blip r:embed="rId2"/>
          <a:stretch>
            <a:fillRect/>
          </a:stretch>
        </p:blipFill>
        <p:spPr>
          <a:xfrm>
            <a:off x="457200" y="1280160"/>
            <a:ext cx="6105832" cy="4937760"/>
          </a:xfrm>
          <a:prstGeom prst="rect">
            <a:avLst/>
          </a:prstGeom>
        </p:spPr>
      </p:pic>
      <p:sp>
        <p:nvSpPr>
          <p:cNvPr id="34" name="TextBox 33"/>
          <p:cNvSpPr txBox="1"/>
          <p:nvPr/>
        </p:nvSpPr>
        <p:spPr>
          <a:xfrm>
            <a:off x="6837351" y="1371600"/>
            <a:ext cx="5049848" cy="4206240"/>
          </a:xfrm>
          <a:prstGeom prst="rect">
            <a:avLst/>
          </a:prstGeom>
          <a:noFill/>
        </p:spPr>
        <p:txBody>
          <a:bodyPr wrap="square">
            <a:spAutoFit/>
          </a:bodyPr>
          <a:lstStyle/>
          <a:p>
            <a:pPr algn="l">
              <a:spcAft>
                <a:spcPts val="600"/>
              </a:spcAft>
              <a:defRPr sz="1800" b="1">
                <a:solidFill>
                  <a:srgbClr val="1F4E79"/>
                </a:solidFill>
              </a:defRPr>
            </a:pPr>
            <a:r>
              <a:t>❓ D'après cette carte, où se concentre la population du Maghreb ?</a:t>
            </a:r>
          </a:p>
          <a:p>
            <a:pPr algn="l">
              <a:spcAft>
                <a:spcPts val="600"/>
              </a:spcAft>
              <a:defRPr sz="1800" b="1">
                <a:solidFill>
                  <a:srgbClr val="1F4E79"/>
                </a:solidFill>
              </a:defRPr>
            </a:pPr>
            <a:r>
              <a:t>❓ Quelles sont les densités à l'intérieur du territoire ?</a:t>
            </a:r>
          </a:p>
          <a:p>
            <a:pPr algn="l">
              <a:spcAft>
                <a:spcPts val="600"/>
              </a:spcAft>
              <a:defRPr sz="1800" b="1">
                <a:solidFill>
                  <a:srgbClr val="1F4E79"/>
                </a:solidFill>
              </a:defRPr>
            </a:pPr>
            <a:r>
              <a:t>❓ Quelles sont les causes de cette répartition ?</a:t>
            </a:r>
          </a:p>
          <a:p>
            <a:pPr algn="l">
              <a:spcAft>
                <a:spcPts val="600"/>
              </a:spcAft>
              <a:defRPr sz="1800" b="1">
                <a:solidFill>
                  <a:srgbClr val="1F4E79"/>
                </a:solidFill>
              </a:defRPr>
            </a:pPr>
            <a:r>
              <a:t>❓ Où se situent les villes ? Quelles sont les plus importantes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 répartition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Sur le littoral.</a:t>
            </a:r>
          </a:p>
          <a:p>
            <a:pPr algn="l">
              <a:spcAft>
                <a:spcPts val="600"/>
              </a:spcAft>
              <a:defRPr sz="1900" b="0">
                <a:solidFill>
                  <a:srgbClr val="2B2B2B"/>
                </a:solidFill>
              </a:defRPr>
            </a:pPr>
            <a:r>
              <a:t>✅ Très faibles (moins de 10 hab/km²).</a:t>
            </a:r>
          </a:p>
          <a:p>
            <a:pPr algn="l">
              <a:spcAft>
                <a:spcPts val="600"/>
              </a:spcAft>
              <a:defRPr sz="1900" b="0">
                <a:solidFill>
                  <a:srgbClr val="2B2B2B"/>
                </a:solidFill>
              </a:defRPr>
            </a:pPr>
            <a:r>
              <a:t>✅ Le désert fait fuir les populations.</a:t>
            </a:r>
          </a:p>
          <a:p>
            <a:pPr algn="l">
              <a:spcAft>
                <a:spcPts val="600"/>
              </a:spcAft>
              <a:defRPr sz="1900" b="0">
                <a:solidFill>
                  <a:srgbClr val="2B2B2B"/>
                </a:solidFill>
              </a:defRPr>
            </a:pPr>
            <a:r>
              <a:t>✅ Sur le littoral : Casablanca, Rabat, Alger ; puis Agadir, Tanger, Oran, Tunis.</a:t>
            </a:r>
          </a:p>
          <a:p>
            <a:pPr algn="l">
              <a:spcAft>
                <a:spcPts val="600"/>
              </a:spcAft>
              <a:defRPr sz="1900" b="0">
                <a:solidFill>
                  <a:srgbClr val="2B2B2B"/>
                </a:solidFill>
              </a:defRPr>
            </a:pPr>
            <a:r>
              <a:t>✅ ✏️ Sur ta carte : place les zones de fortes densités et les villes, complète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territoire du Maghreb est principalement occupé par le désert, très faiblement peuplé. Au contraire, le Maghreb littoral regroupe 80 % de la population.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Doc. 3 p. 227 : un gisement pétrolier au Sahara (Hassi Messaoud)</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457200" y="1280160"/>
            <a:ext cx="6583680" cy="4144725"/>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Où a été prise la photographie ?</a:t>
            </a:r>
          </a:p>
          <a:p>
            <a:pPr algn="l">
              <a:spcAft>
                <a:spcPts val="600"/>
              </a:spcAft>
              <a:defRPr sz="1800" b="1">
                <a:solidFill>
                  <a:srgbClr val="1F4E79"/>
                </a:solidFill>
              </a:defRPr>
            </a:pPr>
            <a:r>
              <a:t>❓ Décris ce que tu vois.</a:t>
            </a:r>
          </a:p>
          <a:p>
            <a:pPr algn="l">
              <a:spcAft>
                <a:spcPts val="600"/>
              </a:spcAft>
              <a:defRPr sz="1800" b="1">
                <a:solidFill>
                  <a:srgbClr val="1F4E79"/>
                </a:solidFill>
              </a:defRPr>
            </a:pPr>
            <a:r>
              <a:t>❓ Que produit-on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un gisement pétrolier au Sahara (Hassi Messaoud)</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Au Sahara (Algérie).</a:t>
            </a:r>
          </a:p>
          <a:p>
            <a:pPr algn="l">
              <a:spcAft>
                <a:spcPts val="600"/>
              </a:spcAft>
              <a:defRPr sz="1900" b="0">
                <a:solidFill>
                  <a:srgbClr val="2B2B2B"/>
                </a:solidFill>
              </a:defRPr>
            </a:pPr>
            <a:r>
              <a:t>✅ Un gisement : torchères, réservoirs, fumées.</a:t>
            </a:r>
          </a:p>
          <a:p>
            <a:pPr algn="l">
              <a:spcAft>
                <a:spcPts val="600"/>
              </a:spcAft>
              <a:defRPr sz="1900" b="0">
                <a:solidFill>
                  <a:srgbClr val="2B2B2B"/>
                </a:solidFill>
              </a:defRPr>
            </a:pPr>
            <a:r>
              <a:t>✅ Du pétrole.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227 : les ressources intérieures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ssources.png"/>
          <p:cNvPicPr>
            <a:picLocks noChangeAspect="1"/>
          </p:cNvPicPr>
          <p:nvPr/>
        </p:nvPicPr>
        <p:blipFill>
          <a:blip r:embed="rId2"/>
          <a:stretch>
            <a:fillRect/>
          </a:stretch>
        </p:blipFill>
        <p:spPr>
          <a:xfrm>
            <a:off x="457200" y="1280160"/>
            <a:ext cx="4693920" cy="4937760"/>
          </a:xfrm>
          <a:prstGeom prst="rect">
            <a:avLst/>
          </a:prstGeom>
        </p:spPr>
      </p:pic>
      <p:sp>
        <p:nvSpPr>
          <p:cNvPr id="34" name="TextBox 33"/>
          <p:cNvSpPr txBox="1"/>
          <p:nvPr/>
        </p:nvSpPr>
        <p:spPr>
          <a:xfrm>
            <a:off x="5425440" y="1371600"/>
            <a:ext cx="6461760" cy="4206240"/>
          </a:xfrm>
          <a:prstGeom prst="rect">
            <a:avLst/>
          </a:prstGeom>
          <a:noFill/>
        </p:spPr>
        <p:txBody>
          <a:bodyPr wrap="square">
            <a:spAutoFit/>
          </a:bodyPr>
          <a:lstStyle/>
          <a:p>
            <a:pPr algn="l">
              <a:spcAft>
                <a:spcPts val="600"/>
              </a:spcAft>
              <a:defRPr sz="1800" b="1">
                <a:solidFill>
                  <a:srgbClr val="1F4E79"/>
                </a:solidFill>
              </a:defRPr>
            </a:pPr>
            <a:r>
              <a:t>❓ Quels sont les grands gisements de pétrole ?</a:t>
            </a:r>
          </a:p>
          <a:p>
            <a:pPr algn="l">
              <a:spcAft>
                <a:spcPts val="600"/>
              </a:spcAft>
              <a:defRPr sz="1800" b="1">
                <a:solidFill>
                  <a:srgbClr val="1F4E79"/>
                </a:solidFill>
              </a:defRPr>
            </a:pPr>
            <a:r>
              <a:t>❓ Quels sont les autres gisements ?</a:t>
            </a:r>
          </a:p>
          <a:p>
            <a:pPr algn="l">
              <a:spcAft>
                <a:spcPts val="600"/>
              </a:spcAft>
              <a:defRPr sz="1800" b="1">
                <a:solidFill>
                  <a:srgbClr val="1F4E79"/>
                </a:solidFill>
              </a:defRPr>
            </a:pPr>
            <a:r>
              <a:t>❓ Comment appelle-t-on ces deux produits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ressources intérieures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Hassi Messaoud et Edjeleh.</a:t>
            </a:r>
          </a:p>
          <a:p>
            <a:pPr algn="l">
              <a:spcAft>
                <a:spcPts val="600"/>
              </a:spcAft>
              <a:defRPr sz="1900" b="0">
                <a:solidFill>
                  <a:srgbClr val="2B2B2B"/>
                </a:solidFill>
              </a:defRPr>
            </a:pPr>
            <a:r>
              <a:t>✅ Les gisements de gaz, comme Hassi R'Mel.</a:t>
            </a:r>
          </a:p>
          <a:p>
            <a:pPr algn="l">
              <a:spcAft>
                <a:spcPts val="600"/>
              </a:spcAft>
              <a:defRPr sz="1900" b="0">
                <a:solidFill>
                  <a:srgbClr val="2B2B2B"/>
                </a:solidFill>
              </a:defRPr>
            </a:pPr>
            <a:r>
              <a:t>✅ Des HYDROCARBURES (pétrole + gaz). 📖 Copie la définition.</a:t>
            </a:r>
          </a:p>
          <a:p>
            <a:pPr algn="l">
              <a:spcAft>
                <a:spcPts val="600"/>
              </a:spcAft>
              <a:defRPr sz="1900" b="0">
                <a:solidFill>
                  <a:srgbClr val="2B2B2B"/>
                </a:solidFill>
              </a:defRPr>
            </a:pPr>
            <a:r>
              <a:t>✅ ✏️ Place les gisements de pétrole sur ta carte et complète la légende.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229 : le développement du littoral</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littoral.png"/>
          <p:cNvPicPr>
            <a:picLocks noChangeAspect="1"/>
          </p:cNvPicPr>
          <p:nvPr/>
        </p:nvPicPr>
        <p:blipFill>
          <a:blip r:embed="rId2"/>
          <a:stretch>
            <a:fillRect/>
          </a:stretch>
        </p:blipFill>
        <p:spPr>
          <a:xfrm>
            <a:off x="457200" y="1280160"/>
            <a:ext cx="5788685" cy="4937760"/>
          </a:xfrm>
          <a:prstGeom prst="rect">
            <a:avLst/>
          </a:prstGeom>
        </p:spPr>
      </p:pic>
      <p:sp>
        <p:nvSpPr>
          <p:cNvPr id="34" name="TextBox 33"/>
          <p:cNvSpPr txBox="1"/>
          <p:nvPr/>
        </p:nvSpPr>
        <p:spPr>
          <a:xfrm>
            <a:off x="6520205" y="1371600"/>
            <a:ext cx="5366995" cy="4206240"/>
          </a:xfrm>
          <a:prstGeom prst="rect">
            <a:avLst/>
          </a:prstGeom>
          <a:noFill/>
        </p:spPr>
        <p:txBody>
          <a:bodyPr wrap="square">
            <a:spAutoFit/>
          </a:bodyPr>
          <a:lstStyle/>
          <a:p>
            <a:pPr algn="l">
              <a:spcAft>
                <a:spcPts val="600"/>
              </a:spcAft>
              <a:defRPr sz="1800" b="1">
                <a:solidFill>
                  <a:srgbClr val="1F4E79"/>
                </a:solidFill>
              </a:defRPr>
            </a:pPr>
            <a:r>
              <a:t>❓ Que devient le pétrole extrait dans le désert ?</a:t>
            </a:r>
          </a:p>
          <a:p>
            <a:pPr algn="l">
              <a:spcAft>
                <a:spcPts val="600"/>
              </a:spcAft>
              <a:defRPr sz="1800" b="1">
                <a:solidFill>
                  <a:srgbClr val="1F4E79"/>
                </a:solidFill>
              </a:defRPr>
            </a:pPr>
            <a:r>
              <a:t>❓ Où se situent les régions industrielles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développement du littoral</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Il est surtout exporté vers l'Europe, et utilisé dans les centres industriels.</a:t>
            </a:r>
          </a:p>
          <a:p>
            <a:pPr algn="l">
              <a:spcAft>
                <a:spcPts val="600"/>
              </a:spcAft>
              <a:defRPr sz="1900" b="0">
                <a:solidFill>
                  <a:srgbClr val="2B2B2B"/>
                </a:solidFill>
              </a:defRPr>
            </a:pPr>
            <a:r>
              <a:t>✅ Sur le littoral : Casablanca, Oran-Arzew, Alger, Annaba, Tunis…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3 p. 229 : le complexe industriel d'Arzew</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zew.png"/>
          <p:cNvPicPr>
            <a:picLocks noChangeAspect="1"/>
          </p:cNvPicPr>
          <p:nvPr/>
        </p:nvPicPr>
        <p:blipFill>
          <a:blip r:embed="rId2"/>
          <a:stretch>
            <a:fillRect/>
          </a:stretch>
        </p:blipFill>
        <p:spPr>
          <a:xfrm>
            <a:off x="457200" y="1280160"/>
            <a:ext cx="3619301" cy="4937760"/>
          </a:xfrm>
          <a:prstGeom prst="rect">
            <a:avLst/>
          </a:prstGeom>
        </p:spPr>
      </p:pic>
      <p:sp>
        <p:nvSpPr>
          <p:cNvPr id="34" name="TextBox 33"/>
          <p:cNvSpPr txBox="1"/>
          <p:nvPr/>
        </p:nvSpPr>
        <p:spPr>
          <a:xfrm>
            <a:off x="4350821" y="1371600"/>
            <a:ext cx="7536378" cy="4206240"/>
          </a:xfrm>
          <a:prstGeom prst="rect">
            <a:avLst/>
          </a:prstGeom>
          <a:noFill/>
        </p:spPr>
        <p:txBody>
          <a:bodyPr wrap="square">
            <a:spAutoFit/>
          </a:bodyPr>
          <a:lstStyle/>
          <a:p>
            <a:pPr algn="l">
              <a:spcAft>
                <a:spcPts val="600"/>
              </a:spcAft>
              <a:defRPr sz="1800" b="1">
                <a:solidFill>
                  <a:srgbClr val="1F4E79"/>
                </a:solidFill>
              </a:defRPr>
            </a:pPr>
            <a:r>
              <a:t>❓ Où se situe Arzew ?</a:t>
            </a:r>
          </a:p>
          <a:p>
            <a:pPr algn="l">
              <a:spcAft>
                <a:spcPts val="600"/>
              </a:spcAft>
              <a:defRPr sz="1800" b="1">
                <a:solidFill>
                  <a:srgbClr val="1F4E79"/>
                </a:solidFill>
              </a:defRPr>
            </a:pPr>
            <a:r>
              <a:t>❓ Quelle est la surface de la zone industrielle ?</a:t>
            </a:r>
          </a:p>
          <a:p>
            <a:pPr algn="l">
              <a:spcAft>
                <a:spcPts val="600"/>
              </a:spcAft>
              <a:defRPr sz="1800" b="1">
                <a:solidFill>
                  <a:srgbClr val="1F4E79"/>
                </a:solidFill>
              </a:defRPr>
            </a:pPr>
            <a:r>
              <a:t>❓ Combien de personnes y travaillent ?</a:t>
            </a:r>
          </a:p>
          <a:p>
            <a:pPr algn="l">
              <a:spcAft>
                <a:spcPts val="600"/>
              </a:spcAft>
              <a:defRPr sz="1800" b="1">
                <a:solidFill>
                  <a:srgbClr val="1F4E79"/>
                </a:solidFill>
              </a:defRPr>
            </a:pPr>
            <a:r>
              <a:t>❓ Quelles sont les activités d'Arzew ?</a:t>
            </a:r>
          </a:p>
          <a:p>
            <a:pPr algn="l">
              <a:spcAft>
                <a:spcPts val="600"/>
              </a:spcAft>
              <a:defRPr sz="1800" b="1">
                <a:solidFill>
                  <a:srgbClr val="1F4E79"/>
                </a:solidFill>
              </a:defRPr>
            </a:pPr>
            <a:r>
              <a:t>❓ Comment s'appelle ce type de centre industriel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complexe industriel d'Arzew</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Au nord de l'Algérie, sur le littoral.</a:t>
            </a:r>
          </a:p>
          <a:p>
            <a:pPr algn="l">
              <a:spcAft>
                <a:spcPts val="600"/>
              </a:spcAft>
              <a:defRPr sz="1900" b="0">
                <a:solidFill>
                  <a:srgbClr val="2B2B2B"/>
                </a:solidFill>
              </a:defRPr>
            </a:pPr>
            <a:r>
              <a:t>✅ 1 500 hectares.</a:t>
            </a:r>
          </a:p>
          <a:p>
            <a:pPr algn="l">
              <a:spcAft>
                <a:spcPts val="600"/>
              </a:spcAft>
              <a:defRPr sz="1900" b="0">
                <a:solidFill>
                  <a:srgbClr val="2B2B2B"/>
                </a:solidFill>
              </a:defRPr>
            </a:pPr>
            <a:r>
              <a:t>✅ 10 000 travailleurs.</a:t>
            </a:r>
          </a:p>
          <a:p>
            <a:pPr algn="l">
              <a:spcAft>
                <a:spcPts val="600"/>
              </a:spcAft>
              <a:defRPr sz="1900" b="0">
                <a:solidFill>
                  <a:srgbClr val="2B2B2B"/>
                </a:solidFill>
              </a:defRPr>
            </a:pPr>
            <a:r>
              <a:t>✅ Raffinage du pétrole, liquéfaction du gaz, puis exportation (port d'Arzew + Bethioua).</a:t>
            </a:r>
          </a:p>
          <a:p>
            <a:pPr algn="l">
              <a:spcAft>
                <a:spcPts val="600"/>
              </a:spcAft>
              <a:defRPr sz="1900" b="0">
                <a:solidFill>
                  <a:srgbClr val="2B2B2B"/>
                </a:solidFill>
              </a:defRPr>
            </a:pPr>
            <a:r>
              <a:t>✅ Un COMPLEXE INDUSTRIALO-PORTUAIRE. 📖 Copie la définition.</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Si le désert possède d'importantes réserves en hydrocarbures, ceux-ci sont acheminés vers les ports d'exportation et vers les complexes industrialo-portuaires.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228 : le conditionnement des agrumes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grumes.png"/>
          <p:cNvPicPr>
            <a:picLocks noChangeAspect="1"/>
          </p:cNvPicPr>
          <p:nvPr/>
        </p:nvPicPr>
        <p:blipFill>
          <a:blip r:embed="rId2"/>
          <a:stretch>
            <a:fillRect/>
          </a:stretch>
        </p:blipFill>
        <p:spPr>
          <a:xfrm>
            <a:off x="457200" y="1280160"/>
            <a:ext cx="4608576" cy="4937760"/>
          </a:xfrm>
          <a:prstGeom prst="rect">
            <a:avLst/>
          </a:prstGeom>
        </p:spPr>
      </p:pic>
      <p:sp>
        <p:nvSpPr>
          <p:cNvPr id="34" name="TextBox 33"/>
          <p:cNvSpPr txBox="1"/>
          <p:nvPr/>
        </p:nvSpPr>
        <p:spPr>
          <a:xfrm>
            <a:off x="5340096" y="1371600"/>
            <a:ext cx="6547104" cy="4206240"/>
          </a:xfrm>
          <a:prstGeom prst="rect">
            <a:avLst/>
          </a:prstGeom>
          <a:noFill/>
        </p:spPr>
        <p:txBody>
          <a:bodyPr wrap="square">
            <a:spAutoFit/>
          </a:bodyPr>
          <a:lstStyle/>
          <a:p>
            <a:pPr algn="l">
              <a:spcAft>
                <a:spcPts val="600"/>
              </a:spcAft>
              <a:defRPr sz="1800" b="1">
                <a:solidFill>
                  <a:srgbClr val="1F4E79"/>
                </a:solidFill>
              </a:defRPr>
            </a:pPr>
            <a:r>
              <a:t>❓ Décris l'image.</a:t>
            </a:r>
          </a:p>
          <a:p>
            <a:pPr algn="l">
              <a:spcAft>
                <a:spcPts val="600"/>
              </a:spcAft>
              <a:defRPr sz="1800" b="1">
                <a:solidFill>
                  <a:srgbClr val="1F4E79"/>
                </a:solidFill>
              </a:defRPr>
            </a:pPr>
            <a:r>
              <a:t>❓ Dans quel pays cela se situe-t-il ?</a:t>
            </a:r>
          </a:p>
          <a:p>
            <a:pPr algn="l">
              <a:spcAft>
                <a:spcPts val="600"/>
              </a:spcAft>
              <a:defRPr sz="1800" b="1">
                <a:solidFill>
                  <a:srgbClr val="1F4E79"/>
                </a:solidFill>
              </a:defRPr>
            </a:pPr>
            <a:r>
              <a:t>❓ Quels sont les agrumes ?</a:t>
            </a:r>
          </a:p>
          <a:p>
            <a:pPr algn="l">
              <a:spcAft>
                <a:spcPts val="600"/>
              </a:spcAft>
              <a:defRPr sz="1800" b="1">
                <a:solidFill>
                  <a:srgbClr val="1F4E79"/>
                </a:solidFill>
              </a:defRPr>
            </a:pPr>
            <a:r>
              <a:t>❓ Qui sont les travailleurs ?</a:t>
            </a:r>
          </a:p>
          <a:p>
            <a:pPr algn="l">
              <a:spcAft>
                <a:spcPts val="600"/>
              </a:spcAft>
              <a:defRPr sz="1800" b="1">
                <a:solidFill>
                  <a:srgbClr val="1F4E79"/>
                </a:solidFill>
              </a:defRPr>
            </a:pPr>
            <a:r>
              <a:t>❓ Où se situent les régions agricoles ? Quelles autres activités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conditionnement des agrumes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Une usine de traitement des agrumes (sélection, emballage).</a:t>
            </a:r>
          </a:p>
          <a:p>
            <a:pPr algn="l">
              <a:spcAft>
                <a:spcPts val="600"/>
              </a:spcAft>
              <a:defRPr sz="1900" b="0">
                <a:solidFill>
                  <a:srgbClr val="2B2B2B"/>
                </a:solidFill>
              </a:defRPr>
            </a:pPr>
            <a:r>
              <a:t>✅ Au Maroc.</a:t>
            </a:r>
          </a:p>
          <a:p>
            <a:pPr algn="l">
              <a:spcAft>
                <a:spcPts val="600"/>
              </a:spcAft>
              <a:defRPr sz="1900" b="0">
                <a:solidFill>
                  <a:srgbClr val="2B2B2B"/>
                </a:solidFill>
              </a:defRPr>
            </a:pPr>
            <a:r>
              <a:t>✅ Des oranges.</a:t>
            </a:r>
          </a:p>
          <a:p>
            <a:pPr algn="l">
              <a:spcAft>
                <a:spcPts val="600"/>
              </a:spcAft>
              <a:defRPr sz="1900" b="0">
                <a:solidFill>
                  <a:srgbClr val="2B2B2B"/>
                </a:solidFill>
              </a:defRPr>
            </a:pPr>
            <a:r>
              <a:t>✅ Surtout des femmes, des ouvrières.</a:t>
            </a:r>
          </a:p>
          <a:p>
            <a:pPr algn="l">
              <a:spcAft>
                <a:spcPts val="600"/>
              </a:spcAft>
              <a:defRPr sz="1900" b="0">
                <a:solidFill>
                  <a:srgbClr val="2B2B2B"/>
                </a:solidFill>
              </a:defRPr>
            </a:pPr>
            <a:r>
              <a:t>✅ Dans les plaines littorales : grande céréaliculture, viticulture. ✏️ Ajoute « agriculture moderne » à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littoral est aussi une région agricole où l'on pratique une agriculture moderne pour l'exportation.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5 et 6 p. 229 : le tourisme en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457200" y="1280160"/>
            <a:ext cx="6583680" cy="3884780"/>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Quand est apparu le tourisme en Tunisie ?</a:t>
            </a:r>
          </a:p>
          <a:p>
            <a:pPr algn="l">
              <a:spcAft>
                <a:spcPts val="600"/>
              </a:spcAft>
              <a:defRPr sz="1800" b="1">
                <a:solidFill>
                  <a:srgbClr val="1F4E79"/>
                </a:solidFill>
              </a:defRPr>
            </a:pPr>
            <a:r>
              <a:t>❓ Qui sont les touristes ?</a:t>
            </a:r>
          </a:p>
          <a:p>
            <a:pPr algn="l">
              <a:spcAft>
                <a:spcPts val="600"/>
              </a:spcAft>
              <a:defRPr sz="1800" b="1">
                <a:solidFill>
                  <a:srgbClr val="1F4E79"/>
                </a:solidFill>
              </a:defRPr>
            </a:pPr>
            <a:r>
              <a:t>❓ Quelle place a le tourisme dans l'économie ?</a:t>
            </a:r>
          </a:p>
          <a:p>
            <a:pPr algn="l">
              <a:spcAft>
                <a:spcPts val="600"/>
              </a:spcAft>
              <a:defRPr sz="1800" b="1">
                <a:solidFill>
                  <a:srgbClr val="1F4E79"/>
                </a:solidFill>
              </a:defRPr>
            </a:pPr>
            <a:r>
              <a:t>❓ Qu'est-ce qui attire les touristes ? Comment viennent-ils ?</a:t>
            </a:r>
          </a:p>
          <a:p>
            <a:pPr algn="l">
              <a:spcAft>
                <a:spcPts val="600"/>
              </a:spcAft>
              <a:defRPr sz="1800" b="1">
                <a:solidFill>
                  <a:srgbClr val="1F4E79"/>
                </a:solidFill>
              </a:defRPr>
            </a:pPr>
            <a:r>
              <a:t>❓ Quelles sont les grandes stations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tourisme en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Dans les années 1960.</a:t>
            </a:r>
          </a:p>
          <a:p>
            <a:pPr algn="l">
              <a:spcAft>
                <a:spcPts val="600"/>
              </a:spcAft>
              <a:defRPr sz="1900" b="0">
                <a:solidFill>
                  <a:srgbClr val="2B2B2B"/>
                </a:solidFill>
              </a:defRPr>
            </a:pPr>
            <a:r>
              <a:t>✅ Les Européens, puis les Algériens et Libyens, et les Tunisiens eux-mêmes.</a:t>
            </a:r>
          </a:p>
          <a:p>
            <a:pPr algn="l">
              <a:spcAft>
                <a:spcPts val="600"/>
              </a:spcAft>
              <a:defRPr sz="1900" b="0">
                <a:solidFill>
                  <a:srgbClr val="2B2B2B"/>
                </a:solidFill>
              </a:defRPr>
            </a:pPr>
            <a:r>
              <a:t>✅ Une place importante (5e–6e rang méditerranéen).</a:t>
            </a:r>
          </a:p>
          <a:p>
            <a:pPr algn="l">
              <a:spcAft>
                <a:spcPts val="600"/>
              </a:spcAft>
              <a:defRPr sz="1900" b="0">
                <a:solidFill>
                  <a:srgbClr val="2B2B2B"/>
                </a:solidFill>
              </a:defRPr>
            </a:pPr>
            <a:r>
              <a:t>✅ Le soleil, la mer ; ils viennent en avion (aéroport nécessaire).</a:t>
            </a:r>
          </a:p>
          <a:p>
            <a:pPr algn="l">
              <a:spcAft>
                <a:spcPts val="600"/>
              </a:spcAft>
              <a:defRPr sz="1900" b="0">
                <a:solidFill>
                  <a:srgbClr val="2B2B2B"/>
                </a:solidFill>
              </a:defRPr>
            </a:pPr>
            <a:r>
              <a:t>✅ Hammamet et Monastir.</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les années 1960, le Maroc et la Tunisie se sont lancés dans l'activité touristique.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Les problèmes démographiques et sociaux</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3</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quels sont les problèmes du Maghreb d'aujourd'hui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Une population en augmentation   •   B/ Un foyer d'émigration vers l'Europe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1 p. 224 : l'évolution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evolution.png"/>
          <p:cNvPicPr>
            <a:picLocks noChangeAspect="1"/>
          </p:cNvPicPr>
          <p:nvPr/>
        </p:nvPicPr>
        <p:blipFill>
          <a:blip r:embed="rId2"/>
          <a:stretch>
            <a:fillRect/>
          </a:stretch>
        </p:blipFill>
        <p:spPr>
          <a:xfrm>
            <a:off x="457200" y="1280160"/>
            <a:ext cx="5523596" cy="4937760"/>
          </a:xfrm>
          <a:prstGeom prst="rect">
            <a:avLst/>
          </a:prstGeom>
        </p:spPr>
      </p:pic>
      <p:sp>
        <p:nvSpPr>
          <p:cNvPr id="34" name="TextBox 33"/>
          <p:cNvSpPr txBox="1"/>
          <p:nvPr/>
        </p:nvSpPr>
        <p:spPr>
          <a:xfrm>
            <a:off x="6255116" y="1371600"/>
            <a:ext cx="5632084" cy="4206240"/>
          </a:xfrm>
          <a:prstGeom prst="rect">
            <a:avLst/>
          </a:prstGeom>
          <a:noFill/>
        </p:spPr>
        <p:txBody>
          <a:bodyPr wrap="square">
            <a:spAutoFit/>
          </a:bodyPr>
          <a:lstStyle/>
          <a:p>
            <a:pPr algn="l">
              <a:spcAft>
                <a:spcPts val="600"/>
              </a:spcAft>
              <a:defRPr sz="1800" b="1">
                <a:solidFill>
                  <a:srgbClr val="1F4E79"/>
                </a:solidFill>
              </a:defRPr>
            </a:pPr>
            <a:r>
              <a:t>❓ Quelle est la population des trois pays en 2000 ?</a:t>
            </a:r>
          </a:p>
          <a:p>
            <a:pPr algn="l">
              <a:spcAft>
                <a:spcPts val="600"/>
              </a:spcAft>
              <a:defRPr sz="1800" b="1">
                <a:solidFill>
                  <a:srgbClr val="1F4E79"/>
                </a:solidFill>
              </a:defRPr>
            </a:pPr>
            <a:r>
              <a:t>❓ Comment a-t-elle évolué depuis 1950 ?</a:t>
            </a:r>
          </a:p>
          <a:p>
            <a:pPr algn="l">
              <a:spcAft>
                <a:spcPts val="600"/>
              </a:spcAft>
              <a:defRPr sz="1800" b="1">
                <a:solidFill>
                  <a:srgbClr val="1F4E79"/>
                </a:solidFill>
              </a:defRPr>
            </a:pPr>
            <a:r>
              <a:t>❓ 🎲 Défi calcul : par combien la population de l'Algérie a-t-elle été multipliée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l'évolution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Algérie : 31 M • Maroc : 30 M • Tunisie : 9,5 M.</a:t>
            </a:r>
          </a:p>
          <a:p>
            <a:pPr algn="l">
              <a:spcAft>
                <a:spcPts val="600"/>
              </a:spcAft>
              <a:defRPr sz="1900" b="0">
                <a:solidFill>
                  <a:srgbClr val="2B2B2B"/>
                </a:solidFill>
              </a:defRPr>
            </a:pPr>
            <a:r>
              <a:t>✅ Elle a fortement augmenté : environ × 3 en 50 ans.</a:t>
            </a:r>
          </a:p>
          <a:p>
            <a:pPr algn="l">
              <a:spcAft>
                <a:spcPts val="600"/>
              </a:spcAft>
              <a:defRPr sz="1900" b="0">
                <a:solidFill>
                  <a:srgbClr val="2B2B2B"/>
                </a:solidFill>
              </a:defRPr>
            </a:pPr>
            <a:r>
              <a:t>✅ 9 M → 31 M : environ × 3,4.</a:t>
            </a:r>
          </a:p>
          <a:p>
            <a:pPr algn="l">
              <a:spcAft>
                <a:spcPts val="600"/>
              </a:spcAft>
              <a:defRPr sz="1900" b="0">
                <a:solidFill>
                  <a:srgbClr val="2B2B2B"/>
                </a:solidFill>
              </a:defRPr>
            </a:pPr>
            <a:r>
              <a:t>✅ 💡 Aujourd'hui : Algérie ≈ 46 M, Maroc ≈ 37 M, Tunisie ≈ 12 M.</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compte environ 70 millions d'habitants (en 2000). La population a fortement augmenté depuis 50 ans.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2 p. 224 : de lourdes conséquences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nsequences.png"/>
          <p:cNvPicPr>
            <a:picLocks noChangeAspect="1"/>
          </p:cNvPicPr>
          <p:nvPr/>
        </p:nvPicPr>
        <p:blipFill>
          <a:blip r:embed="rId2"/>
          <a:stretch>
            <a:fillRect/>
          </a:stretch>
        </p:blipFill>
        <p:spPr>
          <a:xfrm>
            <a:off x="457200" y="1280160"/>
            <a:ext cx="2803310" cy="4937760"/>
          </a:xfrm>
          <a:prstGeom prst="rect">
            <a:avLst/>
          </a:prstGeom>
        </p:spPr>
      </p:pic>
      <p:sp>
        <p:nvSpPr>
          <p:cNvPr id="34" name="TextBox 33"/>
          <p:cNvSpPr txBox="1"/>
          <p:nvPr/>
        </p:nvSpPr>
        <p:spPr>
          <a:xfrm>
            <a:off x="3534830" y="1371600"/>
            <a:ext cx="8352369" cy="4206240"/>
          </a:xfrm>
          <a:prstGeom prst="rect">
            <a:avLst/>
          </a:prstGeom>
          <a:noFill/>
        </p:spPr>
        <p:txBody>
          <a:bodyPr wrap="square">
            <a:spAutoFit/>
          </a:bodyPr>
          <a:lstStyle/>
          <a:p>
            <a:pPr algn="l">
              <a:spcAft>
                <a:spcPts val="600"/>
              </a:spcAft>
              <a:defRPr sz="1800" b="1">
                <a:solidFill>
                  <a:srgbClr val="1F4E79"/>
                </a:solidFill>
              </a:defRPr>
            </a:pPr>
            <a:r>
              <a:t>❓ Évolution des effectifs scolaires algériens entre 1966 et 1988 ?</a:t>
            </a:r>
          </a:p>
          <a:p>
            <a:pPr algn="l">
              <a:spcAft>
                <a:spcPts val="600"/>
              </a:spcAft>
              <a:defRPr sz="1800" b="1">
                <a:solidFill>
                  <a:srgbClr val="1F4E79"/>
                </a:solidFill>
              </a:defRPr>
            </a:pPr>
            <a:r>
              <a:t>❓ Quelle part du budget de l'État va à l'éducation ?</a:t>
            </a:r>
          </a:p>
          <a:p>
            <a:pPr algn="l">
              <a:spcAft>
                <a:spcPts val="600"/>
              </a:spcAft>
              <a:defRPr sz="1800" b="1">
                <a:solidFill>
                  <a:srgbClr val="1F4E79"/>
                </a:solidFill>
              </a:defRPr>
            </a:pPr>
            <a:r>
              <a:t>❓ Tout le monde est-il scolarisé ? Dans quelles conditions ?</a:t>
            </a:r>
          </a:p>
          <a:p>
            <a:pPr algn="l">
              <a:spcAft>
                <a:spcPts val="600"/>
              </a:spcAft>
              <a:defRPr sz="1800" b="1">
                <a:solidFill>
                  <a:srgbClr val="1F4E79"/>
                </a:solidFill>
              </a:defRPr>
            </a:pPr>
            <a:r>
              <a:t>❓ Quelle est la 2e conséquence de la hausse du nombre de jeunes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lourdes conséquences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 1,5 million à plus de 6 millions d'élèves.</a:t>
            </a:r>
          </a:p>
          <a:p>
            <a:pPr algn="l">
              <a:spcAft>
                <a:spcPts val="600"/>
              </a:spcAft>
              <a:defRPr sz="1900" b="0">
                <a:solidFill>
                  <a:srgbClr val="2B2B2B"/>
                </a:solidFill>
              </a:defRPr>
            </a:pPr>
            <a:r>
              <a:t>✅ 30 %, c'est-à-dire beaucoup.</a:t>
            </a:r>
          </a:p>
          <a:p>
            <a:pPr algn="l">
              <a:spcAft>
                <a:spcPts val="600"/>
              </a:spcAft>
              <a:defRPr sz="1900" b="0">
                <a:solidFill>
                  <a:srgbClr val="2B2B2B"/>
                </a:solidFill>
              </a:defRPr>
            </a:pPr>
            <a:r>
              <a:t>✅ Non, seulement 80 % des jeunes, dans de mauvaises conditions.</a:t>
            </a:r>
          </a:p>
          <a:p>
            <a:pPr algn="l">
              <a:spcAft>
                <a:spcPts val="600"/>
              </a:spcAft>
              <a:defRPr sz="1900" b="0">
                <a:solidFill>
                  <a:srgbClr val="2B2B2B"/>
                </a:solidFill>
              </a:defRPr>
            </a:pPr>
            <a:r>
              <a:t>✅ Le chômage : 250 000 jeunes arrivent chaque année sur le marché du travail, mais seulement 80 000 emplois créés.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225 : le taux d'urbanisation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urbanisation.png"/>
          <p:cNvPicPr>
            <a:picLocks noChangeAspect="1"/>
          </p:cNvPicPr>
          <p:nvPr/>
        </p:nvPicPr>
        <p:blipFill>
          <a:blip r:embed="rId2"/>
          <a:stretch>
            <a:fillRect/>
          </a:stretch>
        </p:blipFill>
        <p:spPr>
          <a:xfrm>
            <a:off x="457200" y="1280160"/>
            <a:ext cx="5203231" cy="4937760"/>
          </a:xfrm>
          <a:prstGeom prst="rect">
            <a:avLst/>
          </a:prstGeom>
        </p:spPr>
      </p:pic>
      <p:sp>
        <p:nvSpPr>
          <p:cNvPr id="34" name="TextBox 33"/>
          <p:cNvSpPr txBox="1"/>
          <p:nvPr/>
        </p:nvSpPr>
        <p:spPr>
          <a:xfrm>
            <a:off x="5934751" y="1371600"/>
            <a:ext cx="5952449" cy="4206240"/>
          </a:xfrm>
          <a:prstGeom prst="rect">
            <a:avLst/>
          </a:prstGeom>
          <a:noFill/>
        </p:spPr>
        <p:txBody>
          <a:bodyPr wrap="square">
            <a:spAutoFit/>
          </a:bodyPr>
          <a:lstStyle/>
          <a:p>
            <a:pPr algn="l">
              <a:spcAft>
                <a:spcPts val="600"/>
              </a:spcAft>
              <a:defRPr sz="1800" b="1">
                <a:solidFill>
                  <a:srgbClr val="1F4E79"/>
                </a:solidFill>
              </a:defRPr>
            </a:pPr>
            <a:r>
              <a:t>❓ Comment a évolué la population urbaine ?</a:t>
            </a:r>
          </a:p>
          <a:p>
            <a:pPr algn="l">
              <a:spcAft>
                <a:spcPts val="600"/>
              </a:spcAft>
              <a:defRPr sz="1800" b="1">
                <a:solidFill>
                  <a:srgbClr val="1F4E79"/>
                </a:solidFill>
              </a:defRPr>
            </a:pPr>
            <a:r>
              <a:t>❓ À quoi ce phénomène est-il dû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taux d'urbanisation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d'environ 40 % à près de 60 % de la population (1970 → 2000).</a:t>
            </a:r>
          </a:p>
          <a:p>
            <a:pPr algn="l">
              <a:spcAft>
                <a:spcPts val="600"/>
              </a:spcAft>
              <a:defRPr sz="1900" b="0">
                <a:solidFill>
                  <a:srgbClr val="2B2B2B"/>
                </a:solidFill>
              </a:defRPr>
            </a:pPr>
            <a:r>
              <a:t>✅ Au chômage dans les campagnes (exode rural) et à la forte croissance de la population.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6 p. 225 : les problèmes dans les villes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villes.png"/>
          <p:cNvPicPr>
            <a:picLocks noChangeAspect="1"/>
          </p:cNvPicPr>
          <p:nvPr/>
        </p:nvPicPr>
        <p:blipFill>
          <a:blip r:embed="rId2"/>
          <a:stretch>
            <a:fillRect/>
          </a:stretch>
        </p:blipFill>
        <p:spPr>
          <a:xfrm>
            <a:off x="457200" y="1280160"/>
            <a:ext cx="2587386" cy="4937760"/>
          </a:xfrm>
          <a:prstGeom prst="rect">
            <a:avLst/>
          </a:prstGeom>
        </p:spPr>
      </p:pic>
      <p:sp>
        <p:nvSpPr>
          <p:cNvPr id="34" name="TextBox 33"/>
          <p:cNvSpPr txBox="1"/>
          <p:nvPr/>
        </p:nvSpPr>
        <p:spPr>
          <a:xfrm>
            <a:off x="3318906" y="1371600"/>
            <a:ext cx="8568294" cy="4206240"/>
          </a:xfrm>
          <a:prstGeom prst="rect">
            <a:avLst/>
          </a:prstGeom>
          <a:noFill/>
        </p:spPr>
        <p:txBody>
          <a:bodyPr wrap="square">
            <a:spAutoFit/>
          </a:bodyPr>
          <a:lstStyle/>
          <a:p>
            <a:pPr algn="l">
              <a:spcAft>
                <a:spcPts val="600"/>
              </a:spcAft>
              <a:defRPr sz="1800" b="1">
                <a:solidFill>
                  <a:srgbClr val="1F4E79"/>
                </a:solidFill>
              </a:defRPr>
            </a:pPr>
            <a:r>
              <a:t>❓ Quels problèmes la forte urbanisation a-t-elle entraînés ?</a:t>
            </a:r>
          </a:p>
          <a:p>
            <a:pPr algn="l">
              <a:spcAft>
                <a:spcPts val="600"/>
              </a:spcAft>
              <a:defRPr sz="1800" b="1">
                <a:solidFill>
                  <a:srgbClr val="1F4E79"/>
                </a:solidFill>
              </a:defRPr>
            </a:pPr>
            <a:r>
              <a:t>❓ Combien de personnes par logement en moyenne ?</a:t>
            </a:r>
          </a:p>
          <a:p>
            <a:pPr algn="l">
              <a:spcAft>
                <a:spcPts val="600"/>
              </a:spcAft>
              <a:defRPr sz="1800" b="1">
                <a:solidFill>
                  <a:srgbClr val="1F4E79"/>
                </a:solidFill>
              </a:defRPr>
            </a:pPr>
            <a:r>
              <a:t>❓ Où se concentrent les mécontentements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problèmes dans les villes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Logement (bidonvilles), circulation, transports, manque d'emplois.</a:t>
            </a:r>
          </a:p>
          <a:p>
            <a:pPr algn="l">
              <a:spcAft>
                <a:spcPts val="600"/>
              </a:spcAft>
              <a:defRPr sz="1900" b="0">
                <a:solidFill>
                  <a:srgbClr val="2B2B2B"/>
                </a:solidFill>
              </a:defRPr>
            </a:pPr>
            <a:r>
              <a:t>✅ 8 personnes par logement.</a:t>
            </a:r>
          </a:p>
          <a:p>
            <a:pPr algn="l">
              <a:spcAft>
                <a:spcPts val="600"/>
              </a:spcAft>
              <a:defRPr sz="1900" b="0">
                <a:solidFill>
                  <a:srgbClr val="2B2B2B"/>
                </a:solidFill>
              </a:defRPr>
            </a:pPr>
            <a:r>
              <a:t>✅ Dans les quartiers pauvres des villes : « la poudrière du pays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 les conséquences de la croissance démographique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a:hlinkClick action="ppaction://hlinksldjump" r:id="rId4"/>
          </p:cNvPr>
          <p:cNvSpPr/>
          <p:nvPr/>
        </p:nvSpPr>
        <p:spPr>
          <a:xfrm>
            <a:off x="73152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1</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a:hlinkClick action="ppaction://hlinksldjump" r:id="rId4"/>
          </p:cNvPr>
          <p:cNvSpPr/>
          <p:nvPr/>
        </p:nvSpPr>
        <p:spPr>
          <a:xfrm>
            <a:off x="4480559"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2</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a:hlinkClick action="ppaction://hlinksldjump" r:id="rId4"/>
          </p:cNvPr>
          <p:cNvSpPr/>
          <p:nvPr/>
        </p:nvSpPr>
        <p:spPr>
          <a:xfrm>
            <a:off x="822960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complété</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3152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Scolarisation de tous les enfants difficile</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80559"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Exode rural, forte croissance urbaine, bidonvilles</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22960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Chômage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 C.E. — Doc. 2 p. 230 : les migrations au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igrations.png"/>
          <p:cNvPicPr>
            <a:picLocks noChangeAspect="1"/>
          </p:cNvPicPr>
          <p:nvPr/>
        </p:nvPicPr>
        <p:blipFill>
          <a:blip r:embed="rId2"/>
          <a:stretch>
            <a:fillRect/>
          </a:stretch>
        </p:blipFill>
        <p:spPr>
          <a:xfrm>
            <a:off x="457200" y="1280160"/>
            <a:ext cx="3271266" cy="4937760"/>
          </a:xfrm>
          <a:prstGeom prst="rect">
            <a:avLst/>
          </a:prstGeom>
        </p:spPr>
      </p:pic>
      <p:sp>
        <p:nvSpPr>
          <p:cNvPr id="34" name="TextBox 33"/>
          <p:cNvSpPr txBox="1"/>
          <p:nvPr/>
        </p:nvSpPr>
        <p:spPr>
          <a:xfrm>
            <a:off x="4002786" y="1371600"/>
            <a:ext cx="7884413" cy="4206240"/>
          </a:xfrm>
          <a:prstGeom prst="rect">
            <a:avLst/>
          </a:prstGeom>
          <a:noFill/>
        </p:spPr>
        <p:txBody>
          <a:bodyPr wrap="square">
            <a:spAutoFit/>
          </a:bodyPr>
          <a:lstStyle/>
          <a:p>
            <a:pPr algn="l">
              <a:spcAft>
                <a:spcPts val="600"/>
              </a:spcAft>
              <a:defRPr sz="1800" b="1">
                <a:solidFill>
                  <a:srgbClr val="1F4E79"/>
                </a:solidFill>
              </a:defRPr>
            </a:pPr>
            <a:r>
              <a:t>❓ Face à la pauvreté, que fait une partie de la population ?</a:t>
            </a:r>
          </a:p>
          <a:p>
            <a:pPr algn="l">
              <a:spcAft>
                <a:spcPts val="600"/>
              </a:spcAft>
              <a:defRPr sz="1800" b="1">
                <a:solidFill>
                  <a:srgbClr val="1F4E79"/>
                </a:solidFill>
              </a:defRPr>
            </a:pPr>
            <a:r>
              <a:t>❓ Quelles sont les motivations ?</a:t>
            </a:r>
          </a:p>
          <a:p>
            <a:pPr algn="l">
              <a:spcAft>
                <a:spcPts val="600"/>
              </a:spcAft>
              <a:defRPr sz="1800" b="1">
                <a:solidFill>
                  <a:srgbClr val="1F4E79"/>
                </a:solidFill>
              </a:defRPr>
            </a:pPr>
            <a:r>
              <a:t>❓ Vers quels pays se dirigent les émigrés ?</a:t>
            </a:r>
          </a:p>
          <a:p>
            <a:pPr algn="l">
              <a:spcAft>
                <a:spcPts val="600"/>
              </a:spcAft>
              <a:defRPr sz="1800" b="1">
                <a:solidFill>
                  <a:srgbClr val="1F4E79"/>
                </a:solidFill>
              </a:defRPr>
            </a:pPr>
            <a:r>
              <a:t>❓ Ce phénomène est-il du passé ou du présent ?</a:t>
            </a:r>
          </a:p>
          <a:p>
            <a:pPr algn="l">
              <a:spcAft>
                <a:spcPts val="600"/>
              </a:spcAft>
              <a:defRPr sz="1800" b="1">
                <a:solidFill>
                  <a:srgbClr val="1F4E79"/>
                </a:solidFill>
              </a:defRPr>
            </a:pPr>
            <a:r>
              <a:t>❓ Quelle part des revenus du Maroc représentait l'argent envoyé en 1993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migrations au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Elle émigre vers l'Europe.</a:t>
            </a:r>
          </a:p>
          <a:p>
            <a:pPr algn="l">
              <a:spcAft>
                <a:spcPts val="600"/>
              </a:spcAft>
              <a:defRPr sz="1900" b="0">
                <a:solidFill>
                  <a:srgbClr val="2B2B2B"/>
                </a:solidFill>
              </a:defRPr>
            </a:pPr>
            <a:r>
              <a:t>✅ Le travail.</a:t>
            </a:r>
          </a:p>
          <a:p>
            <a:pPr algn="l">
              <a:spcAft>
                <a:spcPts val="600"/>
              </a:spcAft>
              <a:defRPr sz="1900" b="0">
                <a:solidFill>
                  <a:srgbClr val="2B2B2B"/>
                </a:solidFill>
              </a:defRPr>
            </a:pPr>
            <a:r>
              <a:t>✅ La France, le Benelux, l'Italie et l'Espagne.</a:t>
            </a:r>
          </a:p>
          <a:p>
            <a:pPr algn="l">
              <a:spcAft>
                <a:spcPts val="600"/>
              </a:spcAft>
              <a:defRPr sz="1900" b="0">
                <a:solidFill>
                  <a:srgbClr val="2B2B2B"/>
                </a:solidFill>
              </a:defRPr>
            </a:pPr>
            <a:r>
              <a:t>✅ Surtout du passé : l'Europe a fermé ses frontières ; aujourd'hui surtout regroupement familial (et clandestins).</a:t>
            </a:r>
          </a:p>
          <a:p>
            <a:pPr algn="l">
              <a:spcAft>
                <a:spcPts val="600"/>
              </a:spcAft>
              <a:defRPr sz="1900" b="0">
                <a:solidFill>
                  <a:srgbClr val="2B2B2B"/>
                </a:solidFill>
              </a:defRPr>
            </a:pPr>
            <a:r>
              <a:t>✅ 7,5 % (4,5 % pour la Tunisie, 2,5 % pour l'Algérie).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environ 40 ans, beaucoup de Maghrébins ont choisi d'émigrer vers l'Europe pour travailler. Aujourd'hui, l'Europe a fermé ses frontières et seul le regroupement familial est autorisé. Certains tentent toutefois encore d'émigrer : on parle de clandestins.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Islam, Moyen-Orient et conflits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011680"/>
            <a:ext cx="10972800" cy="914400"/>
          </a:xfrm>
          <a:prstGeom prst="rect">
            <a:avLst/>
          </a:prstGeom>
          <a:noFill/>
        </p:spPr>
        <p:txBody>
          <a:bodyPr wrap="square">
            <a:spAutoFit/>
          </a:bodyPr>
          <a:lstStyle/>
          <a:p>
            <a:pPr algn="ctr">
              <a:spcAft>
                <a:spcPts val="600"/>
              </a:spcAft>
              <a:defRPr sz="3400" b="1">
                <a:solidFill>
                  <a:srgbClr val="E0A11B"/>
                </a:solidFill>
              </a:defRPr>
            </a:pPr>
            <a:r>
              <a:t>Une région riche d'histoire… mais aussi de tensions</a:t>
            </a:r>
          </a:p>
        </p:txBody>
      </p:sp>
      <p:sp>
        <p:nvSpPr>
          <p:cNvPr id="35" name="TextBox 34"/>
          <p:cNvSpPr txBox="1"/>
          <p:nvPr/>
        </p:nvSpPr>
        <p:spPr>
          <a:xfrm>
            <a:off x="548640" y="3291840"/>
            <a:ext cx="10972800" cy="1371600"/>
          </a:xfrm>
          <a:prstGeom prst="rect">
            <a:avLst/>
          </a:prstGeom>
          <a:noFill/>
        </p:spPr>
        <p:txBody>
          <a:bodyPr wrap="square">
            <a:spAutoFit/>
          </a:bodyPr>
          <a:lstStyle/>
          <a:p>
            <a:pPr algn="ctr">
              <a:spcAft>
                <a:spcPts val="600"/>
              </a:spcAft>
              <a:defRPr sz="2200" b="0">
                <a:solidFill>
                  <a:srgbClr val="FFFFFF"/>
                </a:solidFill>
              </a:defRPr>
            </a:pPr>
            <a:r>
              <a:t>A/ L'arrivée de l'islam   •   B/ Sunnites et chiites</a:t>
            </a:r>
          </a:p>
          <a:p>
            <a:pPr algn="ctr">
              <a:spcAft>
                <a:spcPts val="600"/>
              </a:spcAft>
              <a:defRPr sz="2200" b="0">
                <a:solidFill>
                  <a:srgbClr val="FFFFFF"/>
                </a:solidFill>
              </a:defRPr>
            </a:pPr>
            <a:r>
              <a:t>C/ Les conflits au Moyen-Orient   •   D/ Printemps arabe et terrorisme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Quand l'islam est-il arrivé au Maghreb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610</a:t>
            </a:r>
          </a:p>
        </p:txBody>
      </p:sp>
      <p:sp>
        <p:nvSpPr>
          <p:cNvPr id="34" name="TextBox 33"/>
          <p:cNvSpPr txBox="1"/>
          <p:nvPr/>
        </p:nvSpPr>
        <p:spPr>
          <a:xfrm>
            <a:off x="2194560" y="1463040"/>
            <a:ext cx="9509760" cy="731520"/>
          </a:xfrm>
          <a:prstGeom prst="rect">
            <a:avLst/>
          </a:prstGeom>
          <a:noFill/>
        </p:spPr>
        <p:txBody>
          <a:bodyPr wrap="square">
            <a:spAutoFit/>
          </a:bodyPr>
          <a:lstStyle/>
          <a:p>
            <a:pPr algn="l">
              <a:spcAft>
                <a:spcPts val="600"/>
              </a:spcAft>
              <a:defRPr sz="1900" b="0">
                <a:solidFill>
                  <a:srgbClr val="2B2B2B"/>
                </a:solidFill>
              </a:defRPr>
            </a:pPr>
            <a:r>
              <a:t>Mahomet reçoit la Révélation à La Mecque</a:t>
            </a:r>
          </a:p>
        </p:txBody>
      </p:sp>
      <p:sp>
        <p:nvSpPr>
          <p:cNvPr id="35" name="Rounded Rectangle 34"/>
          <p:cNvSpPr/>
          <p:nvPr/>
        </p:nvSpPr>
        <p:spPr>
          <a:xfrm>
            <a:off x="548640" y="2240280"/>
            <a:ext cx="146304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622</a:t>
            </a:r>
          </a:p>
        </p:txBody>
      </p:sp>
      <p:sp>
        <p:nvSpPr>
          <p:cNvPr id="36" name="TextBox 35"/>
          <p:cNvSpPr txBox="1"/>
          <p:nvPr/>
        </p:nvSpPr>
        <p:spPr>
          <a:xfrm>
            <a:off x="2194560" y="2331720"/>
            <a:ext cx="9509760" cy="731520"/>
          </a:xfrm>
          <a:prstGeom prst="rect">
            <a:avLst/>
          </a:prstGeom>
          <a:noFill/>
        </p:spPr>
        <p:txBody>
          <a:bodyPr wrap="square">
            <a:spAutoFit/>
          </a:bodyPr>
          <a:lstStyle/>
          <a:p>
            <a:pPr algn="l">
              <a:spcAft>
                <a:spcPts val="600"/>
              </a:spcAft>
              <a:defRPr sz="1900" b="0">
                <a:solidFill>
                  <a:srgbClr val="2B2B2B"/>
                </a:solidFill>
              </a:defRPr>
            </a:pPr>
            <a:r>
              <a:t>Hégire : départ pour Médine (an 1 du calendrier musulman)</a:t>
            </a:r>
          </a:p>
        </p:txBody>
      </p:sp>
      <p:sp>
        <p:nvSpPr>
          <p:cNvPr id="37" name="Rounded Rectangle 36"/>
          <p:cNvSpPr/>
          <p:nvPr/>
        </p:nvSpPr>
        <p:spPr>
          <a:xfrm>
            <a:off x="548640" y="3108960"/>
            <a:ext cx="1463040" cy="7315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632</a:t>
            </a:r>
          </a:p>
        </p:txBody>
      </p:sp>
      <p:sp>
        <p:nvSpPr>
          <p:cNvPr id="38" name="TextBox 37"/>
          <p:cNvSpPr txBox="1"/>
          <p:nvPr/>
        </p:nvSpPr>
        <p:spPr>
          <a:xfrm>
            <a:off x="2194560" y="3200400"/>
            <a:ext cx="9509760" cy="731520"/>
          </a:xfrm>
          <a:prstGeom prst="rect">
            <a:avLst/>
          </a:prstGeom>
          <a:noFill/>
        </p:spPr>
        <p:txBody>
          <a:bodyPr wrap="square">
            <a:spAutoFit/>
          </a:bodyPr>
          <a:lstStyle/>
          <a:p>
            <a:pPr algn="l">
              <a:spcAft>
                <a:spcPts val="600"/>
              </a:spcAft>
              <a:defRPr sz="1900" b="0">
                <a:solidFill>
                  <a:srgbClr val="2B2B2B"/>
                </a:solidFill>
              </a:defRPr>
            </a:pPr>
            <a:r>
              <a:t>Mort de Mahomet</a:t>
            </a:r>
          </a:p>
        </p:txBody>
      </p:sp>
      <p:sp>
        <p:nvSpPr>
          <p:cNvPr id="39" name="Rounded Rectangle 38"/>
          <p:cNvSpPr/>
          <p:nvPr/>
        </p:nvSpPr>
        <p:spPr>
          <a:xfrm>
            <a:off x="548640" y="3977639"/>
            <a:ext cx="146304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670</a:t>
            </a:r>
          </a:p>
        </p:txBody>
      </p:sp>
      <p:sp>
        <p:nvSpPr>
          <p:cNvPr id="40" name="TextBox 39"/>
          <p:cNvSpPr txBox="1"/>
          <p:nvPr/>
        </p:nvSpPr>
        <p:spPr>
          <a:xfrm>
            <a:off x="2194560" y="4069079"/>
            <a:ext cx="9509760" cy="731520"/>
          </a:xfrm>
          <a:prstGeom prst="rect">
            <a:avLst/>
          </a:prstGeom>
          <a:noFill/>
        </p:spPr>
        <p:txBody>
          <a:bodyPr wrap="square">
            <a:spAutoFit/>
          </a:bodyPr>
          <a:lstStyle/>
          <a:p>
            <a:pPr algn="l">
              <a:spcAft>
                <a:spcPts val="600"/>
              </a:spcAft>
              <a:defRPr sz="1900" b="0">
                <a:solidFill>
                  <a:srgbClr val="2B2B2B"/>
                </a:solidFill>
              </a:defRPr>
            </a:pPr>
            <a:r>
              <a:t>Fondation de Kairouan (Tunisie), 1re grande ville musulmane du Maghreb</a:t>
            </a:r>
          </a:p>
        </p:txBody>
      </p:sp>
      <p:sp>
        <p:nvSpPr>
          <p:cNvPr id="41" name="Rounded Rectangle 40"/>
          <p:cNvSpPr/>
          <p:nvPr/>
        </p:nvSpPr>
        <p:spPr>
          <a:xfrm>
            <a:off x="548640" y="484632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711</a:t>
            </a:r>
          </a:p>
        </p:txBody>
      </p:sp>
      <p:sp>
        <p:nvSpPr>
          <p:cNvPr id="42" name="TextBox 41"/>
          <p:cNvSpPr txBox="1"/>
          <p:nvPr/>
        </p:nvSpPr>
        <p:spPr>
          <a:xfrm>
            <a:off x="2194560" y="4937760"/>
            <a:ext cx="9509760" cy="731520"/>
          </a:xfrm>
          <a:prstGeom prst="rect">
            <a:avLst/>
          </a:prstGeom>
          <a:noFill/>
        </p:spPr>
        <p:txBody>
          <a:bodyPr wrap="square">
            <a:spAutoFit/>
          </a:bodyPr>
          <a:lstStyle/>
          <a:p>
            <a:pPr algn="l">
              <a:spcAft>
                <a:spcPts val="600"/>
              </a:spcAft>
              <a:defRPr sz="1900" b="0">
                <a:solidFill>
                  <a:srgbClr val="2B2B2B"/>
                </a:solidFill>
              </a:defRPr>
            </a:pPr>
            <a:r>
              <a:t>Tariq ibn Ziyad traverse vers l'Espagne (Gibraltar = « Djebel Tariq »)</a:t>
            </a:r>
          </a:p>
        </p:txBody>
      </p:sp>
      <p:sp>
        <p:nvSpPr>
          <p:cNvPr id="43" name="TextBox 42"/>
          <p:cNvSpPr txBox="1"/>
          <p:nvPr/>
        </p:nvSpPr>
        <p:spPr>
          <a:xfrm>
            <a:off x="548640" y="5806440"/>
            <a:ext cx="10972800" cy="457200"/>
          </a:xfrm>
          <a:prstGeom prst="rect">
            <a:avLst/>
          </a:prstGeom>
          <a:noFill/>
        </p:spPr>
        <p:txBody>
          <a:bodyPr wrap="square">
            <a:spAutoFit/>
          </a:bodyPr>
          <a:lstStyle/>
          <a:p>
            <a:pPr algn="l">
              <a:spcAft>
                <a:spcPts val="600"/>
              </a:spcAft>
              <a:defRPr sz="1600" b="1">
                <a:solidFill>
                  <a:srgbClr val="B84A1E"/>
                </a:solidFill>
              </a:defRPr>
            </a:pPr>
            <a:r>
              <a:t>➡️ Les Berbères se convertissent peu à peu ; l'arabe devient la langue de la religion et des villes.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Sunnites et chiites : quelle différence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Pourquoi les musulmans se sont-ils divisés après 632 ?</a:t>
            </a:r>
          </a:p>
          <a:p>
            <a:pPr algn="l">
              <a:spcAft>
                <a:spcPts val="600"/>
              </a:spcAft>
              <a:defRPr sz="1800" b="1">
                <a:solidFill>
                  <a:srgbClr val="1F4E79"/>
                </a:solidFill>
              </a:defRPr>
            </a:pPr>
            <a:r>
              <a:t>❓ Que pensent les sunnites ? les chiites ?</a:t>
            </a:r>
          </a:p>
          <a:p>
            <a:pPr algn="l">
              <a:spcAft>
                <a:spcPts val="600"/>
              </a:spcAft>
              <a:defRPr sz="1800" b="1">
                <a:solidFill>
                  <a:srgbClr val="1F4E79"/>
                </a:solidFill>
              </a:defRPr>
            </a:pPr>
            <a:r>
              <a:t>❓ Le Maghreb est-il sunnite ou chiite ?</a:t>
            </a:r>
          </a:p>
          <a:p>
            <a:pPr algn="l">
              <a:spcAft>
                <a:spcPts val="600"/>
              </a:spcAft>
              <a:defRPr sz="1800" b="1">
                <a:solidFill>
                  <a:srgbClr val="1F4E79"/>
                </a:solidFill>
              </a:defRPr>
            </a:pPr>
            <a:r>
              <a:t>❓ Où vivent surtout les chiites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quelle différence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Désaccord sur la succession de Mahomet (qui doit diriger les musulmans ?).</a:t>
            </a:r>
          </a:p>
          <a:p>
            <a:pPr algn="l">
              <a:spcAft>
                <a:spcPts val="600"/>
              </a:spcAft>
              <a:defRPr sz="1900" b="0">
                <a:solidFill>
                  <a:srgbClr val="2B2B2B"/>
                </a:solidFill>
              </a:defRPr>
            </a:pPr>
            <a:r>
              <a:t>✅ Sunnites (≈ 85-90 %) : le chef (calife) est choisi parmi les fidèles. Chiites (≈ 10-15 %) : il doit descendre d'Ali, gendre de Mahomet (bataille de Kerbala, 680).</a:t>
            </a:r>
          </a:p>
          <a:p>
            <a:pPr algn="l">
              <a:spcAft>
                <a:spcPts val="600"/>
              </a:spcAft>
              <a:defRPr sz="1900" b="0">
                <a:solidFill>
                  <a:srgbClr val="2B2B2B"/>
                </a:solidFill>
              </a:defRPr>
            </a:pPr>
            <a:r>
              <a:t>✅ Presque entièrement sunnite (rite malékite).</a:t>
            </a:r>
          </a:p>
          <a:p>
            <a:pPr algn="l">
              <a:spcAft>
                <a:spcPts val="600"/>
              </a:spcAft>
              <a:defRPr sz="1900" b="0">
                <a:solidFill>
                  <a:srgbClr val="2B2B2B"/>
                </a:solidFill>
              </a:defRPr>
            </a:pPr>
            <a:r>
              <a:t>✅ Iran, Irak, Bahreïn, Liban (en partie).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est musulman sunnite. La division sunnites/chiites, née d'une querelle de succession, alimente aujourd'hui des rivalités au Moyen-Orient (Arabie saoudite sunnite / Iran chiite).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 Le Moyen-Orient : une région de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1948 →</a:t>
            </a:r>
          </a:p>
        </p:txBody>
      </p:sp>
      <p:sp>
        <p:nvSpPr>
          <p:cNvPr id="34" name="TextBox 33"/>
          <p:cNvSpPr txBox="1"/>
          <p:nvPr/>
        </p:nvSpPr>
        <p:spPr>
          <a:xfrm>
            <a:off x="2651760" y="1417320"/>
            <a:ext cx="8961120" cy="640080"/>
          </a:xfrm>
          <a:prstGeom prst="rect">
            <a:avLst/>
          </a:prstGeom>
          <a:noFill/>
        </p:spPr>
        <p:txBody>
          <a:bodyPr wrap="square">
            <a:spAutoFit/>
          </a:bodyPr>
          <a:lstStyle/>
          <a:p>
            <a:pPr algn="l">
              <a:spcAft>
                <a:spcPts val="600"/>
              </a:spcAft>
              <a:defRPr sz="1900" b="0">
                <a:solidFill>
                  <a:srgbClr val="2B2B2B"/>
                </a:solidFill>
              </a:defRPr>
            </a:pPr>
            <a:r>
              <a:t>Conflit israélo-palestinien</a:t>
            </a:r>
          </a:p>
        </p:txBody>
      </p:sp>
      <p:sp>
        <p:nvSpPr>
          <p:cNvPr id="35" name="Rounded Rectangle 34"/>
          <p:cNvSpPr/>
          <p:nvPr/>
        </p:nvSpPr>
        <p:spPr>
          <a:xfrm>
            <a:off x="548640" y="2121408"/>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1980–1988</a:t>
            </a:r>
          </a:p>
        </p:txBody>
      </p:sp>
      <p:sp>
        <p:nvSpPr>
          <p:cNvPr id="36" name="TextBox 35"/>
          <p:cNvSpPr txBox="1"/>
          <p:nvPr/>
        </p:nvSpPr>
        <p:spPr>
          <a:xfrm>
            <a:off x="2651760" y="2167128"/>
            <a:ext cx="8961120" cy="640080"/>
          </a:xfrm>
          <a:prstGeom prst="rect">
            <a:avLst/>
          </a:prstGeom>
          <a:noFill/>
        </p:spPr>
        <p:txBody>
          <a:bodyPr wrap="square">
            <a:spAutoFit/>
          </a:bodyPr>
          <a:lstStyle/>
          <a:p>
            <a:pPr algn="l">
              <a:spcAft>
                <a:spcPts val="600"/>
              </a:spcAft>
              <a:defRPr sz="1900" b="0">
                <a:solidFill>
                  <a:srgbClr val="2B2B2B"/>
                </a:solidFill>
              </a:defRPr>
            </a:pPr>
            <a:r>
              <a:t>Guerre Iran–Irak</a:t>
            </a:r>
          </a:p>
        </p:txBody>
      </p:sp>
      <p:sp>
        <p:nvSpPr>
          <p:cNvPr id="37" name="Rounded Rectangle 36"/>
          <p:cNvSpPr/>
          <p:nvPr/>
        </p:nvSpPr>
        <p:spPr>
          <a:xfrm>
            <a:off x="548640" y="2871215"/>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2003</a:t>
            </a:r>
          </a:p>
        </p:txBody>
      </p:sp>
      <p:sp>
        <p:nvSpPr>
          <p:cNvPr id="38" name="TextBox 37"/>
          <p:cNvSpPr txBox="1"/>
          <p:nvPr/>
        </p:nvSpPr>
        <p:spPr>
          <a:xfrm>
            <a:off x="2651760" y="2916936"/>
            <a:ext cx="8961120" cy="640080"/>
          </a:xfrm>
          <a:prstGeom prst="rect">
            <a:avLst/>
          </a:prstGeom>
          <a:noFill/>
        </p:spPr>
        <p:txBody>
          <a:bodyPr wrap="square">
            <a:spAutoFit/>
          </a:bodyPr>
          <a:lstStyle/>
          <a:p>
            <a:pPr algn="l">
              <a:spcAft>
                <a:spcPts val="600"/>
              </a:spcAft>
              <a:defRPr sz="1900" b="0">
                <a:solidFill>
                  <a:srgbClr val="2B2B2B"/>
                </a:solidFill>
              </a:defRPr>
            </a:pPr>
            <a:r>
              <a:t>Guerre en Irak (intervention américaine)</a:t>
            </a:r>
          </a:p>
        </p:txBody>
      </p:sp>
      <p:sp>
        <p:nvSpPr>
          <p:cNvPr id="39" name="Rounded Rectangle 38"/>
          <p:cNvSpPr/>
          <p:nvPr/>
        </p:nvSpPr>
        <p:spPr>
          <a:xfrm>
            <a:off x="548640" y="3621024"/>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2011 →</a:t>
            </a:r>
          </a:p>
        </p:txBody>
      </p:sp>
      <p:sp>
        <p:nvSpPr>
          <p:cNvPr id="40" name="TextBox 39"/>
          <p:cNvSpPr txBox="1"/>
          <p:nvPr/>
        </p:nvSpPr>
        <p:spPr>
          <a:xfrm>
            <a:off x="2651760" y="3666744"/>
            <a:ext cx="8961120" cy="640080"/>
          </a:xfrm>
          <a:prstGeom prst="rect">
            <a:avLst/>
          </a:prstGeom>
          <a:noFill/>
        </p:spPr>
        <p:txBody>
          <a:bodyPr wrap="square">
            <a:spAutoFit/>
          </a:bodyPr>
          <a:lstStyle/>
          <a:p>
            <a:pPr algn="l">
              <a:spcAft>
                <a:spcPts val="600"/>
              </a:spcAft>
              <a:defRPr sz="1900" b="0">
                <a:solidFill>
                  <a:srgbClr val="2B2B2B"/>
                </a:solidFill>
              </a:defRPr>
            </a:pPr>
            <a:r>
              <a:t>Guerre civile en Syrie</a:t>
            </a:r>
          </a:p>
        </p:txBody>
      </p:sp>
      <p:sp>
        <p:nvSpPr>
          <p:cNvPr id="41" name="Rounded Rectangle 40"/>
          <p:cNvSpPr/>
          <p:nvPr/>
        </p:nvSpPr>
        <p:spPr>
          <a:xfrm>
            <a:off x="548640" y="4370831"/>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2014–2019</a:t>
            </a:r>
          </a:p>
        </p:txBody>
      </p:sp>
      <p:sp>
        <p:nvSpPr>
          <p:cNvPr id="42" name="TextBox 41"/>
          <p:cNvSpPr txBox="1"/>
          <p:nvPr/>
        </p:nvSpPr>
        <p:spPr>
          <a:xfrm>
            <a:off x="2651760" y="4416552"/>
            <a:ext cx="8961120" cy="640080"/>
          </a:xfrm>
          <a:prstGeom prst="rect">
            <a:avLst/>
          </a:prstGeom>
          <a:noFill/>
        </p:spPr>
        <p:txBody>
          <a:bodyPr wrap="square">
            <a:spAutoFit/>
          </a:bodyPr>
          <a:lstStyle/>
          <a:p>
            <a:pPr algn="l">
              <a:spcAft>
                <a:spcPts val="600"/>
              </a:spcAft>
              <a:defRPr sz="1900" b="0">
                <a:solidFill>
                  <a:srgbClr val="2B2B2B"/>
                </a:solidFill>
              </a:defRPr>
            </a:pPr>
            <a:r>
              <a:t>L'État islamique (Daech) en Irak et en Syrie</a:t>
            </a:r>
          </a:p>
        </p:txBody>
      </p:sp>
      <p:sp>
        <p:nvSpPr>
          <p:cNvPr id="43" name="Rounded Rectangle 42"/>
          <p:cNvSpPr/>
          <p:nvPr/>
        </p:nvSpPr>
        <p:spPr>
          <a:xfrm>
            <a:off x="548640" y="5120640"/>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2015 →</a:t>
            </a:r>
          </a:p>
        </p:txBody>
      </p:sp>
      <p:sp>
        <p:nvSpPr>
          <p:cNvPr id="44" name="TextBox 43"/>
          <p:cNvSpPr txBox="1"/>
          <p:nvPr/>
        </p:nvSpPr>
        <p:spPr>
          <a:xfrm>
            <a:off x="2651760" y="5166359"/>
            <a:ext cx="8961120" cy="640080"/>
          </a:xfrm>
          <a:prstGeom prst="rect">
            <a:avLst/>
          </a:prstGeom>
          <a:noFill/>
        </p:spPr>
        <p:txBody>
          <a:bodyPr wrap="square">
            <a:spAutoFit/>
          </a:bodyPr>
          <a:lstStyle/>
          <a:p>
            <a:pPr algn="l">
              <a:spcAft>
                <a:spcPts val="600"/>
              </a:spcAft>
              <a:defRPr sz="1900" b="0">
                <a:solidFill>
                  <a:srgbClr val="2B2B2B"/>
                </a:solidFill>
              </a:defRPr>
            </a:pPr>
            <a:r>
              <a:t>Guerre au Yémen (rivalité Arabie saoudite / Iran)</a:t>
            </a:r>
          </a:p>
        </p:txBody>
      </p:sp>
      <p:sp>
        <p:nvSpPr>
          <p:cNvPr id="45" name="TextBox 44"/>
          <p:cNvSpPr txBox="1"/>
          <p:nvPr/>
        </p:nvSpPr>
        <p:spPr>
          <a:xfrm>
            <a:off x="548640" y="5943600"/>
            <a:ext cx="10972800" cy="457200"/>
          </a:xfrm>
          <a:prstGeom prst="rect">
            <a:avLst/>
          </a:prstGeom>
          <a:noFill/>
        </p:spPr>
        <p:txBody>
          <a:bodyPr wrap="square">
            <a:spAutoFit/>
          </a:bodyPr>
          <a:lstStyle/>
          <a:p>
            <a:pPr algn="l">
              <a:spcAft>
                <a:spcPts val="600"/>
              </a:spcAft>
              <a:defRPr sz="1600" b="1">
                <a:solidFill>
                  <a:srgbClr val="1F4E79"/>
                </a:solidFill>
              </a:defRPr>
            </a:pPr>
            <a:r>
              <a:t>💡 Causes mêlées : pétrole, frontières, religion (sunnites/chiites), rivalités entre puissances.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Printemps arabe (2010–2011)</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2377440" cy="731520"/>
          </a:xfrm>
          <a:prstGeom prst="rect">
            <a:avLst/>
          </a:prstGeom>
          <a:noFill/>
        </p:spPr>
        <p:txBody>
          <a:bodyPr wrap="square">
            <a:spAutoFit/>
          </a:bodyPr>
          <a:lstStyle/>
          <a:p>
            <a:pPr algn="l">
              <a:spcAft>
                <a:spcPts val="600"/>
              </a:spcAft>
              <a:defRPr sz="2000" b="1">
                <a:solidFill>
                  <a:srgbClr val="B84A1E"/>
                </a:solidFill>
              </a:defRPr>
            </a:pPr>
            <a:r>
              <a:t>🇹🇳 Tunisie</a:t>
            </a:r>
          </a:p>
        </p:txBody>
      </p:sp>
      <p:sp>
        <p:nvSpPr>
          <p:cNvPr id="34" name="TextBox 33"/>
          <p:cNvSpPr txBox="1"/>
          <p:nvPr/>
        </p:nvSpPr>
        <p:spPr>
          <a:xfrm>
            <a:off x="2926080" y="1389888"/>
            <a:ext cx="8778240" cy="731520"/>
          </a:xfrm>
          <a:prstGeom prst="rect">
            <a:avLst/>
          </a:prstGeom>
          <a:noFill/>
        </p:spPr>
        <p:txBody>
          <a:bodyPr wrap="square">
            <a:spAutoFit/>
          </a:bodyPr>
          <a:lstStyle/>
          <a:p>
            <a:pPr algn="l">
              <a:spcAft>
                <a:spcPts val="600"/>
              </a:spcAft>
              <a:defRPr sz="1800" b="0">
                <a:solidFill>
                  <a:srgbClr val="2B2B2B"/>
                </a:solidFill>
              </a:defRPr>
            </a:pPr>
            <a:r>
              <a:t>17 déc. 2010 : immolation de Mohamed Bouazizi → départ de Ben Ali (14 janv. 2011)</a:t>
            </a:r>
          </a:p>
        </p:txBody>
      </p:sp>
      <p:sp>
        <p:nvSpPr>
          <p:cNvPr id="35" name="TextBox 34"/>
          <p:cNvSpPr txBox="1"/>
          <p:nvPr/>
        </p:nvSpPr>
        <p:spPr>
          <a:xfrm>
            <a:off x="548640" y="2148840"/>
            <a:ext cx="2377440" cy="731520"/>
          </a:xfrm>
          <a:prstGeom prst="rect">
            <a:avLst/>
          </a:prstGeom>
          <a:noFill/>
        </p:spPr>
        <p:txBody>
          <a:bodyPr wrap="square">
            <a:spAutoFit/>
          </a:bodyPr>
          <a:lstStyle/>
          <a:p>
            <a:pPr algn="l">
              <a:spcAft>
                <a:spcPts val="600"/>
              </a:spcAft>
              <a:defRPr sz="2000" b="1">
                <a:solidFill>
                  <a:srgbClr val="B84A1E"/>
                </a:solidFill>
              </a:defRPr>
            </a:pPr>
            <a:r>
              <a:t>🇪🇬 Égypte</a:t>
            </a:r>
          </a:p>
        </p:txBody>
      </p:sp>
      <p:sp>
        <p:nvSpPr>
          <p:cNvPr id="36" name="TextBox 35"/>
          <p:cNvSpPr txBox="1"/>
          <p:nvPr/>
        </p:nvSpPr>
        <p:spPr>
          <a:xfrm>
            <a:off x="2926080" y="2167128"/>
            <a:ext cx="8778240" cy="731520"/>
          </a:xfrm>
          <a:prstGeom prst="rect">
            <a:avLst/>
          </a:prstGeom>
          <a:noFill/>
        </p:spPr>
        <p:txBody>
          <a:bodyPr wrap="square">
            <a:spAutoFit/>
          </a:bodyPr>
          <a:lstStyle/>
          <a:p>
            <a:pPr algn="l">
              <a:spcAft>
                <a:spcPts val="600"/>
              </a:spcAft>
              <a:defRPr sz="1800" b="0">
                <a:solidFill>
                  <a:srgbClr val="2B2B2B"/>
                </a:solidFill>
              </a:defRPr>
            </a:pPr>
            <a:r>
              <a:t>Février 2011 : chute de Moubarak</a:t>
            </a:r>
          </a:p>
        </p:txBody>
      </p:sp>
      <p:sp>
        <p:nvSpPr>
          <p:cNvPr id="37" name="TextBox 36"/>
          <p:cNvSpPr txBox="1"/>
          <p:nvPr/>
        </p:nvSpPr>
        <p:spPr>
          <a:xfrm>
            <a:off x="548640" y="2926080"/>
            <a:ext cx="2377440" cy="731520"/>
          </a:xfrm>
          <a:prstGeom prst="rect">
            <a:avLst/>
          </a:prstGeom>
          <a:noFill/>
        </p:spPr>
        <p:txBody>
          <a:bodyPr wrap="square">
            <a:spAutoFit/>
          </a:bodyPr>
          <a:lstStyle/>
          <a:p>
            <a:pPr algn="l">
              <a:spcAft>
                <a:spcPts val="600"/>
              </a:spcAft>
              <a:defRPr sz="2000" b="1">
                <a:solidFill>
                  <a:srgbClr val="B84A1E"/>
                </a:solidFill>
              </a:defRPr>
            </a:pPr>
            <a:r>
              <a:t>🇱🇾 Libye</a:t>
            </a:r>
          </a:p>
        </p:txBody>
      </p:sp>
      <p:sp>
        <p:nvSpPr>
          <p:cNvPr id="38" name="TextBox 37"/>
          <p:cNvSpPr txBox="1"/>
          <p:nvPr/>
        </p:nvSpPr>
        <p:spPr>
          <a:xfrm>
            <a:off x="2926080" y="2944368"/>
            <a:ext cx="8778240" cy="731520"/>
          </a:xfrm>
          <a:prstGeom prst="rect">
            <a:avLst/>
          </a:prstGeom>
          <a:noFill/>
        </p:spPr>
        <p:txBody>
          <a:bodyPr wrap="square">
            <a:spAutoFit/>
          </a:bodyPr>
          <a:lstStyle/>
          <a:p>
            <a:pPr algn="l">
              <a:spcAft>
                <a:spcPts val="600"/>
              </a:spcAft>
              <a:defRPr sz="1800" b="0">
                <a:solidFill>
                  <a:srgbClr val="2B2B2B"/>
                </a:solidFill>
              </a:defRPr>
            </a:pPr>
            <a:r>
              <a:t>2011 : guerre civile, mort de Kadhafi ; le pays reste divisé</a:t>
            </a:r>
          </a:p>
        </p:txBody>
      </p:sp>
      <p:sp>
        <p:nvSpPr>
          <p:cNvPr id="39" name="TextBox 38"/>
          <p:cNvSpPr txBox="1"/>
          <p:nvPr/>
        </p:nvSpPr>
        <p:spPr>
          <a:xfrm>
            <a:off x="548640" y="3703320"/>
            <a:ext cx="2377440" cy="731520"/>
          </a:xfrm>
          <a:prstGeom prst="rect">
            <a:avLst/>
          </a:prstGeom>
          <a:noFill/>
        </p:spPr>
        <p:txBody>
          <a:bodyPr wrap="square">
            <a:spAutoFit/>
          </a:bodyPr>
          <a:lstStyle/>
          <a:p>
            <a:pPr algn="l">
              <a:spcAft>
                <a:spcPts val="600"/>
              </a:spcAft>
              <a:defRPr sz="2000" b="1">
                <a:solidFill>
                  <a:srgbClr val="B84A1E"/>
                </a:solidFill>
              </a:defRPr>
            </a:pPr>
            <a:r>
              <a:t>🇲🇦 Maroc</a:t>
            </a:r>
          </a:p>
        </p:txBody>
      </p:sp>
      <p:sp>
        <p:nvSpPr>
          <p:cNvPr id="40" name="TextBox 39"/>
          <p:cNvSpPr txBox="1"/>
          <p:nvPr/>
        </p:nvSpPr>
        <p:spPr>
          <a:xfrm>
            <a:off x="2926080" y="3721608"/>
            <a:ext cx="8778240" cy="731520"/>
          </a:xfrm>
          <a:prstGeom prst="rect">
            <a:avLst/>
          </a:prstGeom>
          <a:noFill/>
        </p:spPr>
        <p:txBody>
          <a:bodyPr wrap="square">
            <a:spAutoFit/>
          </a:bodyPr>
          <a:lstStyle/>
          <a:p>
            <a:pPr algn="l">
              <a:spcAft>
                <a:spcPts val="600"/>
              </a:spcAft>
              <a:defRPr sz="1800" b="0">
                <a:solidFill>
                  <a:srgbClr val="2B2B2B"/>
                </a:solidFill>
              </a:defRPr>
            </a:pPr>
            <a:r>
              <a:t>2011 : manifestations, nouvelle Constitution</a:t>
            </a:r>
          </a:p>
        </p:txBody>
      </p:sp>
      <p:sp>
        <p:nvSpPr>
          <p:cNvPr id="41" name="TextBox 40"/>
          <p:cNvSpPr txBox="1"/>
          <p:nvPr/>
        </p:nvSpPr>
        <p:spPr>
          <a:xfrm>
            <a:off x="548640" y="4480560"/>
            <a:ext cx="2377440" cy="731520"/>
          </a:xfrm>
          <a:prstGeom prst="rect">
            <a:avLst/>
          </a:prstGeom>
          <a:noFill/>
        </p:spPr>
        <p:txBody>
          <a:bodyPr wrap="square">
            <a:spAutoFit/>
          </a:bodyPr>
          <a:lstStyle/>
          <a:p>
            <a:pPr algn="l">
              <a:spcAft>
                <a:spcPts val="600"/>
              </a:spcAft>
              <a:defRPr sz="2000" b="1">
                <a:solidFill>
                  <a:srgbClr val="B84A1E"/>
                </a:solidFill>
              </a:defRPr>
            </a:pPr>
            <a:r>
              <a:t>🇩🇿 Algérie</a:t>
            </a:r>
          </a:p>
        </p:txBody>
      </p:sp>
      <p:sp>
        <p:nvSpPr>
          <p:cNvPr id="42" name="TextBox 41"/>
          <p:cNvSpPr txBox="1"/>
          <p:nvPr/>
        </p:nvSpPr>
        <p:spPr>
          <a:xfrm>
            <a:off x="2926080" y="4498848"/>
            <a:ext cx="8778240" cy="731520"/>
          </a:xfrm>
          <a:prstGeom prst="rect">
            <a:avLst/>
          </a:prstGeom>
          <a:noFill/>
        </p:spPr>
        <p:txBody>
          <a:bodyPr wrap="square">
            <a:spAutoFit/>
          </a:bodyPr>
          <a:lstStyle/>
          <a:p>
            <a:pPr algn="l">
              <a:spcAft>
                <a:spcPts val="600"/>
              </a:spcAft>
              <a:defRPr sz="1800" b="0">
                <a:solidFill>
                  <a:srgbClr val="2B2B2B"/>
                </a:solidFill>
              </a:defRPr>
            </a:pPr>
            <a:r>
              <a:t>2019 : le Hirak pousse Bouteflika à partir</a:t>
            </a:r>
          </a:p>
        </p:txBody>
      </p:sp>
      <p:sp>
        <p:nvSpPr>
          <p:cNvPr id="43" name="TextBox 42"/>
          <p:cNvSpPr txBox="1"/>
          <p:nvPr/>
        </p:nvSpPr>
        <p:spPr>
          <a:xfrm>
            <a:off x="548640" y="5257800"/>
            <a:ext cx="2377440" cy="731520"/>
          </a:xfrm>
          <a:prstGeom prst="rect">
            <a:avLst/>
          </a:prstGeom>
          <a:noFill/>
        </p:spPr>
        <p:txBody>
          <a:bodyPr wrap="square">
            <a:spAutoFit/>
          </a:bodyPr>
          <a:lstStyle/>
          <a:p>
            <a:pPr algn="l">
              <a:spcAft>
                <a:spcPts val="600"/>
              </a:spcAft>
              <a:defRPr sz="2000" b="1">
                <a:solidFill>
                  <a:srgbClr val="B84A1E"/>
                </a:solidFill>
              </a:defRPr>
            </a:pPr>
            <a:r>
              <a:t>🇸🇾 Syrie</a:t>
            </a:r>
          </a:p>
        </p:txBody>
      </p:sp>
      <p:sp>
        <p:nvSpPr>
          <p:cNvPr id="44" name="TextBox 43"/>
          <p:cNvSpPr txBox="1"/>
          <p:nvPr/>
        </p:nvSpPr>
        <p:spPr>
          <a:xfrm>
            <a:off x="2926080" y="5276088"/>
            <a:ext cx="8778240" cy="731520"/>
          </a:xfrm>
          <a:prstGeom prst="rect">
            <a:avLst/>
          </a:prstGeom>
          <a:noFill/>
        </p:spPr>
        <p:txBody>
          <a:bodyPr wrap="square">
            <a:spAutoFit/>
          </a:bodyPr>
          <a:lstStyle/>
          <a:p>
            <a:pPr algn="l">
              <a:spcAft>
                <a:spcPts val="600"/>
              </a:spcAft>
              <a:defRPr sz="1800" b="0">
                <a:solidFill>
                  <a:srgbClr val="2B2B2B"/>
                </a:solidFill>
              </a:defRPr>
            </a:pPr>
            <a:r>
              <a:t>2011 : révolte réprimée → guerre civile</a:t>
            </a:r>
          </a:p>
        </p:txBody>
      </p:sp>
      <p:sp>
        <p:nvSpPr>
          <p:cNvPr id="45" name="TextBox 44"/>
          <p:cNvSpPr txBox="1"/>
          <p:nvPr/>
        </p:nvSpPr>
        <p:spPr>
          <a:xfrm>
            <a:off x="548640" y="6035040"/>
            <a:ext cx="10972800" cy="457200"/>
          </a:xfrm>
          <a:prstGeom prst="rect">
            <a:avLst/>
          </a:prstGeom>
          <a:noFill/>
        </p:spPr>
        <p:txBody>
          <a:bodyPr wrap="square">
            <a:spAutoFit/>
          </a:bodyPr>
          <a:lstStyle/>
          <a:p>
            <a:pPr algn="l">
              <a:spcAft>
                <a:spcPts val="600"/>
              </a:spcAft>
              <a:defRPr sz="1600" b="1">
                <a:solidFill>
                  <a:srgbClr val="1F4E79"/>
                </a:solidFill>
              </a:defRPr>
            </a:pPr>
            <a:r>
              <a:t>❓ Débat : pourquoi les jeunes se sont-ils révoltés ? (chômage, corruption, manque de libertés)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terrorisme : de quoi parle-t-on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Islam et islamisme, est-ce la même chose ?</a:t>
            </a:r>
          </a:p>
          <a:p>
            <a:pPr algn="l">
              <a:spcAft>
                <a:spcPts val="600"/>
              </a:spcAft>
              <a:defRPr sz="1800" b="1">
                <a:solidFill>
                  <a:srgbClr val="1F4E79"/>
                </a:solidFill>
              </a:defRPr>
            </a:pPr>
            <a:r>
              <a:t>❓ Qu'est-ce que la « décennie noire » en Algérie ?</a:t>
            </a:r>
          </a:p>
          <a:p>
            <a:pPr algn="l">
              <a:spcAft>
                <a:spcPts val="600"/>
              </a:spcAft>
              <a:defRPr sz="1800" b="1">
                <a:solidFill>
                  <a:srgbClr val="1F4E79"/>
                </a:solidFill>
              </a:defRPr>
            </a:pPr>
            <a:r>
              <a:t>❓ Cite des attentats au Maghreb.</a:t>
            </a:r>
          </a:p>
          <a:p>
            <a:pPr algn="l">
              <a:spcAft>
                <a:spcPts val="600"/>
              </a:spcAft>
              <a:defRPr sz="1800" b="1">
                <a:solidFill>
                  <a:srgbClr val="1F4E79"/>
                </a:solidFill>
              </a:defRPr>
            </a:pPr>
            <a:r>
              <a:t>❓ Qui sont les principales victimes du terrorisme islamiste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quoi parle-t-on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Non ! L'islam est une religion ; l'islamisme radical est une idéologie politique violente rejetée par la grande majorité des musulmans.</a:t>
            </a:r>
          </a:p>
          <a:p>
            <a:pPr algn="l">
              <a:spcAft>
                <a:spcPts val="600"/>
              </a:spcAft>
              <a:defRPr sz="1900" b="0">
                <a:solidFill>
                  <a:srgbClr val="2B2B2B"/>
                </a:solidFill>
              </a:defRPr>
            </a:pPr>
            <a:r>
              <a:t>✅ 1991-2002 : guerre entre l'État et des groupes islamistes armés (GIA…), des dizaines de milliers de morts.</a:t>
            </a:r>
          </a:p>
          <a:p>
            <a:pPr algn="l">
              <a:spcAft>
                <a:spcPts val="600"/>
              </a:spcAft>
              <a:defRPr sz="1900" b="0">
                <a:solidFill>
                  <a:srgbClr val="2B2B2B"/>
                </a:solidFill>
              </a:defRPr>
            </a:pPr>
            <a:r>
              <a:t>✅ Casablanca (2003), musée du Bardo et Sousse en Tunisie (2015)…</a:t>
            </a:r>
          </a:p>
          <a:p>
            <a:pPr algn="l">
              <a:spcAft>
                <a:spcPts val="600"/>
              </a:spcAft>
              <a:defRPr sz="1900" b="0">
                <a:solidFill>
                  <a:srgbClr val="2B2B2B"/>
                </a:solidFill>
              </a:defRPr>
            </a:pPr>
            <a:r>
              <a:t>✅ Surtout des musulmans eux-mêmes, au Maghreb et au Moyen-Orient.</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a connu le terrorisme islamiste (décennie noire en Algérie, attentats au Maroc et en Tunisie). Il ne faut pas confondre islam et terrorisme.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Vrai ou faux ? (islam &amp; conflits)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7680960" cy="731520"/>
          </a:xfrm>
          <a:prstGeom prst="rect">
            <a:avLst/>
          </a:prstGeom>
          <a:noFill/>
        </p:spPr>
        <p:txBody>
          <a:bodyPr wrap="square">
            <a:spAutoFit/>
          </a:bodyPr>
          <a:lstStyle/>
          <a:p>
            <a:pPr algn="l">
              <a:spcAft>
                <a:spcPts val="600"/>
              </a:spcAft>
              <a:defRPr sz="1900" b="0">
                <a:solidFill>
                  <a:srgbClr val="2B2B2B"/>
                </a:solidFill>
              </a:defRPr>
            </a:pPr>
            <a:r>
              <a:t>1. L'islam est arrivé au Maghreb au VIIe siècle.</a:t>
            </a:r>
          </a:p>
        </p:txBody>
      </p:sp>
      <p:sp>
        <p:nvSpPr>
          <p:cNvPr id="34" name="Rounded Rectangle 33">
            <a:hlinkClick action="ppaction://hlinksldjump" r:id="rId3"/>
          </p:cNvPr>
          <p:cNvSpPr/>
          <p:nvPr/>
        </p:nvSpPr>
        <p:spPr>
          <a:xfrm>
            <a:off x="8503920" y="137160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5" name="TextBox 34"/>
          <p:cNvSpPr txBox="1"/>
          <p:nvPr/>
        </p:nvSpPr>
        <p:spPr>
          <a:xfrm>
            <a:off x="548640" y="2240280"/>
            <a:ext cx="7680960" cy="731520"/>
          </a:xfrm>
          <a:prstGeom prst="rect">
            <a:avLst/>
          </a:prstGeom>
          <a:noFill/>
        </p:spPr>
        <p:txBody>
          <a:bodyPr wrap="square">
            <a:spAutoFit/>
          </a:bodyPr>
          <a:lstStyle/>
          <a:p>
            <a:pPr algn="l">
              <a:spcAft>
                <a:spcPts val="600"/>
              </a:spcAft>
              <a:defRPr sz="1900" b="0">
                <a:solidFill>
                  <a:srgbClr val="2B2B2B"/>
                </a:solidFill>
              </a:defRPr>
            </a:pPr>
            <a:r>
              <a:t>2. Le Maghreb est majoritairement chiite.</a:t>
            </a:r>
          </a:p>
        </p:txBody>
      </p:sp>
      <p:sp>
        <p:nvSpPr>
          <p:cNvPr id="36" name="Rounded Rectangle 35">
            <a:hlinkClick action="ppaction://hlinksldjump" r:id="rId3"/>
          </p:cNvPr>
          <p:cNvSpPr/>
          <p:nvPr/>
        </p:nvSpPr>
        <p:spPr>
          <a:xfrm>
            <a:off x="8503920" y="2240280"/>
            <a:ext cx="310896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7" name="TextBox 36"/>
          <p:cNvSpPr txBox="1"/>
          <p:nvPr/>
        </p:nvSpPr>
        <p:spPr>
          <a:xfrm>
            <a:off x="548640" y="3108960"/>
            <a:ext cx="7680960" cy="731520"/>
          </a:xfrm>
          <a:prstGeom prst="rect">
            <a:avLst/>
          </a:prstGeom>
          <a:noFill/>
        </p:spPr>
        <p:txBody>
          <a:bodyPr wrap="square">
            <a:spAutoFit/>
          </a:bodyPr>
          <a:lstStyle/>
          <a:p>
            <a:pPr algn="l">
              <a:spcAft>
                <a:spcPts val="600"/>
              </a:spcAft>
              <a:defRPr sz="1900" b="0">
                <a:solidFill>
                  <a:srgbClr val="2B2B2B"/>
                </a:solidFill>
              </a:defRPr>
            </a:pPr>
            <a:r>
              <a:t>3. Le Printemps arabe a commencé en Tunisie.</a:t>
            </a:r>
          </a:p>
        </p:txBody>
      </p:sp>
      <p:sp>
        <p:nvSpPr>
          <p:cNvPr id="38" name="Rounded Rectangle 37">
            <a:hlinkClick action="ppaction://hlinksldjump" r:id="rId3"/>
          </p:cNvPr>
          <p:cNvSpPr/>
          <p:nvPr/>
        </p:nvSpPr>
        <p:spPr>
          <a:xfrm>
            <a:off x="8503920" y="3108960"/>
            <a:ext cx="310896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39" name="TextBox 38"/>
          <p:cNvSpPr txBox="1"/>
          <p:nvPr/>
        </p:nvSpPr>
        <p:spPr>
          <a:xfrm>
            <a:off x="548640" y="3977639"/>
            <a:ext cx="7680960" cy="731520"/>
          </a:xfrm>
          <a:prstGeom prst="rect">
            <a:avLst/>
          </a:prstGeom>
          <a:noFill/>
        </p:spPr>
        <p:txBody>
          <a:bodyPr wrap="square">
            <a:spAutoFit/>
          </a:bodyPr>
          <a:lstStyle/>
          <a:p>
            <a:pPr algn="l">
              <a:spcAft>
                <a:spcPts val="600"/>
              </a:spcAft>
              <a:defRPr sz="1900" b="0">
                <a:solidFill>
                  <a:srgbClr val="2B2B2B"/>
                </a:solidFill>
              </a:defRPr>
            </a:pPr>
            <a:r>
              <a:t>4. Tous les musulmans soutiennent le terrorisme.</a:t>
            </a:r>
          </a:p>
        </p:txBody>
      </p:sp>
      <p:sp>
        <p:nvSpPr>
          <p:cNvPr id="40" name="Rounded Rectangle 39">
            <a:hlinkClick action="ppaction://hlinksldjump" r:id="rId3"/>
          </p:cNvPr>
          <p:cNvSpPr/>
          <p:nvPr/>
        </p:nvSpPr>
        <p:spPr>
          <a:xfrm>
            <a:off x="8503920" y="3977639"/>
            <a:ext cx="3108960" cy="6858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
        <p:nvSpPr>
          <p:cNvPr id="41" name="TextBox 40"/>
          <p:cNvSpPr txBox="1"/>
          <p:nvPr/>
        </p:nvSpPr>
        <p:spPr>
          <a:xfrm>
            <a:off x="548640" y="4846320"/>
            <a:ext cx="7680960" cy="731520"/>
          </a:xfrm>
          <a:prstGeom prst="rect">
            <a:avLst/>
          </a:prstGeom>
          <a:noFill/>
        </p:spPr>
        <p:txBody>
          <a:bodyPr wrap="square">
            <a:spAutoFit/>
          </a:bodyPr>
          <a:lstStyle/>
          <a:p>
            <a:pPr algn="l">
              <a:spcAft>
                <a:spcPts val="600"/>
              </a:spcAft>
              <a:defRPr sz="1900" b="0">
                <a:solidFill>
                  <a:srgbClr val="2B2B2B"/>
                </a:solidFill>
              </a:defRPr>
            </a:pPr>
            <a:r>
              <a:t>5. Gibraltar vient de « Djebel Tariq ».</a:t>
            </a:r>
          </a:p>
        </p:txBody>
      </p:sp>
      <p:sp>
        <p:nvSpPr>
          <p:cNvPr id="42" name="Rounded Rectangle 41">
            <a:hlinkClick action="ppaction://hlinksldjump" r:id="rId3"/>
          </p:cNvPr>
          <p:cNvSpPr/>
          <p:nvPr/>
        </p:nvSpPr>
        <p:spPr>
          <a:xfrm>
            <a:off x="8503920" y="4846320"/>
            <a:ext cx="310896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Révéler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vrai/faux</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000" b="0">
                <a:solidFill>
                  <a:srgbClr val="2B2B2B"/>
                </a:solidFill>
              </a:defRPr>
            </a:pPr>
            <a:r>
              <a:t>1. L'islam est arrivé au Maghreb au VIIe siècle.  ➜  VRAI</a:t>
            </a:r>
          </a:p>
          <a:p>
            <a:pPr algn="l">
              <a:spcAft>
                <a:spcPts val="600"/>
              </a:spcAft>
              <a:defRPr sz="2000" b="0">
                <a:solidFill>
                  <a:srgbClr val="2B2B2B"/>
                </a:solidFill>
              </a:defRPr>
            </a:pPr>
            <a:r>
              <a:t>2. Le Maghreb est majoritairement chiite.  ➜  FAUX : sunnite</a:t>
            </a:r>
          </a:p>
          <a:p>
            <a:pPr algn="l">
              <a:spcAft>
                <a:spcPts val="600"/>
              </a:spcAft>
              <a:defRPr sz="2000" b="0">
                <a:solidFill>
                  <a:srgbClr val="2B2B2B"/>
                </a:solidFill>
              </a:defRPr>
            </a:pPr>
            <a:r>
              <a:t>3. Le Printemps arabe a commencé en Tunisie.  ➜  VRAI (déc. 2010)</a:t>
            </a:r>
          </a:p>
          <a:p>
            <a:pPr algn="l">
              <a:spcAft>
                <a:spcPts val="600"/>
              </a:spcAft>
              <a:defRPr sz="2000" b="0">
                <a:solidFill>
                  <a:srgbClr val="2B2B2B"/>
                </a:solidFill>
              </a:defRPr>
            </a:pPr>
            <a:r>
              <a:t>4. Tous les musulmans soutiennent le terrorisme.  ➜  FAUX : ils en sont les 1res victimes</a:t>
            </a:r>
          </a:p>
          <a:p>
            <a:pPr algn="l">
              <a:spcAft>
                <a:spcPts val="600"/>
              </a:spcAft>
              <a:defRPr sz="2000" b="0">
                <a:solidFill>
                  <a:srgbClr val="2B2B2B"/>
                </a:solidFill>
              </a:defRPr>
            </a:pPr>
            <a:r>
              <a:t>5. Gibraltar vient de « Djebel Tariq ».  ➜  VRAI</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Paysages : de la mer au désert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554480"/>
            <a:ext cx="2697480" cy="38404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828800"/>
            <a:ext cx="2514600" cy="914400"/>
          </a:xfrm>
          <a:prstGeom prst="rect">
            <a:avLst/>
          </a:prstGeom>
          <a:noFill/>
        </p:spPr>
        <p:txBody>
          <a:bodyPr wrap="square">
            <a:spAutoFit/>
          </a:bodyPr>
          <a:lstStyle/>
          <a:p>
            <a:pPr algn="ctr">
              <a:spcAft>
                <a:spcPts val="600"/>
              </a:spcAft>
              <a:defRPr sz="2400" b="1">
                <a:solidFill>
                  <a:srgbClr val="FFFFFF"/>
                </a:solidFill>
              </a:defRPr>
            </a:pPr>
            <a:r>
              <a:t>🌊 Méditerranée</a:t>
            </a:r>
          </a:p>
        </p:txBody>
      </p:sp>
      <p:sp>
        <p:nvSpPr>
          <p:cNvPr id="35" name="TextBox 34"/>
          <p:cNvSpPr txBox="1"/>
          <p:nvPr/>
        </p:nvSpPr>
        <p:spPr>
          <a:xfrm>
            <a:off x="640080" y="3017520"/>
            <a:ext cx="2514600" cy="1828800"/>
          </a:xfrm>
          <a:prstGeom prst="rect">
            <a:avLst/>
          </a:prstGeom>
          <a:noFill/>
        </p:spPr>
        <p:txBody>
          <a:bodyPr wrap="square">
            <a:spAutoFit/>
          </a:bodyPr>
          <a:lstStyle/>
          <a:p>
            <a:pPr algn="ctr">
              <a:spcAft>
                <a:spcPts val="600"/>
              </a:spcAft>
              <a:defRPr sz="1800" b="0">
                <a:solidFill>
                  <a:srgbClr val="FFFFFF"/>
                </a:solidFill>
              </a:defRPr>
            </a:pPr>
            <a:r>
              <a:t>Côtes, ports, plages au nord</a:t>
            </a:r>
          </a:p>
        </p:txBody>
      </p:sp>
      <p:sp>
        <p:nvSpPr>
          <p:cNvPr id="36" name="Rounded Rectangle 35"/>
          <p:cNvSpPr/>
          <p:nvPr/>
        </p:nvSpPr>
        <p:spPr>
          <a:xfrm>
            <a:off x="3429000" y="1554480"/>
            <a:ext cx="2697480" cy="38404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0439" y="1828800"/>
            <a:ext cx="2514600" cy="914400"/>
          </a:xfrm>
          <a:prstGeom prst="rect">
            <a:avLst/>
          </a:prstGeom>
          <a:noFill/>
        </p:spPr>
        <p:txBody>
          <a:bodyPr wrap="square">
            <a:spAutoFit/>
          </a:bodyPr>
          <a:lstStyle/>
          <a:p>
            <a:pPr algn="ctr">
              <a:spcAft>
                <a:spcPts val="600"/>
              </a:spcAft>
              <a:defRPr sz="2400" b="1">
                <a:solidFill>
                  <a:srgbClr val="FFFFFF"/>
                </a:solidFill>
              </a:defRPr>
            </a:pPr>
            <a:r>
              <a:t>🏔️ Atlas</a:t>
            </a:r>
          </a:p>
        </p:txBody>
      </p:sp>
      <p:sp>
        <p:nvSpPr>
          <p:cNvPr id="38" name="TextBox 37"/>
          <p:cNvSpPr txBox="1"/>
          <p:nvPr/>
        </p:nvSpPr>
        <p:spPr>
          <a:xfrm>
            <a:off x="3520439" y="3017520"/>
            <a:ext cx="2514600" cy="1828800"/>
          </a:xfrm>
          <a:prstGeom prst="rect">
            <a:avLst/>
          </a:prstGeom>
          <a:noFill/>
        </p:spPr>
        <p:txBody>
          <a:bodyPr wrap="square">
            <a:spAutoFit/>
          </a:bodyPr>
          <a:lstStyle/>
          <a:p>
            <a:pPr algn="ctr">
              <a:spcAft>
                <a:spcPts val="600"/>
              </a:spcAft>
              <a:defRPr sz="1800" b="0">
                <a:solidFill>
                  <a:srgbClr val="FFFFFF"/>
                </a:solidFill>
              </a:defRPr>
            </a:pPr>
            <a:r>
              <a:t>Montagnes jusqu'à 4 167 m (Toubkal)</a:t>
            </a:r>
          </a:p>
        </p:txBody>
      </p:sp>
      <p:sp>
        <p:nvSpPr>
          <p:cNvPr id="39" name="Rounded Rectangle 38"/>
          <p:cNvSpPr/>
          <p:nvPr/>
        </p:nvSpPr>
        <p:spPr>
          <a:xfrm>
            <a:off x="6309359" y="1554480"/>
            <a:ext cx="2697480" cy="38404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1828800"/>
            <a:ext cx="2514600" cy="914400"/>
          </a:xfrm>
          <a:prstGeom prst="rect">
            <a:avLst/>
          </a:prstGeom>
          <a:noFill/>
        </p:spPr>
        <p:txBody>
          <a:bodyPr wrap="square">
            <a:spAutoFit/>
          </a:bodyPr>
          <a:lstStyle/>
          <a:p>
            <a:pPr algn="ctr">
              <a:spcAft>
                <a:spcPts val="600"/>
              </a:spcAft>
              <a:defRPr sz="2400" b="1">
                <a:solidFill>
                  <a:srgbClr val="FFFFFF"/>
                </a:solidFill>
              </a:defRPr>
            </a:pPr>
            <a:r>
              <a:t>🏜️ Sahara</a:t>
            </a:r>
          </a:p>
        </p:txBody>
      </p:sp>
      <p:sp>
        <p:nvSpPr>
          <p:cNvPr id="41" name="TextBox 40"/>
          <p:cNvSpPr txBox="1"/>
          <p:nvPr/>
        </p:nvSpPr>
        <p:spPr>
          <a:xfrm>
            <a:off x="6400800" y="3017520"/>
            <a:ext cx="2514600" cy="1828800"/>
          </a:xfrm>
          <a:prstGeom prst="rect">
            <a:avLst/>
          </a:prstGeom>
          <a:noFill/>
        </p:spPr>
        <p:txBody>
          <a:bodyPr wrap="square">
            <a:spAutoFit/>
          </a:bodyPr>
          <a:lstStyle/>
          <a:p>
            <a:pPr algn="ctr">
              <a:spcAft>
                <a:spcPts val="600"/>
              </a:spcAft>
              <a:defRPr sz="1800" b="0">
                <a:solidFill>
                  <a:srgbClr val="FFFFFF"/>
                </a:solidFill>
              </a:defRPr>
            </a:pPr>
            <a:r>
              <a:t>Le plus grand désert chaud du monde</a:t>
            </a:r>
          </a:p>
        </p:txBody>
      </p:sp>
      <p:sp>
        <p:nvSpPr>
          <p:cNvPr id="42" name="Rounded Rectangle 41"/>
          <p:cNvSpPr/>
          <p:nvPr/>
        </p:nvSpPr>
        <p:spPr>
          <a:xfrm>
            <a:off x="9189719" y="1554480"/>
            <a:ext cx="2697480" cy="38404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59" y="1828800"/>
            <a:ext cx="2514600" cy="914400"/>
          </a:xfrm>
          <a:prstGeom prst="rect">
            <a:avLst/>
          </a:prstGeom>
          <a:noFill/>
        </p:spPr>
        <p:txBody>
          <a:bodyPr wrap="square">
            <a:spAutoFit/>
          </a:bodyPr>
          <a:lstStyle/>
          <a:p>
            <a:pPr algn="ctr">
              <a:spcAft>
                <a:spcPts val="600"/>
              </a:spcAft>
              <a:defRPr sz="2400" b="1">
                <a:solidFill>
                  <a:srgbClr val="FFFFFF"/>
                </a:solidFill>
              </a:defRPr>
            </a:pPr>
            <a:r>
              <a:t>🌴 Oasis</a:t>
            </a:r>
          </a:p>
        </p:txBody>
      </p:sp>
      <p:sp>
        <p:nvSpPr>
          <p:cNvPr id="44" name="TextBox 43"/>
          <p:cNvSpPr txBox="1"/>
          <p:nvPr/>
        </p:nvSpPr>
        <p:spPr>
          <a:xfrm>
            <a:off x="9281159" y="3017520"/>
            <a:ext cx="2514600" cy="1828800"/>
          </a:xfrm>
          <a:prstGeom prst="rect">
            <a:avLst/>
          </a:prstGeom>
          <a:noFill/>
        </p:spPr>
        <p:txBody>
          <a:bodyPr wrap="square">
            <a:spAutoFit/>
          </a:bodyPr>
          <a:lstStyle/>
          <a:p>
            <a:pPr algn="ctr">
              <a:spcAft>
                <a:spcPts val="600"/>
              </a:spcAft>
              <a:defRPr sz="1800" b="0">
                <a:solidFill>
                  <a:srgbClr val="FFFFFF"/>
                </a:solidFill>
              </a:defRPr>
            </a:pPr>
            <a:r>
              <a:t>Palmiers-dattiers, eau et vie</a:t>
            </a:r>
          </a:p>
        </p:txBody>
      </p:sp>
      <p:sp>
        <p:nvSpPr>
          <p:cNvPr id="45" name="TextBox 44"/>
          <p:cNvSpPr txBox="1"/>
          <p:nvPr/>
        </p:nvSpPr>
        <p:spPr>
          <a:xfrm>
            <a:off x="548640" y="5577840"/>
            <a:ext cx="10972800" cy="640080"/>
          </a:xfrm>
          <a:prstGeom prst="rect">
            <a:avLst/>
          </a:prstGeom>
          <a:noFill/>
        </p:spPr>
        <p:txBody>
          <a:bodyPr wrap="square">
            <a:spAutoFit/>
          </a:bodyPr>
          <a:lstStyle/>
          <a:p>
            <a:pPr algn="l">
              <a:spcAft>
                <a:spcPts val="600"/>
              </a:spcAft>
              <a:defRPr sz="2000" b="1">
                <a:solidFill>
                  <a:srgbClr val="B84A1E"/>
                </a:solidFill>
              </a:defRPr>
            </a:pPr>
            <a:r>
              <a:t>🎯 Activité : à l'oral, décris ton paysage préféré avec 3 adjectifs.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
        <p:nvSpPr>
          <p:cNvPr id="38" name="Rounded Rectangle 37">
            <a:hlinkClick action="ppaction://hlinksldjump" r:id="rId5"/>
          </p:cNvPr>
          <p:cNvSpPr/>
          <p:nvPr/>
        </p:nvSpPr>
        <p:spPr>
          <a:xfrm>
            <a:off x="8686800" y="5486400"/>
            <a:ext cx="246888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Fiche vidéo ➡️</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as-tu bien regardé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Quels pays sont présentés ?</a:t>
            </a:r>
          </a:p>
          <a:p>
            <a:pPr algn="l">
              <a:spcAft>
                <a:spcPts val="600"/>
              </a:spcAft>
              <a:defRPr sz="2200" b="0">
                <a:solidFill>
                  <a:srgbClr val="2B2B2B"/>
                </a:solidFill>
              </a:defRPr>
            </a:pPr>
            <a:r>
              <a:t>• Cite une ville et ce qu'on y voit.</a:t>
            </a:r>
          </a:p>
          <a:p>
            <a:pPr algn="l">
              <a:spcAft>
                <a:spcPts val="600"/>
              </a:spcAft>
              <a:defRPr sz="2200" b="0">
                <a:solidFill>
                  <a:srgbClr val="2B2B2B"/>
                </a:solidFill>
              </a:defRPr>
            </a:pPr>
            <a:r>
              <a:t>• Quel paysage t'a le plus surpris ? Pourquoi ?</a:t>
            </a:r>
          </a:p>
          <a:p>
            <a:pPr algn="l">
              <a:spcAft>
                <a:spcPts val="600"/>
              </a:spcAft>
              <a:defRPr sz="2200" b="0">
                <a:solidFill>
                  <a:srgbClr val="2B2B2B"/>
                </a:solidFill>
              </a:defRPr>
            </a:pPr>
            <a:r>
              <a:t>• Quelles langues entend-on ?</a:t>
            </a:r>
          </a:p>
          <a:p>
            <a:pPr algn="l">
              <a:spcAft>
                <a:spcPts val="600"/>
              </a:spcAft>
              <a:defRPr sz="2200" b="0">
                <a:solidFill>
                  <a:srgbClr val="2B2B2B"/>
                </a:solidFill>
              </a:defRPr>
            </a:pPr>
            <a:r>
              <a:t>• Vrai ou faux : le Maghreb est uniquement désertique.</a:t>
            </a:r>
          </a:p>
        </p:txBody>
      </p:sp>
      <p:sp>
        <p:nvSpPr>
          <p:cNvPr id="34" name="Rounded Rectangle 33">
            <a:hlinkClick action="ppaction://hlinksldjump" r:id="rId3"/>
          </p:cNvPr>
          <p:cNvSpPr/>
          <p:nvPr/>
        </p:nvSpPr>
        <p:spPr>
          <a:xfrm>
            <a:off x="8961120" y="548640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Maroc, Algérie, Tunisie (et parfois Libye, Mauritanie)</a:t>
            </a:r>
          </a:p>
          <a:p>
            <a:pPr algn="l">
              <a:spcAft>
                <a:spcPts val="600"/>
              </a:spcAft>
              <a:defRPr sz="2200" b="0">
                <a:solidFill>
                  <a:srgbClr val="2B2B2B"/>
                </a:solidFill>
              </a:defRPr>
            </a:pPr>
            <a:r>
              <a:t>• Ex. : Marrakech (place Jemaa el-Fna), Alger (la Casbah), Tunis (la médina)</a:t>
            </a:r>
          </a:p>
          <a:p>
            <a:pPr algn="l">
              <a:spcAft>
                <a:spcPts val="600"/>
              </a:spcAft>
              <a:defRPr sz="2200" b="0">
                <a:solidFill>
                  <a:srgbClr val="2B2B2B"/>
                </a:solidFill>
              </a:defRPr>
            </a:pPr>
            <a:r>
              <a:t>• Réponse libre — justifie avec « parce que… »</a:t>
            </a:r>
          </a:p>
          <a:p>
            <a:pPr algn="l">
              <a:spcAft>
                <a:spcPts val="600"/>
              </a:spcAft>
              <a:defRPr sz="2200" b="0">
                <a:solidFill>
                  <a:srgbClr val="2B2B2B"/>
                </a:solidFill>
              </a:defRPr>
            </a:pPr>
            <a:r>
              <a:t>• Arabe (darija), tamazight (berbère), français</a:t>
            </a:r>
          </a:p>
          <a:p>
            <a:pPr algn="l">
              <a:spcAft>
                <a:spcPts val="600"/>
              </a:spcAft>
              <a:defRPr sz="2200" b="0">
                <a:solidFill>
                  <a:srgbClr val="2B2B2B"/>
                </a:solidFill>
              </a:defRPr>
            </a:pPr>
            <a:r>
              <a:t>• FAUX ❌ : il y a aussi la mer, les montagnes, les villes, les oasis !</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1/5</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est la capitale du Maroc ?</a:t>
            </a:r>
          </a:p>
        </p:txBody>
      </p:sp>
      <p:sp>
        <p:nvSpPr>
          <p:cNvPr id="35" name="Rounded Rectangle 34">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Casablanca</a:t>
            </a:r>
          </a:p>
        </p:txBody>
      </p:sp>
      <p:sp>
        <p:nvSpPr>
          <p:cNvPr id="36" name="Rounded Rectangle 35">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Rabat</a:t>
            </a:r>
          </a:p>
        </p:txBody>
      </p:sp>
      <p:sp>
        <p:nvSpPr>
          <p:cNvPr id="37" name="Rounded Rectangle 36">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Marrakech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Rabat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2/5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 est le plus grand pays d'Afrique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Algérie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Libye</a:t>
            </a:r>
          </a:p>
        </p:txBody>
      </p:sp>
      <p:sp>
        <p:nvSpPr>
          <p:cNvPr id="36" name="Rounded Rectangle 35">
            <a:hlinkClick action="ppaction://hlinksldjump" r:id="rId4"/>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Égypte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Algérie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3/5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 signifie « Maghreb »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 désert</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Le couchant</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La mer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Le couchant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4/5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montagne traverse le Maghreb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Les Alpes</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L'Atlas</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L'Himalaya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L'Atlas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5/5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mer borde le Maghreb au nord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Mer Rouge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Méditerranée</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Mer Noire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Méditerranée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la frise du temps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548640" y="3291840"/>
            <a:ext cx="11064240" cy="109728"/>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7160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2011680"/>
            <a:ext cx="2194560" cy="914400"/>
          </a:xfrm>
          <a:prstGeom prst="rect">
            <a:avLst/>
          </a:prstGeom>
          <a:noFill/>
        </p:spPr>
        <p:txBody>
          <a:bodyPr wrap="square">
            <a:spAutoFit/>
          </a:bodyPr>
          <a:lstStyle/>
          <a:p>
            <a:pPr algn="ctr">
              <a:spcAft>
                <a:spcPts val="600"/>
              </a:spcAft>
              <a:defRPr sz="2000" b="1">
                <a:solidFill>
                  <a:srgbClr val="1F4E79"/>
                </a:solidFill>
              </a:defRPr>
            </a:pPr>
            <a:r>
              <a:t>Antiquité</a:t>
            </a:r>
          </a:p>
        </p:txBody>
      </p:sp>
      <p:sp>
        <p:nvSpPr>
          <p:cNvPr id="37" name="TextBox 36"/>
          <p:cNvSpPr txBox="1"/>
          <p:nvPr/>
        </p:nvSpPr>
        <p:spPr>
          <a:xfrm>
            <a:off x="548640" y="3840480"/>
            <a:ext cx="2194560" cy="1463040"/>
          </a:xfrm>
          <a:prstGeom prst="rect">
            <a:avLst/>
          </a:prstGeom>
          <a:noFill/>
        </p:spPr>
        <p:txBody>
          <a:bodyPr wrap="square">
            <a:spAutoFit/>
          </a:bodyPr>
          <a:lstStyle/>
          <a:p>
            <a:pPr algn="ctr">
              <a:spcAft>
                <a:spcPts val="600"/>
              </a:spcAft>
              <a:defRPr sz="1500" b="0">
                <a:solidFill>
                  <a:srgbClr val="2B2B2B"/>
                </a:solidFill>
              </a:defRPr>
            </a:pPr>
            <a:r>
              <a:t>Berbères (Amazighs), Carthage (814 av. J.-C.), Rome</a:t>
            </a:r>
          </a:p>
        </p:txBody>
      </p:sp>
      <p:sp>
        <p:nvSpPr>
          <p:cNvPr id="38" name="Oval 37"/>
          <p:cNvSpPr/>
          <p:nvPr/>
        </p:nvSpPr>
        <p:spPr>
          <a:xfrm>
            <a:off x="361188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88920" y="2011680"/>
            <a:ext cx="2194560" cy="914400"/>
          </a:xfrm>
          <a:prstGeom prst="rect">
            <a:avLst/>
          </a:prstGeom>
          <a:noFill/>
        </p:spPr>
        <p:txBody>
          <a:bodyPr wrap="square">
            <a:spAutoFit/>
          </a:bodyPr>
          <a:lstStyle/>
          <a:p>
            <a:pPr algn="ctr">
              <a:spcAft>
                <a:spcPts val="600"/>
              </a:spcAft>
              <a:defRPr sz="2000" b="1">
                <a:solidFill>
                  <a:srgbClr val="1F4E79"/>
                </a:solidFill>
              </a:defRPr>
            </a:pPr>
            <a:r>
              <a:t>VIIe s.</a:t>
            </a:r>
          </a:p>
        </p:txBody>
      </p:sp>
      <p:sp>
        <p:nvSpPr>
          <p:cNvPr id="40" name="TextBox 39"/>
          <p:cNvSpPr txBox="1"/>
          <p:nvPr/>
        </p:nvSpPr>
        <p:spPr>
          <a:xfrm>
            <a:off x="2788920" y="3840480"/>
            <a:ext cx="2194560" cy="1463040"/>
          </a:xfrm>
          <a:prstGeom prst="rect">
            <a:avLst/>
          </a:prstGeom>
          <a:noFill/>
        </p:spPr>
        <p:txBody>
          <a:bodyPr wrap="square">
            <a:spAutoFit/>
          </a:bodyPr>
          <a:lstStyle/>
          <a:p>
            <a:pPr algn="ctr">
              <a:spcAft>
                <a:spcPts val="600"/>
              </a:spcAft>
              <a:defRPr sz="1500" b="0">
                <a:solidFill>
                  <a:srgbClr val="2B2B2B"/>
                </a:solidFill>
              </a:defRPr>
            </a:pPr>
            <a:r>
              <a:t>Conquête arabe : islam et langue arabe</a:t>
            </a:r>
          </a:p>
        </p:txBody>
      </p:sp>
      <p:sp>
        <p:nvSpPr>
          <p:cNvPr id="41" name="Oval 40"/>
          <p:cNvSpPr/>
          <p:nvPr/>
        </p:nvSpPr>
        <p:spPr>
          <a:xfrm>
            <a:off x="585216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0" y="2011680"/>
            <a:ext cx="2194560" cy="914400"/>
          </a:xfrm>
          <a:prstGeom prst="rect">
            <a:avLst/>
          </a:prstGeom>
          <a:noFill/>
        </p:spPr>
        <p:txBody>
          <a:bodyPr wrap="square">
            <a:spAutoFit/>
          </a:bodyPr>
          <a:lstStyle/>
          <a:p>
            <a:pPr algn="ctr">
              <a:spcAft>
                <a:spcPts val="600"/>
              </a:spcAft>
              <a:defRPr sz="2000" b="1">
                <a:solidFill>
                  <a:srgbClr val="1F4E79"/>
                </a:solidFill>
              </a:defRPr>
            </a:pPr>
            <a:r>
              <a:t>XVIe s.</a:t>
            </a:r>
          </a:p>
        </p:txBody>
      </p:sp>
      <p:sp>
        <p:nvSpPr>
          <p:cNvPr id="43" name="TextBox 42"/>
          <p:cNvSpPr txBox="1"/>
          <p:nvPr/>
        </p:nvSpPr>
        <p:spPr>
          <a:xfrm>
            <a:off x="5029200" y="3840480"/>
            <a:ext cx="2194560" cy="1463040"/>
          </a:xfrm>
          <a:prstGeom prst="rect">
            <a:avLst/>
          </a:prstGeom>
          <a:noFill/>
        </p:spPr>
        <p:txBody>
          <a:bodyPr wrap="square">
            <a:spAutoFit/>
          </a:bodyPr>
          <a:lstStyle/>
          <a:p>
            <a:pPr algn="ctr">
              <a:spcAft>
                <a:spcPts val="600"/>
              </a:spcAft>
              <a:defRPr sz="1500" b="0">
                <a:solidFill>
                  <a:srgbClr val="2B2B2B"/>
                </a:solidFill>
              </a:defRPr>
            </a:pPr>
            <a:r>
              <a:t>Empire ottoman (Alger, Tunis, Tripoli) ; Maroc indépendant</a:t>
            </a:r>
          </a:p>
        </p:txBody>
      </p:sp>
      <p:sp>
        <p:nvSpPr>
          <p:cNvPr id="44" name="Oval 43"/>
          <p:cNvSpPr/>
          <p:nvPr/>
        </p:nvSpPr>
        <p:spPr>
          <a:xfrm>
            <a:off x="809244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69480" y="2011680"/>
            <a:ext cx="2194560" cy="914400"/>
          </a:xfrm>
          <a:prstGeom prst="rect">
            <a:avLst/>
          </a:prstGeom>
          <a:noFill/>
        </p:spPr>
        <p:txBody>
          <a:bodyPr wrap="square">
            <a:spAutoFit/>
          </a:bodyPr>
          <a:lstStyle/>
          <a:p>
            <a:pPr algn="ctr">
              <a:spcAft>
                <a:spcPts val="600"/>
              </a:spcAft>
              <a:defRPr sz="2000" b="1">
                <a:solidFill>
                  <a:srgbClr val="1F4E79"/>
                </a:solidFill>
              </a:defRPr>
            </a:pPr>
            <a:r>
              <a:t>1830–1912</a:t>
            </a:r>
          </a:p>
        </p:txBody>
      </p:sp>
      <p:sp>
        <p:nvSpPr>
          <p:cNvPr id="46" name="TextBox 45"/>
          <p:cNvSpPr txBox="1"/>
          <p:nvPr/>
        </p:nvSpPr>
        <p:spPr>
          <a:xfrm>
            <a:off x="7269480" y="3840480"/>
            <a:ext cx="2194560" cy="1463040"/>
          </a:xfrm>
          <a:prstGeom prst="rect">
            <a:avLst/>
          </a:prstGeom>
          <a:noFill/>
        </p:spPr>
        <p:txBody>
          <a:bodyPr wrap="square">
            <a:spAutoFit/>
          </a:bodyPr>
          <a:lstStyle/>
          <a:p>
            <a:pPr algn="ctr">
              <a:spcAft>
                <a:spcPts val="600"/>
              </a:spcAft>
              <a:defRPr sz="1500" b="0">
                <a:solidFill>
                  <a:srgbClr val="2B2B2B"/>
                </a:solidFill>
              </a:defRPr>
            </a:pPr>
            <a:r>
              <a:t>Colonisation : France (Algérie, Tunisie, Maroc), Italie (Libye)</a:t>
            </a:r>
          </a:p>
        </p:txBody>
      </p:sp>
      <p:sp>
        <p:nvSpPr>
          <p:cNvPr id="47" name="Oval 46"/>
          <p:cNvSpPr/>
          <p:nvPr/>
        </p:nvSpPr>
        <p:spPr>
          <a:xfrm>
            <a:off x="1033272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09760" y="2011680"/>
            <a:ext cx="2194560" cy="914400"/>
          </a:xfrm>
          <a:prstGeom prst="rect">
            <a:avLst/>
          </a:prstGeom>
          <a:noFill/>
        </p:spPr>
        <p:txBody>
          <a:bodyPr wrap="square">
            <a:spAutoFit/>
          </a:bodyPr>
          <a:lstStyle/>
          <a:p>
            <a:pPr algn="ctr">
              <a:spcAft>
                <a:spcPts val="600"/>
              </a:spcAft>
              <a:defRPr sz="2000" b="1">
                <a:solidFill>
                  <a:srgbClr val="1F4E79"/>
                </a:solidFill>
              </a:defRPr>
            </a:pPr>
            <a:r>
              <a:t>1951–1962</a:t>
            </a:r>
          </a:p>
        </p:txBody>
      </p:sp>
      <p:sp>
        <p:nvSpPr>
          <p:cNvPr id="49" name="TextBox 48"/>
          <p:cNvSpPr txBox="1"/>
          <p:nvPr/>
        </p:nvSpPr>
        <p:spPr>
          <a:xfrm>
            <a:off x="9509760" y="3840480"/>
            <a:ext cx="2194560" cy="1463040"/>
          </a:xfrm>
          <a:prstGeom prst="rect">
            <a:avLst/>
          </a:prstGeom>
          <a:noFill/>
        </p:spPr>
        <p:txBody>
          <a:bodyPr wrap="square">
            <a:spAutoFit/>
          </a:bodyPr>
          <a:lstStyle/>
          <a:p>
            <a:pPr algn="ctr">
              <a:spcAft>
                <a:spcPts val="600"/>
              </a:spcAft>
              <a:defRPr sz="1500" b="0">
                <a:solidFill>
                  <a:srgbClr val="2B2B2B"/>
                </a:solidFill>
              </a:defRPr>
            </a:pPr>
            <a:r>
              <a:t>Indépendances</a:t>
            </a:r>
          </a:p>
        </p:txBody>
      </p:sp>
      <p:sp>
        <p:nvSpPr>
          <p:cNvPr id="50" name="TextBox 49"/>
          <p:cNvSpPr txBox="1"/>
          <p:nvPr/>
        </p:nvSpPr>
        <p:spPr>
          <a:xfrm>
            <a:off x="548640" y="5486400"/>
            <a:ext cx="10972800" cy="731520"/>
          </a:xfrm>
          <a:prstGeom prst="rect">
            <a:avLst/>
          </a:prstGeom>
          <a:noFill/>
        </p:spPr>
        <p:txBody>
          <a:bodyPr wrap="square">
            <a:spAutoFit/>
          </a:bodyPr>
          <a:lstStyle/>
          <a:p>
            <a:pPr algn="l">
              <a:spcAft>
                <a:spcPts val="600"/>
              </a:spcAft>
              <a:defRPr sz="1600" b="1">
                <a:solidFill>
                  <a:srgbClr val="B84A1E"/>
                </a:solidFill>
              </a:defRPr>
            </a:pPr>
            <a:r>
              <a:t>🗣️ Langues : arabe (darija), tamazight (ⵜⴰⵎⴰⵣⵉⵖⵜ), français • Salam = bonjour • Choukran = merci • Azul = bonjour (berbère)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Histoire : quelques données clés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1951</a:t>
            </a:r>
          </a:p>
        </p:txBody>
      </p:sp>
      <p:sp>
        <p:nvSpPr>
          <p:cNvPr id="34" name="TextBox 33"/>
          <p:cNvSpPr txBox="1"/>
          <p:nvPr/>
        </p:nvSpPr>
        <p:spPr>
          <a:xfrm>
            <a:off x="2560320" y="14173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0574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1956</a:t>
            </a:r>
          </a:p>
        </p:txBody>
      </p:sp>
      <p:sp>
        <p:nvSpPr>
          <p:cNvPr id="36" name="TextBox 35"/>
          <p:cNvSpPr txBox="1"/>
          <p:nvPr/>
        </p:nvSpPr>
        <p:spPr>
          <a:xfrm>
            <a:off x="2560320" y="2103120"/>
            <a:ext cx="9144000" cy="548640"/>
          </a:xfrm>
          <a:prstGeom prst="rect">
            <a:avLst/>
          </a:prstGeom>
          <a:noFill/>
        </p:spPr>
        <p:txBody>
          <a:bodyPr wrap="square">
            <a:spAutoFit/>
          </a:bodyPr>
          <a:lstStyle/>
          <a:p>
            <a:pPr algn="l">
              <a:spcAft>
                <a:spcPts val="600"/>
              </a:spcAft>
              <a:defRPr sz="1800" b="0">
                <a:solidFill>
                  <a:srgbClr val="2B2B2B"/>
                </a:solidFill>
              </a:defRPr>
            </a:pPr>
            <a:r>
              <a:t>Indépendance du Maroc (2 mars) et de la Tunisie (20 mars)</a:t>
            </a:r>
          </a:p>
        </p:txBody>
      </p:sp>
      <p:sp>
        <p:nvSpPr>
          <p:cNvPr id="37" name="Rounded Rectangle 36"/>
          <p:cNvSpPr/>
          <p:nvPr/>
        </p:nvSpPr>
        <p:spPr>
          <a:xfrm>
            <a:off x="548640" y="27432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1954–1962</a:t>
            </a:r>
          </a:p>
        </p:txBody>
      </p:sp>
      <p:sp>
        <p:nvSpPr>
          <p:cNvPr id="38" name="TextBox 37"/>
          <p:cNvSpPr txBox="1"/>
          <p:nvPr/>
        </p:nvSpPr>
        <p:spPr>
          <a:xfrm>
            <a:off x="2560320" y="2788920"/>
            <a:ext cx="9144000" cy="548640"/>
          </a:xfrm>
          <a:prstGeom prst="rect">
            <a:avLst/>
          </a:prstGeom>
          <a:noFill/>
        </p:spPr>
        <p:txBody>
          <a:bodyPr wrap="square">
            <a:spAutoFit/>
          </a:bodyPr>
          <a:lstStyle/>
          <a:p>
            <a:pPr algn="l">
              <a:spcAft>
                <a:spcPts val="600"/>
              </a:spcAft>
              <a:defRPr sz="1800" b="0">
                <a:solidFill>
                  <a:srgbClr val="2B2B2B"/>
                </a:solidFill>
              </a:defRPr>
            </a:pPr>
            <a:r>
              <a:t>Guerre d'Algérie → indépendance le 5 juillet 1962</a:t>
            </a:r>
          </a:p>
        </p:txBody>
      </p:sp>
      <p:sp>
        <p:nvSpPr>
          <p:cNvPr id="39" name="Rounded Rectangle 38"/>
          <p:cNvSpPr/>
          <p:nvPr/>
        </p:nvSpPr>
        <p:spPr>
          <a:xfrm>
            <a:off x="548640" y="34290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1960</a:t>
            </a:r>
          </a:p>
        </p:txBody>
      </p:sp>
      <p:sp>
        <p:nvSpPr>
          <p:cNvPr id="40" name="TextBox 39"/>
          <p:cNvSpPr txBox="1"/>
          <p:nvPr/>
        </p:nvSpPr>
        <p:spPr>
          <a:xfrm>
            <a:off x="2560320" y="34747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Mauritanie</a:t>
            </a:r>
          </a:p>
        </p:txBody>
      </p:sp>
      <p:sp>
        <p:nvSpPr>
          <p:cNvPr id="41" name="Rounded Rectangle 40"/>
          <p:cNvSpPr/>
          <p:nvPr/>
        </p:nvSpPr>
        <p:spPr>
          <a:xfrm>
            <a:off x="548640" y="41148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1989</a:t>
            </a:r>
          </a:p>
        </p:txBody>
      </p:sp>
      <p:sp>
        <p:nvSpPr>
          <p:cNvPr id="42" name="TextBox 41"/>
          <p:cNvSpPr txBox="1"/>
          <p:nvPr/>
        </p:nvSpPr>
        <p:spPr>
          <a:xfrm>
            <a:off x="2560320" y="4160520"/>
            <a:ext cx="9144000" cy="548640"/>
          </a:xfrm>
          <a:prstGeom prst="rect">
            <a:avLst/>
          </a:prstGeom>
          <a:noFill/>
        </p:spPr>
        <p:txBody>
          <a:bodyPr wrap="square">
            <a:spAutoFit/>
          </a:bodyPr>
          <a:lstStyle/>
          <a:p>
            <a:pPr algn="l">
              <a:spcAft>
                <a:spcPts val="600"/>
              </a:spcAft>
              <a:defRPr sz="1800" b="0">
                <a:solidFill>
                  <a:srgbClr val="2B2B2B"/>
                </a:solidFill>
              </a:defRPr>
            </a:pPr>
            <a:r>
              <a:t>Création de l'Union du Maghreb arabe (Marrakech)</a:t>
            </a:r>
          </a:p>
        </p:txBody>
      </p:sp>
      <p:sp>
        <p:nvSpPr>
          <p:cNvPr id="43" name="Rounded Rectangle 42"/>
          <p:cNvSpPr/>
          <p:nvPr/>
        </p:nvSpPr>
        <p:spPr>
          <a:xfrm>
            <a:off x="548640" y="48006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2011</a:t>
            </a:r>
          </a:p>
        </p:txBody>
      </p:sp>
      <p:sp>
        <p:nvSpPr>
          <p:cNvPr id="44" name="TextBox 43"/>
          <p:cNvSpPr txBox="1"/>
          <p:nvPr/>
        </p:nvSpPr>
        <p:spPr>
          <a:xfrm>
            <a:off x="2560320" y="4846320"/>
            <a:ext cx="9144000" cy="548640"/>
          </a:xfrm>
          <a:prstGeom prst="rect">
            <a:avLst/>
          </a:prstGeom>
          <a:noFill/>
        </p:spPr>
        <p:txBody>
          <a:bodyPr wrap="square">
            <a:spAutoFit/>
          </a:bodyPr>
          <a:lstStyle/>
          <a:p>
            <a:pPr algn="l">
              <a:spcAft>
                <a:spcPts val="600"/>
              </a:spcAft>
              <a:defRPr sz="1800" b="0">
                <a:solidFill>
                  <a:srgbClr val="2B2B2B"/>
                </a:solidFill>
              </a:defRPr>
            </a:pPr>
            <a:r>
              <a:t>« Printemps arabe » : départ de Ben Ali (Tunisie), chute de Kadhafi (Libye)</a:t>
            </a:r>
          </a:p>
        </p:txBody>
      </p:sp>
      <p:sp>
        <p:nvSpPr>
          <p:cNvPr id="45" name="Rounded Rectangle 44"/>
          <p:cNvSpPr/>
          <p:nvPr/>
        </p:nvSpPr>
        <p:spPr>
          <a:xfrm>
            <a:off x="548640" y="54864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2020</a:t>
            </a:r>
          </a:p>
        </p:txBody>
      </p:sp>
      <p:sp>
        <p:nvSpPr>
          <p:cNvPr id="46" name="TextBox 45"/>
          <p:cNvSpPr txBox="1"/>
          <p:nvPr/>
        </p:nvSpPr>
        <p:spPr>
          <a:xfrm>
            <a:off x="2560320" y="5532120"/>
            <a:ext cx="9144000" cy="548640"/>
          </a:xfrm>
          <a:prstGeom prst="rect">
            <a:avLst/>
          </a:prstGeom>
          <a:noFill/>
        </p:spPr>
        <p:txBody>
          <a:bodyPr wrap="square">
            <a:spAutoFit/>
          </a:bodyPr>
          <a:lstStyle/>
          <a:p>
            <a:pPr algn="l">
              <a:spcAft>
                <a:spcPts val="600"/>
              </a:spcAft>
              <a:defRPr sz="1800" b="0">
                <a:solidFill>
                  <a:srgbClr val="2B2B2B"/>
                </a:solidFill>
              </a:defRPr>
            </a:pPr>
            <a:r>
              <a:t>Le couscous inscrit au patrimoine de l'UNESCO (candidature commune)</a:t>
            </a:r>
          </a:p>
        </p:txBody>
      </p:sp>
      <p:sp>
        <p:nvSpPr>
          <p:cNvPr id="47" name="TextBox 46"/>
          <p:cNvSpPr txBox="1"/>
          <p:nvPr/>
        </p:nvSpPr>
        <p:spPr>
          <a:xfrm>
            <a:off x="548640" y="6217920"/>
            <a:ext cx="10058400" cy="365760"/>
          </a:xfrm>
          <a:prstGeom prst="rect">
            <a:avLst/>
          </a:prstGeom>
          <a:noFill/>
        </p:spPr>
        <p:txBody>
          <a:bodyPr wrap="square">
            <a:spAutoFit/>
          </a:bodyPr>
          <a:lstStyle/>
          <a:p>
            <a:pPr algn="l">
              <a:spcAft>
                <a:spcPts val="600"/>
              </a:spcAft>
              <a:defRPr sz="1500" b="1">
                <a:solidFill>
                  <a:srgbClr val="1F4E79"/>
                </a:solidFill>
              </a:defRPr>
            </a:pPr>
            <a:r>
              <a:t>🎯 Question : combien d'années séparent l'indépendance de la Libye de celle de l'Algérie ? (11 ans)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Compréhension écrite : la lettre de Yasmine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371600"/>
            <a:ext cx="11064240" cy="4846320"/>
          </a:xfrm>
          <a:prstGeom prst="rect">
            <a:avLst/>
          </a:prstGeom>
          <a:noFill/>
        </p:spPr>
        <p:txBody>
          <a:bodyPr wrap="square">
            <a:spAutoFit/>
          </a:bodyPr>
          <a:lstStyle/>
          <a:p>
            <a:pPr algn="l">
              <a:spcAft>
                <a:spcPts val="600"/>
              </a:spcAft>
              <a:defRPr sz="1700" b="0">
                <a:solidFill>
                  <a:srgbClr val="2B2B2B"/>
                </a:solidFill>
              </a:defRPr>
            </a:pPr>
            <a:r>
              <a:t>Lettre de Yasmine, depuis Marrakech</a:t>
            </a:r>
          </a:p>
          <a:p>
            <a:pPr algn="l">
              <a:spcAft>
                <a:spcPts val="600"/>
              </a:spcAft>
              <a:defRPr sz="1700" b="0">
                <a:solidFill>
                  <a:srgbClr val="2B2B2B"/>
                </a:solidFill>
              </a:defRPr>
            </a:pPr>
            <a:r>
              <a:t>Chère Léa,</a:t>
            </a:r>
          </a:p>
          <a:p>
            <a:pPr algn="l">
              <a:spcAft>
                <a:spcPts val="600"/>
              </a:spcAft>
              <a:defRPr sz="1700" b="0">
                <a:solidFill>
                  <a:srgbClr val="2B2B2B"/>
                </a:solidFill>
              </a:defRPr>
            </a:pPr>
            <a:r>
              <a:t>Me voici enfin à Marrakech, chez ma grand-mère ! Hier matin, nous sommes allées au souk : quel spectacle ! Des épices de toutes les couleurs, des tapis, des lanternes en cuivre… On a acheté du cumin et du safran pour le couscous du vendredi.</a:t>
            </a:r>
          </a:p>
          <a:p>
            <a:pPr algn="l">
              <a:spcAft>
                <a:spcPts val="600"/>
              </a:spcAft>
              <a:defRPr sz="1700" b="0">
                <a:solidFill>
                  <a:srgbClr val="2B2B2B"/>
                </a:solidFill>
              </a:defRPr>
            </a:pPr>
            <a:r>
              <a:t>Le soir, la place Jemaa el-Fna se transforme : il y a des conteurs, des musiciens gnaoua et des dizaines de petits restaurants. J'ai goûté une harira, une soupe délicieuse.</a:t>
            </a:r>
          </a:p>
          <a:p>
            <a:pPr algn="l">
              <a:spcAft>
                <a:spcPts val="600"/>
              </a:spcAft>
              <a:defRPr sz="1700" b="0">
                <a:solidFill>
                  <a:srgbClr val="2B2B2B"/>
                </a:solidFill>
              </a:defRPr>
            </a:pPr>
            <a:r>
              <a:t>Samedi, nous partons trois jours dans le désert, près de Merzouga. Nous dormirons sous une tente berbère et nous monterons à dos de dromadaire pour voir le lever du soleil sur les dunes. J'ai hâte !</a:t>
            </a:r>
          </a:p>
          <a:p>
            <a:pPr algn="l">
              <a:spcAft>
                <a:spcPts val="600"/>
              </a:spcAft>
              <a:defRPr sz="1700" b="0">
                <a:solidFill>
                  <a:srgbClr val="2B2B2B"/>
                </a:solidFill>
              </a:defRPr>
            </a:pPr>
            <a:r>
              <a:t>Je t'envoie plein de soleil. Bisous, Yasmine</a:t>
            </a:r>
          </a:p>
        </p:txBody>
      </p:sp>
      <p:sp>
        <p:nvSpPr>
          <p:cNvPr id="35" name="Rounded Rectangle 34">
            <a:hlinkClick action="ppaction://hlinksldjump" r:id="rId4"/>
          </p:cNvPr>
          <p:cNvSpPr/>
          <p:nvPr/>
        </p:nvSpPr>
        <p:spPr>
          <a:xfrm>
            <a:off x="9326880" y="6263640"/>
            <a:ext cx="182880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Qui écrit ? À qui ? D'où ?</a:t>
            </a:r>
          </a:p>
          <a:p>
            <a:pPr algn="l">
              <a:spcAft>
                <a:spcPts val="600"/>
              </a:spcAft>
              <a:defRPr sz="2100" b="0">
                <a:solidFill>
                  <a:srgbClr val="2B2B2B"/>
                </a:solidFill>
              </a:defRPr>
            </a:pPr>
            <a:r>
              <a:t>• 2. Vrai/Faux : Yasmine est en vacances chez sa tante. Justifie.</a:t>
            </a:r>
          </a:p>
          <a:p>
            <a:pPr algn="l">
              <a:spcAft>
                <a:spcPts val="600"/>
              </a:spcAft>
              <a:defRPr sz="2100" b="0">
                <a:solidFill>
                  <a:srgbClr val="2B2B2B"/>
                </a:solidFill>
              </a:defRPr>
            </a:pPr>
            <a:r>
              <a:t>• 3. Cite 3 choses qu'on trouve au souk.</a:t>
            </a:r>
          </a:p>
          <a:p>
            <a:pPr algn="l">
              <a:spcAft>
                <a:spcPts val="600"/>
              </a:spcAft>
              <a:defRPr sz="2100" b="0">
                <a:solidFill>
                  <a:srgbClr val="2B2B2B"/>
                </a:solidFill>
              </a:defRPr>
            </a:pPr>
            <a:r>
              <a:t>• 4. Que se passe-t-il le soir sur la place Jemaa el-Fna ?</a:t>
            </a:r>
          </a:p>
          <a:p>
            <a:pPr algn="l">
              <a:spcAft>
                <a:spcPts val="600"/>
              </a:spcAft>
              <a:defRPr sz="2100" b="0">
                <a:solidFill>
                  <a:srgbClr val="2B2B2B"/>
                </a:solidFill>
              </a:defRPr>
            </a:pPr>
            <a:r>
              <a:t>• 5. Qu'est-ce que la harira ?</a:t>
            </a:r>
          </a:p>
          <a:p>
            <a:pPr algn="l">
              <a:spcAft>
                <a:spcPts val="600"/>
              </a:spcAft>
              <a:defRPr sz="2100" b="0">
                <a:solidFill>
                  <a:srgbClr val="2B2B2B"/>
                </a:solidFill>
              </a:defRPr>
            </a:pPr>
            <a:r>
              <a:t>• 6. Combien de temps durera l'excursion dans le désert ?</a:t>
            </a:r>
          </a:p>
          <a:p>
            <a:pPr algn="l">
              <a:spcAft>
                <a:spcPts val="600"/>
              </a:spcAft>
              <a:defRPr sz="2100" b="0">
                <a:solidFill>
                  <a:srgbClr val="2B2B2B"/>
                </a:solidFill>
              </a:defRPr>
            </a:pPr>
            <a:r>
              <a:t>• 7. ✍️ Production : réponds à Yasmine (5 lignes) en racontant un voyage.</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Yasmine écrit à Léa, depuis Marrakech (Maroc).</a:t>
            </a:r>
          </a:p>
          <a:p>
            <a:pPr algn="l">
              <a:spcAft>
                <a:spcPts val="600"/>
              </a:spcAft>
              <a:defRPr sz="2100" b="0">
                <a:solidFill>
                  <a:srgbClr val="2B2B2B"/>
                </a:solidFill>
              </a:defRPr>
            </a:pPr>
            <a:r>
              <a:t>• 2. FAUX : elle est chez sa grand-mère.</a:t>
            </a:r>
          </a:p>
          <a:p>
            <a:pPr algn="l">
              <a:spcAft>
                <a:spcPts val="600"/>
              </a:spcAft>
              <a:defRPr sz="2100" b="0">
                <a:solidFill>
                  <a:srgbClr val="2B2B2B"/>
                </a:solidFill>
              </a:defRPr>
            </a:pPr>
            <a:r>
              <a:t>• 3. Épices, tapis, lanternes en cuivre.</a:t>
            </a:r>
          </a:p>
          <a:p>
            <a:pPr algn="l">
              <a:spcAft>
                <a:spcPts val="600"/>
              </a:spcAft>
              <a:defRPr sz="2100" b="0">
                <a:solidFill>
                  <a:srgbClr val="2B2B2B"/>
                </a:solidFill>
              </a:defRPr>
            </a:pPr>
            <a:r>
              <a:t>• 4. Conteurs, musiciens gnaoua, petits restaurants.</a:t>
            </a:r>
          </a:p>
          <a:p>
            <a:pPr algn="l">
              <a:spcAft>
                <a:spcPts val="600"/>
              </a:spcAft>
              <a:defRPr sz="2100" b="0">
                <a:solidFill>
                  <a:srgbClr val="2B2B2B"/>
                </a:solidFill>
              </a:defRPr>
            </a:pPr>
            <a:r>
              <a:t>• 5. Une soupe (traditionnelle).</a:t>
            </a:r>
          </a:p>
          <a:p>
            <a:pPr algn="l">
              <a:spcAft>
                <a:spcPts val="600"/>
              </a:spcAft>
              <a:defRPr sz="2100" b="0">
                <a:solidFill>
                  <a:srgbClr val="2B2B2B"/>
                </a:solidFill>
              </a:defRPr>
            </a:pPr>
            <a:r>
              <a:t>• 6. Trois jours.</a:t>
            </a:r>
          </a:p>
          <a:p>
            <a:pPr algn="l">
              <a:spcAft>
                <a:spcPts val="600"/>
              </a:spcAft>
              <a:defRPr sz="2100" b="0">
                <a:solidFill>
                  <a:srgbClr val="2B2B2B"/>
                </a:solidFill>
              </a:defRPr>
            </a:pPr>
            <a:r>
              <a:t>• 7. Production libre — critères : formule d'appel, passé composé, 3 détails, formule finale.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7. Cuisine &amp; culture : devine l'image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36" name="TextBox 35"/>
          <p:cNvSpPr txBox="1"/>
          <p:nvPr/>
        </p:nvSpPr>
        <p:spPr>
          <a:xfrm>
            <a:off x="640080" y="2651760"/>
            <a:ext cx="2514600" cy="1828800"/>
          </a:xfrm>
          <a:prstGeom prst="rect">
            <a:avLst/>
          </a:prstGeom>
          <a:noFill/>
        </p:spPr>
        <p:txBody>
          <a:bodyPr wrap="square">
            <a:spAutoFit/>
          </a:bodyPr>
          <a:lstStyle/>
          <a:p>
            <a:pPr algn="ctr">
              <a:spcAft>
                <a:spcPts val="600"/>
              </a:spcAft>
              <a:defRPr sz="1600" b="0">
                <a:solidFill>
                  <a:srgbClr val="2B2B2B"/>
                </a:solidFill>
              </a:defRPr>
            </a:pPr>
            <a:r>
              <a:t>« Je cuis dans un plat en terre au couvercle pointu. »</a:t>
            </a:r>
          </a:p>
        </p:txBody>
      </p:sp>
      <p:sp>
        <p:nvSpPr>
          <p:cNvPr id="37" name="Rounded Rectangle 36">
            <a:hlinkClick action="ppaction://hlinksldjump" r:id="rId4"/>
          </p:cNvPr>
          <p:cNvSpPr/>
          <p:nvPr/>
        </p:nvSpPr>
        <p:spPr>
          <a:xfrm>
            <a:off x="914400" y="4937760"/>
            <a:ext cx="19659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38" name="Rounded Rectangle 37"/>
          <p:cNvSpPr/>
          <p:nvPr/>
        </p:nvSpPr>
        <p:spPr>
          <a:xfrm>
            <a:off x="342900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2900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0" name="TextBox 39"/>
          <p:cNvSpPr txBox="1"/>
          <p:nvPr/>
        </p:nvSpPr>
        <p:spPr>
          <a:xfrm>
            <a:off x="3520440" y="2651760"/>
            <a:ext cx="2514600" cy="1828800"/>
          </a:xfrm>
          <a:prstGeom prst="rect">
            <a:avLst/>
          </a:prstGeom>
          <a:noFill/>
        </p:spPr>
        <p:txBody>
          <a:bodyPr wrap="square">
            <a:spAutoFit/>
          </a:bodyPr>
          <a:lstStyle/>
          <a:p>
            <a:pPr algn="ctr">
              <a:spcAft>
                <a:spcPts val="600"/>
              </a:spcAft>
              <a:defRPr sz="1600" b="0">
                <a:solidFill>
                  <a:srgbClr val="2B2B2B"/>
                </a:solidFill>
              </a:defRPr>
            </a:pPr>
            <a:r>
              <a:t>« Graine de semoule, je suis servi le vendredi. »</a:t>
            </a:r>
          </a:p>
        </p:txBody>
      </p:sp>
      <p:sp>
        <p:nvSpPr>
          <p:cNvPr id="41" name="Rounded Rectangle 40">
            <a:hlinkClick action="ppaction://hlinksldjump" r:id="rId4"/>
          </p:cNvPr>
          <p:cNvSpPr/>
          <p:nvPr/>
        </p:nvSpPr>
        <p:spPr>
          <a:xfrm>
            <a:off x="3794760" y="4937760"/>
            <a:ext cx="19659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2" name="Rounded Rectangle 41"/>
          <p:cNvSpPr/>
          <p:nvPr/>
        </p:nvSpPr>
        <p:spPr>
          <a:xfrm>
            <a:off x="630935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5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4" name="TextBox 43"/>
          <p:cNvSpPr txBox="1"/>
          <p:nvPr/>
        </p:nvSpPr>
        <p:spPr>
          <a:xfrm>
            <a:off x="6400799" y="2651760"/>
            <a:ext cx="2514600" cy="1828800"/>
          </a:xfrm>
          <a:prstGeom prst="rect">
            <a:avLst/>
          </a:prstGeom>
          <a:noFill/>
        </p:spPr>
        <p:txBody>
          <a:bodyPr wrap="square">
            <a:spAutoFit/>
          </a:bodyPr>
          <a:lstStyle/>
          <a:p>
            <a:pPr algn="ctr">
              <a:spcAft>
                <a:spcPts val="600"/>
              </a:spcAft>
              <a:defRPr sz="1600" b="0">
                <a:solidFill>
                  <a:srgbClr val="2B2B2B"/>
                </a:solidFill>
              </a:defRPr>
            </a:pPr>
            <a:r>
              <a:t>« Chaussure en cuir, souvent jaune. »</a:t>
            </a:r>
          </a:p>
        </p:txBody>
      </p:sp>
      <p:sp>
        <p:nvSpPr>
          <p:cNvPr id="45" name="Rounded Rectangle 44">
            <a:hlinkClick action="ppaction://hlinksldjump" r:id="rId4"/>
          </p:cNvPr>
          <p:cNvSpPr/>
          <p:nvPr/>
        </p:nvSpPr>
        <p:spPr>
          <a:xfrm>
            <a:off x="6675120" y="4937760"/>
            <a:ext cx="196596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6" name="Rounded Rectangle 45"/>
          <p:cNvSpPr/>
          <p:nvPr/>
        </p:nvSpPr>
        <p:spPr>
          <a:xfrm>
            <a:off x="918971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1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8" name="TextBox 47"/>
          <p:cNvSpPr txBox="1"/>
          <p:nvPr/>
        </p:nvSpPr>
        <p:spPr>
          <a:xfrm>
            <a:off x="9281159" y="2651760"/>
            <a:ext cx="2514600" cy="1828800"/>
          </a:xfrm>
          <a:prstGeom prst="rect">
            <a:avLst/>
          </a:prstGeom>
          <a:noFill/>
        </p:spPr>
        <p:txBody>
          <a:bodyPr wrap="square">
            <a:spAutoFit/>
          </a:bodyPr>
          <a:lstStyle/>
          <a:p>
            <a:pPr algn="ctr">
              <a:spcAft>
                <a:spcPts val="600"/>
              </a:spcAft>
              <a:defRPr sz="1600" b="0">
                <a:solidFill>
                  <a:srgbClr val="2B2B2B"/>
                </a:solidFill>
              </a:defRPr>
            </a:pPr>
            <a:r>
              <a:t>« Marché traditionnel couvert. »</a:t>
            </a:r>
          </a:p>
        </p:txBody>
      </p:sp>
      <p:sp>
        <p:nvSpPr>
          <p:cNvPr id="49" name="Rounded Rectangle 48">
            <a:hlinkClick action="ppaction://hlinksldjump" r:id="rId4"/>
          </p:cNvPr>
          <p:cNvSpPr/>
          <p:nvPr/>
        </p:nvSpPr>
        <p:spPr>
          <a:xfrm>
            <a:off x="9555480" y="4937760"/>
            <a:ext cx="1965960" cy="6400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tajine • couscous • babouche • souk</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 Le TAJINE — plat et cuisson à l'étouffée</a:t>
            </a:r>
          </a:p>
          <a:p>
            <a:pPr algn="l">
              <a:spcAft>
                <a:spcPts val="600"/>
              </a:spcAft>
              <a:defRPr sz="2200" b="0">
                <a:solidFill>
                  <a:srgbClr val="2B2B2B"/>
                </a:solidFill>
              </a:defRPr>
            </a:pPr>
            <a:r>
              <a:t>• 🥣 Le COUSCOUS — classé au patrimoine de l'UNESCO (2020)</a:t>
            </a:r>
          </a:p>
          <a:p>
            <a:pPr algn="l">
              <a:spcAft>
                <a:spcPts val="600"/>
              </a:spcAft>
              <a:defRPr sz="2200" b="0">
                <a:solidFill>
                  <a:srgbClr val="2B2B2B"/>
                </a:solidFill>
              </a:defRPr>
            </a:pPr>
            <a:r>
              <a:t>• 🥾 La BABOUCHE</a:t>
            </a:r>
          </a:p>
          <a:p>
            <a:pPr algn="l">
              <a:spcAft>
                <a:spcPts val="600"/>
              </a:spcAft>
              <a:defRPr sz="2200" b="0">
                <a:solidFill>
                  <a:srgbClr val="2B2B2B"/>
                </a:solidFill>
              </a:defRPr>
            </a:pPr>
            <a:r>
              <a:t>• 🏺 Le SOUK</a:t>
            </a:r>
          </a:p>
          <a:p>
            <a:pPr algn="l">
              <a:spcAft>
                <a:spcPts val="600"/>
              </a:spcAft>
              <a:defRPr sz="2200" b="0">
                <a:solidFill>
                  <a:srgbClr val="2B2B2B"/>
                </a:solidFill>
              </a:defRPr>
            </a:pPr>
            <a:r>
              <a:t>• 🎵 Bonus : raï, chaâbi, gnaoua — quelles musiques connais-tu ?</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8. Jeux de mots : le mot mystère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4800" b="1">
                <a:solidFill>
                  <a:srgbClr val="1F4E79"/>
                </a:solidFill>
              </a:defRPr>
            </a:pPr>
            <a:r>
              <a:t>_ _ _ _ _ _ _   (7 lettres)</a:t>
            </a:r>
          </a:p>
        </p:txBody>
      </p:sp>
      <p:sp>
        <p:nvSpPr>
          <p:cNvPr id="35" name="TextBox 34"/>
          <p:cNvSpPr txBox="1"/>
          <p:nvPr/>
        </p:nvSpPr>
        <p:spPr>
          <a:xfrm>
            <a:off x="548640" y="2743200"/>
            <a:ext cx="10972800" cy="914400"/>
          </a:xfrm>
          <a:prstGeom prst="rect">
            <a:avLst/>
          </a:prstGeom>
          <a:noFill/>
        </p:spPr>
        <p:txBody>
          <a:bodyPr wrap="square">
            <a:spAutoFit/>
          </a:bodyPr>
          <a:lstStyle/>
          <a:p>
            <a:pPr algn="ctr">
              <a:spcAft>
                <a:spcPts val="600"/>
              </a:spcAft>
              <a:defRPr sz="2400" b="0">
                <a:solidFill>
                  <a:srgbClr val="2B2B2B"/>
                </a:solidFill>
              </a:defRPr>
            </a:pPr>
            <a:r>
              <a:t>Indice : arbre des oasis qui donne des dattes 🌴</a:t>
            </a:r>
          </a:p>
        </p:txBody>
      </p:sp>
      <p:sp>
        <p:nvSpPr>
          <p:cNvPr id="36" name="Rounded Rectangle 35">
            <a:hlinkClick action="ppaction://hlinksldjump" r:id="rId4"/>
          </p:cNvPr>
          <p:cNvSpPr/>
          <p:nvPr/>
        </p:nvSpPr>
        <p:spPr>
          <a:xfrm>
            <a:off x="4754880" y="402336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Révéler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du mot mystère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828800"/>
            <a:ext cx="10972800" cy="1371600"/>
          </a:xfrm>
          <a:prstGeom prst="rect">
            <a:avLst/>
          </a:prstGeom>
          <a:noFill/>
        </p:spPr>
        <p:txBody>
          <a:bodyPr wrap="square">
            <a:spAutoFit/>
          </a:bodyPr>
          <a:lstStyle/>
          <a:p>
            <a:pPr algn="ctr">
              <a:spcAft>
                <a:spcPts val="600"/>
              </a:spcAft>
              <a:defRPr sz="4000" b="1">
                <a:solidFill>
                  <a:srgbClr val="B84A1E"/>
                </a:solidFill>
              </a:defRPr>
            </a:pPr>
            <a:r>
              <a:t>D A T T I E R  ✅</a:t>
            </a:r>
          </a:p>
          <a:p>
            <a:pPr algn="ctr">
              <a:spcAft>
                <a:spcPts val="600"/>
              </a:spcAft>
              <a:defRPr sz="4000" b="1">
                <a:solidFill>
                  <a:srgbClr val="B84A1E"/>
                </a:solidFill>
              </a:defRPr>
            </a:pPr>
            <a:r>
              <a:t>Le palmier-dattier : l'arbre roi des oasis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Jeu : associe le mot et la définition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731520" y="14630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Médina</a:t>
            </a:r>
          </a:p>
        </p:txBody>
      </p:sp>
      <p:sp>
        <p:nvSpPr>
          <p:cNvPr id="34" name="Rectangle 33"/>
          <p:cNvSpPr/>
          <p:nvPr/>
        </p:nvSpPr>
        <p:spPr>
          <a:xfrm>
            <a:off x="5486400" y="14630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0" y="1554480"/>
            <a:ext cx="5852160" cy="548640"/>
          </a:xfrm>
          <a:prstGeom prst="rect">
            <a:avLst/>
          </a:prstGeom>
          <a:noFill/>
        </p:spPr>
        <p:txBody>
          <a:bodyPr wrap="square">
            <a:spAutoFit/>
          </a:bodyPr>
          <a:lstStyle/>
          <a:p>
            <a:pPr algn="l">
              <a:spcAft>
                <a:spcPts val="600"/>
              </a:spcAft>
              <a:defRPr sz="1800" b="0">
                <a:solidFill>
                  <a:srgbClr val="2B2B2B"/>
                </a:solidFill>
              </a:defRPr>
            </a:pPr>
            <a:r>
              <a:t>A. Vieille ville entourée de remparts</a:t>
            </a:r>
          </a:p>
        </p:txBody>
      </p:sp>
      <p:sp>
        <p:nvSpPr>
          <p:cNvPr id="36" name="Rounded Rectangle 35"/>
          <p:cNvSpPr/>
          <p:nvPr/>
        </p:nvSpPr>
        <p:spPr>
          <a:xfrm>
            <a:off x="731520" y="23774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Casbah</a:t>
            </a:r>
          </a:p>
        </p:txBody>
      </p:sp>
      <p:sp>
        <p:nvSpPr>
          <p:cNvPr id="37" name="Rectangle 36"/>
          <p:cNvSpPr/>
          <p:nvPr/>
        </p:nvSpPr>
        <p:spPr>
          <a:xfrm>
            <a:off x="5486400" y="23774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2468880"/>
            <a:ext cx="5852160" cy="548640"/>
          </a:xfrm>
          <a:prstGeom prst="rect">
            <a:avLst/>
          </a:prstGeom>
          <a:noFill/>
        </p:spPr>
        <p:txBody>
          <a:bodyPr wrap="square">
            <a:spAutoFit/>
          </a:bodyPr>
          <a:lstStyle/>
          <a:p>
            <a:pPr algn="l">
              <a:spcAft>
                <a:spcPts val="600"/>
              </a:spcAft>
              <a:defRPr sz="1800" b="0">
                <a:solidFill>
                  <a:srgbClr val="2B2B2B"/>
                </a:solidFill>
              </a:defRPr>
            </a:pPr>
            <a:r>
              <a:t>B. Point d'eau dans le désert</a:t>
            </a:r>
          </a:p>
        </p:txBody>
      </p:sp>
      <p:sp>
        <p:nvSpPr>
          <p:cNvPr id="39" name="Rounded Rectangle 38"/>
          <p:cNvSpPr/>
          <p:nvPr/>
        </p:nvSpPr>
        <p:spPr>
          <a:xfrm>
            <a:off x="731520" y="32918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Oasis</a:t>
            </a:r>
          </a:p>
        </p:txBody>
      </p:sp>
      <p:sp>
        <p:nvSpPr>
          <p:cNvPr id="40" name="Rectangle 39"/>
          <p:cNvSpPr/>
          <p:nvPr/>
        </p:nvSpPr>
        <p:spPr>
          <a:xfrm>
            <a:off x="5486400" y="32918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383280"/>
            <a:ext cx="5852160" cy="548640"/>
          </a:xfrm>
          <a:prstGeom prst="rect">
            <a:avLst/>
          </a:prstGeom>
          <a:noFill/>
        </p:spPr>
        <p:txBody>
          <a:bodyPr wrap="square">
            <a:spAutoFit/>
          </a:bodyPr>
          <a:lstStyle/>
          <a:p>
            <a:pPr algn="l">
              <a:spcAft>
                <a:spcPts val="600"/>
              </a:spcAft>
              <a:defRPr sz="1800" b="0">
                <a:solidFill>
                  <a:srgbClr val="2B2B2B"/>
                </a:solidFill>
              </a:defRPr>
            </a:pPr>
            <a:r>
              <a:t>C. Bain de vapeur traditionnel</a:t>
            </a:r>
          </a:p>
        </p:txBody>
      </p:sp>
      <p:sp>
        <p:nvSpPr>
          <p:cNvPr id="42" name="Rounded Rectangle 41"/>
          <p:cNvSpPr/>
          <p:nvPr/>
        </p:nvSpPr>
        <p:spPr>
          <a:xfrm>
            <a:off x="731520" y="42062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Hammam</a:t>
            </a:r>
          </a:p>
        </p:txBody>
      </p:sp>
      <p:sp>
        <p:nvSpPr>
          <p:cNvPr id="43" name="Rectangle 42"/>
          <p:cNvSpPr/>
          <p:nvPr/>
        </p:nvSpPr>
        <p:spPr>
          <a:xfrm>
            <a:off x="5486400" y="42062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0" y="4297680"/>
            <a:ext cx="5852160" cy="548640"/>
          </a:xfrm>
          <a:prstGeom prst="rect">
            <a:avLst/>
          </a:prstGeom>
          <a:noFill/>
        </p:spPr>
        <p:txBody>
          <a:bodyPr wrap="square">
            <a:spAutoFit/>
          </a:bodyPr>
          <a:lstStyle/>
          <a:p>
            <a:pPr algn="l">
              <a:spcAft>
                <a:spcPts val="600"/>
              </a:spcAft>
              <a:defRPr sz="1800" b="0">
                <a:solidFill>
                  <a:srgbClr val="2B2B2B"/>
                </a:solidFill>
              </a:defRPr>
            </a:pPr>
            <a:r>
              <a:t>D. Maison avec jardin intérieur</a:t>
            </a:r>
          </a:p>
        </p:txBody>
      </p:sp>
      <p:sp>
        <p:nvSpPr>
          <p:cNvPr id="45" name="Rounded Rectangle 44"/>
          <p:cNvSpPr/>
          <p:nvPr/>
        </p:nvSpPr>
        <p:spPr>
          <a:xfrm>
            <a:off x="731520" y="51206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Riad</a:t>
            </a:r>
          </a:p>
        </p:txBody>
      </p:sp>
      <p:sp>
        <p:nvSpPr>
          <p:cNvPr id="46" name="Rectangle 45"/>
          <p:cNvSpPr/>
          <p:nvPr/>
        </p:nvSpPr>
        <p:spPr>
          <a:xfrm>
            <a:off x="5486400" y="51206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0" y="5212080"/>
            <a:ext cx="5852160" cy="548640"/>
          </a:xfrm>
          <a:prstGeom prst="rect">
            <a:avLst/>
          </a:prstGeom>
          <a:noFill/>
        </p:spPr>
        <p:txBody>
          <a:bodyPr wrap="square">
            <a:spAutoFit/>
          </a:bodyPr>
          <a:lstStyle/>
          <a:p>
            <a:pPr algn="l">
              <a:spcAft>
                <a:spcPts val="600"/>
              </a:spcAft>
              <a:defRPr sz="1800" b="0">
                <a:solidFill>
                  <a:srgbClr val="2B2B2B"/>
                </a:solidFill>
              </a:defRPr>
            </a:pPr>
            <a:r>
              <a:t>E. Citadelle, quartier fortifié</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