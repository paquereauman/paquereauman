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d'environ 3 h. Cliquez sur les boutons pour naviguer (mode diaporama). Le bouton 🏠 revient au menu.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Chacun dit un mot qui lui évoque le Maghreb ; on construit un nuage de mots au tableau. Puis formation de 3 équipes : Atlas, Sahara, Médina.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les chiffres à voix haute, comparer avec la France (551 695 km², 68 M hab.). Valeurs arrondies : vérifier les dernières données Banque mondiale si besoin.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Activité : chaque équipe calcule la densité d'un pays (population ÷ superficie) et vérifie.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élèves complètent leur carte au fil du cours. Distribuer la carte muette.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Questionnement oral à partir de la carte. Cliquer sur « Réponses » pour révéler.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Questionnement oral, puis « Réponses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Insérer ici la photo de l'oasis de Bou Thramar (Insertion &gt; Image) à la place du cadre.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repérer les lignes 300 mm et 150 mm sur la carte.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Remplacer le lien par la vidéo choisie (ou insérer un fichier .mp4 : Insertion &gt; Vidéo). 1er visionnage sans son, 2e avec son, 3e pour vérifier.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Activité : distribuer les étiquettes dans le désordre, les équipes les remettent dans l'ordre.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Lecture silencieuse 10', questions en binômes 15', correction collective 10'.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Clique sur chaque carte pour révéler la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équipes devinent lettre par lettre (pendu).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Solution : Médina → Vieille ville entourée de remparts ; Casbah → Citadelle, quartier fortifié ; Oasis → Point d'eau dans le désert ; Hammam → Bain de vapeur traditionnel ; Riad → Maison avec jardin intérieur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Chaque équipe cite le plus de mots liés au Maghreb en 60 s. 1 mot = 1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14.xml"/><Relationship Id="rId6" Type="http://schemas.openxmlformats.org/officeDocument/2006/relationships/slide" Target="slide17.xml"/><Relationship Id="rId7" Type="http://schemas.openxmlformats.org/officeDocument/2006/relationships/slide" Target="slide32.xml"/><Relationship Id="rId8" Type="http://schemas.openxmlformats.org/officeDocument/2006/relationships/slide" Target="slide34.xml"/><Relationship Id="rId9" Type="http://schemas.openxmlformats.org/officeDocument/2006/relationships/slide" Target="slide35.xml"/><Relationship Id="rId10" Type="http://schemas.openxmlformats.org/officeDocument/2006/relationships/slide" Target="slide38.xml"/><Relationship Id="rId11" Type="http://schemas.openxmlformats.org/officeDocument/2006/relationships/slide" Target="slide40.xml"/><Relationship Id="rId12" Type="http://schemas.openxmlformats.org/officeDocument/2006/relationships/slide" Target="slide43.xml"/><Relationship Id="rId13" Type="http://schemas.openxmlformats.org/officeDocument/2006/relationships/slide" Target="slide4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slide" Target="slide2.xml"/><Relationship Id="rId5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slide" Target="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Relationship Id="rId4" Type="http://schemas.openxmlformats.org/officeDocument/2006/relationships/slide" Target="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slide" Target="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www.youtube.com/results?search_query=le+maghreb+documentaire+maroc+alg%C3%A9rie+tunisie" TargetMode="External"/><Relationship Id="rId4" Type="http://schemas.openxmlformats.org/officeDocument/2006/relationships/slide" Target="slide2.xml"/><Relationship Id="rId5" Type="http://schemas.openxmlformats.org/officeDocument/2006/relationships/slide" Target="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19.xml"/><Relationship Id="rId4" Type="http://schemas.openxmlformats.org/officeDocument/2006/relationships/slide" Target="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1.xml"/><Relationship Id="rId4" Type="http://schemas.openxmlformats.org/officeDocument/2006/relationships/slide" Target="slide2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5.xml"/><Relationship Id="rId4" Type="http://schemas.openxmlformats.org/officeDocument/2006/relationships/slide" Target="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8.xml"/><Relationship Id="rId4" Type="http://schemas.openxmlformats.org/officeDocument/2006/relationships/slide" Target="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31.xml"/><Relationship Id="rId4" Type="http://schemas.openxmlformats.org/officeDocument/2006/relationships/slide" Target="slide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3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slide" Target="slide2.xml"/><Relationship Id="rId4" Type="http://schemas.openxmlformats.org/officeDocument/2006/relationships/slide" Target="slide3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3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slide" Target="slide2.xml"/><Relationship Id="rId4" Type="http://schemas.openxmlformats.org/officeDocument/2006/relationships/slide" Target="slide3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Relationship Id="rId4" Type="http://schemas.openxmlformats.org/officeDocument/2006/relationships/slide" Target="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16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288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288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860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0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36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436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580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8580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3152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3152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7724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296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296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6868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6868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1440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1440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6012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6012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0584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0584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5156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5156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9728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9728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300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4300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8872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8872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7200" y="146304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6000" b="1">
                <a:solidFill>
                  <a:srgbClr val="E0A11B"/>
                </a:solidFill>
              </a:defRPr>
            </a:pPr>
            <a:r>
              <a:t>🐪  Le MAGHREB  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2834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800" b="0">
                <a:solidFill>
                  <a:srgbClr val="FFFFFF"/>
                </a:solidFill>
              </a:defRPr>
            </a:pPr>
            <a:r>
              <a:t>Voyage ludique et interactif au pays du soleil couchant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" y="3749039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0">
                <a:solidFill>
                  <a:srgbClr val="F6E7C8"/>
                </a:solidFill>
              </a:defRPr>
            </a:pPr>
            <a:r>
              <a:t>Algérie • Maroc • Tunisie  (+ Libye &amp; Mauritanie : le « Grand Maghreb »)</a:t>
            </a:r>
          </a:p>
        </p:txBody>
      </p:sp>
      <p:sp>
        <p:nvSpPr>
          <p:cNvPr id="60" name="Rounded Rectangle 59">
            <a:hlinkClick action="ppaction://hlinksldjump" r:id="rId3"/>
          </p:cNvPr>
          <p:cNvSpPr/>
          <p:nvPr/>
        </p:nvSpPr>
        <p:spPr>
          <a:xfrm>
            <a:off x="4754880" y="4754880"/>
            <a:ext cx="2651760" cy="8229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▶ COMMENCER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🗺️ Menu du voyage — clique sur une étape !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548640" y="1463040"/>
            <a:ext cx="3474720" cy="91440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1. Brise-glace  (15')</a:t>
            </a:r>
          </a:p>
        </p:txBody>
      </p:sp>
      <p:sp>
        <p:nvSpPr>
          <p:cNvPr id="34" name="Rounded Rectangle 33">
            <a:hlinkClick action="ppaction://hlinksldjump" r:id="rId4"/>
          </p:cNvPr>
          <p:cNvSpPr/>
          <p:nvPr/>
        </p:nvSpPr>
        <p:spPr>
          <a:xfrm>
            <a:off x="4297679" y="1463040"/>
            <a:ext cx="3474720" cy="91440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I. Carte d'identité  (25')</a:t>
            </a:r>
          </a:p>
        </p:txBody>
      </p:sp>
      <p:sp>
        <p:nvSpPr>
          <p:cNvPr id="35" name="Rounded Rectangle 34">
            <a:hlinkClick action="ppaction://hlinksldjump" r:id="rId5"/>
          </p:cNvPr>
          <p:cNvSpPr/>
          <p:nvPr/>
        </p:nvSpPr>
        <p:spPr>
          <a:xfrm>
            <a:off x="8046719" y="1463040"/>
            <a:ext cx="3474720" cy="9144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II. 🎧 C.O. Vidéo  (25')</a:t>
            </a:r>
          </a:p>
        </p:txBody>
      </p:sp>
      <p:sp>
        <p:nvSpPr>
          <p:cNvPr id="36" name="Rounded Rectangle 35">
            <a:hlinkClick action="ppaction://hlinksldjump" r:id="rId6"/>
          </p:cNvPr>
          <p:cNvSpPr/>
          <p:nvPr/>
        </p:nvSpPr>
        <p:spPr>
          <a:xfrm>
            <a:off x="548640" y="2651760"/>
            <a:ext cx="3474720" cy="914400"/>
          </a:xfrm>
          <a:prstGeom prst="round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Quiz géo  (10')</a:t>
            </a:r>
          </a:p>
        </p:txBody>
      </p:sp>
      <p:sp>
        <p:nvSpPr>
          <p:cNvPr id="37" name="Rounded Rectangle 36">
            <a:hlinkClick action="ppaction://hlinksldjump" r:id="rId7"/>
          </p:cNvPr>
          <p:cNvSpPr/>
          <p:nvPr/>
        </p:nvSpPr>
        <p:spPr>
          <a:xfrm>
            <a:off x="4297679" y="2651760"/>
            <a:ext cx="3474720" cy="91440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IV. Histoire &amp; données  (20')</a:t>
            </a:r>
          </a:p>
        </p:txBody>
      </p:sp>
      <p:sp>
        <p:nvSpPr>
          <p:cNvPr id="38" name="Rounded Rectangle 37">
            <a:hlinkClick action="ppaction://hlinksldjump" r:id="rId8"/>
          </p:cNvPr>
          <p:cNvSpPr/>
          <p:nvPr/>
        </p:nvSpPr>
        <p:spPr>
          <a:xfrm>
            <a:off x="8046719" y="2651760"/>
            <a:ext cx="3474720" cy="91440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☕ Pause  (15')</a:t>
            </a:r>
          </a:p>
        </p:txBody>
      </p:sp>
      <p:sp>
        <p:nvSpPr>
          <p:cNvPr id="39" name="Rounded Rectangle 38">
            <a:hlinkClick action="ppaction://hlinksldjump" r:id="rId9"/>
          </p:cNvPr>
          <p:cNvSpPr/>
          <p:nvPr/>
        </p:nvSpPr>
        <p:spPr>
          <a:xfrm>
            <a:off x="548640" y="3840480"/>
            <a:ext cx="3474720" cy="9144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III. 📖 C.E. écrite  (30')</a:t>
            </a:r>
          </a:p>
        </p:txBody>
      </p:sp>
      <p:sp>
        <p:nvSpPr>
          <p:cNvPr id="40" name="Rounded Rectangle 39">
            <a:hlinkClick action="ppaction://hlinksldjump" r:id="rId10"/>
          </p:cNvPr>
          <p:cNvSpPr/>
          <p:nvPr/>
        </p:nvSpPr>
        <p:spPr>
          <a:xfrm>
            <a:off x="4297679" y="3840480"/>
            <a:ext cx="3474720" cy="914400"/>
          </a:xfrm>
          <a:prstGeom prst="round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7. Cuisine &amp; culture  (15')</a:t>
            </a:r>
          </a:p>
        </p:txBody>
      </p:sp>
      <p:sp>
        <p:nvSpPr>
          <p:cNvPr id="41" name="Rounded Rectangle 40">
            <a:hlinkClick action="ppaction://hlinksldjump" r:id="rId11"/>
          </p:cNvPr>
          <p:cNvSpPr/>
          <p:nvPr/>
        </p:nvSpPr>
        <p:spPr>
          <a:xfrm>
            <a:off x="8046719" y="3840480"/>
            <a:ext cx="3474720" cy="91440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8. Jeux de mots  (15')</a:t>
            </a:r>
          </a:p>
        </p:txBody>
      </p:sp>
      <p:sp>
        <p:nvSpPr>
          <p:cNvPr id="42" name="Rounded Rectangle 41">
            <a:hlinkClick action="ppaction://hlinksldjump" r:id="rId12"/>
          </p:cNvPr>
          <p:cNvSpPr/>
          <p:nvPr/>
        </p:nvSpPr>
        <p:spPr>
          <a:xfrm>
            <a:off x="548640" y="5029200"/>
            <a:ext cx="3474720" cy="91440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9. Défi final par équipes  (10')</a:t>
            </a:r>
          </a:p>
        </p:txBody>
      </p:sp>
      <p:sp>
        <p:nvSpPr>
          <p:cNvPr id="43" name="Rounded Rectangle 42">
            <a:hlinkClick action="ppaction://hlinksldjump" r:id="rId13"/>
          </p:cNvPr>
          <p:cNvSpPr/>
          <p:nvPr/>
        </p:nvSpPr>
        <p:spPr>
          <a:xfrm>
            <a:off x="4297679" y="5029200"/>
            <a:ext cx="3474720" cy="9144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10. Bilan &amp; production  (10')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263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 b="1">
                <a:solidFill>
                  <a:srgbClr val="1F4E79"/>
                </a:solidFill>
              </a:defRPr>
            </a:pPr>
            <a:r>
              <a:t>Durée totale ≈ 3 h  •  Score des équipes au tableau  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1. Brise-glace : le Maghreb en 1 mot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15'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Tour de table : 1 mot, 1 image, 1 souvenir associé au Maghreb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On construit ensemble un nuage de mots au tableau ☁️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Formez 3 équipes : 🏔️ ATLAS  •  🏜️ SAHARA  •  🕌 MÉDINA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Chaque bonne réponse = 1 point — le score suit toute la séance !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4937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B84A1E"/>
                </a:solidFill>
              </a:defRPr>
            </a:pPr>
            <a:r>
              <a:t>« Maghreb » (المغرب) signifie en arabe : « le couchant », l'Occident — là où le soleil se couche.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I – Carte d'identité du Maghreb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25'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1371600"/>
            <a:ext cx="5669280" cy="4754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146304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1">
                <a:solidFill>
                  <a:srgbClr val="B84A1E"/>
                </a:solidFill>
              </a:defRPr>
            </a:pPr>
            <a:r>
              <a:t>1) Carte d'identité régionale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2011680"/>
            <a:ext cx="5394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Superficie : ≈ 5,8 millions km² (≈ 10 × la France métropolitaine)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Population : ≈ 107 millions d'habitants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Densité : ≈ 18 hab/km² (très inégale : côtes peuplées, Sahara presque vide)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PIB : ≈ 490 milliards $ (cumulé)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Taux de chômage : ≈ 10 à 19 % selon les pays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Statut : 5 États indépendants réunis dans l'Union du Maghreb arabe (UMA, 1989)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Source : Banque mondiale 2023 (arrondis)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92240" y="1371600"/>
            <a:ext cx="5120640" cy="47548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75120" y="146304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1">
                <a:solidFill>
                  <a:srgbClr val="E0A11B"/>
                </a:solidFill>
              </a:defRPr>
            </a:pPr>
            <a:r>
              <a:t>2) Ce qu'il faut retenir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20116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🏔️ Relief varié : montagnes de l'Atlas au nord, plaines et côtes méditerranéennes, Sahara au sud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☀️ Climat : méditerranéen au nord (étés chauds, hivers doux), désertique au sud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🎶 Culture riche : musique (raï, gnaoua, chaâbi), cuisine épicée, hospitalité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🌍 Culture maghrébine : un mélange d'origines berbère (amazighe), arabe, africaine, andalouse et européenne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I – Carte d'identité : pays par pays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1371600"/>
            <a:ext cx="1783080" cy="73152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146304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Pays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77440" y="1371600"/>
            <a:ext cx="1691639" cy="73152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423160" y="1463040"/>
            <a:ext cx="16459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Superficie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1371600"/>
            <a:ext cx="1234439" cy="73152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60520" y="1463040"/>
            <a:ext cx="11887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Population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94960" y="1371600"/>
            <a:ext cx="1051560" cy="73152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40680" y="1463040"/>
            <a:ext cx="1005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Densité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92240" y="1371600"/>
            <a:ext cx="1325880" cy="73152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37960" y="14630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PIB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63840" y="1371600"/>
            <a:ext cx="1143000" cy="73152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09560" y="146304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Chômage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052560" y="1371600"/>
            <a:ext cx="2514600" cy="73152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98280" y="1463040"/>
            <a:ext cx="24688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Statut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2148840"/>
            <a:ext cx="17830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22402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2B2B2B"/>
                </a:solidFill>
              </a:defRPr>
            </a:pPr>
            <a:r>
              <a:t>🇲🇦 Maroc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2148840"/>
            <a:ext cx="1691639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423160" y="2240280"/>
            <a:ext cx="16459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446 550 km²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0" y="2148840"/>
            <a:ext cx="1234439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60520" y="2240280"/>
            <a:ext cx="11887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37 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94960" y="2148840"/>
            <a:ext cx="105156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40680" y="2240280"/>
            <a:ext cx="1005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83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92240" y="2148840"/>
            <a:ext cx="13258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37960" y="224028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141 Md$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863840" y="2148840"/>
            <a:ext cx="11430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09560" y="224028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13 %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052560" y="2148840"/>
            <a:ext cx="25146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098280" y="2240280"/>
            <a:ext cx="24688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Monarchie const.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2926080"/>
            <a:ext cx="178308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94360" y="301752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2B2B2B"/>
                </a:solidFill>
              </a:defRPr>
            </a:pPr>
            <a:r>
              <a:t>🇩🇿 Algérie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377440" y="2926080"/>
            <a:ext cx="1691639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423160" y="3017520"/>
            <a:ext cx="16459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2 381 741 km²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114800" y="2926080"/>
            <a:ext cx="1234439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160520" y="3017520"/>
            <a:ext cx="11887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46 M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394960" y="2926080"/>
            <a:ext cx="105156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40680" y="3017520"/>
            <a:ext cx="1005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19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492240" y="2926080"/>
            <a:ext cx="132588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537960" y="301752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240 Md$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863840" y="2926080"/>
            <a:ext cx="114300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909560" y="301752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12 %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052560" y="2926080"/>
            <a:ext cx="251460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098280" y="3017520"/>
            <a:ext cx="24688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République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48640" y="3703320"/>
            <a:ext cx="17830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94360" y="379476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2B2B2B"/>
                </a:solidFill>
              </a:defRPr>
            </a:pPr>
            <a:r>
              <a:t>🇹🇳 Tunisie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377440" y="3703320"/>
            <a:ext cx="1691639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423160" y="3794760"/>
            <a:ext cx="16459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163 610 km²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114800" y="3703320"/>
            <a:ext cx="1234439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160520" y="3794760"/>
            <a:ext cx="11887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12 M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394960" y="3703320"/>
            <a:ext cx="105156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440680" y="3794760"/>
            <a:ext cx="1005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75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492240" y="3703320"/>
            <a:ext cx="13258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537960" y="379476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48 Md$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863840" y="3703320"/>
            <a:ext cx="11430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909560" y="379476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16 %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052560" y="3703320"/>
            <a:ext cx="25146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098280" y="3794760"/>
            <a:ext cx="24688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République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48640" y="4480560"/>
            <a:ext cx="178308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94360" y="457200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2B2B2B"/>
                </a:solidFill>
              </a:defRPr>
            </a:pPr>
            <a:r>
              <a:t>🇱🇾 Libye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377440" y="4480560"/>
            <a:ext cx="1691639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23160" y="4572000"/>
            <a:ext cx="16459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1 759 540 km²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114800" y="4480560"/>
            <a:ext cx="1234439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160520" y="4572000"/>
            <a:ext cx="11887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7 M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394960" y="4480560"/>
            <a:ext cx="105156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40680" y="4572000"/>
            <a:ext cx="1005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4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492240" y="4480560"/>
            <a:ext cx="132588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537960" y="457200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50 Md$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863840" y="4480560"/>
            <a:ext cx="114300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909560" y="457200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19 %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052560" y="4480560"/>
            <a:ext cx="251460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098280" y="4572000"/>
            <a:ext cx="24688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République (transition)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48640" y="5257800"/>
            <a:ext cx="17830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94360" y="534924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2B2B2B"/>
                </a:solidFill>
              </a:defRPr>
            </a:pPr>
            <a:r>
              <a:t>🇲🇷 Mauritanie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377440" y="5257800"/>
            <a:ext cx="1691639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423160" y="5349240"/>
            <a:ext cx="16459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1 030 700 km²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114800" y="5257800"/>
            <a:ext cx="1234439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160520" y="5349240"/>
            <a:ext cx="11887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5 M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394960" y="5257800"/>
            <a:ext cx="105156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440680" y="5349240"/>
            <a:ext cx="1005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492240" y="5257800"/>
            <a:ext cx="13258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537960" y="53492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10 Md$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863840" y="5257800"/>
            <a:ext cx="11430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909560" y="534924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10 %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9052560" y="5257800"/>
            <a:ext cx="25146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9098280" y="5349240"/>
            <a:ext cx="24688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Rép. islamique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48640" y="6080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300" b="0">
                <a:solidFill>
                  <a:srgbClr val="1F4E79"/>
                </a:solidFill>
              </a:defRPr>
            </a:pPr>
            <a:r>
              <a:t>Densité en hab/km² • Source : Banque mondiale 2023 (valeurs arrondies) — capitales : Rabat, Alger, Tunis, Tripoli, Nouakchott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I – Un monde arabo-musulman • A/ Trois États méditerranéens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pic>
        <p:nvPicPr>
          <p:cNvPr id="33" name="Picture 32" descr="carte-muet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6442095" cy="475488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315200" y="137160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0">
                <a:solidFill>
                  <a:srgbClr val="2B2B2B"/>
                </a:solidFill>
              </a:defRPr>
            </a:pPr>
            <a:r>
              <a:t>✏️ Sur ta carte muette, place :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2B2B2B"/>
                </a:solidFill>
              </a:defRPr>
            </a:pPr>
            <a:r>
              <a:t>🌊 l'océan Atlantique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2B2B2B"/>
                </a:solidFill>
              </a:defRPr>
            </a:pPr>
            <a:r>
              <a:t>🌊 la mer Méditerranée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2B2B2B"/>
                </a:solidFill>
              </a:defRPr>
            </a:pPr>
            <a:r>
              <a:t>🗺️ le Maroc, l'Algérie, la Tunisie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2B2B2B"/>
                </a:solidFill>
              </a:defRPr>
            </a:pPr>
            <a:r>
              <a:t>🇪🇸 l'Espagne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2B2B2B"/>
                </a:solidFill>
              </a:defRPr>
            </a:pPr>
            <a:r>
              <a:t>↔️ le détroit de Gibraltar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2B2B2B"/>
                </a:solidFill>
              </a:defRPr>
            </a:pPr>
            <a:r>
              <a:t>☀️ le tropique du Cancer</a:t>
            </a:r>
          </a:p>
        </p:txBody>
      </p:sp>
      <p:sp>
        <p:nvSpPr>
          <p:cNvPr id="35" name="Rounded Rectangle 34">
            <a:hlinkClick action="ppaction://hlinksldjump" r:id="rId5"/>
          </p:cNvPr>
          <p:cNvSpPr/>
          <p:nvPr/>
        </p:nvSpPr>
        <p:spPr>
          <a:xfrm>
            <a:off x="8595360" y="5486400"/>
            <a:ext cx="2560320" cy="64008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Correction ➡️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Le relief et les précipitations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pic>
        <p:nvPicPr>
          <p:cNvPr id="33" name="Picture 32" descr="reli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6184232" cy="5029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858000" y="137160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900" b="1">
                <a:solidFill>
                  <a:srgbClr val="1F4E79"/>
                </a:solidFill>
              </a:defRPr>
            </a:pPr>
            <a:r>
              <a:t>❓ Quel massif montagneux domine au Maghreb ?</a:t>
            </a:r>
          </a:p>
          <a:p>
            <a:pPr algn="l">
              <a:spcAft>
                <a:spcPts val="600"/>
              </a:spcAft>
              <a:defRPr sz="1900" b="1">
                <a:solidFill>
                  <a:srgbClr val="1F4E79"/>
                </a:solidFill>
              </a:defRPr>
            </a:pPr>
            <a:r>
              <a:t>❓ Est-il d'un seul bloc ?</a:t>
            </a:r>
          </a:p>
          <a:p>
            <a:pPr algn="l">
              <a:spcAft>
                <a:spcPts val="600"/>
              </a:spcAft>
              <a:defRPr sz="1900" b="1">
                <a:solidFill>
                  <a:srgbClr val="1F4E79"/>
                </a:solidFill>
              </a:defRPr>
            </a:pPr>
            <a:r>
              <a:t>❓ Quelles sont les différentes parties de l'Atlas ?</a:t>
            </a:r>
          </a:p>
          <a:p>
            <a:pPr algn="l">
              <a:spcAft>
                <a:spcPts val="600"/>
              </a:spcAft>
              <a:defRPr sz="1900" b="1">
                <a:solidFill>
                  <a:srgbClr val="1F4E79"/>
                </a:solidFill>
              </a:defRPr>
            </a:pPr>
            <a:r>
              <a:t>❓ Où pleut-il le plus ? Pourquoi ?</a:t>
            </a:r>
          </a:p>
          <a:p>
            <a:pPr algn="l">
              <a:spcAft>
                <a:spcPts val="600"/>
              </a:spcAft>
              <a:defRPr sz="1900" b="1">
                <a:solidFill>
                  <a:srgbClr val="1F4E79"/>
                </a:solidFill>
              </a:defRPr>
            </a:pPr>
            <a:r>
              <a:t>❓ Que trouve-t-on au sud ?</a:t>
            </a:r>
          </a:p>
        </p:txBody>
      </p:sp>
      <p:sp>
        <p:nvSpPr>
          <p:cNvPr id="35" name="Rounded Rectangle 34">
            <a:hlinkClick action="ppaction://hlinksldjump" r:id="rId5"/>
          </p:cNvPr>
          <p:cNvSpPr/>
          <p:nvPr/>
        </p:nvSpPr>
        <p:spPr>
          <a:xfrm>
            <a:off x="8595360" y="5486400"/>
            <a:ext cx="2560320" cy="64008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Réponses ➡️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Réponses : l'Atlas, un massif en plusieurs parties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371600"/>
            <a:ext cx="57607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✅ L'ATLAS domine le Maghreb.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✅ Non, il n'est pas d'un seul bloc : il y a plusieurs parties :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   • le Rif (nord du Maroc)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   • le Moyen Atlas (près de Fès) ➡️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   • le Haut Atlas (Maroc, Toubkal 4 167 m)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   • l'Anti-Atlas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   • l'Atlas tellien et l'Atlas saharien (Algérie)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✅ Il pleut plus au nord (&gt; 300 mm) : la montagne arrête les nuages venus de la mer.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✅ Au sud : le Sahara, des oasis et le Hoggar.</a:t>
            </a:r>
          </a:p>
        </p:txBody>
      </p:sp>
      <p:pic>
        <p:nvPicPr>
          <p:cNvPr id="34" name="Picture 33" descr="moyen-at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5303520" cy="2581977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492240" y="438912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600" b="1">
                <a:solidFill>
                  <a:srgbClr val="B84A1E"/>
                </a:solidFill>
              </a:defRPr>
            </a:pPr>
            <a:r>
              <a:t>Le Moyen Atlas, près de Fès (Maroc)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Les autres paysages du Maghreb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46304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400" b="1">
                <a:solidFill>
                  <a:srgbClr val="1F4E79"/>
                </a:solidFill>
              </a:defRPr>
            </a:pPr>
            <a:r>
              <a:t>❓ Quels sont les autres massifs montagneux du Maghreb ?</a:t>
            </a:r>
          </a:p>
          <a:p>
            <a:pPr algn="l">
              <a:spcAft>
                <a:spcPts val="600"/>
              </a:spcAft>
              <a:defRPr sz="2400" b="1">
                <a:solidFill>
                  <a:srgbClr val="1F4E79"/>
                </a:solidFill>
              </a:defRPr>
            </a:pPr>
            <a:r>
              <a:t>❓ Par quoi se caractérise le littoral ?</a:t>
            </a:r>
          </a:p>
          <a:p>
            <a:pPr algn="l">
              <a:spcAft>
                <a:spcPts val="600"/>
              </a:spcAft>
              <a:defRPr sz="2400" b="1">
                <a:solidFill>
                  <a:srgbClr val="1F4E79"/>
                </a:solidFill>
              </a:defRPr>
            </a:pPr>
            <a:r>
              <a:t>❓ Qu'est-ce qui domine au Maghreb ?</a:t>
            </a:r>
          </a:p>
          <a:p>
            <a:pPr algn="l">
              <a:spcAft>
                <a:spcPts val="600"/>
              </a:spcAft>
              <a:defRPr sz="2400" b="1">
                <a:solidFill>
                  <a:srgbClr val="1F4E79"/>
                </a:solidFill>
              </a:defRPr>
            </a:pPr>
            <a:r>
              <a:t>❓ Comment se nomment les îlots de verdure dans le désert ?</a:t>
            </a:r>
          </a:p>
        </p:txBody>
      </p:sp>
      <p:sp>
        <p:nvSpPr>
          <p:cNvPr id="34" name="Rounded Rectangle 33">
            <a:hlinkClick action="ppaction://hlinksldjump" r:id="rId4"/>
          </p:cNvPr>
          <p:cNvSpPr/>
          <p:nvPr/>
        </p:nvSpPr>
        <p:spPr>
          <a:xfrm>
            <a:off x="8595360" y="5486400"/>
            <a:ext cx="2560320" cy="64008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Réponses ➡️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Réponses : désert et oasis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371600"/>
            <a:ext cx="57607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0">
                <a:solidFill>
                  <a:srgbClr val="2B2B2B"/>
                </a:solidFill>
              </a:defRPr>
            </a:pPr>
            <a:r>
              <a:t>✅ Le Hoggar (sud de l'Algérie).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2B2B2B"/>
                </a:solidFill>
              </a:defRPr>
            </a:pPr>
            <a:r>
              <a:t>✅ Le littoral se caractérise par des plaines.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2B2B2B"/>
                </a:solidFill>
              </a:defRPr>
            </a:pPr>
            <a:r>
              <a:t>✅ Le désert (Sahara) domine, avec des îlots de verdure.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2B2B2B"/>
                </a:solidFill>
              </a:defRPr>
            </a:pPr>
            <a:r>
              <a:t>✅ Ces îlots s'appellent des OASIS 🌴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92240" y="1463040"/>
            <a:ext cx="5303520" cy="3108960"/>
          </a:xfrm>
          <a:prstGeom prst="roundRect">
            <a:avLst/>
          </a:prstGeom>
          <a:solidFill>
            <a:srgbClr val="E8D9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265176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B84A1E"/>
                </a:solidFill>
              </a:defRPr>
            </a:pPr>
            <a:r>
              <a:t>📷 Photo : l'oasis de Bou Thramar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466344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600" b="1">
                <a:solidFill>
                  <a:srgbClr val="B84A1E"/>
                </a:solidFill>
              </a:defRPr>
            </a:pPr>
            <a:r>
              <a:t>L'oasis de Bou Thramar (Maroc)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Doc. 1 p. 222 : les précipitations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pic>
        <p:nvPicPr>
          <p:cNvPr id="33" name="Picture 32" descr="reli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6184232" cy="5029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858000" y="137160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1F4E79"/>
                </a:solidFill>
              </a:defRPr>
            </a:pPr>
            <a:r>
              <a:t>❓ Quel est le niveau des précipitations dans la région ?</a:t>
            </a:r>
          </a:p>
          <a:p>
            <a:pPr algn="l">
              <a:spcAft>
                <a:spcPts val="600"/>
              </a:spcAft>
              <a:defRPr sz="2000" b="1">
                <a:solidFill>
                  <a:srgbClr val="1F4E79"/>
                </a:solidFill>
              </a:defRPr>
            </a:pPr>
            <a:r>
              <a:t>❓ Où pleut-il le plus ?</a:t>
            </a:r>
          </a:p>
        </p:txBody>
      </p:sp>
      <p:sp>
        <p:nvSpPr>
          <p:cNvPr id="35" name="Rounded Rectangle 34">
            <a:hlinkClick action="ppaction://hlinksldjump" r:id="rId5"/>
          </p:cNvPr>
          <p:cNvSpPr/>
          <p:nvPr/>
        </p:nvSpPr>
        <p:spPr>
          <a:xfrm>
            <a:off x="6858000" y="3291840"/>
            <a:ext cx="2377440" cy="64008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Réponse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Réponse : des précipitations globalement faibles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46304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✅ Les précipitations sont globalement FAIBLES.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Plus de 300 mm/an seulement sur une étroite bande au nord (littoral, Atlas).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Moins de 150 mm/an dans le Sahara : un climat désertique.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💡 Comparaison : Paris reçoit environ 640 mm de pluie par an.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Paysages : de la mer au désert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1554480"/>
            <a:ext cx="2697480" cy="38404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182880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400" b="1">
                <a:solidFill>
                  <a:srgbClr val="FFFFFF"/>
                </a:solidFill>
              </a:defRPr>
            </a:pPr>
            <a:r>
              <a:t>🌊 Méditerranée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301752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800" b="0">
                <a:solidFill>
                  <a:srgbClr val="FFFFFF"/>
                </a:solidFill>
              </a:defRPr>
            </a:pPr>
            <a:r>
              <a:t>Côtes, ports, plages au nord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29000" y="1554480"/>
            <a:ext cx="2697480" cy="384048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20439" y="182880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400" b="1">
                <a:solidFill>
                  <a:srgbClr val="FFFFFF"/>
                </a:solidFill>
              </a:defRPr>
            </a:pPr>
            <a:r>
              <a:t>🏔️ Atlas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0439" y="301752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800" b="0">
                <a:solidFill>
                  <a:srgbClr val="FFFFFF"/>
                </a:solidFill>
              </a:defRPr>
            </a:pPr>
            <a:r>
              <a:t>Montagnes jusqu'à 4 167 m (Toubkal)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309359" y="1554480"/>
            <a:ext cx="2697480" cy="3840480"/>
          </a:xfrm>
          <a:prstGeom prst="round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182880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400" b="1">
                <a:solidFill>
                  <a:srgbClr val="FFFFFF"/>
                </a:solidFill>
              </a:defRPr>
            </a:pPr>
            <a:r>
              <a:t>🏜️ Sahara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301752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800" b="0">
                <a:solidFill>
                  <a:srgbClr val="FFFFFF"/>
                </a:solidFill>
              </a:defRPr>
            </a:pPr>
            <a:r>
              <a:t>Le plus grand désert chaud du monde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89719" y="1554480"/>
            <a:ext cx="2697480" cy="384048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81159" y="182880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400" b="1">
                <a:solidFill>
                  <a:srgbClr val="FFFFFF"/>
                </a:solidFill>
              </a:defRPr>
            </a:pPr>
            <a:r>
              <a:t>🌴 Oasis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81159" y="301752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800" b="0">
                <a:solidFill>
                  <a:srgbClr val="FFFFFF"/>
                </a:solidFill>
              </a:defRPr>
            </a:pPr>
            <a:r>
              <a:t>Palmiers-dattiers, eau et vie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55778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B84A1E"/>
                </a:solidFill>
              </a:defRPr>
            </a:pPr>
            <a:r>
              <a:t>🎯 Activité : à l'oral, décris ton paysage préféré avec 3 adjectifs.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II – 🎧 C.O. Compréhension orale : vidéo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25'</a:t>
            </a:r>
          </a:p>
        </p:txBody>
      </p:sp>
      <p:sp>
        <p:nvSpPr>
          <p:cNvPr id="33" name="Rounded Rectangle 32">
            <a:hlinkClick action="ppaction://hlinksldjump" r:id="rId4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1463040"/>
            <a:ext cx="6035040" cy="384048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>
            <a:hlinkClick r:id="rId3"/>
          </p:cNvPr>
          <p:cNvSpPr/>
          <p:nvPr/>
        </p:nvSpPr>
        <p:spPr>
          <a:xfrm>
            <a:off x="2377440" y="2926080"/>
            <a:ext cx="2743200" cy="9144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▶ LANCER LA VIDÉO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39496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400" b="0">
                <a:solidFill>
                  <a:srgbClr val="1F4E79"/>
                </a:solidFill>
              </a:defRPr>
            </a:pPr>
            <a:r>
              <a:t>(Clique pour ouvrir la vidéo — ou insère ton .mp4 ici)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0880" y="146304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📺 Visionnage 1 — sans le son :</a:t>
            </a:r>
          </a:p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   Quels lieux, couleurs, objets vois-tu ?</a:t>
            </a:r>
          </a:p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📺 Visionnage 2 — avec le son :</a:t>
            </a:r>
          </a:p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   Note 3 pays, 2 villes, 1 plat.</a:t>
            </a:r>
          </a:p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📺 Visionnage 3 :</a:t>
            </a:r>
          </a:p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   Réponds à la fiche vidéo ➡️</a:t>
            </a:r>
          </a:p>
        </p:txBody>
      </p:sp>
      <p:sp>
        <p:nvSpPr>
          <p:cNvPr id="38" name="Rounded Rectangle 37">
            <a:hlinkClick action="ppaction://hlinksldjump" r:id="rId5"/>
          </p:cNvPr>
          <p:cNvSpPr/>
          <p:nvPr/>
        </p:nvSpPr>
        <p:spPr>
          <a:xfrm>
            <a:off x="8686800" y="5486400"/>
            <a:ext cx="2468880" cy="64008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Fiche vidéo ➡️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Fiche vidéo : as-tu bien regardé ?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Quels pays sont présentés ?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Cite une ville et ce qu'on y voit.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Quel paysage t'a le plus surpris ? Pourquoi ?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Quelles langues entend-on ?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Vrai ou faux : le Maghreb est uniquement désertique.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8961120" y="5486400"/>
            <a:ext cx="2194560" cy="64008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Correction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Fiche vidéo : correction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Maroc, Algérie, Tunisie (et parfois Libye, Mauritanie)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Ex. : Marrakech (place Jemaa el-Fna), Alger (la Casbah), Tunis (la médina)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Réponse libre — justifie avec « parce que… »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Arabe (darija), tamazight (berbère), français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FAUX ❌ : il y a aussi la mer, les montagnes, les villes, les oasis 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Quiz géo — Question 1/5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10'</a:t>
            </a:r>
          </a:p>
        </p:txBody>
      </p:sp>
      <p:sp>
        <p:nvSpPr>
          <p:cNvPr id="33" name="Rounded Rectangle 32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1463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000" b="1">
                <a:solidFill>
                  <a:srgbClr val="1F4E79"/>
                </a:solidFill>
              </a:defRPr>
            </a:pPr>
            <a:r>
              <a:t>❓ Quelle est la capitale du Maroc ?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914400" y="3017520"/>
            <a:ext cx="3291840" cy="12801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A. Casablanca</a:t>
            </a:r>
          </a:p>
        </p:txBody>
      </p:sp>
      <p:sp>
        <p:nvSpPr>
          <p:cNvPr id="36" name="Rounded Rectangle 35">
            <a:hlinkClick action="ppaction://hlinksldjump" r:id="rId4"/>
          </p:cNvPr>
          <p:cNvSpPr/>
          <p:nvPr/>
        </p:nvSpPr>
        <p:spPr>
          <a:xfrm>
            <a:off x="4480560" y="3017520"/>
            <a:ext cx="3291840" cy="128016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B. Rabat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8046720" y="3017520"/>
            <a:ext cx="3291840" cy="12801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C. Marrakech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5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✅ BRAVO ! +1 point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1E7B4A"/>
                </a:solidFill>
              </a:defRPr>
            </a:pPr>
            <a:r>
              <a:t>Bonne réponse : Rabat 🎉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Suivant ➡️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D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❌ Oups ! Essaie encore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C0392B"/>
                </a:solidFill>
              </a:defRPr>
            </a:pPr>
            <a:r>
              <a:t>Ce n'est pas la bonne réponse… 🤔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⬅️ Réessayer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Quiz géo — Question 2/5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463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000" b="1">
                <a:solidFill>
                  <a:srgbClr val="1F4E79"/>
                </a:solidFill>
              </a:defRPr>
            </a:pPr>
            <a:r>
              <a:t>❓ Quel est le plus grand pays d'Afrique ?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914400" y="3017520"/>
            <a:ext cx="3291840" cy="12801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A. Algérie</a:t>
            </a:r>
          </a:p>
        </p:txBody>
      </p:sp>
      <p:sp>
        <p:nvSpPr>
          <p:cNvPr id="35" name="Rounded Rectangle 34">
            <a:hlinkClick action="ppaction://hlinksldjump" r:id="rId4"/>
          </p:cNvPr>
          <p:cNvSpPr/>
          <p:nvPr/>
        </p:nvSpPr>
        <p:spPr>
          <a:xfrm>
            <a:off x="4480560" y="3017520"/>
            <a:ext cx="3291840" cy="128016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B. Libye</a:t>
            </a:r>
          </a:p>
        </p:txBody>
      </p:sp>
      <p:sp>
        <p:nvSpPr>
          <p:cNvPr id="36" name="Rounded Rectangle 35">
            <a:hlinkClick action="ppaction://hlinksldjump" r:id="rId4"/>
          </p:cNvPr>
          <p:cNvSpPr/>
          <p:nvPr/>
        </p:nvSpPr>
        <p:spPr>
          <a:xfrm>
            <a:off x="8046720" y="3017520"/>
            <a:ext cx="3291840" cy="12801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C. Égypte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5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✅ BRAVO ! +1 point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1E7B4A"/>
                </a:solidFill>
              </a:defRPr>
            </a:pPr>
            <a:r>
              <a:t>Bonne réponse : Algérie 🎉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Suivant ➡️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D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❌ Oups ! Essaie encore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C0392B"/>
                </a:solidFill>
              </a:defRPr>
            </a:pPr>
            <a:r>
              <a:t>Ce n'est pas la bonne réponse… 🤔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⬅️ Réessayer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Quiz géo — Question 3/5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463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000" b="1">
                <a:solidFill>
                  <a:srgbClr val="1F4E79"/>
                </a:solidFill>
              </a:defRPr>
            </a:pPr>
            <a:r>
              <a:t>❓ Que signifie « Maghreb » ?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914400" y="3017520"/>
            <a:ext cx="3291840" cy="12801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A. Le désert</a:t>
            </a:r>
          </a:p>
        </p:txBody>
      </p:sp>
      <p:sp>
        <p:nvSpPr>
          <p:cNvPr id="35" name="Rounded Rectangle 34">
            <a:hlinkClick action="ppaction://hlinksldjump" r:id="rId4"/>
          </p:cNvPr>
          <p:cNvSpPr/>
          <p:nvPr/>
        </p:nvSpPr>
        <p:spPr>
          <a:xfrm>
            <a:off x="4480560" y="3017520"/>
            <a:ext cx="3291840" cy="128016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B. Le couchant</a:t>
            </a:r>
          </a:p>
        </p:txBody>
      </p:sp>
      <p:sp>
        <p:nvSpPr>
          <p:cNvPr id="36" name="Rounded Rectangle 35">
            <a:hlinkClick action="ppaction://hlinksldjump" r:id="rId3"/>
          </p:cNvPr>
          <p:cNvSpPr/>
          <p:nvPr/>
        </p:nvSpPr>
        <p:spPr>
          <a:xfrm>
            <a:off x="8046720" y="3017520"/>
            <a:ext cx="3291840" cy="12801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C. La mer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5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✅ BRAVO ! +1 point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1E7B4A"/>
                </a:solidFill>
              </a:defRPr>
            </a:pPr>
            <a:r>
              <a:t>Bonne réponse : Le couchant 🎉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Suivant ➡️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D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❌ Oups ! Essaie encore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C0392B"/>
                </a:solidFill>
              </a:defRPr>
            </a:pPr>
            <a:r>
              <a:t>Ce n'est pas la bonne réponse… 🤔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⬅️ Réessayer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Quiz géo — Question 4/5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463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000" b="1">
                <a:solidFill>
                  <a:srgbClr val="1F4E79"/>
                </a:solidFill>
              </a:defRPr>
            </a:pPr>
            <a:r>
              <a:t>❓ Quelle montagne traverse le Maghreb ?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914400" y="3017520"/>
            <a:ext cx="3291840" cy="12801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A. Les Alpes</a:t>
            </a:r>
          </a:p>
        </p:txBody>
      </p:sp>
      <p:sp>
        <p:nvSpPr>
          <p:cNvPr id="35" name="Rounded Rectangle 34">
            <a:hlinkClick action="ppaction://hlinksldjump" r:id="rId4"/>
          </p:cNvPr>
          <p:cNvSpPr/>
          <p:nvPr/>
        </p:nvSpPr>
        <p:spPr>
          <a:xfrm>
            <a:off x="4480560" y="3017520"/>
            <a:ext cx="3291840" cy="128016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B. L'Atlas</a:t>
            </a:r>
          </a:p>
        </p:txBody>
      </p:sp>
      <p:sp>
        <p:nvSpPr>
          <p:cNvPr id="36" name="Rounded Rectangle 35">
            <a:hlinkClick action="ppaction://hlinksldjump" r:id="rId3"/>
          </p:cNvPr>
          <p:cNvSpPr/>
          <p:nvPr/>
        </p:nvSpPr>
        <p:spPr>
          <a:xfrm>
            <a:off x="8046720" y="3017520"/>
            <a:ext cx="3291840" cy="12801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C. L'Himalaya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5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✅ BRAVO ! +1 point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1E7B4A"/>
                </a:solidFill>
              </a:defRPr>
            </a:pPr>
            <a:r>
              <a:t>Bonne réponse : L'Atlas 🎉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Suivant ➡️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D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❌ Oups ! Essaie encore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C0392B"/>
                </a:solidFill>
              </a:defRPr>
            </a:pPr>
            <a:r>
              <a:t>Ce n'est pas la bonne réponse… 🤔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⬅️ Réessayer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Quiz géo — Question 5/5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463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000" b="1">
                <a:solidFill>
                  <a:srgbClr val="1F4E79"/>
                </a:solidFill>
              </a:defRPr>
            </a:pPr>
            <a:r>
              <a:t>❓ Quelle mer borde le Maghreb au nord ?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914400" y="3017520"/>
            <a:ext cx="3291840" cy="12801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A. Mer Rouge</a:t>
            </a:r>
          </a:p>
        </p:txBody>
      </p:sp>
      <p:sp>
        <p:nvSpPr>
          <p:cNvPr id="35" name="Rounded Rectangle 34">
            <a:hlinkClick action="ppaction://hlinksldjump" r:id="rId4"/>
          </p:cNvPr>
          <p:cNvSpPr/>
          <p:nvPr/>
        </p:nvSpPr>
        <p:spPr>
          <a:xfrm>
            <a:off x="4480560" y="3017520"/>
            <a:ext cx="3291840" cy="128016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B. Méditerranée</a:t>
            </a:r>
          </a:p>
        </p:txBody>
      </p:sp>
      <p:sp>
        <p:nvSpPr>
          <p:cNvPr id="36" name="Rounded Rectangle 35">
            <a:hlinkClick action="ppaction://hlinksldjump" r:id="rId3"/>
          </p:cNvPr>
          <p:cNvSpPr/>
          <p:nvPr/>
        </p:nvSpPr>
        <p:spPr>
          <a:xfrm>
            <a:off x="8046720" y="3017520"/>
            <a:ext cx="3291840" cy="12801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C. Mer Noire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5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✅ BRAVO ! +1 point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1E7B4A"/>
                </a:solidFill>
              </a:defRPr>
            </a:pPr>
            <a:r>
              <a:t>Bonne réponse : Méditerranée 🎉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Suivant ➡️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D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❌ Oups ! Essaie encore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C0392B"/>
                </a:solidFill>
              </a:defRPr>
            </a:pPr>
            <a:r>
              <a:t>Ce n'est pas la bonne réponse… 🤔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⬅️ Réessayer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IV – Histoire : la frise du temps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20'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3291840"/>
            <a:ext cx="11064240" cy="109728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371600" y="3063240"/>
            <a:ext cx="548640" cy="548640"/>
          </a:xfrm>
          <a:prstGeom prst="ellipse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20116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F4E79"/>
                </a:solidFill>
              </a:defRPr>
            </a:pPr>
            <a:r>
              <a:t>Antiquité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384048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Berbères (Amazighs), Carthage (814 av. J.-C.), Rome</a:t>
            </a:r>
          </a:p>
        </p:txBody>
      </p:sp>
      <p:sp>
        <p:nvSpPr>
          <p:cNvPr id="38" name="Oval 37"/>
          <p:cNvSpPr/>
          <p:nvPr/>
        </p:nvSpPr>
        <p:spPr>
          <a:xfrm>
            <a:off x="3611880" y="3063240"/>
            <a:ext cx="548640" cy="548640"/>
          </a:xfrm>
          <a:prstGeom prst="ellipse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88920" y="20116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F4E79"/>
                </a:solidFill>
              </a:defRPr>
            </a:pPr>
            <a:r>
              <a:t>VIIe 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88920" y="384048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Conquête arabe : islam et langue arabe</a:t>
            </a:r>
          </a:p>
        </p:txBody>
      </p:sp>
      <p:sp>
        <p:nvSpPr>
          <p:cNvPr id="41" name="Oval 40"/>
          <p:cNvSpPr/>
          <p:nvPr/>
        </p:nvSpPr>
        <p:spPr>
          <a:xfrm>
            <a:off x="5852160" y="3063240"/>
            <a:ext cx="548640" cy="548640"/>
          </a:xfrm>
          <a:prstGeom prst="ellipse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20116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F4E79"/>
                </a:solidFill>
              </a:defRPr>
            </a:pPr>
            <a:r>
              <a:t>XVIe 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384048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Empire ottoman (Alger, Tunis, Tripoli) ; Maroc indépendant</a:t>
            </a:r>
          </a:p>
        </p:txBody>
      </p:sp>
      <p:sp>
        <p:nvSpPr>
          <p:cNvPr id="44" name="Oval 43"/>
          <p:cNvSpPr/>
          <p:nvPr/>
        </p:nvSpPr>
        <p:spPr>
          <a:xfrm>
            <a:off x="8092440" y="3063240"/>
            <a:ext cx="548640" cy="548640"/>
          </a:xfrm>
          <a:prstGeom prst="ellipse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69480" y="20116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F4E79"/>
                </a:solidFill>
              </a:defRPr>
            </a:pPr>
            <a:r>
              <a:t>1830–1912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69480" y="384048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Colonisation : France (Algérie, Tunisie, Maroc), Italie (Libye)</a:t>
            </a:r>
          </a:p>
        </p:txBody>
      </p:sp>
      <p:sp>
        <p:nvSpPr>
          <p:cNvPr id="47" name="Oval 46"/>
          <p:cNvSpPr/>
          <p:nvPr/>
        </p:nvSpPr>
        <p:spPr>
          <a:xfrm>
            <a:off x="10332720" y="3063240"/>
            <a:ext cx="548640" cy="548640"/>
          </a:xfrm>
          <a:prstGeom prst="ellipse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509760" y="20116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F4E79"/>
                </a:solidFill>
              </a:defRPr>
            </a:pPr>
            <a:r>
              <a:t>1951–1962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09760" y="384048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Indépendances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5486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 b="1">
                <a:solidFill>
                  <a:srgbClr val="B84A1E"/>
                </a:solidFill>
              </a:defRPr>
            </a:pPr>
            <a:r>
              <a:t>🗣️ Langues : arabe (darija), tamazight (ⵜⴰⵎⴰⵣⵉⵖⵜ), français • Salam = bonjour • Choukran = merci • Azul = bonjour (berbère)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IV – Histoire : quelques données clés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1371600"/>
            <a:ext cx="1828800" cy="5943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1951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60320" y="1417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Indépendance de la Libye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2057400"/>
            <a:ext cx="1828800" cy="5943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1956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60320" y="21031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Indépendance du Maroc (2 mars) et de la Tunisie (20 mars)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2743200"/>
            <a:ext cx="1828800" cy="59436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1954–1962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60320" y="2788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Guerre d'Algérie → indépendance le 5 juillet 1962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3429000"/>
            <a:ext cx="1828800" cy="5943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1960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60320" y="3474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Indépendance de la Mauritanie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4114800"/>
            <a:ext cx="1828800" cy="5943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1989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60320" y="4160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Création de l'Union du Maghreb arabe (Marrakech)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4800600"/>
            <a:ext cx="1828800" cy="59436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2011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60320" y="4846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« Printemps arabe » : départ de Ben Ali (Tunisie), chute de Kadhafi (Libye)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5486400"/>
            <a:ext cx="1828800" cy="5943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2020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60320" y="55321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Le couscous inscrit au patrimoine de l'UNESCO (candidature commune)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1F4E79"/>
                </a:solidFill>
              </a:defRPr>
            </a:pPr>
            <a:r>
              <a:t>🎯 Question : combien d'années séparent l'indépendance de la Libye de celle de l'Algérie ? (11 ans)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☕ PAUSE — thé à la menthe !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15'</a:t>
            </a:r>
          </a:p>
        </p:txBody>
      </p:sp>
      <p:sp>
        <p:nvSpPr>
          <p:cNvPr id="33" name="Rounded Rectangle 32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219456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000" b="1">
                <a:solidFill>
                  <a:srgbClr val="1E7B4A"/>
                </a:solidFill>
              </a:defRPr>
            </a:pPr>
            <a:r>
              <a:t>🫖 15 minutes de pause</a:t>
            </a:r>
          </a:p>
          <a:p>
            <a:pPr algn="ctr">
              <a:spcAft>
                <a:spcPts val="600"/>
              </a:spcAft>
              <a:defRPr sz="3000" b="1">
                <a:solidFill>
                  <a:srgbClr val="1E7B4A"/>
                </a:solidFill>
              </a:defRPr>
            </a:pPr>
            <a:r>
              <a:t>Le thé à la menthe, symbole d'hospitalité, se sert « de haut » pour faire de la mousse !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III – 📖 C.E. Compréhension écrite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30'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Lettre de Yasmine, depuis Marrakech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Chère Léa,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Me voici enfin à Marrakech, chez ma grand-mère ! Hier matin, nous sommes allées au souk : quel spectacle ! Des épices de toutes les couleurs, des tapis, des lanternes en cuivre… On a acheté du cumin et du safran pour le couscous du vendredi.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Le soir, la place Jemaa el-Fna se transforme : il y a des conteurs, des musiciens gnaoua et des dizaines de petits restaurants. J'ai goûté une harira, une soupe délicieuse.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Samedi, nous partons trois jours dans le désert, près de Merzouga. Nous dormirons sous une tente berbère et nous monterons à dos de dromadaire pour voir le lever du soleil sur les dunes. J'ai hâte !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Je t'envoie plein de soleil. Bisous, Yasmine</a:t>
            </a:r>
          </a:p>
        </p:txBody>
      </p:sp>
      <p:sp>
        <p:nvSpPr>
          <p:cNvPr id="35" name="Rounded Rectangle 34">
            <a:hlinkClick action="ppaction://hlinksldjump" r:id="rId4"/>
          </p:cNvPr>
          <p:cNvSpPr/>
          <p:nvPr/>
        </p:nvSpPr>
        <p:spPr>
          <a:xfrm>
            <a:off x="9326880" y="6263640"/>
            <a:ext cx="182880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Questions ➡️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C.E. — Questions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1. Qui écrit ? À qui ? D'où ?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2. Vrai/Faux : Yasmine est en vacances chez sa tante. Justifie.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3. Cite 3 choses qu'on trouve au souk.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4. Que se passe-t-il le soir sur la place Jemaa el-Fna ?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5. Qu'est-ce que la harira ?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6. Combien de temps durera l'excursion dans le désert ?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7. ✍️ Production : réponds à Yasmine (5 lignes) en racontant un voyage.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8961120" y="5577840"/>
            <a:ext cx="2194560" cy="64008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Correction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C.E. — Correction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1. Yasmine écrit à Léa, depuis Marrakech (Maroc).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2. FAUX : elle est chez sa grand-mère.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3. Épices, tapis, lanternes en cuivre.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4. Conteurs, musiciens gnaoua, petits restaurants.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5. Une soupe (traditionnelle).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6. Trois jours.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7. Production libre — critères : formule d'appel, passé composé, 3 détails, formule finale.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7. Cuisine &amp; culture : devine l'image !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15'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1463040"/>
            <a:ext cx="2697480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1554480"/>
            <a:ext cx="2697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800" b="0">
                <a:solidFill>
                  <a:srgbClr val="2B2B2B"/>
                </a:solidFill>
              </a:defRPr>
            </a:pPr>
            <a:r>
              <a:t>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265176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« Je cuis dans un plat en terre au couvercle pointu. »</a:t>
            </a:r>
          </a:p>
        </p:txBody>
      </p:sp>
      <p:sp>
        <p:nvSpPr>
          <p:cNvPr id="37" name="Rounded Rectangle 36">
            <a:hlinkClick action="ppaction://hlinksldjump" r:id="rId4"/>
          </p:cNvPr>
          <p:cNvSpPr/>
          <p:nvPr/>
        </p:nvSpPr>
        <p:spPr>
          <a:xfrm>
            <a:off x="914400" y="4937760"/>
            <a:ext cx="1965960" cy="64008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Qui suis-je ?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29000" y="1463040"/>
            <a:ext cx="2697480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29000" y="1554480"/>
            <a:ext cx="2697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800" b="0">
                <a:solidFill>
                  <a:srgbClr val="2B2B2B"/>
                </a:solidFill>
              </a:defRPr>
            </a:pPr>
            <a:r>
              <a:t>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0440" y="265176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« Graine de semoule, je suis servi le vendredi. »</a:t>
            </a:r>
          </a:p>
        </p:txBody>
      </p:sp>
      <p:sp>
        <p:nvSpPr>
          <p:cNvPr id="41" name="Rounded Rectangle 40">
            <a:hlinkClick action="ppaction://hlinksldjump" r:id="rId4"/>
          </p:cNvPr>
          <p:cNvSpPr/>
          <p:nvPr/>
        </p:nvSpPr>
        <p:spPr>
          <a:xfrm>
            <a:off x="3794760" y="4937760"/>
            <a:ext cx="1965960" cy="64008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Qui suis-je ?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09359" y="1463040"/>
            <a:ext cx="2697480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59" y="1554480"/>
            <a:ext cx="2697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800" b="0">
                <a:solidFill>
                  <a:srgbClr val="2B2B2B"/>
                </a:solidFill>
              </a:defRPr>
            </a:pPr>
            <a:r>
              <a:t>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799" y="265176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« Chaussure en cuir, souvent jaune. »</a:t>
            </a:r>
          </a:p>
        </p:txBody>
      </p:sp>
      <p:sp>
        <p:nvSpPr>
          <p:cNvPr id="45" name="Rounded Rectangle 44">
            <a:hlinkClick action="ppaction://hlinksldjump" r:id="rId4"/>
          </p:cNvPr>
          <p:cNvSpPr/>
          <p:nvPr/>
        </p:nvSpPr>
        <p:spPr>
          <a:xfrm>
            <a:off x="6675120" y="4937760"/>
            <a:ext cx="1965960" cy="6400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Qui suis-je ?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89719" y="1463040"/>
            <a:ext cx="2697480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89719" y="1554480"/>
            <a:ext cx="2697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800" b="0">
                <a:solidFill>
                  <a:srgbClr val="2B2B2B"/>
                </a:solidFill>
              </a:defRPr>
            </a:pPr>
            <a:r>
              <a:t>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81159" y="265176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« Marché traditionnel couvert. »</a:t>
            </a:r>
          </a:p>
        </p:txBody>
      </p:sp>
      <p:sp>
        <p:nvSpPr>
          <p:cNvPr id="49" name="Rounded Rectangle 48">
            <a:hlinkClick action="ppaction://hlinksldjump" r:id="rId4"/>
          </p:cNvPr>
          <p:cNvSpPr/>
          <p:nvPr/>
        </p:nvSpPr>
        <p:spPr>
          <a:xfrm>
            <a:off x="9555480" y="4937760"/>
            <a:ext cx="1965960" cy="640080"/>
          </a:xfrm>
          <a:prstGeom prst="round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Qui suis-je 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Réponses : tajine • couscous • babouche • souk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🍲 Le TAJINE — plat et cuisson à l'étouffée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🥣 Le COUSCOUS — classé au patrimoine de l'UNESCO (2020)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🥾 La BABOUCHE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🏺 Le SOUK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🎵 Bonus : raï, chaâbi, gnaoua — quelles musiques connais-tu ?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8. Jeux de mots : le mot mystère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15'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800" b="1">
                <a:solidFill>
                  <a:srgbClr val="1F4E79"/>
                </a:solidFill>
              </a:defRPr>
            </a:pPr>
            <a:r>
              <a:t>_ _ _ _ _ _ _   (7 lettres)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2743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400" b="0">
                <a:solidFill>
                  <a:srgbClr val="2B2B2B"/>
                </a:solidFill>
              </a:defRPr>
            </a:pPr>
            <a:r>
              <a:t>Indice : arbre des oasis qui donne des dattes 🌴</a:t>
            </a:r>
          </a:p>
        </p:txBody>
      </p:sp>
      <p:sp>
        <p:nvSpPr>
          <p:cNvPr id="36" name="Rounded Rectangle 35">
            <a:hlinkClick action="ppaction://hlinksldjump" r:id="rId4"/>
          </p:cNvPr>
          <p:cNvSpPr/>
          <p:nvPr/>
        </p:nvSpPr>
        <p:spPr>
          <a:xfrm>
            <a:off x="4754880" y="4023360"/>
            <a:ext cx="2651760" cy="8229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Révéler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Réponse du mot mystère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8288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B84A1E"/>
                </a:solidFill>
              </a:defRPr>
            </a:pPr>
            <a:r>
              <a:t>D A T T I E R  ✅</a:t>
            </a:r>
          </a:p>
          <a:p>
            <a:pPr algn="ctr">
              <a:spcAft>
                <a:spcPts val="600"/>
              </a:spcAft>
              <a:defRPr sz="4000" b="1">
                <a:solidFill>
                  <a:srgbClr val="B84A1E"/>
                </a:solidFill>
              </a:defRPr>
            </a:pPr>
            <a:r>
              <a:t>Le palmier-dattier : l'arbre roi des oasis 🌴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Jeu : associe le mot et la définition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1463040"/>
            <a:ext cx="2743200" cy="73152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Médina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0" y="1463040"/>
            <a:ext cx="603504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0" y="155448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A. Vieille ville entourée de remparts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520" y="2377440"/>
            <a:ext cx="2743200" cy="73152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Casbah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0" y="2377440"/>
            <a:ext cx="603504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0" y="246888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B. Point d'eau dans le désert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" y="3291840"/>
            <a:ext cx="2743200" cy="73152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Oasis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0" y="3291840"/>
            <a:ext cx="603504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338328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C. Bain de vapeur traditionnel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206240"/>
            <a:ext cx="2743200" cy="73152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Hammam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0" y="4206240"/>
            <a:ext cx="603504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0" y="429768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D. Maison avec jardin intérieur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1520" y="5120640"/>
            <a:ext cx="2743200" cy="73152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Riad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0" y="5120640"/>
            <a:ext cx="603504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0" y="521208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E. Citadelle, quartier fortifié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9. Défi final : 60 secondes chrono !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10'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8000" b="1">
                <a:solidFill>
                  <a:srgbClr val="C0392B"/>
                </a:solidFill>
              </a:defRPr>
            </a:pPr>
            <a:r>
              <a:t>⏳ 60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32918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Cite le plus de mots possibles sur le Maghreb (villes, plats, paysages…)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1 mot correct = 1 point • pas de répétition !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🏆 L'équipe gagnante choisit la musique de fin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10. Bilan : qu'as-tu appris 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10'</a:t>
            </a:r>
          </a:p>
        </p:txBody>
      </p:sp>
      <p:sp>
        <p:nvSpPr>
          <p:cNvPr id="33" name="Rounded Rectangle 32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14630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400" b="0">
                <a:solidFill>
                  <a:srgbClr val="2B2B2B"/>
                </a:solidFill>
              </a:defRPr>
            </a:pPr>
            <a:r>
              <a:t>• 🎯 3 choses que j'ai apprises…</a:t>
            </a:r>
          </a:p>
          <a:p>
            <a:pPr algn="l">
              <a:spcAft>
                <a:spcPts val="600"/>
              </a:spcAft>
              <a:defRPr sz="2400" b="0">
                <a:solidFill>
                  <a:srgbClr val="2B2B2B"/>
                </a:solidFill>
              </a:defRPr>
            </a:pPr>
            <a:r>
              <a:t>• ❤️ 2 choses que j'ai aimées…</a:t>
            </a:r>
          </a:p>
          <a:p>
            <a:pPr algn="l">
              <a:spcAft>
                <a:spcPts val="600"/>
              </a:spcAft>
              <a:defRPr sz="2400" b="0">
                <a:solidFill>
                  <a:srgbClr val="2B2B2B"/>
                </a:solidFill>
              </a:defRPr>
            </a:pPr>
            <a:r>
              <a:t>• ❓ 1 question qu'il me reste…</a:t>
            </a:r>
          </a:p>
          <a:p>
            <a:pPr algn="l">
              <a:spcAft>
                <a:spcPts val="600"/>
              </a:spcAft>
              <a:defRPr sz="2400" b="0">
                <a:solidFill>
                  <a:srgbClr val="2B2B2B"/>
                </a:solidFill>
              </a:defRPr>
            </a:pPr>
            <a:r>
              <a:t>• ✍️ Ticket de sortie : écris une carte postale du Maghreb (3 phrases)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120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600" b="1">
                <a:solidFill>
                  <a:srgbClr val="B84A1E"/>
                </a:solidFill>
              </a:defRPr>
            </a:pPr>
            <a:r>
              <a:t>Choukran • Tanemmirt • Merci ! 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