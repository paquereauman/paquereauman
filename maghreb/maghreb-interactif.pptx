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d'environ 3 h. Cliquez sur les boutons pour naviguer (mode diaporama). Le bouton 🏠 revient au menu.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équipes répondent sur ardoise avant de cliquer. 1 bonne réponse = 1 point.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lire les chiffres à voix haute, comparer avec la France (551 695 km², 68 M hab.). Valeurs arrondies : vérifier les dernières données Banque mondiale si besoin.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Activité : chaque équipe calcule la densité d'un pays (population ÷ superficie) et vérifie.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élèves complètent leur carte au fil du cours. Distribuer la carte muette.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Questionnement oral à partir de la carte. Cliquer sur « Réponses » pour révéler.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Insérer ici la photo de l'oasis de Bou Thramar (Insertion &gt; Image) à la place du cadre.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http://fr.calameo.com/read/0000054193e34050e91d9</a:t>
            </a:r>
          </a:p>
          <a:p>
            <a:r>
              <a:t>RÉPONSES : l'islam ; depuis les VIIe-VIIIe siècles (conquêtes arabo-musulmanes).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5',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Calaméo : https://www.calameo.com/read/000005419914424b872ed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http://fr.calameo.com/read/00000541937ce663e2326</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Présentation : http://fr.calameo.com/read/000005419fb38f20f0ef7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Cliquer sur chaque « ? » pour révéler la conséquence.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Séance sensible : rappeler que l'immense majorité des musulmans rejette le terrorisme. Ne pas confondre islam et islamisme.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Rester factuel ; laisser les élèves poser leurs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Bouazizi : vendeur ambulant de Sidi Bouzid.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 1. VRAI | 2. FAUX : sunnite | 3. VRAI (déc. 2010) | 4. FAUX : ils en sont les 1res victimes | 5. VRAI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Remplacer le lien par la vidéo choisie (ou insérer un fichier .mp4 : Insertion &gt; Vidéo). 1er visionnage sans son, 2e avec son, 3e pour vérifier.</a:t>
            </a:r>
          </a:p>
          <a:p>
            <a:r>
              <a:t>Correction : Maroc, Algérie, Tunisie ; villes (Marrakech, Alger, Tunis) ; langues : arabe, berbère, français ; le Maghreb n'est pas que désertique.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 rouge : le Maghreb, carrefour entre l'Afrique, l'Orient et l'Europe.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indices un par un ; les équipes devinent. Cliquer sur une carte pour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Imprimer les étiquettes ; chaque équipe les classe. Puis cliquer pour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puis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puis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silencieuse, puis questions en binômes, correction collective.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équipe cite le plus de mots liés au Maghreb en 60 s. 1 mot = 1 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slide" Target="slide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19.xml"/><Relationship Id="rId4" Type="http://schemas.openxmlformats.org/officeDocument/2006/relationships/slide" Target="slide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19.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19.xml"/><Relationship Id="rId4" Type="http://schemas.openxmlformats.org/officeDocument/2006/relationships/slide" Target="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9.xml"/><Relationship Id="rId4" Type="http://schemas.openxmlformats.org/officeDocument/2006/relationships/slide" Target="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2.xml"/><Relationship Id="rId4" Type="http://schemas.openxmlformats.org/officeDocument/2006/relationships/slide" Target="slide20.xml"/><Relationship Id="rId5" Type="http://schemas.openxmlformats.org/officeDocument/2006/relationships/slide" Target="slide33.xml"/><Relationship Id="rId6" Type="http://schemas.openxmlformats.org/officeDocument/2006/relationships/slide" Target="slide48.xml"/><Relationship Id="rId7" Type="http://schemas.openxmlformats.org/officeDocument/2006/relationships/slide" Target="slide91.xml"/><Relationship Id="rId8" Type="http://schemas.openxmlformats.org/officeDocument/2006/relationships/slide" Target="slide61.xml"/><Relationship Id="rId9" Type="http://schemas.openxmlformats.org/officeDocument/2006/relationships/slide" Target="slide70.xml"/><Relationship Id="rId10" Type="http://schemas.openxmlformats.org/officeDocument/2006/relationships/slide" Target="slide69.xml"/><Relationship Id="rId11" Type="http://schemas.openxmlformats.org/officeDocument/2006/relationships/slide" Target="slide85.xml"/><Relationship Id="rId12" Type="http://schemas.openxmlformats.org/officeDocument/2006/relationships/slide" Target="slide92.xml"/><Relationship Id="rId13" Type="http://schemas.openxmlformats.org/officeDocument/2006/relationships/slide" Target="slide9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slide" Target="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slide" Target="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slide" Target="slide19.xml"/><Relationship Id="rId5" Type="http://schemas.openxmlformats.org/officeDocument/2006/relationships/slide" Target="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slide" Target="slide19.xml"/><Relationship Id="rId5" Type="http://schemas.openxmlformats.org/officeDocument/2006/relationships/slide" Target="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slide" Target="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slide" Target="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slide" Target="slide19.xml"/><Relationship Id="rId4" Type="http://schemas.openxmlformats.org/officeDocument/2006/relationships/slide" Target="slide3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 Id="rId4" Type="http://schemas.openxmlformats.org/officeDocument/2006/relationships/slide" Target="slide19.xml"/><Relationship Id="rId5" Type="http://schemas.openxmlformats.org/officeDocument/2006/relationships/slide" Target="slide3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slide" Target="slide1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slide" Target="slide19.xml"/><Relationship Id="rId4" Type="http://schemas.openxmlformats.org/officeDocument/2006/relationships/slide" Target="slide3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slide" Target="slide19.xml"/><Relationship Id="rId4" Type="http://schemas.openxmlformats.org/officeDocument/2006/relationships/slide" Target="slide3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slide" Target="slide19.xml"/><Relationship Id="rId4" Type="http://schemas.openxmlformats.org/officeDocument/2006/relationships/slide" Target="slide3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19.xml"/><Relationship Id="rId4" Type="http://schemas.openxmlformats.org/officeDocument/2006/relationships/slide" Target="slide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slide" Target="slide19.xml"/><Relationship Id="rId4" Type="http://schemas.openxmlformats.org/officeDocument/2006/relationships/slide" Target="slide4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slide" Target="slide19.xml"/><Relationship Id="rId4" Type="http://schemas.openxmlformats.org/officeDocument/2006/relationships/slide" Target="slide4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slide" Target="slide19.xml"/><Relationship Id="rId4" Type="http://schemas.openxmlformats.org/officeDocument/2006/relationships/slide" Target="slide4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slide" Target="slide1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slide" Target="slide19.xml"/><Relationship Id="rId4" Type="http://schemas.openxmlformats.org/officeDocument/2006/relationships/slide" Target="slide50.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slide" Target="slide19.xml"/><Relationship Id="rId4" Type="http://schemas.openxmlformats.org/officeDocument/2006/relationships/slide" Target="slide5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19.xml"/><Relationship Id="rId4" Type="http://schemas.openxmlformats.org/officeDocument/2006/relationships/slide" Target="slide5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19.xml"/><Relationship Id="rId4" Type="http://schemas.openxmlformats.org/officeDocument/2006/relationships/slide" Target="slide5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slide" Target="slide19.xml"/><Relationship Id="rId4" Type="http://schemas.openxmlformats.org/officeDocument/2006/relationships/slide" Target="slide5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9.xml"/><Relationship Id="rId4" Type="http://schemas.openxmlformats.org/officeDocument/2006/relationships/slide" Target="slide6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slide" Target="slide1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slide" Target="slide1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slide" Target="slide1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slide" Target="slide19.xml"/><Relationship Id="rId4" Type="http://schemas.openxmlformats.org/officeDocument/2006/relationships/slide" Target="slide6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slide" Target="slide1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ww.youtube.com/results?search_query=le+maghreb+documentaire+maroc+alg%C3%A9rie+tunisie" TargetMode="External"/><Relationship Id="rId4" Type="http://schemas.openxmlformats.org/officeDocument/2006/relationships/slide" Target="slide1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slide" Target="slide19.xml"/><Relationship Id="rId4" Type="http://schemas.openxmlformats.org/officeDocument/2006/relationships/slide" Target="slide71.xml"/><Relationship Id="rId5" Type="http://schemas.openxmlformats.org/officeDocument/2006/relationships/slide" Target="slide73.xml"/><Relationship Id="rId6" Type="http://schemas.openxmlformats.org/officeDocument/2006/relationships/slide" Target="slide75.xml"/><Relationship Id="rId7" Type="http://schemas.openxmlformats.org/officeDocument/2006/relationships/slide" Target="slide77.xml"/><Relationship Id="rId8" Type="http://schemas.openxmlformats.org/officeDocument/2006/relationships/slide" Target="slide79.xml"/><Relationship Id="rId9" Type="http://schemas.openxmlformats.org/officeDocument/2006/relationships/slide" Target="slide8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8.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80.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slide" Target="slide19.xml"/><Relationship Id="rId4" Type="http://schemas.openxmlformats.org/officeDocument/2006/relationships/slide" Target="slide8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70.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slide" Target="slide19.xml"/><Relationship Id="rId4" Type="http://schemas.openxmlformats.org/officeDocument/2006/relationships/slide" Target="slide8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slide" Target="slide19.xml"/><Relationship Id="rId4" Type="http://schemas.openxmlformats.org/officeDocument/2006/relationships/slide" Target="slide8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8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slide" Target="slide19.xml"/><Relationship Id="rId4" Type="http://schemas.openxmlformats.org/officeDocument/2006/relationships/slide" Target="slide8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8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slide" Target="slide19.xml"/><Relationship Id="rId4" Type="http://schemas.openxmlformats.org/officeDocument/2006/relationships/slide" Target="slide9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slide" Target="slide19.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14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371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71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828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28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86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43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00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57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657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9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029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9436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9436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4008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8580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8580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3152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3152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2296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2296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6868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86868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91440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91440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6012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6012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0584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584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105156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105156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10972800" y="6309360"/>
            <a:ext cx="457200" cy="54864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972800" y="0"/>
            <a:ext cx="457200" cy="22860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1430000" y="6309360"/>
            <a:ext cx="457200" cy="5486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1430000" y="0"/>
            <a:ext cx="457200" cy="228600"/>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1887200" y="6309360"/>
            <a:ext cx="457200" cy="548640"/>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1887200" y="0"/>
            <a:ext cx="457200" cy="22860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7200" y="1463040"/>
            <a:ext cx="11247120" cy="1371600"/>
          </a:xfrm>
          <a:prstGeom prst="rect">
            <a:avLst/>
          </a:prstGeom>
          <a:noFill/>
        </p:spPr>
        <p:txBody>
          <a:bodyPr wrap="square">
            <a:spAutoFit/>
          </a:bodyPr>
          <a:lstStyle/>
          <a:p>
            <a:pPr algn="ctr">
              <a:spcAft>
                <a:spcPts val="600"/>
              </a:spcAft>
              <a:defRPr sz="6000" b="1">
                <a:solidFill>
                  <a:srgbClr val="E0A11B"/>
                </a:solidFill>
              </a:defRPr>
            </a:pPr>
            <a:r>
              <a:t>🐪  Le MAGHREB  🌴</a:t>
            </a:r>
          </a:p>
        </p:txBody>
      </p:sp>
      <p:sp>
        <p:nvSpPr>
          <p:cNvPr id="58" name="TextBox 57"/>
          <p:cNvSpPr txBox="1"/>
          <p:nvPr/>
        </p:nvSpPr>
        <p:spPr>
          <a:xfrm>
            <a:off x="457200" y="2834640"/>
            <a:ext cx="11247120" cy="914400"/>
          </a:xfrm>
          <a:prstGeom prst="rect">
            <a:avLst/>
          </a:prstGeom>
          <a:noFill/>
        </p:spPr>
        <p:txBody>
          <a:bodyPr wrap="square">
            <a:spAutoFit/>
          </a:bodyPr>
          <a:lstStyle/>
          <a:p>
            <a:pPr algn="ctr">
              <a:spcAft>
                <a:spcPts val="600"/>
              </a:spcAft>
              <a:defRPr sz="2800" b="0">
                <a:solidFill>
                  <a:srgbClr val="FFFFFF"/>
                </a:solidFill>
              </a:defRPr>
            </a:pPr>
            <a:r>
              <a:t>Voyage ludique et interactif au pays du soleil couchant</a:t>
            </a:r>
          </a:p>
        </p:txBody>
      </p:sp>
      <p:sp>
        <p:nvSpPr>
          <p:cNvPr id="59" name="TextBox 58"/>
          <p:cNvSpPr txBox="1"/>
          <p:nvPr/>
        </p:nvSpPr>
        <p:spPr>
          <a:xfrm>
            <a:off x="457200" y="3749039"/>
            <a:ext cx="11247120" cy="914400"/>
          </a:xfrm>
          <a:prstGeom prst="rect">
            <a:avLst/>
          </a:prstGeom>
          <a:noFill/>
        </p:spPr>
        <p:txBody>
          <a:bodyPr wrap="square">
            <a:spAutoFit/>
          </a:bodyPr>
          <a:lstStyle/>
          <a:p>
            <a:pPr algn="ctr">
              <a:spcAft>
                <a:spcPts val="600"/>
              </a:spcAft>
              <a:defRPr sz="2000" b="0">
                <a:solidFill>
                  <a:srgbClr val="F6E7C8"/>
                </a:solidFill>
              </a:defRPr>
            </a:pPr>
            <a:r>
              <a:t>Algérie • Maroc • Tunisie  (+ Libye &amp; Mauritanie : le « Grand Maghreb »)</a:t>
            </a:r>
          </a:p>
        </p:txBody>
      </p:sp>
      <p:sp>
        <p:nvSpPr>
          <p:cNvPr id="60" name="Rounded Rectangle 59">
            <a:hlinkClick action="ppaction://hlinksldjump" r:id="rId3"/>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400" b="1">
                <a:solidFill>
                  <a:srgbClr val="FFFFFF"/>
                </a:solidFill>
              </a:defRPr>
            </a:pPr>
            <a:r>
              <a:t>▶ COMMENCER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Jeu d'ouverture : Devine où c'est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828800"/>
            <a:ext cx="10972800" cy="1371600"/>
          </a:xfrm>
          <a:prstGeom prst="rect">
            <a:avLst/>
          </a:prstGeom>
          <a:noFill/>
        </p:spPr>
        <p:txBody>
          <a:bodyPr wrap="square">
            <a:spAutoFit/>
          </a:bodyPr>
          <a:lstStyle/>
          <a:p>
            <a:pPr algn="ctr">
              <a:spcAft>
                <a:spcPts val="600"/>
              </a:spcAft>
              <a:defRPr sz="3000" b="1">
                <a:solidFill>
                  <a:srgbClr val="FFFFFF"/>
                </a:solidFill>
              </a:defRPr>
            </a:pPr>
            <a:r>
              <a:t>📸 Des photos vont apparaître…</a:t>
            </a:r>
          </a:p>
          <a:p>
            <a:pPr algn="ctr">
              <a:spcAft>
                <a:spcPts val="600"/>
              </a:spcAft>
              <a:defRPr sz="3000" b="1">
                <a:solidFill>
                  <a:srgbClr val="FFFFFF"/>
                </a:solidFill>
              </a:defRPr>
            </a:pPr>
            <a:r>
              <a:t>Devine : où est-ce ? qu'est-ce que c'est ?</a:t>
            </a:r>
          </a:p>
          <a:p>
            <a:pPr algn="ctr">
              <a:spcAft>
                <a:spcPts val="600"/>
              </a:spcAft>
              <a:defRPr sz="3000" b="1">
                <a:solidFill>
                  <a:srgbClr val="FFFFFF"/>
                </a:solidFill>
              </a:defRPr>
            </a:pPr>
            <a:r>
              <a:t>1 bonne réponse = 1 point pour ton équipe !</a:t>
            </a:r>
          </a:p>
        </p:txBody>
      </p:sp>
      <p:sp>
        <p:nvSpPr>
          <p:cNvPr id="35" name="Rounded Rectangle 34">
            <a:hlinkClick action="ppaction://hlinksldjump" r:id="rId4"/>
          </p:cNvPr>
          <p:cNvSpPr/>
          <p:nvPr/>
        </p:nvSpPr>
        <p:spPr>
          <a:xfrm>
            <a:off x="4754880" y="4754880"/>
            <a:ext cx="2651760" cy="82296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FFFFFF"/>
                </a:solidFill>
              </a:defRPr>
            </a:pPr>
            <a:r>
              <a:t>C'est parti !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1/8 : Où se trouve le Maghreb sur cette carte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rcRect t="28653" b="28653"/>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Encadré rouge, au nord-ouest de l'Afrique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Au Moyen-Orient</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En Europe du Sud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Encadré rouge, au nord-ouest de l'Afrique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548640" y="1371600"/>
            <a:ext cx="4788642" cy="4206240"/>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Encadré rouge, au nord-ouest de l'Afrique</a:t>
            </a:r>
          </a:p>
          <a:p>
            <a:pPr algn="l">
              <a:spcAft>
                <a:spcPts val="600"/>
              </a:spcAft>
              <a:defRPr sz="2000" b="0">
                <a:solidFill>
                  <a:srgbClr val="2B2B2B"/>
                </a:solidFill>
              </a:defRPr>
            </a:pPr>
          </a:p>
          <a:p>
            <a:pPr algn="l">
              <a:spcAft>
                <a:spcPts val="600"/>
              </a:spcAft>
              <a:defRPr sz="2000" b="0">
                <a:solidFill>
                  <a:srgbClr val="2B2B2B"/>
                </a:solidFill>
              </a:defRPr>
            </a:pPr>
            <a:r>
              <a:t>Le Maghreb est au nord-ouest de l'Afrique, face à l'Europe : seulement 14 km entre le Maroc et l'Espagne (détroit de Gibraltar) !</a:t>
            </a:r>
          </a:p>
        </p:txBody>
      </p:sp>
      <p:sp>
        <p:nvSpPr>
          <p:cNvPr id="35" name="Rounded Rectangle 34">
            <a:hlinkClick action="ppaction://hlinksldjump" r:id="rId4"/>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2/8 : Qu'est-ce que c'est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Couscous</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Paella</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Couscous</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Risotto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Couscous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Couscous</a:t>
            </a:r>
          </a:p>
          <a:p>
            <a:pPr algn="l">
              <a:spcAft>
                <a:spcPts val="600"/>
              </a:spcAft>
              <a:defRPr sz="2000" b="0">
                <a:solidFill>
                  <a:srgbClr val="2B2B2B"/>
                </a:solidFill>
              </a:defRPr>
            </a:pPr>
          </a:p>
          <a:p>
            <a:pPr algn="l">
              <a:spcAft>
                <a:spcPts val="600"/>
              </a:spcAft>
              <a:defRPr sz="2000" b="0">
                <a:solidFill>
                  <a:srgbClr val="2B2B2B"/>
                </a:solidFill>
              </a:defRPr>
            </a:pPr>
            <a:r>
              <a:t>Le couscous : plat à base de semoule de blé, inscrit au patrimoine de l'UNESCO (2020).</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3/8 : Où sommes-nous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Sahara (Maroc)</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Sahara (Maroc)</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Plage de Bretagne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Désert d'Atacama (Chili)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Sahara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Sahara (Maroc)</a:t>
            </a:r>
          </a:p>
          <a:p>
            <a:pPr algn="l">
              <a:spcAft>
                <a:spcPts val="600"/>
              </a:spcAft>
              <a:defRPr sz="2000" b="0">
                <a:solidFill>
                  <a:srgbClr val="2B2B2B"/>
                </a:solidFill>
              </a:defRPr>
            </a:pPr>
          </a:p>
          <a:p>
            <a:pPr algn="l">
              <a:spcAft>
                <a:spcPts val="600"/>
              </a:spcAft>
              <a:defRPr sz="2000" b="0">
                <a:solidFill>
                  <a:srgbClr val="2B2B2B"/>
                </a:solidFill>
              </a:defRPr>
            </a:pPr>
            <a:r>
              <a:t>Les dunes de l'Erg Chebbi, près de Merzouga : le Sahara marocain.</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4/8 : Quelle est cette ville bleue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Chefchaouen (Maroc)</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Santorin (Grèce)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Chefchaouen (Maroc)</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Venise (Italie)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Chefchaouen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Chefchaouen (Maroc)</a:t>
            </a:r>
          </a:p>
          <a:p>
            <a:pPr algn="l">
              <a:spcAft>
                <a:spcPts val="600"/>
              </a:spcAft>
              <a:defRPr sz="2000" b="0">
                <a:solidFill>
                  <a:srgbClr val="2B2B2B"/>
                </a:solidFill>
              </a:defRPr>
            </a:pPr>
          </a:p>
          <a:p>
            <a:pPr algn="l">
              <a:spcAft>
                <a:spcPts val="600"/>
              </a:spcAft>
              <a:defRPr sz="2000" b="0">
                <a:solidFill>
                  <a:srgbClr val="2B2B2B"/>
                </a:solidFill>
              </a:defRPr>
            </a:pPr>
            <a:r>
              <a:t>Chefchaouen, la « perle bleue » du Rif, au nord du Maroc.</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5/8 : Blanc et bleu… où est-ce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Sidi Bou Saïd (Tunisie)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Sidi Bou Saïd (Tunisie)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Nice (France)</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Lisbonne (Portugal)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Sidi Bou Saïd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Sidi Bou Saïd (Tunisie)</a:t>
            </a:r>
          </a:p>
          <a:p>
            <a:pPr algn="l">
              <a:spcAft>
                <a:spcPts val="600"/>
              </a:spcAft>
              <a:defRPr sz="2000" b="0">
                <a:solidFill>
                  <a:srgbClr val="2B2B2B"/>
                </a:solidFill>
              </a:defRPr>
            </a:pPr>
          </a:p>
          <a:p>
            <a:pPr algn="l">
              <a:spcAft>
                <a:spcPts val="600"/>
              </a:spcAft>
              <a:defRPr sz="2000" b="0">
                <a:solidFill>
                  <a:srgbClr val="2B2B2B"/>
                </a:solidFill>
              </a:defRPr>
            </a:pPr>
            <a:r>
              <a:t>Sidi Bou Saïd, village blanc et bleu près de Tunis.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6/8 : Quelle est cette place célèbre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Place Jemaa el-Fna (Marrakech)</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Place Jemaa el-Fna (Marrakech)</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Place Rouge (Moscou)</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Times Square (New York)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Place Jemaa el-Fna (Marrakech)</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Place Jemaa el-Fna (Marrakech)</a:t>
            </a:r>
          </a:p>
          <a:p>
            <a:pPr algn="l">
              <a:spcAft>
                <a:spcPts val="600"/>
              </a:spcAft>
              <a:defRPr sz="2000" b="0">
                <a:solidFill>
                  <a:srgbClr val="2B2B2B"/>
                </a:solidFill>
              </a:defRPr>
            </a:pPr>
          </a:p>
          <a:p>
            <a:pPr algn="l">
              <a:spcAft>
                <a:spcPts val="600"/>
              </a:spcAft>
              <a:defRPr sz="2000" b="0">
                <a:solidFill>
                  <a:srgbClr val="2B2B2B"/>
                </a:solidFill>
              </a:defRPr>
            </a:pPr>
            <a:r>
              <a:t>Jemaa el-Fna, à Marrakech : conteurs, musiciens et marchés le soir.</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7/8 : Quel est cet art ?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2926080" y="1463040"/>
            <a:ext cx="6400800" cy="40233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926080" y="3017520"/>
            <a:ext cx="6400800" cy="914400"/>
          </a:xfrm>
          <a:prstGeom prst="rect">
            <a:avLst/>
          </a:prstGeom>
          <a:noFill/>
        </p:spPr>
        <p:txBody>
          <a:bodyPr wrap="square">
            <a:spAutoFit/>
          </a:bodyPr>
          <a:lstStyle/>
          <a:p>
            <a:pPr algn="ctr">
              <a:spcAft>
                <a:spcPts val="600"/>
              </a:spcAft>
              <a:defRPr sz="2000" b="1">
                <a:solidFill>
                  <a:srgbClr val="B84A1E"/>
                </a:solidFill>
              </a:defRPr>
            </a:pPr>
            <a:r>
              <a:t>📷 Insère ici la photo : Le zellige (mosaïque)</a:t>
            </a:r>
          </a:p>
        </p:txBody>
      </p:sp>
      <p:sp>
        <p:nvSpPr>
          <p:cNvPr id="35" name="Rounded Rectangle 34">
            <a:hlinkClick action="ppaction://hlinksldjump" r:id="rId3"/>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Le zellige (mosaïque)</a:t>
            </a:r>
          </a:p>
        </p:txBody>
      </p:sp>
      <p:sp>
        <p:nvSpPr>
          <p:cNvPr id="36" name="Rounded Rectangle 35">
            <a:hlinkClick action="ppaction://hlinksldjump" r:id="rId3"/>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Le vitrail</a:t>
            </a:r>
          </a:p>
        </p:txBody>
      </p:sp>
      <p:sp>
        <p:nvSpPr>
          <p:cNvPr id="37" name="Rounded Rectangle 36">
            <a:hlinkClick action="ppaction://hlinksldjump" r:id="rId3"/>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Le graffiti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Le zellige (mosaïque)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Le zellige (mosaïque)</a:t>
            </a:r>
          </a:p>
          <a:p>
            <a:pPr algn="l">
              <a:spcAft>
                <a:spcPts val="600"/>
              </a:spcAft>
              <a:defRPr sz="2000" b="0">
                <a:solidFill>
                  <a:srgbClr val="2B2B2B"/>
                </a:solidFill>
              </a:defRPr>
            </a:pPr>
          </a:p>
          <a:p>
            <a:pPr algn="l">
              <a:spcAft>
                <a:spcPts val="600"/>
              </a:spcAft>
              <a:defRPr sz="2000" b="0">
                <a:solidFill>
                  <a:srgbClr val="2B2B2B"/>
                </a:solidFill>
              </a:defRPr>
            </a:pPr>
            <a:r>
              <a:t>Le zellige : mosaïque de petits carreaux d'argile émaillés, typique de l'art maghrébin (motifs géométriques, pas de figures humaines).</a:t>
            </a:r>
          </a:p>
        </p:txBody>
      </p:sp>
      <p:sp>
        <p:nvSpPr>
          <p:cNvPr id="34" name="Rounded Rectangle 33">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Suivant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Photo 8/8 : Que voit-on ?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rcRect t="20216" b="20216"/>
          <a:stretch>
            <a:fillRect/>
          </a:stretch>
        </p:blipFill>
        <p:spPr>
          <a:xfrm>
            <a:off x="0" y="1115568"/>
            <a:ext cx="12191695" cy="4572000"/>
          </a:xfrm>
          <a:prstGeom prst="rect">
            <a:avLst/>
          </a:prstGeom>
        </p:spPr>
      </p:pic>
      <p:sp>
        <p:nvSpPr>
          <p:cNvPr id="34" name="Rounded Rectangle 33">
            <a:hlinkClick action="ppaction://hlinksldjump" r:id="rId4"/>
          </p:cNvPr>
          <p:cNvSpPr/>
          <p:nvPr/>
        </p:nvSpPr>
        <p:spPr>
          <a:xfrm>
            <a:off x="640080" y="5715000"/>
            <a:ext cx="3474720" cy="6858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 Une usine en France</a:t>
            </a:r>
          </a:p>
        </p:txBody>
      </p:sp>
      <p:sp>
        <p:nvSpPr>
          <p:cNvPr id="35" name="Rounded Rectangle 34">
            <a:hlinkClick action="ppaction://hlinksldjump" r:id="rId4"/>
          </p:cNvPr>
          <p:cNvSpPr/>
          <p:nvPr/>
        </p:nvSpPr>
        <p:spPr>
          <a:xfrm>
            <a:off x="4389120" y="5715000"/>
            <a:ext cx="347472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 Un gisement de pétrole au Sahara</a:t>
            </a:r>
          </a:p>
        </p:txBody>
      </p:sp>
      <p:sp>
        <p:nvSpPr>
          <p:cNvPr id="36" name="Rounded Rectangle 35">
            <a:hlinkClick action="ppaction://hlinksldjump" r:id="rId4"/>
          </p:cNvPr>
          <p:cNvSpPr/>
          <p:nvPr/>
        </p:nvSpPr>
        <p:spPr>
          <a:xfrm>
            <a:off x="8138159" y="5715000"/>
            <a:ext cx="3474720" cy="68580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 Un volcan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 : Un gisement de pétrole au Sahara</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tretch>
            <a:fillRect/>
          </a:stretch>
        </p:blipFill>
        <p:spPr>
          <a:xfrm>
            <a:off x="548640" y="1371600"/>
            <a:ext cx="6400800" cy="4029594"/>
          </a:xfrm>
          <a:prstGeom prst="rect">
            <a:avLst/>
          </a:prstGeom>
        </p:spPr>
      </p:pic>
      <p:sp>
        <p:nvSpPr>
          <p:cNvPr id="34" name="TextBox 33"/>
          <p:cNvSpPr txBox="1"/>
          <p:nvPr/>
        </p:nvSpPr>
        <p:spPr>
          <a:xfrm>
            <a:off x="7223760" y="1463040"/>
            <a:ext cx="4572000" cy="3200400"/>
          </a:xfrm>
          <a:prstGeom prst="rect">
            <a:avLst/>
          </a:prstGeom>
          <a:noFill/>
        </p:spPr>
        <p:txBody>
          <a:bodyPr wrap="square">
            <a:spAutoFit/>
          </a:bodyPr>
          <a:lstStyle/>
          <a:p>
            <a:pPr algn="l">
              <a:spcAft>
                <a:spcPts val="600"/>
              </a:spcAft>
              <a:defRPr sz="2000" b="0">
                <a:solidFill>
                  <a:srgbClr val="2B2B2B"/>
                </a:solidFill>
              </a:defRPr>
            </a:pPr>
            <a:r>
              <a:t>Un gisement de pétrole au Sahara</a:t>
            </a:r>
          </a:p>
          <a:p>
            <a:pPr algn="l">
              <a:spcAft>
                <a:spcPts val="600"/>
              </a:spcAft>
              <a:defRPr sz="2000" b="0">
                <a:solidFill>
                  <a:srgbClr val="2B2B2B"/>
                </a:solidFill>
              </a:defRPr>
            </a:pPr>
          </a:p>
          <a:p>
            <a:pPr algn="l">
              <a:spcAft>
                <a:spcPts val="600"/>
              </a:spcAft>
              <a:defRPr sz="2000" b="0">
                <a:solidFill>
                  <a:srgbClr val="2B2B2B"/>
                </a:solidFill>
              </a:defRPr>
            </a:pPr>
            <a:r>
              <a:t>Hassi Messaoud (Algérie) : le pétrole et le gaz sont la 1re richesse de l'Algérie.</a:t>
            </a:r>
          </a:p>
        </p:txBody>
      </p:sp>
      <p:sp>
        <p:nvSpPr>
          <p:cNvPr id="35" name="Rounded Rectangle 34">
            <a:hlinkClick action="ppaction://hlinksldjump" r:id="rId3"/>
          </p:cNvPr>
          <p:cNvSpPr/>
          <p:nvPr/>
        </p:nvSpPr>
        <p:spPr>
          <a:xfrm>
            <a:off x="8595360" y="51206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Menu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Menu du voyage — clique sur une étape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a:hlinkClick action="ppaction://hlinksldjump" r:id="rId3"/>
          </p:cNvPr>
          <p:cNvSpPr/>
          <p:nvPr/>
        </p:nvSpPr>
        <p:spPr>
          <a:xfrm>
            <a:off x="457200" y="137160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Devine où c'est ?  (15')</a:t>
            </a:r>
          </a:p>
        </p:txBody>
      </p:sp>
      <p:sp>
        <p:nvSpPr>
          <p:cNvPr id="34" name="Rounded Rectangle 33">
            <a:hlinkClick action="ppaction://hlinksldjump" r:id="rId4"/>
          </p:cNvPr>
          <p:cNvSpPr/>
          <p:nvPr/>
        </p:nvSpPr>
        <p:spPr>
          <a:xfrm>
            <a:off x="3291840" y="137160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 Carte d'identité &amp; relief  (35')</a:t>
            </a:r>
          </a:p>
        </p:txBody>
      </p:sp>
      <p:sp>
        <p:nvSpPr>
          <p:cNvPr id="35" name="Rounded Rectangle 34">
            <a:hlinkClick action="ppaction://hlinksldjump" r:id="rId5"/>
          </p:cNvPr>
          <p:cNvSpPr/>
          <p:nvPr/>
        </p:nvSpPr>
        <p:spPr>
          <a:xfrm>
            <a:off x="6126480" y="137160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II. Littoral &amp; intérieur  (30')</a:t>
            </a:r>
          </a:p>
        </p:txBody>
      </p:sp>
      <p:sp>
        <p:nvSpPr>
          <p:cNvPr id="36" name="Rounded Rectangle 35">
            <a:hlinkClick action="ppaction://hlinksldjump" r:id="rId6"/>
          </p:cNvPr>
          <p:cNvSpPr/>
          <p:nvPr/>
        </p:nvSpPr>
        <p:spPr>
          <a:xfrm>
            <a:off x="8961120" y="1371600"/>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III. Démographie &amp; émigration  (30')</a:t>
            </a:r>
          </a:p>
        </p:txBody>
      </p:sp>
      <p:sp>
        <p:nvSpPr>
          <p:cNvPr id="37" name="Rounded Rectangle 36">
            <a:hlinkClick action="ppaction://hlinksldjump" r:id="rId7"/>
          </p:cNvPr>
          <p:cNvSpPr/>
          <p:nvPr/>
        </p:nvSpPr>
        <p:spPr>
          <a:xfrm>
            <a:off x="457200" y="2560320"/>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Pause  (10')</a:t>
            </a:r>
          </a:p>
        </p:txBody>
      </p:sp>
      <p:sp>
        <p:nvSpPr>
          <p:cNvPr id="38" name="Rounded Rectangle 37">
            <a:hlinkClick action="ppaction://hlinksldjump" r:id="rId8"/>
          </p:cNvPr>
          <p:cNvSpPr/>
          <p:nvPr/>
        </p:nvSpPr>
        <p:spPr>
          <a:xfrm>
            <a:off x="3291840" y="2560320"/>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IV. Islam &amp; conflits  (30')</a:t>
            </a:r>
          </a:p>
        </p:txBody>
      </p:sp>
      <p:sp>
        <p:nvSpPr>
          <p:cNvPr id="39" name="Rounded Rectangle 38">
            <a:hlinkClick action="ppaction://hlinksldjump" r:id="rId9"/>
          </p:cNvPr>
          <p:cNvSpPr/>
          <p:nvPr/>
        </p:nvSpPr>
        <p:spPr>
          <a:xfrm>
            <a:off x="6126480" y="2560320"/>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V. Histoire (3 000 ans)  (35')</a:t>
            </a:r>
          </a:p>
        </p:txBody>
      </p:sp>
      <p:sp>
        <p:nvSpPr>
          <p:cNvPr id="40" name="Rounded Rectangle 39">
            <a:hlinkClick action="ppaction://hlinksldjump" r:id="rId10"/>
          </p:cNvPr>
          <p:cNvSpPr/>
          <p:nvPr/>
        </p:nvSpPr>
        <p:spPr>
          <a:xfrm>
            <a:off x="8961120" y="2560320"/>
            <a:ext cx="269748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C.O. Vidéo  (20')</a:t>
            </a:r>
          </a:p>
        </p:txBody>
      </p:sp>
      <p:sp>
        <p:nvSpPr>
          <p:cNvPr id="41" name="Rounded Rectangle 40">
            <a:hlinkClick action="ppaction://hlinksldjump" r:id="rId11"/>
          </p:cNvPr>
          <p:cNvSpPr/>
          <p:nvPr/>
        </p:nvSpPr>
        <p:spPr>
          <a:xfrm>
            <a:off x="457200" y="3749039"/>
            <a:ext cx="269748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C.E. B1 : 3 textes  (25')</a:t>
            </a:r>
          </a:p>
        </p:txBody>
      </p:sp>
      <p:sp>
        <p:nvSpPr>
          <p:cNvPr id="42" name="Rounded Rectangle 41">
            <a:hlinkClick action="ppaction://hlinksldjump" r:id="rId12"/>
          </p:cNvPr>
          <p:cNvSpPr/>
          <p:nvPr/>
        </p:nvSpPr>
        <p:spPr>
          <a:xfrm>
            <a:off x="3291840" y="3749039"/>
            <a:ext cx="2697480" cy="10058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Défi final  (5')</a:t>
            </a:r>
          </a:p>
        </p:txBody>
      </p:sp>
      <p:sp>
        <p:nvSpPr>
          <p:cNvPr id="43" name="Rounded Rectangle 42">
            <a:hlinkClick action="ppaction://hlinksldjump" r:id="rId13"/>
          </p:cNvPr>
          <p:cNvSpPr/>
          <p:nvPr/>
        </p:nvSpPr>
        <p:spPr>
          <a:xfrm>
            <a:off x="6126480" y="3749039"/>
            <a:ext cx="269748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Bilan  (5')</a:t>
            </a:r>
          </a:p>
        </p:txBody>
      </p:sp>
      <p:sp>
        <p:nvSpPr>
          <p:cNvPr id="44" name="TextBox 43"/>
          <p:cNvSpPr txBox="1"/>
          <p:nvPr/>
        </p:nvSpPr>
        <p:spPr>
          <a:xfrm>
            <a:off x="548640" y="6263640"/>
            <a:ext cx="10058400" cy="457200"/>
          </a:xfrm>
          <a:prstGeom prst="rect">
            <a:avLst/>
          </a:prstGeom>
          <a:noFill/>
        </p:spPr>
        <p:txBody>
          <a:bodyPr wrap="square">
            <a:spAutoFit/>
          </a:bodyPr>
          <a:lstStyle/>
          <a:p>
            <a:pPr algn="l">
              <a:spcAft>
                <a:spcPts val="600"/>
              </a:spcAft>
              <a:defRPr sz="1600" b="1">
                <a:solidFill>
                  <a:srgbClr val="1F4E79"/>
                </a:solidFill>
              </a:defRPr>
            </a:pPr>
            <a:r>
              <a:t>Durée totale ≈ 4 h (3 séances de 1 h 20)  •  Score des équipes au tableau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du Maghreb</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548640" y="1371600"/>
            <a:ext cx="5669280" cy="475488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1463040"/>
            <a:ext cx="5394960" cy="548640"/>
          </a:xfrm>
          <a:prstGeom prst="rect">
            <a:avLst/>
          </a:prstGeom>
          <a:noFill/>
        </p:spPr>
        <p:txBody>
          <a:bodyPr wrap="square">
            <a:spAutoFit/>
          </a:bodyPr>
          <a:lstStyle/>
          <a:p>
            <a:pPr algn="l">
              <a:spcAft>
                <a:spcPts val="600"/>
              </a:spcAft>
              <a:defRPr sz="2200" b="1">
                <a:solidFill>
                  <a:srgbClr val="B84A1E"/>
                </a:solidFill>
              </a:defRPr>
            </a:pPr>
            <a:r>
              <a:t>1) Carte d'identité régionale</a:t>
            </a:r>
          </a:p>
        </p:txBody>
      </p:sp>
      <p:sp>
        <p:nvSpPr>
          <p:cNvPr id="36" name="TextBox 35"/>
          <p:cNvSpPr txBox="1"/>
          <p:nvPr/>
        </p:nvSpPr>
        <p:spPr>
          <a:xfrm>
            <a:off x="731520" y="2011680"/>
            <a:ext cx="5394960" cy="4023360"/>
          </a:xfrm>
          <a:prstGeom prst="rect">
            <a:avLst/>
          </a:prstGeom>
          <a:noFill/>
        </p:spPr>
        <p:txBody>
          <a:bodyPr wrap="square">
            <a:spAutoFit/>
          </a:bodyPr>
          <a:lstStyle/>
          <a:p>
            <a:pPr algn="l">
              <a:spcAft>
                <a:spcPts val="600"/>
              </a:spcAft>
              <a:defRPr sz="1600" b="0">
                <a:solidFill>
                  <a:srgbClr val="2B2B2B"/>
                </a:solidFill>
              </a:defRPr>
            </a:pPr>
            <a:r>
              <a:t>Superficie : ≈ 5,8 millions km² (≈ 10 × la France métropolitaine)</a:t>
            </a:r>
          </a:p>
          <a:p>
            <a:pPr algn="l">
              <a:spcAft>
                <a:spcPts val="600"/>
              </a:spcAft>
              <a:defRPr sz="1600" b="0">
                <a:solidFill>
                  <a:srgbClr val="2B2B2B"/>
                </a:solidFill>
              </a:defRPr>
            </a:pPr>
            <a:r>
              <a:t>Population : ≈ 107 millions d'habitants</a:t>
            </a:r>
          </a:p>
          <a:p>
            <a:pPr algn="l">
              <a:spcAft>
                <a:spcPts val="600"/>
              </a:spcAft>
              <a:defRPr sz="1600" b="0">
                <a:solidFill>
                  <a:srgbClr val="2B2B2B"/>
                </a:solidFill>
              </a:defRPr>
            </a:pPr>
            <a:r>
              <a:t>Densité : ≈ 18 hab/km² (très inégale : côtes peuplées, Sahara presque vide)</a:t>
            </a:r>
          </a:p>
          <a:p>
            <a:pPr algn="l">
              <a:spcAft>
                <a:spcPts val="600"/>
              </a:spcAft>
              <a:defRPr sz="1600" b="0">
                <a:solidFill>
                  <a:srgbClr val="2B2B2B"/>
                </a:solidFill>
              </a:defRPr>
            </a:pPr>
            <a:r>
              <a:t>PIB : ≈ 490 milliards $ (cumulé)</a:t>
            </a:r>
          </a:p>
          <a:p>
            <a:pPr algn="l">
              <a:spcAft>
                <a:spcPts val="600"/>
              </a:spcAft>
              <a:defRPr sz="1600" b="0">
                <a:solidFill>
                  <a:srgbClr val="2B2B2B"/>
                </a:solidFill>
              </a:defRPr>
            </a:pPr>
            <a:r>
              <a:t>Taux de chômage : ≈ 10 à 19 % selon les pays</a:t>
            </a:r>
          </a:p>
          <a:p>
            <a:pPr algn="l">
              <a:spcAft>
                <a:spcPts val="600"/>
              </a:spcAft>
              <a:defRPr sz="1600" b="0">
                <a:solidFill>
                  <a:srgbClr val="2B2B2B"/>
                </a:solidFill>
              </a:defRPr>
            </a:pPr>
            <a:r>
              <a:t>Statut : 5 États indépendants réunis dans l'Union du Maghreb arabe (UMA, 1989)</a:t>
            </a:r>
          </a:p>
          <a:p>
            <a:pPr algn="l">
              <a:spcAft>
                <a:spcPts val="600"/>
              </a:spcAft>
              <a:defRPr sz="1600" b="0">
                <a:solidFill>
                  <a:srgbClr val="2B2B2B"/>
                </a:solidFill>
              </a:defRPr>
            </a:pPr>
            <a:r>
              <a:t>Source : Banque mondiale 2023 (arrondis)</a:t>
            </a:r>
          </a:p>
        </p:txBody>
      </p:sp>
      <p:sp>
        <p:nvSpPr>
          <p:cNvPr id="37" name="Rounded Rectangle 36"/>
          <p:cNvSpPr/>
          <p:nvPr/>
        </p:nvSpPr>
        <p:spPr>
          <a:xfrm>
            <a:off x="6492240" y="1371600"/>
            <a:ext cx="5120640" cy="47548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1463040"/>
            <a:ext cx="4846320" cy="548640"/>
          </a:xfrm>
          <a:prstGeom prst="rect">
            <a:avLst/>
          </a:prstGeom>
          <a:noFill/>
        </p:spPr>
        <p:txBody>
          <a:bodyPr wrap="square">
            <a:spAutoFit/>
          </a:bodyPr>
          <a:lstStyle/>
          <a:p>
            <a:pPr algn="l">
              <a:spcAft>
                <a:spcPts val="600"/>
              </a:spcAft>
              <a:defRPr sz="2200" b="1">
                <a:solidFill>
                  <a:srgbClr val="E0A11B"/>
                </a:solidFill>
              </a:defRPr>
            </a:pPr>
            <a:r>
              <a:t>2) Ce qu'il faut retenir</a:t>
            </a:r>
          </a:p>
        </p:txBody>
      </p:sp>
      <p:sp>
        <p:nvSpPr>
          <p:cNvPr id="39" name="TextBox 38"/>
          <p:cNvSpPr txBox="1"/>
          <p:nvPr/>
        </p:nvSpPr>
        <p:spPr>
          <a:xfrm>
            <a:off x="6675120" y="2011680"/>
            <a:ext cx="4846320" cy="4023360"/>
          </a:xfrm>
          <a:prstGeom prst="rect">
            <a:avLst/>
          </a:prstGeom>
          <a:noFill/>
        </p:spPr>
        <p:txBody>
          <a:bodyPr wrap="square">
            <a:spAutoFit/>
          </a:bodyPr>
          <a:lstStyle/>
          <a:p>
            <a:pPr algn="l">
              <a:spcAft>
                <a:spcPts val="600"/>
              </a:spcAft>
              <a:defRPr sz="1600" b="0">
                <a:solidFill>
                  <a:srgbClr val="FFFFFF"/>
                </a:solidFill>
              </a:defRPr>
            </a:pPr>
            <a:r>
              <a:t>🏔️ Relief varié : montagnes de l'Atlas au nord, plaines et côtes méditerranéennes, Sahara au sud</a:t>
            </a:r>
          </a:p>
          <a:p>
            <a:pPr algn="l">
              <a:spcAft>
                <a:spcPts val="600"/>
              </a:spcAft>
              <a:defRPr sz="1600" b="0">
                <a:solidFill>
                  <a:srgbClr val="FFFFFF"/>
                </a:solidFill>
              </a:defRPr>
            </a:pPr>
            <a:r>
              <a:t>☀️ Climat : méditerranéen au nord (étés chauds, hivers doux), désertique au sud</a:t>
            </a:r>
          </a:p>
          <a:p>
            <a:pPr algn="l">
              <a:spcAft>
                <a:spcPts val="600"/>
              </a:spcAft>
              <a:defRPr sz="1600" b="0">
                <a:solidFill>
                  <a:srgbClr val="FFFFFF"/>
                </a:solidFill>
              </a:defRPr>
            </a:pPr>
            <a:r>
              <a:t>🎶 Culture riche : musique (raï, gnaoua, chaâbi), cuisine épicée, hospitalité</a:t>
            </a:r>
          </a:p>
          <a:p>
            <a:pPr algn="l">
              <a:spcAft>
                <a:spcPts val="600"/>
              </a:spcAft>
              <a:defRPr sz="1600" b="0">
                <a:solidFill>
                  <a:srgbClr val="FFFFFF"/>
                </a:solidFill>
              </a:defRPr>
            </a:pPr>
            <a:r>
              <a:t>🌍 Culture maghrébine : un mélange d'origines berbère (amazighe), arabe, africaine, andalouse et européenne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Carte d'identité : pays par pays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548640" y="1371600"/>
            <a:ext cx="17830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94360" y="1463040"/>
            <a:ext cx="1737360" cy="640080"/>
          </a:xfrm>
          <a:prstGeom prst="rect">
            <a:avLst/>
          </a:prstGeom>
          <a:noFill/>
        </p:spPr>
        <p:txBody>
          <a:bodyPr wrap="square">
            <a:spAutoFit/>
          </a:bodyPr>
          <a:lstStyle/>
          <a:p>
            <a:pPr algn="l">
              <a:spcAft>
                <a:spcPts val="600"/>
              </a:spcAft>
              <a:defRPr sz="1500" b="1">
                <a:solidFill>
                  <a:srgbClr val="FFFFFF"/>
                </a:solidFill>
              </a:defRPr>
            </a:pPr>
            <a:r>
              <a:t>Pays</a:t>
            </a:r>
          </a:p>
        </p:txBody>
      </p:sp>
      <p:sp>
        <p:nvSpPr>
          <p:cNvPr id="35" name="Rectangle 34"/>
          <p:cNvSpPr/>
          <p:nvPr/>
        </p:nvSpPr>
        <p:spPr>
          <a:xfrm>
            <a:off x="2377440" y="1371600"/>
            <a:ext cx="16916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23160" y="1463040"/>
            <a:ext cx="1645919" cy="640080"/>
          </a:xfrm>
          <a:prstGeom prst="rect">
            <a:avLst/>
          </a:prstGeom>
          <a:noFill/>
        </p:spPr>
        <p:txBody>
          <a:bodyPr wrap="square">
            <a:spAutoFit/>
          </a:bodyPr>
          <a:lstStyle/>
          <a:p>
            <a:pPr algn="l">
              <a:spcAft>
                <a:spcPts val="600"/>
              </a:spcAft>
              <a:defRPr sz="1500" b="1">
                <a:solidFill>
                  <a:srgbClr val="FFFFFF"/>
                </a:solidFill>
              </a:defRPr>
            </a:pPr>
            <a:r>
              <a:t>Superficie</a:t>
            </a:r>
          </a:p>
        </p:txBody>
      </p:sp>
      <p:sp>
        <p:nvSpPr>
          <p:cNvPr id="37" name="Rectangle 36"/>
          <p:cNvSpPr/>
          <p:nvPr/>
        </p:nvSpPr>
        <p:spPr>
          <a:xfrm>
            <a:off x="4114800" y="1371600"/>
            <a:ext cx="1234439"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60520" y="1463040"/>
            <a:ext cx="1188719" cy="640080"/>
          </a:xfrm>
          <a:prstGeom prst="rect">
            <a:avLst/>
          </a:prstGeom>
          <a:noFill/>
        </p:spPr>
        <p:txBody>
          <a:bodyPr wrap="square">
            <a:spAutoFit/>
          </a:bodyPr>
          <a:lstStyle/>
          <a:p>
            <a:pPr algn="l">
              <a:spcAft>
                <a:spcPts val="600"/>
              </a:spcAft>
              <a:defRPr sz="1500" b="1">
                <a:solidFill>
                  <a:srgbClr val="FFFFFF"/>
                </a:solidFill>
              </a:defRPr>
            </a:pPr>
            <a:r>
              <a:t>Population</a:t>
            </a:r>
          </a:p>
        </p:txBody>
      </p:sp>
      <p:sp>
        <p:nvSpPr>
          <p:cNvPr id="39" name="Rectangle 38"/>
          <p:cNvSpPr/>
          <p:nvPr/>
        </p:nvSpPr>
        <p:spPr>
          <a:xfrm>
            <a:off x="5394960" y="1371600"/>
            <a:ext cx="105156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440680" y="1463040"/>
            <a:ext cx="1005839" cy="640080"/>
          </a:xfrm>
          <a:prstGeom prst="rect">
            <a:avLst/>
          </a:prstGeom>
          <a:noFill/>
        </p:spPr>
        <p:txBody>
          <a:bodyPr wrap="square">
            <a:spAutoFit/>
          </a:bodyPr>
          <a:lstStyle/>
          <a:p>
            <a:pPr algn="l">
              <a:spcAft>
                <a:spcPts val="600"/>
              </a:spcAft>
              <a:defRPr sz="1500" b="1">
                <a:solidFill>
                  <a:srgbClr val="FFFFFF"/>
                </a:solidFill>
              </a:defRPr>
            </a:pPr>
            <a:r>
              <a:t>Densité</a:t>
            </a:r>
          </a:p>
        </p:txBody>
      </p:sp>
      <p:sp>
        <p:nvSpPr>
          <p:cNvPr id="41" name="Rectangle 40"/>
          <p:cNvSpPr/>
          <p:nvPr/>
        </p:nvSpPr>
        <p:spPr>
          <a:xfrm>
            <a:off x="6492240" y="1371600"/>
            <a:ext cx="132588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37960" y="1463040"/>
            <a:ext cx="1280160" cy="640080"/>
          </a:xfrm>
          <a:prstGeom prst="rect">
            <a:avLst/>
          </a:prstGeom>
          <a:noFill/>
        </p:spPr>
        <p:txBody>
          <a:bodyPr wrap="square">
            <a:spAutoFit/>
          </a:bodyPr>
          <a:lstStyle/>
          <a:p>
            <a:pPr algn="l">
              <a:spcAft>
                <a:spcPts val="600"/>
              </a:spcAft>
              <a:defRPr sz="1500" b="1">
                <a:solidFill>
                  <a:srgbClr val="FFFFFF"/>
                </a:solidFill>
              </a:defRPr>
            </a:pPr>
            <a:r>
              <a:t>PIB</a:t>
            </a:r>
          </a:p>
        </p:txBody>
      </p:sp>
      <p:sp>
        <p:nvSpPr>
          <p:cNvPr id="43" name="Rectangle 42"/>
          <p:cNvSpPr/>
          <p:nvPr/>
        </p:nvSpPr>
        <p:spPr>
          <a:xfrm>
            <a:off x="7863840" y="1371600"/>
            <a:ext cx="11430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909560" y="1463040"/>
            <a:ext cx="1097280" cy="640080"/>
          </a:xfrm>
          <a:prstGeom prst="rect">
            <a:avLst/>
          </a:prstGeom>
          <a:noFill/>
        </p:spPr>
        <p:txBody>
          <a:bodyPr wrap="square">
            <a:spAutoFit/>
          </a:bodyPr>
          <a:lstStyle/>
          <a:p>
            <a:pPr algn="l">
              <a:spcAft>
                <a:spcPts val="600"/>
              </a:spcAft>
              <a:defRPr sz="1500" b="1">
                <a:solidFill>
                  <a:srgbClr val="FFFFFF"/>
                </a:solidFill>
              </a:defRPr>
            </a:pPr>
            <a:r>
              <a:t>Chômage</a:t>
            </a:r>
          </a:p>
        </p:txBody>
      </p:sp>
      <p:sp>
        <p:nvSpPr>
          <p:cNvPr id="45" name="Rectangle 44"/>
          <p:cNvSpPr/>
          <p:nvPr/>
        </p:nvSpPr>
        <p:spPr>
          <a:xfrm>
            <a:off x="9052560" y="1371600"/>
            <a:ext cx="2514600" cy="73152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098280" y="1463040"/>
            <a:ext cx="2468879" cy="640080"/>
          </a:xfrm>
          <a:prstGeom prst="rect">
            <a:avLst/>
          </a:prstGeom>
          <a:noFill/>
        </p:spPr>
        <p:txBody>
          <a:bodyPr wrap="square">
            <a:spAutoFit/>
          </a:bodyPr>
          <a:lstStyle/>
          <a:p>
            <a:pPr algn="l">
              <a:spcAft>
                <a:spcPts val="600"/>
              </a:spcAft>
              <a:defRPr sz="1500" b="1">
                <a:solidFill>
                  <a:srgbClr val="FFFFFF"/>
                </a:solidFill>
              </a:defRPr>
            </a:pPr>
            <a:r>
              <a:t>Statut</a:t>
            </a:r>
          </a:p>
        </p:txBody>
      </p:sp>
      <p:sp>
        <p:nvSpPr>
          <p:cNvPr id="47" name="Rectangle 46"/>
          <p:cNvSpPr/>
          <p:nvPr/>
        </p:nvSpPr>
        <p:spPr>
          <a:xfrm>
            <a:off x="548640" y="214884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2240280"/>
            <a:ext cx="1737360" cy="640080"/>
          </a:xfrm>
          <a:prstGeom prst="rect">
            <a:avLst/>
          </a:prstGeom>
          <a:noFill/>
        </p:spPr>
        <p:txBody>
          <a:bodyPr wrap="square">
            <a:spAutoFit/>
          </a:bodyPr>
          <a:lstStyle/>
          <a:p>
            <a:pPr algn="l">
              <a:spcAft>
                <a:spcPts val="600"/>
              </a:spcAft>
              <a:defRPr sz="1500" b="1">
                <a:solidFill>
                  <a:srgbClr val="2B2B2B"/>
                </a:solidFill>
              </a:defRPr>
            </a:pPr>
            <a:r>
              <a:t>🇲🇦 Maroc</a:t>
            </a:r>
          </a:p>
        </p:txBody>
      </p:sp>
      <p:sp>
        <p:nvSpPr>
          <p:cNvPr id="49" name="Rectangle 48"/>
          <p:cNvSpPr/>
          <p:nvPr/>
        </p:nvSpPr>
        <p:spPr>
          <a:xfrm>
            <a:off x="2377440" y="214884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423160" y="2240280"/>
            <a:ext cx="1645919" cy="640080"/>
          </a:xfrm>
          <a:prstGeom prst="rect">
            <a:avLst/>
          </a:prstGeom>
          <a:noFill/>
        </p:spPr>
        <p:txBody>
          <a:bodyPr wrap="square">
            <a:spAutoFit/>
          </a:bodyPr>
          <a:lstStyle/>
          <a:p>
            <a:pPr algn="l">
              <a:spcAft>
                <a:spcPts val="600"/>
              </a:spcAft>
              <a:defRPr sz="1500" b="0">
                <a:solidFill>
                  <a:srgbClr val="2B2B2B"/>
                </a:solidFill>
              </a:defRPr>
            </a:pPr>
            <a:r>
              <a:t>446 550 km²</a:t>
            </a:r>
          </a:p>
        </p:txBody>
      </p:sp>
      <p:sp>
        <p:nvSpPr>
          <p:cNvPr id="51" name="Rectangle 50"/>
          <p:cNvSpPr/>
          <p:nvPr/>
        </p:nvSpPr>
        <p:spPr>
          <a:xfrm>
            <a:off x="4114800" y="214884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60520" y="2240280"/>
            <a:ext cx="1188719" cy="640080"/>
          </a:xfrm>
          <a:prstGeom prst="rect">
            <a:avLst/>
          </a:prstGeom>
          <a:noFill/>
        </p:spPr>
        <p:txBody>
          <a:bodyPr wrap="square">
            <a:spAutoFit/>
          </a:bodyPr>
          <a:lstStyle/>
          <a:p>
            <a:pPr algn="l">
              <a:spcAft>
                <a:spcPts val="600"/>
              </a:spcAft>
              <a:defRPr sz="1500" b="0">
                <a:solidFill>
                  <a:srgbClr val="2B2B2B"/>
                </a:solidFill>
              </a:defRPr>
            </a:pPr>
            <a:r>
              <a:t>≈ 37 M</a:t>
            </a:r>
          </a:p>
        </p:txBody>
      </p:sp>
      <p:sp>
        <p:nvSpPr>
          <p:cNvPr id="53" name="Rectangle 52"/>
          <p:cNvSpPr/>
          <p:nvPr/>
        </p:nvSpPr>
        <p:spPr>
          <a:xfrm>
            <a:off x="5394960" y="214884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440680" y="2240280"/>
            <a:ext cx="1005839" cy="640080"/>
          </a:xfrm>
          <a:prstGeom prst="rect">
            <a:avLst/>
          </a:prstGeom>
          <a:noFill/>
        </p:spPr>
        <p:txBody>
          <a:bodyPr wrap="square">
            <a:spAutoFit/>
          </a:bodyPr>
          <a:lstStyle/>
          <a:p>
            <a:pPr algn="l">
              <a:spcAft>
                <a:spcPts val="600"/>
              </a:spcAft>
              <a:defRPr sz="1500" b="0">
                <a:solidFill>
                  <a:srgbClr val="2B2B2B"/>
                </a:solidFill>
              </a:defRPr>
            </a:pPr>
            <a:r>
              <a:t>≈ 83</a:t>
            </a:r>
          </a:p>
        </p:txBody>
      </p:sp>
      <p:sp>
        <p:nvSpPr>
          <p:cNvPr id="55" name="Rectangle 54"/>
          <p:cNvSpPr/>
          <p:nvPr/>
        </p:nvSpPr>
        <p:spPr>
          <a:xfrm>
            <a:off x="6492240" y="214884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37960" y="2240280"/>
            <a:ext cx="1280160" cy="640080"/>
          </a:xfrm>
          <a:prstGeom prst="rect">
            <a:avLst/>
          </a:prstGeom>
          <a:noFill/>
        </p:spPr>
        <p:txBody>
          <a:bodyPr wrap="square">
            <a:spAutoFit/>
          </a:bodyPr>
          <a:lstStyle/>
          <a:p>
            <a:pPr algn="l">
              <a:spcAft>
                <a:spcPts val="600"/>
              </a:spcAft>
              <a:defRPr sz="1500" b="0">
                <a:solidFill>
                  <a:srgbClr val="2B2B2B"/>
                </a:solidFill>
              </a:defRPr>
            </a:pPr>
            <a:r>
              <a:t>≈ 141 Md$</a:t>
            </a:r>
          </a:p>
        </p:txBody>
      </p:sp>
      <p:sp>
        <p:nvSpPr>
          <p:cNvPr id="57" name="Rectangle 56"/>
          <p:cNvSpPr/>
          <p:nvPr/>
        </p:nvSpPr>
        <p:spPr>
          <a:xfrm>
            <a:off x="7863840" y="214884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909560" y="2240280"/>
            <a:ext cx="1097280" cy="640080"/>
          </a:xfrm>
          <a:prstGeom prst="rect">
            <a:avLst/>
          </a:prstGeom>
          <a:noFill/>
        </p:spPr>
        <p:txBody>
          <a:bodyPr wrap="square">
            <a:spAutoFit/>
          </a:bodyPr>
          <a:lstStyle/>
          <a:p>
            <a:pPr algn="l">
              <a:spcAft>
                <a:spcPts val="600"/>
              </a:spcAft>
              <a:defRPr sz="1500" b="0">
                <a:solidFill>
                  <a:srgbClr val="2B2B2B"/>
                </a:solidFill>
              </a:defRPr>
            </a:pPr>
            <a:r>
              <a:t>≈ 13 %</a:t>
            </a:r>
          </a:p>
        </p:txBody>
      </p:sp>
      <p:sp>
        <p:nvSpPr>
          <p:cNvPr id="59" name="Rectangle 58"/>
          <p:cNvSpPr/>
          <p:nvPr/>
        </p:nvSpPr>
        <p:spPr>
          <a:xfrm>
            <a:off x="9052560" y="214884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98280" y="2240280"/>
            <a:ext cx="2468879" cy="640080"/>
          </a:xfrm>
          <a:prstGeom prst="rect">
            <a:avLst/>
          </a:prstGeom>
          <a:noFill/>
        </p:spPr>
        <p:txBody>
          <a:bodyPr wrap="square">
            <a:spAutoFit/>
          </a:bodyPr>
          <a:lstStyle/>
          <a:p>
            <a:pPr algn="l">
              <a:spcAft>
                <a:spcPts val="600"/>
              </a:spcAft>
              <a:defRPr sz="1500" b="0">
                <a:solidFill>
                  <a:srgbClr val="2B2B2B"/>
                </a:solidFill>
              </a:defRPr>
            </a:pPr>
            <a:r>
              <a:t>Monarchie const.</a:t>
            </a:r>
          </a:p>
        </p:txBody>
      </p:sp>
      <p:sp>
        <p:nvSpPr>
          <p:cNvPr id="61" name="Rectangle 60"/>
          <p:cNvSpPr/>
          <p:nvPr/>
        </p:nvSpPr>
        <p:spPr>
          <a:xfrm>
            <a:off x="548640" y="292608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594360" y="3017520"/>
            <a:ext cx="1737360" cy="640080"/>
          </a:xfrm>
          <a:prstGeom prst="rect">
            <a:avLst/>
          </a:prstGeom>
          <a:noFill/>
        </p:spPr>
        <p:txBody>
          <a:bodyPr wrap="square">
            <a:spAutoFit/>
          </a:bodyPr>
          <a:lstStyle/>
          <a:p>
            <a:pPr algn="l">
              <a:spcAft>
                <a:spcPts val="600"/>
              </a:spcAft>
              <a:defRPr sz="1500" b="1">
                <a:solidFill>
                  <a:srgbClr val="2B2B2B"/>
                </a:solidFill>
              </a:defRPr>
            </a:pPr>
            <a:r>
              <a:t>🇩🇿 Algérie</a:t>
            </a:r>
          </a:p>
        </p:txBody>
      </p:sp>
      <p:sp>
        <p:nvSpPr>
          <p:cNvPr id="63" name="Rectangle 62"/>
          <p:cNvSpPr/>
          <p:nvPr/>
        </p:nvSpPr>
        <p:spPr>
          <a:xfrm>
            <a:off x="2377440" y="292608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423160" y="3017520"/>
            <a:ext cx="1645919" cy="640080"/>
          </a:xfrm>
          <a:prstGeom prst="rect">
            <a:avLst/>
          </a:prstGeom>
          <a:noFill/>
        </p:spPr>
        <p:txBody>
          <a:bodyPr wrap="square">
            <a:spAutoFit/>
          </a:bodyPr>
          <a:lstStyle/>
          <a:p>
            <a:pPr algn="l">
              <a:spcAft>
                <a:spcPts val="600"/>
              </a:spcAft>
              <a:defRPr sz="1500" b="0">
                <a:solidFill>
                  <a:srgbClr val="2B2B2B"/>
                </a:solidFill>
              </a:defRPr>
            </a:pPr>
            <a:r>
              <a:t>2 381 741 km²</a:t>
            </a:r>
          </a:p>
        </p:txBody>
      </p:sp>
      <p:sp>
        <p:nvSpPr>
          <p:cNvPr id="65" name="Rectangle 64"/>
          <p:cNvSpPr/>
          <p:nvPr/>
        </p:nvSpPr>
        <p:spPr>
          <a:xfrm>
            <a:off x="4114800" y="292608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160520" y="3017520"/>
            <a:ext cx="1188719" cy="640080"/>
          </a:xfrm>
          <a:prstGeom prst="rect">
            <a:avLst/>
          </a:prstGeom>
          <a:noFill/>
        </p:spPr>
        <p:txBody>
          <a:bodyPr wrap="square">
            <a:spAutoFit/>
          </a:bodyPr>
          <a:lstStyle/>
          <a:p>
            <a:pPr algn="l">
              <a:spcAft>
                <a:spcPts val="600"/>
              </a:spcAft>
              <a:defRPr sz="1500" b="0">
                <a:solidFill>
                  <a:srgbClr val="2B2B2B"/>
                </a:solidFill>
              </a:defRPr>
            </a:pPr>
            <a:r>
              <a:t>≈ 46 M</a:t>
            </a:r>
          </a:p>
        </p:txBody>
      </p:sp>
      <p:sp>
        <p:nvSpPr>
          <p:cNvPr id="67" name="Rectangle 66"/>
          <p:cNvSpPr/>
          <p:nvPr/>
        </p:nvSpPr>
        <p:spPr>
          <a:xfrm>
            <a:off x="5394960" y="292608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40680" y="3017520"/>
            <a:ext cx="1005839" cy="640080"/>
          </a:xfrm>
          <a:prstGeom prst="rect">
            <a:avLst/>
          </a:prstGeom>
          <a:noFill/>
        </p:spPr>
        <p:txBody>
          <a:bodyPr wrap="square">
            <a:spAutoFit/>
          </a:bodyPr>
          <a:lstStyle/>
          <a:p>
            <a:pPr algn="l">
              <a:spcAft>
                <a:spcPts val="600"/>
              </a:spcAft>
              <a:defRPr sz="1500" b="0">
                <a:solidFill>
                  <a:srgbClr val="2B2B2B"/>
                </a:solidFill>
              </a:defRPr>
            </a:pPr>
            <a:r>
              <a:t>≈ 19</a:t>
            </a:r>
          </a:p>
        </p:txBody>
      </p:sp>
      <p:sp>
        <p:nvSpPr>
          <p:cNvPr id="69" name="Rectangle 68"/>
          <p:cNvSpPr/>
          <p:nvPr/>
        </p:nvSpPr>
        <p:spPr>
          <a:xfrm>
            <a:off x="6492240" y="292608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537960" y="3017520"/>
            <a:ext cx="1280160" cy="640080"/>
          </a:xfrm>
          <a:prstGeom prst="rect">
            <a:avLst/>
          </a:prstGeom>
          <a:noFill/>
        </p:spPr>
        <p:txBody>
          <a:bodyPr wrap="square">
            <a:spAutoFit/>
          </a:bodyPr>
          <a:lstStyle/>
          <a:p>
            <a:pPr algn="l">
              <a:spcAft>
                <a:spcPts val="600"/>
              </a:spcAft>
              <a:defRPr sz="1500" b="0">
                <a:solidFill>
                  <a:srgbClr val="2B2B2B"/>
                </a:solidFill>
              </a:defRPr>
            </a:pPr>
            <a:r>
              <a:t>≈ 240 Md$</a:t>
            </a:r>
          </a:p>
        </p:txBody>
      </p:sp>
      <p:sp>
        <p:nvSpPr>
          <p:cNvPr id="71" name="Rectangle 70"/>
          <p:cNvSpPr/>
          <p:nvPr/>
        </p:nvSpPr>
        <p:spPr>
          <a:xfrm>
            <a:off x="7863840" y="292608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909560" y="3017520"/>
            <a:ext cx="1097280" cy="640080"/>
          </a:xfrm>
          <a:prstGeom prst="rect">
            <a:avLst/>
          </a:prstGeom>
          <a:noFill/>
        </p:spPr>
        <p:txBody>
          <a:bodyPr wrap="square">
            <a:spAutoFit/>
          </a:bodyPr>
          <a:lstStyle/>
          <a:p>
            <a:pPr algn="l">
              <a:spcAft>
                <a:spcPts val="600"/>
              </a:spcAft>
              <a:defRPr sz="1500" b="0">
                <a:solidFill>
                  <a:srgbClr val="2B2B2B"/>
                </a:solidFill>
              </a:defRPr>
            </a:pPr>
            <a:r>
              <a:t>≈ 12 %</a:t>
            </a:r>
          </a:p>
        </p:txBody>
      </p:sp>
      <p:sp>
        <p:nvSpPr>
          <p:cNvPr id="73" name="Rectangle 72"/>
          <p:cNvSpPr/>
          <p:nvPr/>
        </p:nvSpPr>
        <p:spPr>
          <a:xfrm>
            <a:off x="9052560" y="292608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98280" y="301752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75" name="Rectangle 74"/>
          <p:cNvSpPr/>
          <p:nvPr/>
        </p:nvSpPr>
        <p:spPr>
          <a:xfrm>
            <a:off x="548640" y="370332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94360" y="3794760"/>
            <a:ext cx="1737360" cy="640080"/>
          </a:xfrm>
          <a:prstGeom prst="rect">
            <a:avLst/>
          </a:prstGeom>
          <a:noFill/>
        </p:spPr>
        <p:txBody>
          <a:bodyPr wrap="square">
            <a:spAutoFit/>
          </a:bodyPr>
          <a:lstStyle/>
          <a:p>
            <a:pPr algn="l">
              <a:spcAft>
                <a:spcPts val="600"/>
              </a:spcAft>
              <a:defRPr sz="1500" b="1">
                <a:solidFill>
                  <a:srgbClr val="2B2B2B"/>
                </a:solidFill>
              </a:defRPr>
            </a:pPr>
            <a:r>
              <a:t>🇹🇳 Tunisie</a:t>
            </a:r>
          </a:p>
        </p:txBody>
      </p:sp>
      <p:sp>
        <p:nvSpPr>
          <p:cNvPr id="77" name="Rectangle 76"/>
          <p:cNvSpPr/>
          <p:nvPr/>
        </p:nvSpPr>
        <p:spPr>
          <a:xfrm>
            <a:off x="2377440" y="370332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423160" y="3794760"/>
            <a:ext cx="1645919" cy="640080"/>
          </a:xfrm>
          <a:prstGeom prst="rect">
            <a:avLst/>
          </a:prstGeom>
          <a:noFill/>
        </p:spPr>
        <p:txBody>
          <a:bodyPr wrap="square">
            <a:spAutoFit/>
          </a:bodyPr>
          <a:lstStyle/>
          <a:p>
            <a:pPr algn="l">
              <a:spcAft>
                <a:spcPts val="600"/>
              </a:spcAft>
              <a:defRPr sz="1500" b="0">
                <a:solidFill>
                  <a:srgbClr val="2B2B2B"/>
                </a:solidFill>
              </a:defRPr>
            </a:pPr>
            <a:r>
              <a:t>163 610 km²</a:t>
            </a:r>
          </a:p>
        </p:txBody>
      </p:sp>
      <p:sp>
        <p:nvSpPr>
          <p:cNvPr id="79" name="Rectangle 78"/>
          <p:cNvSpPr/>
          <p:nvPr/>
        </p:nvSpPr>
        <p:spPr>
          <a:xfrm>
            <a:off x="4114800" y="370332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4160520" y="3794760"/>
            <a:ext cx="1188719" cy="640080"/>
          </a:xfrm>
          <a:prstGeom prst="rect">
            <a:avLst/>
          </a:prstGeom>
          <a:noFill/>
        </p:spPr>
        <p:txBody>
          <a:bodyPr wrap="square">
            <a:spAutoFit/>
          </a:bodyPr>
          <a:lstStyle/>
          <a:p>
            <a:pPr algn="l">
              <a:spcAft>
                <a:spcPts val="600"/>
              </a:spcAft>
              <a:defRPr sz="1500" b="0">
                <a:solidFill>
                  <a:srgbClr val="2B2B2B"/>
                </a:solidFill>
              </a:defRPr>
            </a:pPr>
            <a:r>
              <a:t>≈ 12 M</a:t>
            </a:r>
          </a:p>
        </p:txBody>
      </p:sp>
      <p:sp>
        <p:nvSpPr>
          <p:cNvPr id="81" name="Rectangle 80"/>
          <p:cNvSpPr/>
          <p:nvPr/>
        </p:nvSpPr>
        <p:spPr>
          <a:xfrm>
            <a:off x="5394960" y="370332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5440680" y="3794760"/>
            <a:ext cx="1005839" cy="640080"/>
          </a:xfrm>
          <a:prstGeom prst="rect">
            <a:avLst/>
          </a:prstGeom>
          <a:noFill/>
        </p:spPr>
        <p:txBody>
          <a:bodyPr wrap="square">
            <a:spAutoFit/>
          </a:bodyPr>
          <a:lstStyle/>
          <a:p>
            <a:pPr algn="l">
              <a:spcAft>
                <a:spcPts val="600"/>
              </a:spcAft>
              <a:defRPr sz="1500" b="0">
                <a:solidFill>
                  <a:srgbClr val="2B2B2B"/>
                </a:solidFill>
              </a:defRPr>
            </a:pPr>
            <a:r>
              <a:t>≈ 75</a:t>
            </a:r>
          </a:p>
        </p:txBody>
      </p:sp>
      <p:sp>
        <p:nvSpPr>
          <p:cNvPr id="83" name="Rectangle 82"/>
          <p:cNvSpPr/>
          <p:nvPr/>
        </p:nvSpPr>
        <p:spPr>
          <a:xfrm>
            <a:off x="6492240" y="370332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537960" y="3794760"/>
            <a:ext cx="1280160" cy="640080"/>
          </a:xfrm>
          <a:prstGeom prst="rect">
            <a:avLst/>
          </a:prstGeom>
          <a:noFill/>
        </p:spPr>
        <p:txBody>
          <a:bodyPr wrap="square">
            <a:spAutoFit/>
          </a:bodyPr>
          <a:lstStyle/>
          <a:p>
            <a:pPr algn="l">
              <a:spcAft>
                <a:spcPts val="600"/>
              </a:spcAft>
              <a:defRPr sz="1500" b="0">
                <a:solidFill>
                  <a:srgbClr val="2B2B2B"/>
                </a:solidFill>
              </a:defRPr>
            </a:pPr>
            <a:r>
              <a:t>≈ 48 Md$</a:t>
            </a:r>
          </a:p>
        </p:txBody>
      </p:sp>
      <p:sp>
        <p:nvSpPr>
          <p:cNvPr id="85" name="Rectangle 84"/>
          <p:cNvSpPr/>
          <p:nvPr/>
        </p:nvSpPr>
        <p:spPr>
          <a:xfrm>
            <a:off x="7863840" y="370332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7909560" y="3794760"/>
            <a:ext cx="1097280" cy="640080"/>
          </a:xfrm>
          <a:prstGeom prst="rect">
            <a:avLst/>
          </a:prstGeom>
          <a:noFill/>
        </p:spPr>
        <p:txBody>
          <a:bodyPr wrap="square">
            <a:spAutoFit/>
          </a:bodyPr>
          <a:lstStyle/>
          <a:p>
            <a:pPr algn="l">
              <a:spcAft>
                <a:spcPts val="600"/>
              </a:spcAft>
              <a:defRPr sz="1500" b="0">
                <a:solidFill>
                  <a:srgbClr val="2B2B2B"/>
                </a:solidFill>
              </a:defRPr>
            </a:pPr>
            <a:r>
              <a:t>≈ 16 %</a:t>
            </a:r>
          </a:p>
        </p:txBody>
      </p:sp>
      <p:sp>
        <p:nvSpPr>
          <p:cNvPr id="87" name="Rectangle 86"/>
          <p:cNvSpPr/>
          <p:nvPr/>
        </p:nvSpPr>
        <p:spPr>
          <a:xfrm>
            <a:off x="9052560" y="370332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098280" y="3794760"/>
            <a:ext cx="2468879" cy="640080"/>
          </a:xfrm>
          <a:prstGeom prst="rect">
            <a:avLst/>
          </a:prstGeom>
          <a:noFill/>
        </p:spPr>
        <p:txBody>
          <a:bodyPr wrap="square">
            <a:spAutoFit/>
          </a:bodyPr>
          <a:lstStyle/>
          <a:p>
            <a:pPr algn="l">
              <a:spcAft>
                <a:spcPts val="600"/>
              </a:spcAft>
              <a:defRPr sz="1500" b="0">
                <a:solidFill>
                  <a:srgbClr val="2B2B2B"/>
                </a:solidFill>
              </a:defRPr>
            </a:pPr>
            <a:r>
              <a:t>République</a:t>
            </a:r>
          </a:p>
        </p:txBody>
      </p:sp>
      <p:sp>
        <p:nvSpPr>
          <p:cNvPr id="89" name="Rectangle 88"/>
          <p:cNvSpPr/>
          <p:nvPr/>
        </p:nvSpPr>
        <p:spPr>
          <a:xfrm>
            <a:off x="548640" y="4480560"/>
            <a:ext cx="17830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94360" y="4572000"/>
            <a:ext cx="1737360" cy="640080"/>
          </a:xfrm>
          <a:prstGeom prst="rect">
            <a:avLst/>
          </a:prstGeom>
          <a:noFill/>
        </p:spPr>
        <p:txBody>
          <a:bodyPr wrap="square">
            <a:spAutoFit/>
          </a:bodyPr>
          <a:lstStyle/>
          <a:p>
            <a:pPr algn="l">
              <a:spcAft>
                <a:spcPts val="600"/>
              </a:spcAft>
              <a:defRPr sz="1500" b="1">
                <a:solidFill>
                  <a:srgbClr val="2B2B2B"/>
                </a:solidFill>
              </a:defRPr>
            </a:pPr>
            <a:r>
              <a:t>🇱🇾 Libye</a:t>
            </a:r>
          </a:p>
        </p:txBody>
      </p:sp>
      <p:sp>
        <p:nvSpPr>
          <p:cNvPr id="91" name="Rectangle 90"/>
          <p:cNvSpPr/>
          <p:nvPr/>
        </p:nvSpPr>
        <p:spPr>
          <a:xfrm>
            <a:off x="2377440" y="4480560"/>
            <a:ext cx="16916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423160" y="4572000"/>
            <a:ext cx="1645919" cy="640080"/>
          </a:xfrm>
          <a:prstGeom prst="rect">
            <a:avLst/>
          </a:prstGeom>
          <a:noFill/>
        </p:spPr>
        <p:txBody>
          <a:bodyPr wrap="square">
            <a:spAutoFit/>
          </a:bodyPr>
          <a:lstStyle/>
          <a:p>
            <a:pPr algn="l">
              <a:spcAft>
                <a:spcPts val="600"/>
              </a:spcAft>
              <a:defRPr sz="1500" b="0">
                <a:solidFill>
                  <a:srgbClr val="2B2B2B"/>
                </a:solidFill>
              </a:defRPr>
            </a:pPr>
            <a:r>
              <a:t>1 759 540 km²</a:t>
            </a:r>
          </a:p>
        </p:txBody>
      </p:sp>
      <p:sp>
        <p:nvSpPr>
          <p:cNvPr id="93" name="Rectangle 92"/>
          <p:cNvSpPr/>
          <p:nvPr/>
        </p:nvSpPr>
        <p:spPr>
          <a:xfrm>
            <a:off x="4114800" y="4480560"/>
            <a:ext cx="1234439"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4160520" y="4572000"/>
            <a:ext cx="1188719" cy="640080"/>
          </a:xfrm>
          <a:prstGeom prst="rect">
            <a:avLst/>
          </a:prstGeom>
          <a:noFill/>
        </p:spPr>
        <p:txBody>
          <a:bodyPr wrap="square">
            <a:spAutoFit/>
          </a:bodyPr>
          <a:lstStyle/>
          <a:p>
            <a:pPr algn="l">
              <a:spcAft>
                <a:spcPts val="600"/>
              </a:spcAft>
              <a:defRPr sz="1500" b="0">
                <a:solidFill>
                  <a:srgbClr val="2B2B2B"/>
                </a:solidFill>
              </a:defRPr>
            </a:pPr>
            <a:r>
              <a:t>≈ 7 M</a:t>
            </a:r>
          </a:p>
        </p:txBody>
      </p:sp>
      <p:sp>
        <p:nvSpPr>
          <p:cNvPr id="95" name="Rectangle 94"/>
          <p:cNvSpPr/>
          <p:nvPr/>
        </p:nvSpPr>
        <p:spPr>
          <a:xfrm>
            <a:off x="5394960" y="4480560"/>
            <a:ext cx="105156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440680" y="4572000"/>
            <a:ext cx="1005839" cy="640080"/>
          </a:xfrm>
          <a:prstGeom prst="rect">
            <a:avLst/>
          </a:prstGeom>
          <a:noFill/>
        </p:spPr>
        <p:txBody>
          <a:bodyPr wrap="square">
            <a:spAutoFit/>
          </a:bodyPr>
          <a:lstStyle/>
          <a:p>
            <a:pPr algn="l">
              <a:spcAft>
                <a:spcPts val="600"/>
              </a:spcAft>
              <a:defRPr sz="1500" b="0">
                <a:solidFill>
                  <a:srgbClr val="2B2B2B"/>
                </a:solidFill>
              </a:defRPr>
            </a:pPr>
            <a:r>
              <a:t>≈ 4</a:t>
            </a:r>
          </a:p>
        </p:txBody>
      </p:sp>
      <p:sp>
        <p:nvSpPr>
          <p:cNvPr id="97" name="Rectangle 96"/>
          <p:cNvSpPr/>
          <p:nvPr/>
        </p:nvSpPr>
        <p:spPr>
          <a:xfrm>
            <a:off x="6492240" y="4480560"/>
            <a:ext cx="132588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537960" y="4572000"/>
            <a:ext cx="1280160" cy="640080"/>
          </a:xfrm>
          <a:prstGeom prst="rect">
            <a:avLst/>
          </a:prstGeom>
          <a:noFill/>
        </p:spPr>
        <p:txBody>
          <a:bodyPr wrap="square">
            <a:spAutoFit/>
          </a:bodyPr>
          <a:lstStyle/>
          <a:p>
            <a:pPr algn="l">
              <a:spcAft>
                <a:spcPts val="600"/>
              </a:spcAft>
              <a:defRPr sz="1500" b="0">
                <a:solidFill>
                  <a:srgbClr val="2B2B2B"/>
                </a:solidFill>
              </a:defRPr>
            </a:pPr>
            <a:r>
              <a:t>≈ 50 Md$</a:t>
            </a:r>
          </a:p>
        </p:txBody>
      </p:sp>
      <p:sp>
        <p:nvSpPr>
          <p:cNvPr id="99" name="Rectangle 98"/>
          <p:cNvSpPr/>
          <p:nvPr/>
        </p:nvSpPr>
        <p:spPr>
          <a:xfrm>
            <a:off x="7863840" y="4480560"/>
            <a:ext cx="11430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7909560" y="4572000"/>
            <a:ext cx="1097280" cy="640080"/>
          </a:xfrm>
          <a:prstGeom prst="rect">
            <a:avLst/>
          </a:prstGeom>
          <a:noFill/>
        </p:spPr>
        <p:txBody>
          <a:bodyPr wrap="square">
            <a:spAutoFit/>
          </a:bodyPr>
          <a:lstStyle/>
          <a:p>
            <a:pPr algn="l">
              <a:spcAft>
                <a:spcPts val="600"/>
              </a:spcAft>
              <a:defRPr sz="1500" b="0">
                <a:solidFill>
                  <a:srgbClr val="2B2B2B"/>
                </a:solidFill>
              </a:defRPr>
            </a:pPr>
            <a:r>
              <a:t>≈ 19 %</a:t>
            </a:r>
          </a:p>
        </p:txBody>
      </p:sp>
      <p:sp>
        <p:nvSpPr>
          <p:cNvPr id="101" name="Rectangle 100"/>
          <p:cNvSpPr/>
          <p:nvPr/>
        </p:nvSpPr>
        <p:spPr>
          <a:xfrm>
            <a:off x="9052560" y="4480560"/>
            <a:ext cx="2514600" cy="731520"/>
          </a:xfrm>
          <a:prstGeom prst="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9098280" y="4572000"/>
            <a:ext cx="2468879" cy="640080"/>
          </a:xfrm>
          <a:prstGeom prst="rect">
            <a:avLst/>
          </a:prstGeom>
          <a:noFill/>
        </p:spPr>
        <p:txBody>
          <a:bodyPr wrap="square">
            <a:spAutoFit/>
          </a:bodyPr>
          <a:lstStyle/>
          <a:p>
            <a:pPr algn="l">
              <a:spcAft>
                <a:spcPts val="600"/>
              </a:spcAft>
              <a:defRPr sz="1500" b="0">
                <a:solidFill>
                  <a:srgbClr val="2B2B2B"/>
                </a:solidFill>
              </a:defRPr>
            </a:pPr>
            <a:r>
              <a:t>République (transition)</a:t>
            </a:r>
          </a:p>
        </p:txBody>
      </p:sp>
      <p:sp>
        <p:nvSpPr>
          <p:cNvPr id="103" name="Rectangle 102"/>
          <p:cNvSpPr/>
          <p:nvPr/>
        </p:nvSpPr>
        <p:spPr>
          <a:xfrm>
            <a:off x="548640" y="5257800"/>
            <a:ext cx="17830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594360" y="5349240"/>
            <a:ext cx="1737360" cy="640080"/>
          </a:xfrm>
          <a:prstGeom prst="rect">
            <a:avLst/>
          </a:prstGeom>
          <a:noFill/>
        </p:spPr>
        <p:txBody>
          <a:bodyPr wrap="square">
            <a:spAutoFit/>
          </a:bodyPr>
          <a:lstStyle/>
          <a:p>
            <a:pPr algn="l">
              <a:spcAft>
                <a:spcPts val="600"/>
              </a:spcAft>
              <a:defRPr sz="1500" b="1">
                <a:solidFill>
                  <a:srgbClr val="2B2B2B"/>
                </a:solidFill>
              </a:defRPr>
            </a:pPr>
            <a:r>
              <a:t>🇲🇷 Mauritanie</a:t>
            </a:r>
          </a:p>
        </p:txBody>
      </p:sp>
      <p:sp>
        <p:nvSpPr>
          <p:cNvPr id="105" name="Rectangle 104"/>
          <p:cNvSpPr/>
          <p:nvPr/>
        </p:nvSpPr>
        <p:spPr>
          <a:xfrm>
            <a:off x="2377440" y="5257800"/>
            <a:ext cx="16916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2423160" y="5349240"/>
            <a:ext cx="1645919" cy="640080"/>
          </a:xfrm>
          <a:prstGeom prst="rect">
            <a:avLst/>
          </a:prstGeom>
          <a:noFill/>
        </p:spPr>
        <p:txBody>
          <a:bodyPr wrap="square">
            <a:spAutoFit/>
          </a:bodyPr>
          <a:lstStyle/>
          <a:p>
            <a:pPr algn="l">
              <a:spcAft>
                <a:spcPts val="600"/>
              </a:spcAft>
              <a:defRPr sz="1500" b="0">
                <a:solidFill>
                  <a:srgbClr val="2B2B2B"/>
                </a:solidFill>
              </a:defRPr>
            </a:pPr>
            <a:r>
              <a:t>1 030 700 km²</a:t>
            </a:r>
          </a:p>
        </p:txBody>
      </p:sp>
      <p:sp>
        <p:nvSpPr>
          <p:cNvPr id="107" name="Rectangle 106"/>
          <p:cNvSpPr/>
          <p:nvPr/>
        </p:nvSpPr>
        <p:spPr>
          <a:xfrm>
            <a:off x="4114800" y="5257800"/>
            <a:ext cx="1234439"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4160520" y="5349240"/>
            <a:ext cx="1188719" cy="640080"/>
          </a:xfrm>
          <a:prstGeom prst="rect">
            <a:avLst/>
          </a:prstGeom>
          <a:noFill/>
        </p:spPr>
        <p:txBody>
          <a:bodyPr wrap="square">
            <a:spAutoFit/>
          </a:bodyPr>
          <a:lstStyle/>
          <a:p>
            <a:pPr algn="l">
              <a:spcAft>
                <a:spcPts val="600"/>
              </a:spcAft>
              <a:defRPr sz="1500" b="0">
                <a:solidFill>
                  <a:srgbClr val="2B2B2B"/>
                </a:solidFill>
              </a:defRPr>
            </a:pPr>
            <a:r>
              <a:t>≈ 5 M</a:t>
            </a:r>
          </a:p>
        </p:txBody>
      </p:sp>
      <p:sp>
        <p:nvSpPr>
          <p:cNvPr id="109" name="Rectangle 108"/>
          <p:cNvSpPr/>
          <p:nvPr/>
        </p:nvSpPr>
        <p:spPr>
          <a:xfrm>
            <a:off x="5394960" y="5257800"/>
            <a:ext cx="105156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5440680" y="5349240"/>
            <a:ext cx="1005839" cy="640080"/>
          </a:xfrm>
          <a:prstGeom prst="rect">
            <a:avLst/>
          </a:prstGeom>
          <a:noFill/>
        </p:spPr>
        <p:txBody>
          <a:bodyPr wrap="square">
            <a:spAutoFit/>
          </a:bodyPr>
          <a:lstStyle/>
          <a:p>
            <a:pPr algn="l">
              <a:spcAft>
                <a:spcPts val="600"/>
              </a:spcAft>
              <a:defRPr sz="1500" b="0">
                <a:solidFill>
                  <a:srgbClr val="2B2B2B"/>
                </a:solidFill>
              </a:defRPr>
            </a:pPr>
            <a:r>
              <a:t>≈ 5</a:t>
            </a:r>
          </a:p>
        </p:txBody>
      </p:sp>
      <p:sp>
        <p:nvSpPr>
          <p:cNvPr id="111" name="Rectangle 110"/>
          <p:cNvSpPr/>
          <p:nvPr/>
        </p:nvSpPr>
        <p:spPr>
          <a:xfrm>
            <a:off x="6492240" y="5257800"/>
            <a:ext cx="132588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TextBox 111"/>
          <p:cNvSpPr txBox="1"/>
          <p:nvPr/>
        </p:nvSpPr>
        <p:spPr>
          <a:xfrm>
            <a:off x="6537960" y="5349240"/>
            <a:ext cx="1280160" cy="640080"/>
          </a:xfrm>
          <a:prstGeom prst="rect">
            <a:avLst/>
          </a:prstGeom>
          <a:noFill/>
        </p:spPr>
        <p:txBody>
          <a:bodyPr wrap="square">
            <a:spAutoFit/>
          </a:bodyPr>
          <a:lstStyle/>
          <a:p>
            <a:pPr algn="l">
              <a:spcAft>
                <a:spcPts val="600"/>
              </a:spcAft>
              <a:defRPr sz="1500" b="0">
                <a:solidFill>
                  <a:srgbClr val="2B2B2B"/>
                </a:solidFill>
              </a:defRPr>
            </a:pPr>
            <a:r>
              <a:t>≈ 10 Md$</a:t>
            </a:r>
          </a:p>
        </p:txBody>
      </p:sp>
      <p:sp>
        <p:nvSpPr>
          <p:cNvPr id="113" name="Rectangle 112"/>
          <p:cNvSpPr/>
          <p:nvPr/>
        </p:nvSpPr>
        <p:spPr>
          <a:xfrm>
            <a:off x="7863840" y="5257800"/>
            <a:ext cx="11430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7909560" y="5349240"/>
            <a:ext cx="1097280" cy="640080"/>
          </a:xfrm>
          <a:prstGeom prst="rect">
            <a:avLst/>
          </a:prstGeom>
          <a:noFill/>
        </p:spPr>
        <p:txBody>
          <a:bodyPr wrap="square">
            <a:spAutoFit/>
          </a:bodyPr>
          <a:lstStyle/>
          <a:p>
            <a:pPr algn="l">
              <a:spcAft>
                <a:spcPts val="600"/>
              </a:spcAft>
              <a:defRPr sz="1500" b="0">
                <a:solidFill>
                  <a:srgbClr val="2B2B2B"/>
                </a:solidFill>
              </a:defRPr>
            </a:pPr>
            <a:r>
              <a:t>≈ 10 %</a:t>
            </a:r>
          </a:p>
        </p:txBody>
      </p:sp>
      <p:sp>
        <p:nvSpPr>
          <p:cNvPr id="115" name="Rectangle 114"/>
          <p:cNvSpPr/>
          <p:nvPr/>
        </p:nvSpPr>
        <p:spPr>
          <a:xfrm>
            <a:off x="9052560" y="5257800"/>
            <a:ext cx="2514600" cy="7315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9098280" y="5349240"/>
            <a:ext cx="2468879" cy="640080"/>
          </a:xfrm>
          <a:prstGeom prst="rect">
            <a:avLst/>
          </a:prstGeom>
          <a:noFill/>
        </p:spPr>
        <p:txBody>
          <a:bodyPr wrap="square">
            <a:spAutoFit/>
          </a:bodyPr>
          <a:lstStyle/>
          <a:p>
            <a:pPr algn="l">
              <a:spcAft>
                <a:spcPts val="600"/>
              </a:spcAft>
              <a:defRPr sz="1500" b="0">
                <a:solidFill>
                  <a:srgbClr val="2B2B2B"/>
                </a:solidFill>
              </a:defRPr>
            </a:pPr>
            <a:r>
              <a:t>Rép. islamique</a:t>
            </a:r>
          </a:p>
        </p:txBody>
      </p:sp>
      <p:sp>
        <p:nvSpPr>
          <p:cNvPr id="117" name="TextBox 116"/>
          <p:cNvSpPr txBox="1"/>
          <p:nvPr/>
        </p:nvSpPr>
        <p:spPr>
          <a:xfrm>
            <a:off x="548640" y="6080760"/>
            <a:ext cx="10058400" cy="365760"/>
          </a:xfrm>
          <a:prstGeom prst="rect">
            <a:avLst/>
          </a:prstGeom>
          <a:noFill/>
        </p:spPr>
        <p:txBody>
          <a:bodyPr wrap="square">
            <a:spAutoFit/>
          </a:bodyPr>
          <a:lstStyle/>
          <a:p>
            <a:pPr algn="l">
              <a:spcAft>
                <a:spcPts val="600"/>
              </a:spcAft>
              <a:defRPr sz="1300" b="0">
                <a:solidFill>
                  <a:srgbClr val="1F4E79"/>
                </a:solidFill>
              </a:defRPr>
            </a:pPr>
            <a:r>
              <a:t>Densité en hab/km² • Source : Banque mondiale 2023 (valeurs arrondies) — capitales : Rabat, Alger, Tunis, Tripoli, Nouakchott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 – Un monde arabo-musulman • A/ Trois États méditerranéens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arte-muette.png"/>
          <p:cNvPicPr>
            <a:picLocks noChangeAspect="1"/>
          </p:cNvPicPr>
          <p:nvPr/>
        </p:nvPicPr>
        <p:blipFill>
          <a:blip r:embed="rId3"/>
          <a:stretch>
            <a:fillRect/>
          </a:stretch>
        </p:blipFill>
        <p:spPr>
          <a:xfrm>
            <a:off x="548640" y="1371600"/>
            <a:ext cx="6442095" cy="4754880"/>
          </a:xfrm>
          <a:prstGeom prst="rect">
            <a:avLst/>
          </a:prstGeom>
        </p:spPr>
      </p:pic>
      <p:sp>
        <p:nvSpPr>
          <p:cNvPr id="34" name="TextBox 33"/>
          <p:cNvSpPr txBox="1"/>
          <p:nvPr/>
        </p:nvSpPr>
        <p:spPr>
          <a:xfrm>
            <a:off x="7315200" y="1371600"/>
            <a:ext cx="4389120" cy="4572000"/>
          </a:xfrm>
          <a:prstGeom prst="rect">
            <a:avLst/>
          </a:prstGeom>
          <a:noFill/>
        </p:spPr>
        <p:txBody>
          <a:bodyPr wrap="square">
            <a:spAutoFit/>
          </a:bodyPr>
          <a:lstStyle/>
          <a:p>
            <a:pPr algn="l">
              <a:spcAft>
                <a:spcPts val="600"/>
              </a:spcAft>
              <a:defRPr sz="2000" b="0">
                <a:solidFill>
                  <a:srgbClr val="2B2B2B"/>
                </a:solidFill>
              </a:defRPr>
            </a:pPr>
            <a:r>
              <a:t>✏️ Sur ta carte muette, place :</a:t>
            </a:r>
          </a:p>
          <a:p>
            <a:pPr algn="l">
              <a:spcAft>
                <a:spcPts val="600"/>
              </a:spcAft>
              <a:defRPr sz="2000" b="0">
                <a:solidFill>
                  <a:srgbClr val="2B2B2B"/>
                </a:solidFill>
              </a:defRPr>
            </a:pPr>
            <a:r>
              <a:t>🌊 l'océan Atlantique</a:t>
            </a:r>
          </a:p>
          <a:p>
            <a:pPr algn="l">
              <a:spcAft>
                <a:spcPts val="600"/>
              </a:spcAft>
              <a:defRPr sz="2000" b="0">
                <a:solidFill>
                  <a:srgbClr val="2B2B2B"/>
                </a:solidFill>
              </a:defRPr>
            </a:pPr>
            <a:r>
              <a:t>🌊 la mer Méditerranée</a:t>
            </a:r>
          </a:p>
          <a:p>
            <a:pPr algn="l">
              <a:spcAft>
                <a:spcPts val="600"/>
              </a:spcAft>
              <a:defRPr sz="2000" b="0">
                <a:solidFill>
                  <a:srgbClr val="2B2B2B"/>
                </a:solidFill>
              </a:defRPr>
            </a:pPr>
            <a:r>
              <a:t>🗺️ le Maroc, l'Algérie, la Tunisie</a:t>
            </a:r>
          </a:p>
          <a:p>
            <a:pPr algn="l">
              <a:spcAft>
                <a:spcPts val="600"/>
              </a:spcAft>
              <a:defRPr sz="2000" b="0">
                <a:solidFill>
                  <a:srgbClr val="2B2B2B"/>
                </a:solidFill>
              </a:defRPr>
            </a:pPr>
            <a:r>
              <a:t>🇪🇸 l'Espagne</a:t>
            </a:r>
          </a:p>
          <a:p>
            <a:pPr algn="l">
              <a:spcAft>
                <a:spcPts val="600"/>
              </a:spcAft>
              <a:defRPr sz="2000" b="0">
                <a:solidFill>
                  <a:srgbClr val="2B2B2B"/>
                </a:solidFill>
              </a:defRPr>
            </a:pPr>
            <a:r>
              <a:t>↔️ le détroit de Gibraltar</a:t>
            </a:r>
          </a:p>
          <a:p>
            <a:pPr algn="l">
              <a:spcAft>
                <a:spcPts val="600"/>
              </a:spcAft>
              <a:defRPr sz="2000" b="0">
                <a:solidFill>
                  <a:srgbClr val="2B2B2B"/>
                </a:solidFill>
              </a:defRPr>
            </a:pPr>
            <a:r>
              <a:t>☀️ le tropique du Cancer</a:t>
            </a:r>
          </a:p>
        </p:txBody>
      </p:sp>
      <p:sp>
        <p:nvSpPr>
          <p:cNvPr id="35" name="Rounded Rectangle 34">
            <a:hlinkClick action="ppaction://hlinksldjump" r:id="rId5"/>
          </p:cNvPr>
          <p:cNvSpPr/>
          <p:nvPr/>
        </p:nvSpPr>
        <p:spPr>
          <a:xfrm>
            <a:off x="8595360" y="5486400"/>
            <a:ext cx="256032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Le relief et les précipitations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lief.png"/>
          <p:cNvPicPr>
            <a:picLocks noChangeAspect="1"/>
          </p:cNvPicPr>
          <p:nvPr/>
        </p:nvPicPr>
        <p:blipFill>
          <a:blip r:embed="rId3"/>
          <a:stretch>
            <a:fillRect/>
          </a:stretch>
        </p:blipFill>
        <p:spPr>
          <a:xfrm>
            <a:off x="457200" y="1280160"/>
            <a:ext cx="6184232" cy="5029200"/>
          </a:xfrm>
          <a:prstGeom prst="rect">
            <a:avLst/>
          </a:prstGeom>
        </p:spPr>
      </p:pic>
      <p:sp>
        <p:nvSpPr>
          <p:cNvPr id="34" name="TextBox 33"/>
          <p:cNvSpPr txBox="1"/>
          <p:nvPr/>
        </p:nvSpPr>
        <p:spPr>
          <a:xfrm>
            <a:off x="6858000" y="1371600"/>
            <a:ext cx="4937760" cy="4114800"/>
          </a:xfrm>
          <a:prstGeom prst="rect">
            <a:avLst/>
          </a:prstGeom>
          <a:noFill/>
        </p:spPr>
        <p:txBody>
          <a:bodyPr wrap="square">
            <a:spAutoFit/>
          </a:bodyPr>
          <a:lstStyle/>
          <a:p>
            <a:pPr algn="l">
              <a:spcAft>
                <a:spcPts val="600"/>
              </a:spcAft>
              <a:defRPr sz="1900" b="1">
                <a:solidFill>
                  <a:srgbClr val="1F4E79"/>
                </a:solidFill>
              </a:defRPr>
            </a:pPr>
            <a:r>
              <a:t>❓ Quel massif montagneux domine au Maghreb ?</a:t>
            </a:r>
          </a:p>
          <a:p>
            <a:pPr algn="l">
              <a:spcAft>
                <a:spcPts val="600"/>
              </a:spcAft>
              <a:defRPr sz="1900" b="1">
                <a:solidFill>
                  <a:srgbClr val="1F4E79"/>
                </a:solidFill>
              </a:defRPr>
            </a:pPr>
            <a:r>
              <a:t>❓ Est-il d'un seul bloc ?</a:t>
            </a:r>
          </a:p>
          <a:p>
            <a:pPr algn="l">
              <a:spcAft>
                <a:spcPts val="600"/>
              </a:spcAft>
              <a:defRPr sz="1900" b="1">
                <a:solidFill>
                  <a:srgbClr val="1F4E79"/>
                </a:solidFill>
              </a:defRPr>
            </a:pPr>
            <a:r>
              <a:t>❓ Quelles sont les différentes parties de l'Atlas ?</a:t>
            </a:r>
          </a:p>
          <a:p>
            <a:pPr algn="l">
              <a:spcAft>
                <a:spcPts val="600"/>
              </a:spcAft>
              <a:defRPr sz="1900" b="1">
                <a:solidFill>
                  <a:srgbClr val="1F4E79"/>
                </a:solidFill>
              </a:defRPr>
            </a:pPr>
            <a:r>
              <a:t>❓ Où pleut-il le plus ? Pourquoi ?</a:t>
            </a:r>
          </a:p>
          <a:p>
            <a:pPr algn="l">
              <a:spcAft>
                <a:spcPts val="600"/>
              </a:spcAft>
              <a:defRPr sz="1900" b="1">
                <a:solidFill>
                  <a:srgbClr val="1F4E79"/>
                </a:solidFill>
              </a:defRPr>
            </a:pPr>
            <a:r>
              <a:t>❓ Que trouve-t-on au sud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l'Atlas, un massif en plusieurs parties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700" b="0">
                <a:solidFill>
                  <a:srgbClr val="2B2B2B"/>
                </a:solidFill>
              </a:defRPr>
            </a:pPr>
            <a:r>
              <a:t>✅ L'ATLAS domine le Maghreb.</a:t>
            </a:r>
          </a:p>
          <a:p>
            <a:pPr algn="l">
              <a:spcAft>
                <a:spcPts val="600"/>
              </a:spcAft>
              <a:defRPr sz="1700" b="0">
                <a:solidFill>
                  <a:srgbClr val="2B2B2B"/>
                </a:solidFill>
              </a:defRPr>
            </a:pPr>
            <a:r>
              <a:t>✅ Non, il n'est pas d'un seul bloc : il y a plusieurs parties :</a:t>
            </a:r>
          </a:p>
          <a:p>
            <a:pPr algn="l">
              <a:spcAft>
                <a:spcPts val="600"/>
              </a:spcAft>
              <a:defRPr sz="1700" b="0">
                <a:solidFill>
                  <a:srgbClr val="2B2B2B"/>
                </a:solidFill>
              </a:defRPr>
            </a:pPr>
            <a:r>
              <a:t>   • le Rif (nord du Maroc)</a:t>
            </a:r>
          </a:p>
          <a:p>
            <a:pPr algn="l">
              <a:spcAft>
                <a:spcPts val="600"/>
              </a:spcAft>
              <a:defRPr sz="1700" b="0">
                <a:solidFill>
                  <a:srgbClr val="2B2B2B"/>
                </a:solidFill>
              </a:defRPr>
            </a:pPr>
            <a:r>
              <a:t>   • le Moyen Atlas (près de Fès) ➡️</a:t>
            </a:r>
          </a:p>
          <a:p>
            <a:pPr algn="l">
              <a:spcAft>
                <a:spcPts val="600"/>
              </a:spcAft>
              <a:defRPr sz="1700" b="0">
                <a:solidFill>
                  <a:srgbClr val="2B2B2B"/>
                </a:solidFill>
              </a:defRPr>
            </a:pPr>
            <a:r>
              <a:t>   • le Haut Atlas (Maroc, Toubkal 4 167 m)</a:t>
            </a:r>
          </a:p>
          <a:p>
            <a:pPr algn="l">
              <a:spcAft>
                <a:spcPts val="600"/>
              </a:spcAft>
              <a:defRPr sz="1700" b="0">
                <a:solidFill>
                  <a:srgbClr val="2B2B2B"/>
                </a:solidFill>
              </a:defRPr>
            </a:pPr>
            <a:r>
              <a:t>   • l'Anti-Atlas</a:t>
            </a:r>
          </a:p>
          <a:p>
            <a:pPr algn="l">
              <a:spcAft>
                <a:spcPts val="600"/>
              </a:spcAft>
              <a:defRPr sz="1700" b="0">
                <a:solidFill>
                  <a:srgbClr val="2B2B2B"/>
                </a:solidFill>
              </a:defRPr>
            </a:pPr>
            <a:r>
              <a:t>   • l'Atlas tellien et l'Atlas saharien (Algérie)</a:t>
            </a:r>
          </a:p>
          <a:p>
            <a:pPr algn="l">
              <a:spcAft>
                <a:spcPts val="600"/>
              </a:spcAft>
              <a:defRPr sz="1700" b="0">
                <a:solidFill>
                  <a:srgbClr val="2B2B2B"/>
                </a:solidFill>
              </a:defRPr>
            </a:pPr>
            <a:r>
              <a:t>✅ Il pleut plus au nord (&gt; 300 mm) : la montagne arrête les nuages venus de la mer.</a:t>
            </a:r>
          </a:p>
          <a:p>
            <a:pPr algn="l">
              <a:spcAft>
                <a:spcPts val="600"/>
              </a:spcAft>
              <a:defRPr sz="1700" b="0">
                <a:solidFill>
                  <a:srgbClr val="2B2B2B"/>
                </a:solidFill>
              </a:defRPr>
            </a:pPr>
            <a:r>
              <a:t>✅ Au sud : le Sahara, des oasis et le Hoggar.</a:t>
            </a:r>
          </a:p>
        </p:txBody>
      </p:sp>
      <p:pic>
        <p:nvPicPr>
          <p:cNvPr id="34" name="Picture 33" descr="moyen-atlas.png"/>
          <p:cNvPicPr>
            <a:picLocks noChangeAspect="1"/>
          </p:cNvPicPr>
          <p:nvPr/>
        </p:nvPicPr>
        <p:blipFill>
          <a:blip r:embed="rId2"/>
          <a:stretch>
            <a:fillRect/>
          </a:stretch>
        </p:blipFill>
        <p:spPr>
          <a:xfrm>
            <a:off x="6492240" y="1645920"/>
            <a:ext cx="5303520" cy="2581977"/>
          </a:xfrm>
          <a:prstGeom prst="rect">
            <a:avLst/>
          </a:prstGeom>
        </p:spPr>
      </p:pic>
      <p:sp>
        <p:nvSpPr>
          <p:cNvPr id="35" name="TextBox 34"/>
          <p:cNvSpPr txBox="1"/>
          <p:nvPr/>
        </p:nvSpPr>
        <p:spPr>
          <a:xfrm>
            <a:off x="6492240" y="4389120"/>
            <a:ext cx="5303520" cy="548640"/>
          </a:xfrm>
          <a:prstGeom prst="rect">
            <a:avLst/>
          </a:prstGeom>
          <a:noFill/>
        </p:spPr>
        <p:txBody>
          <a:bodyPr wrap="square">
            <a:spAutoFit/>
          </a:bodyPr>
          <a:lstStyle/>
          <a:p>
            <a:pPr algn="ctr">
              <a:spcAft>
                <a:spcPts val="600"/>
              </a:spcAft>
              <a:defRPr sz="1600" b="1">
                <a:solidFill>
                  <a:srgbClr val="B84A1E"/>
                </a:solidFill>
              </a:defRPr>
            </a:pPr>
            <a:r>
              <a:t>Le Moyen Atlas, près de Fès (Maroc)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Autres paysages : Hoggar, littoral, désert et oasis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2000" b="0">
                <a:solidFill>
                  <a:srgbClr val="2B2B2B"/>
                </a:solidFill>
              </a:defRPr>
            </a:pPr>
            <a:r>
              <a:t>✅ Le Hoggar (sud de l'Algérie).</a:t>
            </a:r>
          </a:p>
          <a:p>
            <a:pPr algn="l">
              <a:spcAft>
                <a:spcPts val="600"/>
              </a:spcAft>
              <a:defRPr sz="2000" b="0">
                <a:solidFill>
                  <a:srgbClr val="2B2B2B"/>
                </a:solidFill>
              </a:defRPr>
            </a:pPr>
            <a:r>
              <a:t>✅ Le littoral se caractérise par des plaines.</a:t>
            </a:r>
          </a:p>
          <a:p>
            <a:pPr algn="l">
              <a:spcAft>
                <a:spcPts val="600"/>
              </a:spcAft>
              <a:defRPr sz="2000" b="0">
                <a:solidFill>
                  <a:srgbClr val="2B2B2B"/>
                </a:solidFill>
              </a:defRPr>
            </a:pPr>
            <a:r>
              <a:t>✅ Le désert (Sahara) domine, avec des îlots de verdure.</a:t>
            </a:r>
          </a:p>
          <a:p>
            <a:pPr algn="l">
              <a:spcAft>
                <a:spcPts val="600"/>
              </a:spcAft>
              <a:defRPr sz="2000" b="0">
                <a:solidFill>
                  <a:srgbClr val="2B2B2B"/>
                </a:solidFill>
              </a:defRPr>
            </a:pPr>
            <a:r>
              <a:t>✅ Ces îlots s'appellent des OASIS 🌴</a:t>
            </a:r>
          </a:p>
        </p:txBody>
      </p:sp>
      <p:sp>
        <p:nvSpPr>
          <p:cNvPr id="34" name="Rounded Rectangle 33"/>
          <p:cNvSpPr/>
          <p:nvPr/>
        </p:nvSpPr>
        <p:spPr>
          <a:xfrm>
            <a:off x="6492240" y="1463040"/>
            <a:ext cx="5303520" cy="3108960"/>
          </a:xfrm>
          <a:prstGeom prst="roundRect">
            <a:avLst/>
          </a:prstGeom>
          <a:solidFill>
            <a:srgbClr val="E8D9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0" y="2651760"/>
            <a:ext cx="5303520" cy="731520"/>
          </a:xfrm>
          <a:prstGeom prst="rect">
            <a:avLst/>
          </a:prstGeom>
          <a:noFill/>
        </p:spPr>
        <p:txBody>
          <a:bodyPr wrap="square">
            <a:spAutoFit/>
          </a:bodyPr>
          <a:lstStyle/>
          <a:p>
            <a:pPr algn="ctr">
              <a:spcAft>
                <a:spcPts val="600"/>
              </a:spcAft>
              <a:defRPr sz="1800" b="1">
                <a:solidFill>
                  <a:srgbClr val="B84A1E"/>
                </a:solidFill>
              </a:defRPr>
            </a:pPr>
            <a:r>
              <a:t>📷 Photo : l'oasis de Bou Thramar</a:t>
            </a:r>
          </a:p>
        </p:txBody>
      </p:sp>
      <p:sp>
        <p:nvSpPr>
          <p:cNvPr id="36" name="TextBox 35"/>
          <p:cNvSpPr txBox="1"/>
          <p:nvPr/>
        </p:nvSpPr>
        <p:spPr>
          <a:xfrm>
            <a:off x="6492240" y="4663440"/>
            <a:ext cx="5303520" cy="548640"/>
          </a:xfrm>
          <a:prstGeom prst="rect">
            <a:avLst/>
          </a:prstGeom>
          <a:noFill/>
        </p:spPr>
        <p:txBody>
          <a:bodyPr wrap="square">
            <a:spAutoFit/>
          </a:bodyPr>
          <a:lstStyle/>
          <a:p>
            <a:pPr algn="ctr">
              <a:spcAft>
                <a:spcPts val="600"/>
              </a:spcAft>
              <a:defRPr sz="1600" b="1">
                <a:solidFill>
                  <a:srgbClr val="B84A1E"/>
                </a:solidFill>
              </a:defRPr>
            </a:pPr>
            <a:r>
              <a:t>L'oasis de Bou Thramar (Maroc)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Précipitations et climats : deux climats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5760720" cy="4846320"/>
          </a:xfrm>
          <a:prstGeom prst="rect">
            <a:avLst/>
          </a:prstGeom>
          <a:noFill/>
        </p:spPr>
        <p:txBody>
          <a:bodyPr wrap="square">
            <a:spAutoFit/>
          </a:bodyPr>
          <a:lstStyle/>
          <a:p>
            <a:pPr algn="l">
              <a:spcAft>
                <a:spcPts val="600"/>
              </a:spcAft>
              <a:defRPr sz="1900" b="0">
                <a:solidFill>
                  <a:srgbClr val="2B2B2B"/>
                </a:solidFill>
              </a:defRPr>
            </a:pPr>
            <a:r>
              <a:t>✅ Non : certaines régions sont un peu plus arrosées.</a:t>
            </a:r>
          </a:p>
          <a:p>
            <a:pPr algn="l">
              <a:spcAft>
                <a:spcPts val="600"/>
              </a:spcAft>
              <a:defRPr sz="1900" b="0">
                <a:solidFill>
                  <a:srgbClr val="2B2B2B"/>
                </a:solidFill>
              </a:defRPr>
            </a:pPr>
            <a:r>
              <a:t>✅ Les plaines littorales et les massifs montagneux.</a:t>
            </a:r>
          </a:p>
          <a:p>
            <a:pPr algn="l">
              <a:spcAft>
                <a:spcPts val="600"/>
              </a:spcAft>
              <a:defRPr sz="1900" b="0">
                <a:solidFill>
                  <a:srgbClr val="2B2B2B"/>
                </a:solidFill>
              </a:defRPr>
            </a:pPr>
            <a:r>
              <a:t>⚠️ En dessous de 250 mm/an, plus d'agriculture possible !</a:t>
            </a:r>
          </a:p>
          <a:p>
            <a:pPr algn="l">
              <a:spcAft>
                <a:spcPts val="600"/>
              </a:spcAft>
              <a:defRPr sz="1900" b="0">
                <a:solidFill>
                  <a:srgbClr val="2B2B2B"/>
                </a:solidFill>
              </a:defRPr>
            </a:pPr>
            <a:r>
              <a:t>✅ Au Nord : climat MÉDITERRANÉEN 🌿</a:t>
            </a:r>
          </a:p>
          <a:p>
            <a:pPr algn="l">
              <a:spcAft>
                <a:spcPts val="600"/>
              </a:spcAft>
              <a:defRPr sz="1900" b="0">
                <a:solidFill>
                  <a:srgbClr val="2B2B2B"/>
                </a:solidFill>
              </a:defRPr>
            </a:pPr>
            <a:r>
              <a:t>✅ Au Sud : climat DÉSERTIQUE 🏜️</a:t>
            </a:r>
          </a:p>
          <a:p>
            <a:pPr algn="l">
              <a:spcAft>
                <a:spcPts val="600"/>
              </a:spcAft>
              <a:defRPr sz="1900" b="0">
                <a:solidFill>
                  <a:srgbClr val="2B2B2B"/>
                </a:solidFill>
              </a:defRPr>
            </a:pPr>
            <a:r>
              <a:t>✏️ Sur ta carte : trace l'isohyète des 250 mm et complète la légende.</a:t>
            </a:r>
          </a:p>
        </p:txBody>
      </p:sp>
      <p:pic>
        <p:nvPicPr>
          <p:cNvPr id="34" name="Picture 33" descr="isohyete.png"/>
          <p:cNvPicPr>
            <a:picLocks noChangeAspect="1"/>
          </p:cNvPicPr>
          <p:nvPr/>
        </p:nvPicPr>
        <p:blipFill>
          <a:blip r:embed="rId2"/>
          <a:stretch>
            <a:fillRect/>
          </a:stretch>
        </p:blipFill>
        <p:spPr>
          <a:xfrm>
            <a:off x="6492240" y="1371600"/>
            <a:ext cx="5303520" cy="3549358"/>
          </a:xfrm>
          <a:prstGeom prst="rect">
            <a:avLst/>
          </a:prstGeom>
        </p:spPr>
      </p:pic>
      <p:sp>
        <p:nvSpPr>
          <p:cNvPr id="35" name="TextBox 34"/>
          <p:cNvSpPr txBox="1"/>
          <p:nvPr/>
        </p:nvSpPr>
        <p:spPr>
          <a:xfrm>
            <a:off x="6492240" y="5852160"/>
            <a:ext cx="5303520" cy="457200"/>
          </a:xfrm>
          <a:prstGeom prst="rect">
            <a:avLst/>
          </a:prstGeom>
          <a:noFill/>
        </p:spPr>
        <p:txBody>
          <a:bodyPr wrap="square">
            <a:spAutoFit/>
          </a:bodyPr>
          <a:lstStyle/>
          <a:p>
            <a:pPr algn="ctr">
              <a:spcAft>
                <a:spcPts val="600"/>
              </a:spcAft>
              <a:defRPr sz="1500" b="1">
                <a:solidFill>
                  <a:srgbClr val="1F4E79"/>
                </a:solidFill>
              </a:defRPr>
            </a:pPr>
            <a:r>
              <a:t>━ isohyète 250 mm (ligne bleue)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Tableau : principaux caractères du Maghreb</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ectangle 32"/>
          <p:cNvSpPr/>
          <p:nvPr/>
        </p:nvSpPr>
        <p:spPr>
          <a:xfrm>
            <a:off x="1828800" y="1463040"/>
            <a:ext cx="8503920" cy="82296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828800" y="1600200"/>
            <a:ext cx="8503920" cy="640080"/>
          </a:xfrm>
          <a:prstGeom prst="rect">
            <a:avLst/>
          </a:prstGeom>
          <a:noFill/>
        </p:spPr>
        <p:txBody>
          <a:bodyPr wrap="square">
            <a:spAutoFit/>
          </a:bodyPr>
          <a:lstStyle/>
          <a:p>
            <a:pPr algn="ctr">
              <a:spcAft>
                <a:spcPts val="600"/>
              </a:spcAft>
              <a:defRPr sz="2400" b="1">
                <a:solidFill>
                  <a:srgbClr val="FFFFFF"/>
                </a:solidFill>
              </a:defRPr>
            </a:pPr>
            <a:r>
              <a:t>Principaux caractères du Maghreb</a:t>
            </a:r>
          </a:p>
        </p:txBody>
      </p:sp>
      <p:sp>
        <p:nvSpPr>
          <p:cNvPr id="35" name="Rectangle 34"/>
          <p:cNvSpPr/>
          <p:nvPr/>
        </p:nvSpPr>
        <p:spPr>
          <a:xfrm>
            <a:off x="1828800" y="237744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920240" y="2514600"/>
            <a:ext cx="8321040" cy="822960"/>
          </a:xfrm>
          <a:prstGeom prst="rect">
            <a:avLst/>
          </a:prstGeom>
          <a:noFill/>
        </p:spPr>
        <p:txBody>
          <a:bodyPr wrap="square">
            <a:spAutoFit/>
          </a:bodyPr>
          <a:lstStyle/>
          <a:p>
            <a:pPr algn="ctr">
              <a:spcAft>
                <a:spcPts val="600"/>
              </a:spcAft>
              <a:defRPr sz="2000" b="1">
                <a:solidFill>
                  <a:srgbClr val="2B2B2B"/>
                </a:solidFill>
              </a:defRPr>
            </a:pPr>
            <a:r>
              <a:t>Importance du désert</a:t>
            </a:r>
          </a:p>
        </p:txBody>
      </p:sp>
      <p:sp>
        <p:nvSpPr>
          <p:cNvPr id="37" name="Rectangle 36"/>
          <p:cNvSpPr/>
          <p:nvPr/>
        </p:nvSpPr>
        <p:spPr>
          <a:xfrm>
            <a:off x="1828800" y="347472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920240" y="3611880"/>
            <a:ext cx="8321040" cy="822960"/>
          </a:xfrm>
          <a:prstGeom prst="rect">
            <a:avLst/>
          </a:prstGeom>
          <a:noFill/>
        </p:spPr>
        <p:txBody>
          <a:bodyPr wrap="square">
            <a:spAutoFit/>
          </a:bodyPr>
          <a:lstStyle/>
          <a:p>
            <a:pPr algn="ctr">
              <a:spcAft>
                <a:spcPts val="600"/>
              </a:spcAft>
              <a:defRPr sz="2000" b="1">
                <a:solidFill>
                  <a:srgbClr val="2B2B2B"/>
                </a:solidFill>
              </a:defRPr>
            </a:pPr>
            <a:r>
              <a:t>Présence d'un massif montagneux : l'Atlas</a:t>
            </a:r>
          </a:p>
        </p:txBody>
      </p:sp>
      <p:sp>
        <p:nvSpPr>
          <p:cNvPr id="39" name="Rectangle 38"/>
          <p:cNvSpPr/>
          <p:nvPr/>
        </p:nvSpPr>
        <p:spPr>
          <a:xfrm>
            <a:off x="1828800" y="4572000"/>
            <a:ext cx="85039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920240" y="4709160"/>
            <a:ext cx="8321040" cy="822960"/>
          </a:xfrm>
          <a:prstGeom prst="rect">
            <a:avLst/>
          </a:prstGeom>
          <a:noFill/>
        </p:spPr>
        <p:txBody>
          <a:bodyPr wrap="square">
            <a:spAutoFit/>
          </a:bodyPr>
          <a:lstStyle/>
          <a:p>
            <a:pPr algn="ctr">
              <a:spcAft>
                <a:spcPts val="600"/>
              </a:spcAft>
              <a:defRPr sz="2000" b="1">
                <a:solidFill>
                  <a:srgbClr val="2B2B2B"/>
                </a:solidFill>
              </a:defRPr>
            </a:pPr>
            <a:r>
              <a:t>Les domaines bioclimatiques méditerranéen et désertique, marqués par l'aridité</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Le Maghreb appartient au monde arabo-musulman</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3"/>
          <a:stretch>
            <a:fillRect/>
          </a:stretch>
        </p:blipFill>
        <p:spPr>
          <a:xfrm>
            <a:off x="457200" y="1371600"/>
            <a:ext cx="5413248" cy="4754880"/>
          </a:xfrm>
          <a:prstGeom prst="rect">
            <a:avLst/>
          </a:prstGeom>
        </p:spPr>
      </p:pic>
      <p:sp>
        <p:nvSpPr>
          <p:cNvPr id="34" name="TextBox 33"/>
          <p:cNvSpPr txBox="1"/>
          <p:nvPr/>
        </p:nvSpPr>
        <p:spPr>
          <a:xfrm>
            <a:off x="6309360" y="1463040"/>
            <a:ext cx="5486400" cy="3657600"/>
          </a:xfrm>
          <a:prstGeom prst="rect">
            <a:avLst/>
          </a:prstGeom>
          <a:noFill/>
        </p:spPr>
        <p:txBody>
          <a:bodyPr wrap="square">
            <a:spAutoFit/>
          </a:bodyPr>
          <a:lstStyle/>
          <a:p>
            <a:pPr algn="l">
              <a:spcAft>
                <a:spcPts val="600"/>
              </a:spcAft>
              <a:defRPr sz="2100" b="1">
                <a:solidFill>
                  <a:srgbClr val="1F4E79"/>
                </a:solidFill>
              </a:defRPr>
            </a:pPr>
            <a:r>
              <a:t>❓ D'après ce document et ce que tu as vu sur l'Afrique, quelle est la religion dominante au Maghreb ?</a:t>
            </a:r>
          </a:p>
          <a:p>
            <a:pPr algn="l">
              <a:spcAft>
                <a:spcPts val="600"/>
              </a:spcAft>
              <a:defRPr sz="2100" b="1">
                <a:solidFill>
                  <a:srgbClr val="1F4E79"/>
                </a:solidFill>
              </a:defRPr>
            </a:pPr>
            <a:r>
              <a:t>❓ Depuis quand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4 p. 221 : Les Berbères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280160"/>
            <a:ext cx="11064240" cy="5029200"/>
          </a:xfrm>
          <a:prstGeom prst="rect">
            <a:avLst/>
          </a:prstGeom>
          <a:noFill/>
        </p:spPr>
        <p:txBody>
          <a:bodyPr wrap="square">
            <a:spAutoFit/>
          </a:bodyPr>
          <a:lstStyle/>
          <a:p>
            <a:pPr algn="l">
              <a:spcAft>
                <a:spcPts val="600"/>
              </a:spcAft>
              <a:defRPr sz="1700" b="0">
                <a:solidFill>
                  <a:srgbClr val="2B2B2B"/>
                </a:solidFill>
              </a:defRPr>
            </a:pPr>
            <a:r>
              <a:t>« Les Berbères habitent en Algérie, dans les montagnes de Kabylie et des Aurès, et surtout au Maroc, dans les montagnes du Rif et dans l'Atlas.</a:t>
            </a:r>
          </a:p>
          <a:p>
            <a:pPr algn="l">
              <a:spcAft>
                <a:spcPts val="600"/>
              </a:spcAft>
              <a:defRPr sz="1700" b="0">
                <a:solidFill>
                  <a:srgbClr val="2B2B2B"/>
                </a:solidFill>
              </a:defRPr>
            </a:pPr>
            <a:r>
              <a:t>Les Berbères sont au moins bilingues. Ils parlent le berbère et l'arabe. Seuls les très jeunes enfants, les femmes ou les vieillards n'ayant pas séjourné en ville ne parlent que le berbère : dans la ville maghrébine, en effet, on parle arabe, à l'exception de quelques villes comme Agadir au Maroc.</a:t>
            </a:r>
          </a:p>
          <a:p>
            <a:pPr algn="l">
              <a:spcAft>
                <a:spcPts val="600"/>
              </a:spcAft>
              <a:defRPr sz="1700" b="0">
                <a:solidFill>
                  <a:srgbClr val="2B2B2B"/>
                </a:solidFill>
              </a:defRPr>
            </a:pPr>
            <a:r>
              <a:t>Tous les Maghrébins, qu'ils soient arabes ou berbères, accordent une grande valeur sentimentale à des traits de la culture berbère. Il s'agit notamment du « burnous », ce long manteau de laine à capuchon pour les hommes, et surtout du « couscous »¹, le plat le plus prestigieux de la cuisine maghrébine. »</a:t>
            </a:r>
          </a:p>
          <a:p>
            <a:pPr algn="l">
              <a:spcAft>
                <a:spcPts val="600"/>
              </a:spcAft>
              <a:defRPr sz="1700" b="0">
                <a:solidFill>
                  <a:srgbClr val="2B2B2B"/>
                </a:solidFill>
              </a:defRPr>
            </a:pPr>
            <a:r>
              <a:t>D'après Yves Lacoste, Maghreb, 1995.   ¹ Plat à base de semoule de blé.</a:t>
            </a:r>
          </a:p>
        </p:txBody>
      </p:sp>
      <p:sp>
        <p:nvSpPr>
          <p:cNvPr id="35" name="Rounded Rectangle 34">
            <a:hlinkClick action="ppaction://hlinksldjump" r:id="rId4"/>
          </p:cNvPr>
          <p:cNvSpPr/>
          <p:nvPr/>
        </p:nvSpPr>
        <p:spPr>
          <a:xfrm>
            <a:off x="9144000" y="6263640"/>
            <a:ext cx="201168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Questions + correction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C.E. Les Berbères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371600"/>
            <a:ext cx="10972800" cy="4846320"/>
          </a:xfrm>
          <a:prstGeom prst="rect">
            <a:avLst/>
          </a:prstGeom>
          <a:noFill/>
        </p:spPr>
        <p:txBody>
          <a:bodyPr wrap="square">
            <a:spAutoFit/>
          </a:bodyPr>
          <a:lstStyle/>
          <a:p>
            <a:pPr algn="l">
              <a:spcAft>
                <a:spcPts val="600"/>
              </a:spcAft>
              <a:defRPr sz="2000" b="0">
                <a:solidFill>
                  <a:srgbClr val="2B2B2B"/>
                </a:solidFill>
              </a:defRPr>
            </a:pPr>
            <a:r>
              <a:t>• 1. Les Arabes et les Berbères.</a:t>
            </a:r>
          </a:p>
          <a:p>
            <a:pPr algn="l">
              <a:spcAft>
                <a:spcPts val="600"/>
              </a:spcAft>
              <a:defRPr sz="2000" b="0">
                <a:solidFill>
                  <a:srgbClr val="2B2B2B"/>
                </a:solidFill>
              </a:defRPr>
            </a:pPr>
            <a:r>
              <a:t>• 2. En Algérie (Kabylie, Aurès) et surtout au Maroc (Rif, Atlas).</a:t>
            </a:r>
          </a:p>
          <a:p>
            <a:pPr algn="l">
              <a:spcAft>
                <a:spcPts val="600"/>
              </a:spcAft>
              <a:defRPr sz="2000" b="0">
                <a:solidFill>
                  <a:srgbClr val="2B2B2B"/>
                </a:solidFill>
              </a:defRPr>
            </a:pPr>
            <a:r>
              <a:t>• 3. FAUX : « Les Berbères sont au moins bilingues » (berbère et arabe).</a:t>
            </a:r>
          </a:p>
          <a:p>
            <a:pPr algn="l">
              <a:spcAft>
                <a:spcPts val="600"/>
              </a:spcAft>
              <a:defRPr sz="2000" b="0">
                <a:solidFill>
                  <a:srgbClr val="2B2B2B"/>
                </a:solidFill>
              </a:defRPr>
            </a:pPr>
            <a:r>
              <a:t>• 4. L'arabe, sauf quelques villes comme Agadir (Maroc).</a:t>
            </a:r>
          </a:p>
          <a:p>
            <a:pPr algn="l">
              <a:spcAft>
                <a:spcPts val="600"/>
              </a:spcAft>
              <a:defRPr sz="2000" b="0">
                <a:solidFill>
                  <a:srgbClr val="2B2B2B"/>
                </a:solidFill>
              </a:defRPr>
            </a:pPr>
            <a:r>
              <a:t>• 5. Un long manteau de laine à capuchon pour les hommes.</a:t>
            </a:r>
          </a:p>
          <a:p>
            <a:pPr algn="l">
              <a:spcAft>
                <a:spcPts val="600"/>
              </a:spcAft>
              <a:defRPr sz="2000" b="0">
                <a:solidFill>
                  <a:srgbClr val="2B2B2B"/>
                </a:solidFill>
              </a:defRPr>
            </a:pPr>
            <a:r>
              <a:t>• 6. Le couscous, à base de semoule de blé.</a:t>
            </a:r>
          </a:p>
          <a:p>
            <a:pPr algn="l">
              <a:spcAft>
                <a:spcPts val="600"/>
              </a:spcAft>
              <a:defRPr sz="2000" b="0">
                <a:solidFill>
                  <a:srgbClr val="2B2B2B"/>
                </a:solidFill>
              </a:defRPr>
            </a:pPr>
            <a:r>
              <a:t>• 7. Yves Lacoste, 1995.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5 p. 221 : les Arabes et les Berbères</a:t>
            </a:r>
          </a:p>
        </p:txBody>
      </p:sp>
      <p:sp>
        <p:nvSpPr>
          <p:cNvPr id="32" name="Rounded Rectangle 31">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rabes-berberes.png"/>
          <p:cNvPicPr>
            <a:picLocks noChangeAspect="1"/>
          </p:cNvPicPr>
          <p:nvPr/>
        </p:nvPicPr>
        <p:blipFill>
          <a:blip r:embed="rId3"/>
          <a:stretch>
            <a:fillRect/>
          </a:stretch>
        </p:blipFill>
        <p:spPr>
          <a:xfrm>
            <a:off x="457200" y="1280160"/>
            <a:ext cx="5662507" cy="5029200"/>
          </a:xfrm>
          <a:prstGeom prst="rect">
            <a:avLst/>
          </a:prstGeom>
        </p:spPr>
      </p:pic>
      <p:sp>
        <p:nvSpPr>
          <p:cNvPr id="34" name="TextBox 33"/>
          <p:cNvSpPr txBox="1"/>
          <p:nvPr/>
        </p:nvSpPr>
        <p:spPr>
          <a:xfrm>
            <a:off x="6949440" y="1371600"/>
            <a:ext cx="4846320" cy="4114800"/>
          </a:xfrm>
          <a:prstGeom prst="rect">
            <a:avLst/>
          </a:prstGeom>
          <a:noFill/>
        </p:spPr>
        <p:txBody>
          <a:bodyPr wrap="square">
            <a:spAutoFit/>
          </a:bodyPr>
          <a:lstStyle/>
          <a:p>
            <a:pPr algn="l">
              <a:spcAft>
                <a:spcPts val="600"/>
              </a:spcAft>
              <a:defRPr sz="1900" b="1">
                <a:solidFill>
                  <a:srgbClr val="1F4E79"/>
                </a:solidFill>
              </a:defRPr>
            </a:pPr>
            <a:r>
              <a:t>❓ Où vivent les arabophones ?</a:t>
            </a:r>
          </a:p>
          <a:p>
            <a:pPr algn="l">
              <a:spcAft>
                <a:spcPts val="600"/>
              </a:spcAft>
              <a:defRPr sz="1900" b="1">
                <a:solidFill>
                  <a:srgbClr val="1F4E79"/>
                </a:solidFill>
              </a:defRPr>
            </a:pPr>
            <a:r>
              <a:t>❓ Où vivent les berbérophones ?</a:t>
            </a:r>
          </a:p>
          <a:p>
            <a:pPr algn="l">
              <a:spcAft>
                <a:spcPts val="600"/>
              </a:spcAft>
              <a:defRPr sz="1900" b="1">
                <a:solidFill>
                  <a:srgbClr val="1F4E79"/>
                </a:solidFill>
              </a:defRPr>
            </a:pPr>
            <a:r>
              <a:t>❓ Quelle part de la population parle berbère au Maroc ? en Algérie ?</a:t>
            </a:r>
          </a:p>
          <a:p>
            <a:pPr algn="l">
              <a:spcAft>
                <a:spcPts val="600"/>
              </a:spcAft>
              <a:defRPr sz="1900" b="1">
                <a:solidFill>
                  <a:srgbClr val="1F4E79"/>
                </a:solidFill>
              </a:defRPr>
            </a:pPr>
            <a:r>
              <a:t>❓ Pourquoi le Sahara est-il presque vide ?</a:t>
            </a:r>
          </a:p>
        </p:txBody>
      </p:sp>
      <p:sp>
        <p:nvSpPr>
          <p:cNvPr id="35" name="Rounded Rectangle 34">
            <a:hlinkClick action="ppaction://hlinksldjump" r:id="rId5"/>
          </p:cNvPr>
          <p:cNvSpPr/>
          <p:nvPr/>
        </p:nvSpPr>
        <p:spPr>
          <a:xfrm>
            <a:off x="8595360" y="5486400"/>
            <a:ext cx="256032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Réponses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Arabes et Berbères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640080" y="1463040"/>
            <a:ext cx="10972800" cy="4846320"/>
          </a:xfrm>
          <a:prstGeom prst="rect">
            <a:avLst/>
          </a:prstGeom>
          <a:noFill/>
        </p:spPr>
        <p:txBody>
          <a:bodyPr wrap="square">
            <a:spAutoFit/>
          </a:bodyPr>
          <a:lstStyle/>
          <a:p>
            <a:pPr algn="l">
              <a:spcAft>
                <a:spcPts val="600"/>
              </a:spcAft>
              <a:defRPr sz="2000" b="0">
                <a:solidFill>
                  <a:srgbClr val="2B2B2B"/>
                </a:solidFill>
              </a:defRPr>
            </a:pPr>
            <a:r>
              <a:t>• Arabophones : plaines littorales et villes (Casablanca, Rabat, Alger, Oran, Tunis).</a:t>
            </a:r>
          </a:p>
          <a:p>
            <a:pPr algn="l">
              <a:spcAft>
                <a:spcPts val="600"/>
              </a:spcAft>
              <a:defRPr sz="2000" b="0">
                <a:solidFill>
                  <a:srgbClr val="2B2B2B"/>
                </a:solidFill>
              </a:defRPr>
            </a:pPr>
            <a:r>
              <a:t>• Berbérophones : surtout dans les montagnes (Rif, Atlas, Kabylie, Aurès) et autour d'Agadir.</a:t>
            </a:r>
          </a:p>
          <a:p>
            <a:pPr algn="l">
              <a:spcAft>
                <a:spcPts val="600"/>
              </a:spcAft>
              <a:defRPr sz="2000" b="0">
                <a:solidFill>
                  <a:srgbClr val="2B2B2B"/>
                </a:solidFill>
              </a:defRPr>
            </a:pPr>
            <a:r>
              <a:t>• Berbérophones : environ 33 % au Maroc et 25 % en Algérie (très peu en Tunisie).</a:t>
            </a:r>
          </a:p>
          <a:p>
            <a:pPr algn="l">
              <a:spcAft>
                <a:spcPts val="600"/>
              </a:spcAft>
              <a:defRPr sz="2000" b="0">
                <a:solidFill>
                  <a:srgbClr val="2B2B2B"/>
                </a:solidFill>
              </a:defRPr>
            </a:pPr>
            <a:r>
              <a:t>• Le Sahara : moins de 10 hab/km², car le climat désertique y rend la vie difficile.</a:t>
            </a:r>
          </a:p>
          <a:p>
            <a:pPr algn="l">
              <a:spcAft>
                <a:spcPts val="600"/>
              </a:spcAft>
              <a:defRPr sz="2000" b="0">
                <a:solidFill>
                  <a:srgbClr val="2B2B2B"/>
                </a:solidFill>
              </a:defRPr>
            </a:pPr>
            <a:r>
              <a:t>• ➡️ Les Berbères sont le peuple d'origine ; les Arabes sont arrivés avec l'islam (VIIe 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 Un littoral plus attractif que l'intérieur</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03120"/>
            <a:ext cx="10972800" cy="914400"/>
          </a:xfrm>
          <a:prstGeom prst="rect">
            <a:avLst/>
          </a:prstGeom>
          <a:noFill/>
        </p:spPr>
        <p:txBody>
          <a:bodyPr wrap="square">
            <a:spAutoFit/>
          </a:bodyPr>
          <a:lstStyle/>
          <a:p>
            <a:pPr algn="ctr">
              <a:spcAft>
                <a:spcPts val="600"/>
              </a:spcAft>
              <a:defRPr sz="3600" b="1">
                <a:solidFill>
                  <a:srgbClr val="E0A11B"/>
                </a:solidFill>
              </a:defRPr>
            </a:pPr>
            <a:r>
              <a:t>Séance 2 : littoral et intérieur</a:t>
            </a:r>
          </a:p>
        </p:txBody>
      </p:sp>
      <p:sp>
        <p:nvSpPr>
          <p:cNvPr id="35" name="TextBox 34"/>
          <p:cNvSpPr txBox="1"/>
          <p:nvPr/>
        </p:nvSpPr>
        <p:spPr>
          <a:xfrm>
            <a:off x="548640" y="3200400"/>
            <a:ext cx="10972800" cy="914400"/>
          </a:xfrm>
          <a:prstGeom prst="rect">
            <a:avLst/>
          </a:prstGeom>
          <a:noFill/>
        </p:spPr>
        <p:txBody>
          <a:bodyPr wrap="square">
            <a:spAutoFit/>
          </a:bodyPr>
          <a:lstStyle/>
          <a:p>
            <a:pPr algn="ctr">
              <a:spcAft>
                <a:spcPts val="600"/>
              </a:spcAft>
              <a:defRPr sz="2600" b="0">
                <a:solidFill>
                  <a:srgbClr val="FFFFFF"/>
                </a:solidFill>
              </a:defRPr>
            </a:pPr>
            <a:r>
              <a:t>Problématique : en quoi le littoral est-il le cœur économique du Maghreb ?</a:t>
            </a:r>
          </a:p>
        </p:txBody>
      </p:sp>
      <p:sp>
        <p:nvSpPr>
          <p:cNvPr id="36" name="TextBox 35"/>
          <p:cNvSpPr txBox="1"/>
          <p:nvPr/>
        </p:nvSpPr>
        <p:spPr>
          <a:xfrm>
            <a:off x="548640" y="4389120"/>
            <a:ext cx="10972800" cy="914400"/>
          </a:xfrm>
          <a:prstGeom prst="rect">
            <a:avLst/>
          </a:prstGeom>
          <a:noFill/>
        </p:spPr>
        <p:txBody>
          <a:bodyPr wrap="square">
            <a:spAutoFit/>
          </a:bodyPr>
          <a:lstStyle/>
          <a:p>
            <a:pPr algn="ctr">
              <a:spcAft>
                <a:spcPts val="600"/>
              </a:spcAft>
              <a:defRPr sz="2000" b="0">
                <a:solidFill>
                  <a:srgbClr val="F6E7C8"/>
                </a:solidFill>
              </a:defRPr>
            </a:pPr>
            <a:r>
              <a:t>A/ La répartition de la population   •   B/ Un littoral plus développé</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Doc. 4 p. 223 : la répartition de la population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partition.png"/>
          <p:cNvPicPr>
            <a:picLocks noChangeAspect="1"/>
          </p:cNvPicPr>
          <p:nvPr/>
        </p:nvPicPr>
        <p:blipFill>
          <a:blip r:embed="rId2"/>
          <a:stretch>
            <a:fillRect/>
          </a:stretch>
        </p:blipFill>
        <p:spPr>
          <a:xfrm>
            <a:off x="457200" y="1280160"/>
            <a:ext cx="6105832" cy="4937760"/>
          </a:xfrm>
          <a:prstGeom prst="rect">
            <a:avLst/>
          </a:prstGeom>
        </p:spPr>
      </p:pic>
      <p:sp>
        <p:nvSpPr>
          <p:cNvPr id="34" name="TextBox 33"/>
          <p:cNvSpPr txBox="1"/>
          <p:nvPr/>
        </p:nvSpPr>
        <p:spPr>
          <a:xfrm>
            <a:off x="6837351" y="1371600"/>
            <a:ext cx="5049848" cy="4206240"/>
          </a:xfrm>
          <a:prstGeom prst="rect">
            <a:avLst/>
          </a:prstGeom>
          <a:noFill/>
        </p:spPr>
        <p:txBody>
          <a:bodyPr wrap="square">
            <a:spAutoFit/>
          </a:bodyPr>
          <a:lstStyle/>
          <a:p>
            <a:pPr algn="l">
              <a:spcAft>
                <a:spcPts val="600"/>
              </a:spcAft>
              <a:defRPr sz="1800" b="1">
                <a:solidFill>
                  <a:srgbClr val="1F4E79"/>
                </a:solidFill>
              </a:defRPr>
            </a:pPr>
            <a:r>
              <a:t>❓ D'après cette carte, où se concentre la population du Maghreb ?</a:t>
            </a:r>
          </a:p>
          <a:p>
            <a:pPr algn="l">
              <a:spcAft>
                <a:spcPts val="600"/>
              </a:spcAft>
              <a:defRPr sz="1800" b="1">
                <a:solidFill>
                  <a:srgbClr val="1F4E79"/>
                </a:solidFill>
              </a:defRPr>
            </a:pPr>
            <a:r>
              <a:t>❓ Quelles sont les densités à l'intérieur du territoire ?</a:t>
            </a:r>
          </a:p>
          <a:p>
            <a:pPr algn="l">
              <a:spcAft>
                <a:spcPts val="600"/>
              </a:spcAft>
              <a:defRPr sz="1800" b="1">
                <a:solidFill>
                  <a:srgbClr val="1F4E79"/>
                </a:solidFill>
              </a:defRPr>
            </a:pPr>
            <a:r>
              <a:t>❓ Quelles sont les causes de cette répartition ?</a:t>
            </a:r>
          </a:p>
          <a:p>
            <a:pPr algn="l">
              <a:spcAft>
                <a:spcPts val="600"/>
              </a:spcAft>
              <a:defRPr sz="1800" b="1">
                <a:solidFill>
                  <a:srgbClr val="1F4E79"/>
                </a:solidFill>
              </a:defRPr>
            </a:pPr>
            <a:r>
              <a:t>❓ Où se situent les villes ? Quelles sont les plus importantes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la répartition de la population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Sur le littoral.</a:t>
            </a:r>
          </a:p>
          <a:p>
            <a:pPr algn="l">
              <a:spcAft>
                <a:spcPts val="600"/>
              </a:spcAft>
              <a:defRPr sz="1900" b="0">
                <a:solidFill>
                  <a:srgbClr val="2B2B2B"/>
                </a:solidFill>
              </a:defRPr>
            </a:pPr>
            <a:r>
              <a:t>✅ Très faibles (moins de 10 hab/km²).</a:t>
            </a:r>
          </a:p>
          <a:p>
            <a:pPr algn="l">
              <a:spcAft>
                <a:spcPts val="600"/>
              </a:spcAft>
              <a:defRPr sz="1900" b="0">
                <a:solidFill>
                  <a:srgbClr val="2B2B2B"/>
                </a:solidFill>
              </a:defRPr>
            </a:pPr>
            <a:r>
              <a:t>✅ Le désert fait fuir les populations.</a:t>
            </a:r>
          </a:p>
          <a:p>
            <a:pPr algn="l">
              <a:spcAft>
                <a:spcPts val="600"/>
              </a:spcAft>
              <a:defRPr sz="1900" b="0">
                <a:solidFill>
                  <a:srgbClr val="2B2B2B"/>
                </a:solidFill>
              </a:defRPr>
            </a:pPr>
            <a:r>
              <a:t>✅ Sur le littoral : Casablanca, Rabat, Alger ; puis Agadir, Tanger, Oran, Tunis.</a:t>
            </a:r>
          </a:p>
          <a:p>
            <a:pPr algn="l">
              <a:spcAft>
                <a:spcPts val="600"/>
              </a:spcAft>
              <a:defRPr sz="1900" b="0">
                <a:solidFill>
                  <a:srgbClr val="2B2B2B"/>
                </a:solidFill>
              </a:defRPr>
            </a:pPr>
            <a:r>
              <a:t>✅ ✏️ Sur ta carte : place les zones de fortes densités et les villes, complète la légende.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territoire du Maghreb est principalement occupé par le désert, très faiblement peuplé. Au contraire, le Maghreb littoral regroupe 80 % de la population.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Doc. 3 p. 227 : un gisement pétrolier au Sahara (Hassi Messaoud)</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petrole.png"/>
          <p:cNvPicPr>
            <a:picLocks noChangeAspect="1"/>
          </p:cNvPicPr>
          <p:nvPr/>
        </p:nvPicPr>
        <p:blipFill>
          <a:blip r:embed="rId2"/>
          <a:stretch>
            <a:fillRect/>
          </a:stretch>
        </p:blipFill>
        <p:spPr>
          <a:xfrm>
            <a:off x="457200" y="1280160"/>
            <a:ext cx="6583680" cy="4144725"/>
          </a:xfrm>
          <a:prstGeom prst="rect">
            <a:avLst/>
          </a:prstGeom>
        </p:spPr>
      </p:pic>
      <p:sp>
        <p:nvSpPr>
          <p:cNvPr id="34" name="TextBox 33"/>
          <p:cNvSpPr txBox="1"/>
          <p:nvPr/>
        </p:nvSpPr>
        <p:spPr>
          <a:xfrm>
            <a:off x="7315200" y="1371600"/>
            <a:ext cx="4572000" cy="4206240"/>
          </a:xfrm>
          <a:prstGeom prst="rect">
            <a:avLst/>
          </a:prstGeom>
          <a:noFill/>
        </p:spPr>
        <p:txBody>
          <a:bodyPr wrap="square">
            <a:spAutoFit/>
          </a:bodyPr>
          <a:lstStyle/>
          <a:p>
            <a:pPr algn="l">
              <a:spcAft>
                <a:spcPts val="600"/>
              </a:spcAft>
              <a:defRPr sz="1800" b="1">
                <a:solidFill>
                  <a:srgbClr val="1F4E79"/>
                </a:solidFill>
              </a:defRPr>
            </a:pPr>
            <a:r>
              <a:t>❓ Où a été prise la photographie ?</a:t>
            </a:r>
          </a:p>
          <a:p>
            <a:pPr algn="l">
              <a:spcAft>
                <a:spcPts val="600"/>
              </a:spcAft>
              <a:defRPr sz="1800" b="1">
                <a:solidFill>
                  <a:srgbClr val="1F4E79"/>
                </a:solidFill>
              </a:defRPr>
            </a:pPr>
            <a:r>
              <a:t>❓ Décris ce que tu vois.</a:t>
            </a:r>
          </a:p>
          <a:p>
            <a:pPr algn="l">
              <a:spcAft>
                <a:spcPts val="600"/>
              </a:spcAft>
              <a:defRPr sz="1800" b="1">
                <a:solidFill>
                  <a:srgbClr val="1F4E79"/>
                </a:solidFill>
              </a:defRPr>
            </a:pPr>
            <a:r>
              <a:t>❓ Que produit-on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un gisement pétrolier au Sahara (Hassi Messaoud)</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Au Sahara (Algérie).</a:t>
            </a:r>
          </a:p>
          <a:p>
            <a:pPr algn="l">
              <a:spcAft>
                <a:spcPts val="600"/>
              </a:spcAft>
              <a:defRPr sz="1900" b="0">
                <a:solidFill>
                  <a:srgbClr val="2B2B2B"/>
                </a:solidFill>
              </a:defRPr>
            </a:pPr>
            <a:r>
              <a:t>✅ Un gisement : torchères, réservoirs, fumées.</a:t>
            </a:r>
          </a:p>
          <a:p>
            <a:pPr algn="l">
              <a:spcAft>
                <a:spcPts val="600"/>
              </a:spcAft>
              <a:defRPr sz="1900" b="0">
                <a:solidFill>
                  <a:srgbClr val="2B2B2B"/>
                </a:solidFill>
              </a:defRPr>
            </a:pPr>
            <a:r>
              <a:t>✅ Du pétrole.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227 : les ressources intérieures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ressources.png"/>
          <p:cNvPicPr>
            <a:picLocks noChangeAspect="1"/>
          </p:cNvPicPr>
          <p:nvPr/>
        </p:nvPicPr>
        <p:blipFill>
          <a:blip r:embed="rId2"/>
          <a:stretch>
            <a:fillRect/>
          </a:stretch>
        </p:blipFill>
        <p:spPr>
          <a:xfrm>
            <a:off x="457200" y="1280160"/>
            <a:ext cx="4693920" cy="4937760"/>
          </a:xfrm>
          <a:prstGeom prst="rect">
            <a:avLst/>
          </a:prstGeom>
        </p:spPr>
      </p:pic>
      <p:sp>
        <p:nvSpPr>
          <p:cNvPr id="34" name="TextBox 33"/>
          <p:cNvSpPr txBox="1"/>
          <p:nvPr/>
        </p:nvSpPr>
        <p:spPr>
          <a:xfrm>
            <a:off x="5425440" y="1371600"/>
            <a:ext cx="6461760" cy="4206240"/>
          </a:xfrm>
          <a:prstGeom prst="rect">
            <a:avLst/>
          </a:prstGeom>
          <a:noFill/>
        </p:spPr>
        <p:txBody>
          <a:bodyPr wrap="square">
            <a:spAutoFit/>
          </a:bodyPr>
          <a:lstStyle/>
          <a:p>
            <a:pPr algn="l">
              <a:spcAft>
                <a:spcPts val="600"/>
              </a:spcAft>
              <a:defRPr sz="1800" b="1">
                <a:solidFill>
                  <a:srgbClr val="1F4E79"/>
                </a:solidFill>
              </a:defRPr>
            </a:pPr>
            <a:r>
              <a:t>❓ Quels sont les grands gisements de pétrole ?</a:t>
            </a:r>
          </a:p>
          <a:p>
            <a:pPr algn="l">
              <a:spcAft>
                <a:spcPts val="600"/>
              </a:spcAft>
              <a:defRPr sz="1800" b="1">
                <a:solidFill>
                  <a:srgbClr val="1F4E79"/>
                </a:solidFill>
              </a:defRPr>
            </a:pPr>
            <a:r>
              <a:t>❓ Quels sont les autres gisements ?</a:t>
            </a:r>
          </a:p>
          <a:p>
            <a:pPr algn="l">
              <a:spcAft>
                <a:spcPts val="600"/>
              </a:spcAft>
              <a:defRPr sz="1800" b="1">
                <a:solidFill>
                  <a:srgbClr val="1F4E79"/>
                </a:solidFill>
              </a:defRPr>
            </a:pPr>
            <a:r>
              <a:t>❓ Comment appelle-t-on ces deux produits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ressources intérieures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Hassi Messaoud et Edjeleh.</a:t>
            </a:r>
          </a:p>
          <a:p>
            <a:pPr algn="l">
              <a:spcAft>
                <a:spcPts val="600"/>
              </a:spcAft>
              <a:defRPr sz="1900" b="0">
                <a:solidFill>
                  <a:srgbClr val="2B2B2B"/>
                </a:solidFill>
              </a:defRPr>
            </a:pPr>
            <a:r>
              <a:t>✅ Les gisements de gaz, comme Hassi R'Mel.</a:t>
            </a:r>
          </a:p>
          <a:p>
            <a:pPr algn="l">
              <a:spcAft>
                <a:spcPts val="600"/>
              </a:spcAft>
              <a:defRPr sz="1900" b="0">
                <a:solidFill>
                  <a:srgbClr val="2B2B2B"/>
                </a:solidFill>
              </a:defRPr>
            </a:pPr>
            <a:r>
              <a:t>✅ Des HYDROCARBURES (pétrole + gaz). 📖 Copie la définition.</a:t>
            </a:r>
          </a:p>
          <a:p>
            <a:pPr algn="l">
              <a:spcAft>
                <a:spcPts val="600"/>
              </a:spcAft>
              <a:defRPr sz="1900" b="0">
                <a:solidFill>
                  <a:srgbClr val="2B2B2B"/>
                </a:solidFill>
              </a:defRPr>
            </a:pPr>
            <a:r>
              <a:t>✅ ✏️ Place les gisements de pétrole sur ta carte et complète la légende.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229 : le développement du littoral</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littoral.png"/>
          <p:cNvPicPr>
            <a:picLocks noChangeAspect="1"/>
          </p:cNvPicPr>
          <p:nvPr/>
        </p:nvPicPr>
        <p:blipFill>
          <a:blip r:embed="rId2"/>
          <a:stretch>
            <a:fillRect/>
          </a:stretch>
        </p:blipFill>
        <p:spPr>
          <a:xfrm>
            <a:off x="457200" y="1280160"/>
            <a:ext cx="5788685" cy="4937760"/>
          </a:xfrm>
          <a:prstGeom prst="rect">
            <a:avLst/>
          </a:prstGeom>
        </p:spPr>
      </p:pic>
      <p:sp>
        <p:nvSpPr>
          <p:cNvPr id="34" name="TextBox 33"/>
          <p:cNvSpPr txBox="1"/>
          <p:nvPr/>
        </p:nvSpPr>
        <p:spPr>
          <a:xfrm>
            <a:off x="6520205" y="1371600"/>
            <a:ext cx="5366995" cy="4206240"/>
          </a:xfrm>
          <a:prstGeom prst="rect">
            <a:avLst/>
          </a:prstGeom>
          <a:noFill/>
        </p:spPr>
        <p:txBody>
          <a:bodyPr wrap="square">
            <a:spAutoFit/>
          </a:bodyPr>
          <a:lstStyle/>
          <a:p>
            <a:pPr algn="l">
              <a:spcAft>
                <a:spcPts val="600"/>
              </a:spcAft>
              <a:defRPr sz="1800" b="1">
                <a:solidFill>
                  <a:srgbClr val="1F4E79"/>
                </a:solidFill>
              </a:defRPr>
            </a:pPr>
            <a:r>
              <a:t>❓ Que devient le pétrole extrait dans le désert ?</a:t>
            </a:r>
          </a:p>
          <a:p>
            <a:pPr algn="l">
              <a:spcAft>
                <a:spcPts val="600"/>
              </a:spcAft>
              <a:defRPr sz="1800" b="1">
                <a:solidFill>
                  <a:srgbClr val="1F4E79"/>
                </a:solidFill>
              </a:defRPr>
            </a:pPr>
            <a:r>
              <a:t>❓ Où se situent les régions industrielles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développement du littoral</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Il est surtout exporté vers l'Europe, et utilisé dans les centres industriels.</a:t>
            </a:r>
          </a:p>
          <a:p>
            <a:pPr algn="l">
              <a:spcAft>
                <a:spcPts val="600"/>
              </a:spcAft>
              <a:defRPr sz="1900" b="0">
                <a:solidFill>
                  <a:srgbClr val="2B2B2B"/>
                </a:solidFill>
              </a:defRPr>
            </a:pPr>
            <a:r>
              <a:t>✅ Sur le littoral : Casablanca, Oran-Arzew, Alger, Annaba, Tunis…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3 p. 229 : le complexe industriel d'Arzew</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rzew.png"/>
          <p:cNvPicPr>
            <a:picLocks noChangeAspect="1"/>
          </p:cNvPicPr>
          <p:nvPr/>
        </p:nvPicPr>
        <p:blipFill>
          <a:blip r:embed="rId2"/>
          <a:stretch>
            <a:fillRect/>
          </a:stretch>
        </p:blipFill>
        <p:spPr>
          <a:xfrm>
            <a:off x="457200" y="1280160"/>
            <a:ext cx="3619301" cy="4937760"/>
          </a:xfrm>
          <a:prstGeom prst="rect">
            <a:avLst/>
          </a:prstGeom>
        </p:spPr>
      </p:pic>
      <p:sp>
        <p:nvSpPr>
          <p:cNvPr id="34" name="TextBox 33"/>
          <p:cNvSpPr txBox="1"/>
          <p:nvPr/>
        </p:nvSpPr>
        <p:spPr>
          <a:xfrm>
            <a:off x="4350821" y="1371600"/>
            <a:ext cx="7536378" cy="4206240"/>
          </a:xfrm>
          <a:prstGeom prst="rect">
            <a:avLst/>
          </a:prstGeom>
          <a:noFill/>
        </p:spPr>
        <p:txBody>
          <a:bodyPr wrap="square">
            <a:spAutoFit/>
          </a:bodyPr>
          <a:lstStyle/>
          <a:p>
            <a:pPr algn="l">
              <a:spcAft>
                <a:spcPts val="600"/>
              </a:spcAft>
              <a:defRPr sz="1800" b="1">
                <a:solidFill>
                  <a:srgbClr val="1F4E79"/>
                </a:solidFill>
              </a:defRPr>
            </a:pPr>
            <a:r>
              <a:t>❓ Où se situe Arzew ?</a:t>
            </a:r>
          </a:p>
          <a:p>
            <a:pPr algn="l">
              <a:spcAft>
                <a:spcPts val="600"/>
              </a:spcAft>
              <a:defRPr sz="1800" b="1">
                <a:solidFill>
                  <a:srgbClr val="1F4E79"/>
                </a:solidFill>
              </a:defRPr>
            </a:pPr>
            <a:r>
              <a:t>❓ Quelle est la surface de la zone industrielle ?</a:t>
            </a:r>
          </a:p>
          <a:p>
            <a:pPr algn="l">
              <a:spcAft>
                <a:spcPts val="600"/>
              </a:spcAft>
              <a:defRPr sz="1800" b="1">
                <a:solidFill>
                  <a:srgbClr val="1F4E79"/>
                </a:solidFill>
              </a:defRPr>
            </a:pPr>
            <a:r>
              <a:t>❓ Combien de personnes y travaillent ?</a:t>
            </a:r>
          </a:p>
          <a:p>
            <a:pPr algn="l">
              <a:spcAft>
                <a:spcPts val="600"/>
              </a:spcAft>
              <a:defRPr sz="1800" b="1">
                <a:solidFill>
                  <a:srgbClr val="1F4E79"/>
                </a:solidFill>
              </a:defRPr>
            </a:pPr>
            <a:r>
              <a:t>❓ Quelles sont les activités d'Arzew ?</a:t>
            </a:r>
          </a:p>
          <a:p>
            <a:pPr algn="l">
              <a:spcAft>
                <a:spcPts val="600"/>
              </a:spcAft>
              <a:defRPr sz="1800" b="1">
                <a:solidFill>
                  <a:srgbClr val="1F4E79"/>
                </a:solidFill>
              </a:defRPr>
            </a:pPr>
            <a:r>
              <a:t>❓ Comment s'appelle ce type de centre industriel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complexe industriel d'Arzew</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Au nord de l'Algérie, sur le littoral.</a:t>
            </a:r>
          </a:p>
          <a:p>
            <a:pPr algn="l">
              <a:spcAft>
                <a:spcPts val="600"/>
              </a:spcAft>
              <a:defRPr sz="1900" b="0">
                <a:solidFill>
                  <a:srgbClr val="2B2B2B"/>
                </a:solidFill>
              </a:defRPr>
            </a:pPr>
            <a:r>
              <a:t>✅ 1 500 hectares.</a:t>
            </a:r>
          </a:p>
          <a:p>
            <a:pPr algn="l">
              <a:spcAft>
                <a:spcPts val="600"/>
              </a:spcAft>
              <a:defRPr sz="1900" b="0">
                <a:solidFill>
                  <a:srgbClr val="2B2B2B"/>
                </a:solidFill>
              </a:defRPr>
            </a:pPr>
            <a:r>
              <a:t>✅ 10 000 travailleurs.</a:t>
            </a:r>
          </a:p>
          <a:p>
            <a:pPr algn="l">
              <a:spcAft>
                <a:spcPts val="600"/>
              </a:spcAft>
              <a:defRPr sz="1900" b="0">
                <a:solidFill>
                  <a:srgbClr val="2B2B2B"/>
                </a:solidFill>
              </a:defRPr>
            </a:pPr>
            <a:r>
              <a:t>✅ Raffinage du pétrole, liquéfaction du gaz, puis exportation (port d'Arzew + Bethioua).</a:t>
            </a:r>
          </a:p>
          <a:p>
            <a:pPr algn="l">
              <a:spcAft>
                <a:spcPts val="600"/>
              </a:spcAft>
              <a:defRPr sz="1900" b="0">
                <a:solidFill>
                  <a:srgbClr val="2B2B2B"/>
                </a:solidFill>
              </a:defRPr>
            </a:pPr>
            <a:r>
              <a:t>✅ Un COMPLEXE INDUSTRIALO-PORTUAIRE. 📖 Copie la définition.</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Si le désert possède d'importantes réserves en hydrocarbures, ceux-ci sont acheminés vers les ports d'exportation et vers les complexes industrialo-portuaires.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1 p. 228 : le conditionnement des agrumes (Maroc)</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agrumes.png"/>
          <p:cNvPicPr>
            <a:picLocks noChangeAspect="1"/>
          </p:cNvPicPr>
          <p:nvPr/>
        </p:nvPicPr>
        <p:blipFill>
          <a:blip r:embed="rId2"/>
          <a:stretch>
            <a:fillRect/>
          </a:stretch>
        </p:blipFill>
        <p:spPr>
          <a:xfrm>
            <a:off x="457200" y="1280160"/>
            <a:ext cx="4608576" cy="4937760"/>
          </a:xfrm>
          <a:prstGeom prst="rect">
            <a:avLst/>
          </a:prstGeom>
        </p:spPr>
      </p:pic>
      <p:sp>
        <p:nvSpPr>
          <p:cNvPr id="34" name="TextBox 33"/>
          <p:cNvSpPr txBox="1"/>
          <p:nvPr/>
        </p:nvSpPr>
        <p:spPr>
          <a:xfrm>
            <a:off x="5340096" y="1371600"/>
            <a:ext cx="6547104" cy="4206240"/>
          </a:xfrm>
          <a:prstGeom prst="rect">
            <a:avLst/>
          </a:prstGeom>
          <a:noFill/>
        </p:spPr>
        <p:txBody>
          <a:bodyPr wrap="square">
            <a:spAutoFit/>
          </a:bodyPr>
          <a:lstStyle/>
          <a:p>
            <a:pPr algn="l">
              <a:spcAft>
                <a:spcPts val="600"/>
              </a:spcAft>
              <a:defRPr sz="1800" b="1">
                <a:solidFill>
                  <a:srgbClr val="1F4E79"/>
                </a:solidFill>
              </a:defRPr>
            </a:pPr>
            <a:r>
              <a:t>❓ Décris l'image.</a:t>
            </a:r>
          </a:p>
          <a:p>
            <a:pPr algn="l">
              <a:spcAft>
                <a:spcPts val="600"/>
              </a:spcAft>
              <a:defRPr sz="1800" b="1">
                <a:solidFill>
                  <a:srgbClr val="1F4E79"/>
                </a:solidFill>
              </a:defRPr>
            </a:pPr>
            <a:r>
              <a:t>❓ Dans quel pays cela se situe-t-il ?</a:t>
            </a:r>
          </a:p>
          <a:p>
            <a:pPr algn="l">
              <a:spcAft>
                <a:spcPts val="600"/>
              </a:spcAft>
              <a:defRPr sz="1800" b="1">
                <a:solidFill>
                  <a:srgbClr val="1F4E79"/>
                </a:solidFill>
              </a:defRPr>
            </a:pPr>
            <a:r>
              <a:t>❓ Quels sont les agrumes ?</a:t>
            </a:r>
          </a:p>
          <a:p>
            <a:pPr algn="l">
              <a:spcAft>
                <a:spcPts val="600"/>
              </a:spcAft>
              <a:defRPr sz="1800" b="1">
                <a:solidFill>
                  <a:srgbClr val="1F4E79"/>
                </a:solidFill>
              </a:defRPr>
            </a:pPr>
            <a:r>
              <a:t>❓ Qui sont les travailleurs ?</a:t>
            </a:r>
          </a:p>
          <a:p>
            <a:pPr algn="l">
              <a:spcAft>
                <a:spcPts val="600"/>
              </a:spcAft>
              <a:defRPr sz="1800" b="1">
                <a:solidFill>
                  <a:srgbClr val="1F4E79"/>
                </a:solidFill>
              </a:defRPr>
            </a:pPr>
            <a:r>
              <a:t>❓ Où se situent les régions agricoles ? Quelles autres activités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conditionnement des agrumes (Maroc)</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Une usine de traitement des agrumes (sélection, emballage).</a:t>
            </a:r>
          </a:p>
          <a:p>
            <a:pPr algn="l">
              <a:spcAft>
                <a:spcPts val="600"/>
              </a:spcAft>
              <a:defRPr sz="1900" b="0">
                <a:solidFill>
                  <a:srgbClr val="2B2B2B"/>
                </a:solidFill>
              </a:defRPr>
            </a:pPr>
            <a:r>
              <a:t>✅ Au Maroc.</a:t>
            </a:r>
          </a:p>
          <a:p>
            <a:pPr algn="l">
              <a:spcAft>
                <a:spcPts val="600"/>
              </a:spcAft>
              <a:defRPr sz="1900" b="0">
                <a:solidFill>
                  <a:srgbClr val="2B2B2B"/>
                </a:solidFill>
              </a:defRPr>
            </a:pPr>
            <a:r>
              <a:t>✅ Des oranges.</a:t>
            </a:r>
          </a:p>
          <a:p>
            <a:pPr algn="l">
              <a:spcAft>
                <a:spcPts val="600"/>
              </a:spcAft>
              <a:defRPr sz="1900" b="0">
                <a:solidFill>
                  <a:srgbClr val="2B2B2B"/>
                </a:solidFill>
              </a:defRPr>
            </a:pPr>
            <a:r>
              <a:t>✅ Surtout des femmes, des ouvrières.</a:t>
            </a:r>
          </a:p>
          <a:p>
            <a:pPr algn="l">
              <a:spcAft>
                <a:spcPts val="600"/>
              </a:spcAft>
              <a:defRPr sz="1900" b="0">
                <a:solidFill>
                  <a:srgbClr val="2B2B2B"/>
                </a:solidFill>
              </a:defRPr>
            </a:pPr>
            <a:r>
              <a:t>✅ Dans les plaines littorales : grande céréaliculture, viticulture. ✏️ Ajoute « agriculture moderne » à la légende.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littoral est aussi une région agricole où l'on pratique une agriculture moderne pour l'exportation.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5 et 6 p. 229 : le tourisme en Tunisie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tourisme.png"/>
          <p:cNvPicPr>
            <a:picLocks noChangeAspect="1"/>
          </p:cNvPicPr>
          <p:nvPr/>
        </p:nvPicPr>
        <p:blipFill>
          <a:blip r:embed="rId2"/>
          <a:stretch>
            <a:fillRect/>
          </a:stretch>
        </p:blipFill>
        <p:spPr>
          <a:xfrm>
            <a:off x="457200" y="1280160"/>
            <a:ext cx="6583680" cy="3884780"/>
          </a:xfrm>
          <a:prstGeom prst="rect">
            <a:avLst/>
          </a:prstGeom>
        </p:spPr>
      </p:pic>
      <p:sp>
        <p:nvSpPr>
          <p:cNvPr id="34" name="TextBox 33"/>
          <p:cNvSpPr txBox="1"/>
          <p:nvPr/>
        </p:nvSpPr>
        <p:spPr>
          <a:xfrm>
            <a:off x="7315200" y="1371600"/>
            <a:ext cx="4572000" cy="4206240"/>
          </a:xfrm>
          <a:prstGeom prst="rect">
            <a:avLst/>
          </a:prstGeom>
          <a:noFill/>
        </p:spPr>
        <p:txBody>
          <a:bodyPr wrap="square">
            <a:spAutoFit/>
          </a:bodyPr>
          <a:lstStyle/>
          <a:p>
            <a:pPr algn="l">
              <a:spcAft>
                <a:spcPts val="600"/>
              </a:spcAft>
              <a:defRPr sz="1800" b="1">
                <a:solidFill>
                  <a:srgbClr val="1F4E79"/>
                </a:solidFill>
              </a:defRPr>
            </a:pPr>
            <a:r>
              <a:t>❓ Quand est apparu le tourisme en Tunisie ?</a:t>
            </a:r>
          </a:p>
          <a:p>
            <a:pPr algn="l">
              <a:spcAft>
                <a:spcPts val="600"/>
              </a:spcAft>
              <a:defRPr sz="1800" b="1">
                <a:solidFill>
                  <a:srgbClr val="1F4E79"/>
                </a:solidFill>
              </a:defRPr>
            </a:pPr>
            <a:r>
              <a:t>❓ Qui sont les touristes ?</a:t>
            </a:r>
          </a:p>
          <a:p>
            <a:pPr algn="l">
              <a:spcAft>
                <a:spcPts val="600"/>
              </a:spcAft>
              <a:defRPr sz="1800" b="1">
                <a:solidFill>
                  <a:srgbClr val="1F4E79"/>
                </a:solidFill>
              </a:defRPr>
            </a:pPr>
            <a:r>
              <a:t>❓ Quelle place a le tourisme dans l'économie ?</a:t>
            </a:r>
          </a:p>
          <a:p>
            <a:pPr algn="l">
              <a:spcAft>
                <a:spcPts val="600"/>
              </a:spcAft>
              <a:defRPr sz="1800" b="1">
                <a:solidFill>
                  <a:srgbClr val="1F4E79"/>
                </a:solidFill>
              </a:defRPr>
            </a:pPr>
            <a:r>
              <a:t>❓ Qu'est-ce qui attire les touristes ? Comment viennent-ils ?</a:t>
            </a:r>
          </a:p>
          <a:p>
            <a:pPr algn="l">
              <a:spcAft>
                <a:spcPts val="600"/>
              </a:spcAft>
              <a:defRPr sz="1800" b="1">
                <a:solidFill>
                  <a:srgbClr val="1F4E79"/>
                </a:solidFill>
              </a:defRPr>
            </a:pPr>
            <a:r>
              <a:t>❓ Quelles sont les grandes stations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tourisme en Tunisie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Dans les années 1960.</a:t>
            </a:r>
          </a:p>
          <a:p>
            <a:pPr algn="l">
              <a:spcAft>
                <a:spcPts val="600"/>
              </a:spcAft>
              <a:defRPr sz="1900" b="0">
                <a:solidFill>
                  <a:srgbClr val="2B2B2B"/>
                </a:solidFill>
              </a:defRPr>
            </a:pPr>
            <a:r>
              <a:t>✅ Les Européens, puis les Algériens et Libyens, et les Tunisiens eux-mêmes.</a:t>
            </a:r>
          </a:p>
          <a:p>
            <a:pPr algn="l">
              <a:spcAft>
                <a:spcPts val="600"/>
              </a:spcAft>
              <a:defRPr sz="1900" b="0">
                <a:solidFill>
                  <a:srgbClr val="2B2B2B"/>
                </a:solidFill>
              </a:defRPr>
            </a:pPr>
            <a:r>
              <a:t>✅ Une place importante (5e–6e rang méditerranéen).</a:t>
            </a:r>
          </a:p>
          <a:p>
            <a:pPr algn="l">
              <a:spcAft>
                <a:spcPts val="600"/>
              </a:spcAft>
              <a:defRPr sz="1900" b="0">
                <a:solidFill>
                  <a:srgbClr val="2B2B2B"/>
                </a:solidFill>
              </a:defRPr>
            </a:pPr>
            <a:r>
              <a:t>✅ Le soleil, la mer ; ils viennent en avion (aéroport nécessaire).</a:t>
            </a:r>
          </a:p>
          <a:p>
            <a:pPr algn="l">
              <a:spcAft>
                <a:spcPts val="600"/>
              </a:spcAft>
              <a:defRPr sz="1900" b="0">
                <a:solidFill>
                  <a:srgbClr val="2B2B2B"/>
                </a:solidFill>
              </a:defRPr>
            </a:pPr>
            <a:r>
              <a:t>✅ Hammamet et Monastir.</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Depuis les années 1960, le Maroc et la Tunisie se sont lancés dans l'activité touristique.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III. Les problèmes démographiques et sociaux</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03120"/>
            <a:ext cx="10972800" cy="914400"/>
          </a:xfrm>
          <a:prstGeom prst="rect">
            <a:avLst/>
          </a:prstGeom>
          <a:noFill/>
        </p:spPr>
        <p:txBody>
          <a:bodyPr wrap="square">
            <a:spAutoFit/>
          </a:bodyPr>
          <a:lstStyle/>
          <a:p>
            <a:pPr algn="ctr">
              <a:spcAft>
                <a:spcPts val="600"/>
              </a:spcAft>
              <a:defRPr sz="3600" b="1">
                <a:solidFill>
                  <a:srgbClr val="E0A11B"/>
                </a:solidFill>
              </a:defRPr>
            </a:pPr>
            <a:r>
              <a:t>Séance 3</a:t>
            </a:r>
          </a:p>
        </p:txBody>
      </p:sp>
      <p:sp>
        <p:nvSpPr>
          <p:cNvPr id="35" name="TextBox 34"/>
          <p:cNvSpPr txBox="1"/>
          <p:nvPr/>
        </p:nvSpPr>
        <p:spPr>
          <a:xfrm>
            <a:off x="548640" y="3200400"/>
            <a:ext cx="10972800" cy="914400"/>
          </a:xfrm>
          <a:prstGeom prst="rect">
            <a:avLst/>
          </a:prstGeom>
          <a:noFill/>
        </p:spPr>
        <p:txBody>
          <a:bodyPr wrap="square">
            <a:spAutoFit/>
          </a:bodyPr>
          <a:lstStyle/>
          <a:p>
            <a:pPr algn="ctr">
              <a:spcAft>
                <a:spcPts val="600"/>
              </a:spcAft>
              <a:defRPr sz="2600" b="0">
                <a:solidFill>
                  <a:srgbClr val="FFFFFF"/>
                </a:solidFill>
              </a:defRPr>
            </a:pPr>
            <a:r>
              <a:t>Problématique : quels sont les problèmes du Maghreb d'aujourd'hui ?</a:t>
            </a:r>
          </a:p>
        </p:txBody>
      </p:sp>
      <p:sp>
        <p:nvSpPr>
          <p:cNvPr id="36" name="TextBox 35"/>
          <p:cNvSpPr txBox="1"/>
          <p:nvPr/>
        </p:nvSpPr>
        <p:spPr>
          <a:xfrm>
            <a:off x="548640" y="4389120"/>
            <a:ext cx="10972800" cy="914400"/>
          </a:xfrm>
          <a:prstGeom prst="rect">
            <a:avLst/>
          </a:prstGeom>
          <a:noFill/>
        </p:spPr>
        <p:txBody>
          <a:bodyPr wrap="square">
            <a:spAutoFit/>
          </a:bodyPr>
          <a:lstStyle/>
          <a:p>
            <a:pPr algn="ctr">
              <a:spcAft>
                <a:spcPts val="600"/>
              </a:spcAft>
              <a:defRPr sz="2000" b="0">
                <a:solidFill>
                  <a:srgbClr val="F6E7C8"/>
                </a:solidFill>
              </a:defRPr>
            </a:pPr>
            <a:r>
              <a:t>A/ Une population en augmentation   •   B/ Un foyer d'émigration vers l'Europe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Doc. 1 p. 224 : l'évolution de la population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evolution.png"/>
          <p:cNvPicPr>
            <a:picLocks noChangeAspect="1"/>
          </p:cNvPicPr>
          <p:nvPr/>
        </p:nvPicPr>
        <p:blipFill>
          <a:blip r:embed="rId2"/>
          <a:stretch>
            <a:fillRect/>
          </a:stretch>
        </p:blipFill>
        <p:spPr>
          <a:xfrm>
            <a:off x="457200" y="1280160"/>
            <a:ext cx="5523596" cy="4937760"/>
          </a:xfrm>
          <a:prstGeom prst="rect">
            <a:avLst/>
          </a:prstGeom>
        </p:spPr>
      </p:pic>
      <p:sp>
        <p:nvSpPr>
          <p:cNvPr id="34" name="TextBox 33"/>
          <p:cNvSpPr txBox="1"/>
          <p:nvPr/>
        </p:nvSpPr>
        <p:spPr>
          <a:xfrm>
            <a:off x="6255116" y="1371600"/>
            <a:ext cx="5632084" cy="4206240"/>
          </a:xfrm>
          <a:prstGeom prst="rect">
            <a:avLst/>
          </a:prstGeom>
          <a:noFill/>
        </p:spPr>
        <p:txBody>
          <a:bodyPr wrap="square">
            <a:spAutoFit/>
          </a:bodyPr>
          <a:lstStyle/>
          <a:p>
            <a:pPr algn="l">
              <a:spcAft>
                <a:spcPts val="600"/>
              </a:spcAft>
              <a:defRPr sz="1800" b="1">
                <a:solidFill>
                  <a:srgbClr val="1F4E79"/>
                </a:solidFill>
              </a:defRPr>
            </a:pPr>
            <a:r>
              <a:t>❓ Quelle est la population des trois pays en 2000 ?</a:t>
            </a:r>
          </a:p>
          <a:p>
            <a:pPr algn="l">
              <a:spcAft>
                <a:spcPts val="600"/>
              </a:spcAft>
              <a:defRPr sz="1800" b="1">
                <a:solidFill>
                  <a:srgbClr val="1F4E79"/>
                </a:solidFill>
              </a:defRPr>
            </a:pPr>
            <a:r>
              <a:t>❓ Comment a-t-elle évolué depuis 1950 ?</a:t>
            </a:r>
          </a:p>
          <a:p>
            <a:pPr algn="l">
              <a:spcAft>
                <a:spcPts val="600"/>
              </a:spcAft>
              <a:defRPr sz="1800" b="1">
                <a:solidFill>
                  <a:srgbClr val="1F4E79"/>
                </a:solidFill>
              </a:defRPr>
            </a:pPr>
            <a:r>
              <a:t>❓ 🎲 Défi calcul : par combien la population de l'Algérie a-t-elle été multipliée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l'évolution de la population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Algérie : 31 M • Maroc : 30 M • Tunisie : 9,5 M.</a:t>
            </a:r>
          </a:p>
          <a:p>
            <a:pPr algn="l">
              <a:spcAft>
                <a:spcPts val="600"/>
              </a:spcAft>
              <a:defRPr sz="1900" b="0">
                <a:solidFill>
                  <a:srgbClr val="2B2B2B"/>
                </a:solidFill>
              </a:defRPr>
            </a:pPr>
            <a:r>
              <a:t>✅ Elle a fortement augmenté : environ × 3 en 50 ans.</a:t>
            </a:r>
          </a:p>
          <a:p>
            <a:pPr algn="l">
              <a:spcAft>
                <a:spcPts val="600"/>
              </a:spcAft>
              <a:defRPr sz="1900" b="0">
                <a:solidFill>
                  <a:srgbClr val="2B2B2B"/>
                </a:solidFill>
              </a:defRPr>
            </a:pPr>
            <a:r>
              <a:t>✅ 9 M → 31 M : environ × 3,4.</a:t>
            </a:r>
          </a:p>
          <a:p>
            <a:pPr algn="l">
              <a:spcAft>
                <a:spcPts val="600"/>
              </a:spcAft>
              <a:defRPr sz="1900" b="0">
                <a:solidFill>
                  <a:srgbClr val="2B2B2B"/>
                </a:solidFill>
              </a:defRPr>
            </a:pPr>
            <a:r>
              <a:t>✅ 💡 Aujourd'hui : Algérie ≈ 46 M, Maroc ≈ 37 M, Tunisie ≈ 12 M.</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compte environ 70 millions d'habitants (en 2000). La population a fortement augmenté depuis 50 ans.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2 p. 224 : de lourdes conséquences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consequences.png"/>
          <p:cNvPicPr>
            <a:picLocks noChangeAspect="1"/>
          </p:cNvPicPr>
          <p:nvPr/>
        </p:nvPicPr>
        <p:blipFill>
          <a:blip r:embed="rId2"/>
          <a:stretch>
            <a:fillRect/>
          </a:stretch>
        </p:blipFill>
        <p:spPr>
          <a:xfrm>
            <a:off x="457200" y="1280160"/>
            <a:ext cx="2803310" cy="4937760"/>
          </a:xfrm>
          <a:prstGeom prst="rect">
            <a:avLst/>
          </a:prstGeom>
        </p:spPr>
      </p:pic>
      <p:sp>
        <p:nvSpPr>
          <p:cNvPr id="34" name="TextBox 33"/>
          <p:cNvSpPr txBox="1"/>
          <p:nvPr/>
        </p:nvSpPr>
        <p:spPr>
          <a:xfrm>
            <a:off x="3534830" y="1371600"/>
            <a:ext cx="8352369" cy="4206240"/>
          </a:xfrm>
          <a:prstGeom prst="rect">
            <a:avLst/>
          </a:prstGeom>
          <a:noFill/>
        </p:spPr>
        <p:txBody>
          <a:bodyPr wrap="square">
            <a:spAutoFit/>
          </a:bodyPr>
          <a:lstStyle/>
          <a:p>
            <a:pPr algn="l">
              <a:spcAft>
                <a:spcPts val="600"/>
              </a:spcAft>
              <a:defRPr sz="1800" b="1">
                <a:solidFill>
                  <a:srgbClr val="1F4E79"/>
                </a:solidFill>
              </a:defRPr>
            </a:pPr>
            <a:r>
              <a:t>❓ Évolution des effectifs scolaires algériens entre 1966 et 1988 ?</a:t>
            </a:r>
          </a:p>
          <a:p>
            <a:pPr algn="l">
              <a:spcAft>
                <a:spcPts val="600"/>
              </a:spcAft>
              <a:defRPr sz="1800" b="1">
                <a:solidFill>
                  <a:srgbClr val="1F4E79"/>
                </a:solidFill>
              </a:defRPr>
            </a:pPr>
            <a:r>
              <a:t>❓ Quelle part du budget de l'État va à l'éducation ?</a:t>
            </a:r>
          </a:p>
          <a:p>
            <a:pPr algn="l">
              <a:spcAft>
                <a:spcPts val="600"/>
              </a:spcAft>
              <a:defRPr sz="1800" b="1">
                <a:solidFill>
                  <a:srgbClr val="1F4E79"/>
                </a:solidFill>
              </a:defRPr>
            </a:pPr>
            <a:r>
              <a:t>❓ Tout le monde est-il scolarisé ? Dans quelles conditions ?</a:t>
            </a:r>
          </a:p>
          <a:p>
            <a:pPr algn="l">
              <a:spcAft>
                <a:spcPts val="600"/>
              </a:spcAft>
              <a:defRPr sz="1800" b="1">
                <a:solidFill>
                  <a:srgbClr val="1F4E79"/>
                </a:solidFill>
              </a:defRPr>
            </a:pPr>
            <a:r>
              <a:t>❓ Quelle est la 2e conséquence de la hausse du nombre de jeunes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 lourdes conséquences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Forte hausse : de 1,5 million à plus de 6 millions d'élèves.</a:t>
            </a:r>
          </a:p>
          <a:p>
            <a:pPr algn="l">
              <a:spcAft>
                <a:spcPts val="600"/>
              </a:spcAft>
              <a:defRPr sz="1900" b="0">
                <a:solidFill>
                  <a:srgbClr val="2B2B2B"/>
                </a:solidFill>
              </a:defRPr>
            </a:pPr>
            <a:r>
              <a:t>✅ 30 %, c'est-à-dire beaucoup.</a:t>
            </a:r>
          </a:p>
          <a:p>
            <a:pPr algn="l">
              <a:spcAft>
                <a:spcPts val="600"/>
              </a:spcAft>
              <a:defRPr sz="1900" b="0">
                <a:solidFill>
                  <a:srgbClr val="2B2B2B"/>
                </a:solidFill>
              </a:defRPr>
            </a:pPr>
            <a:r>
              <a:t>✅ Non, seulement 80 % des jeunes, dans de mauvaises conditions.</a:t>
            </a:r>
          </a:p>
          <a:p>
            <a:pPr algn="l">
              <a:spcAft>
                <a:spcPts val="600"/>
              </a:spcAft>
              <a:defRPr sz="1900" b="0">
                <a:solidFill>
                  <a:srgbClr val="2B2B2B"/>
                </a:solidFill>
              </a:defRPr>
            </a:pPr>
            <a:r>
              <a:t>✅ Le chômage : 250 000 jeunes arrivent chaque année sur le marché du travail, mais seulement 80 000 emplois créés.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Doc. 4 p. 225 : le taux d'urbanisation</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urbanisation.png"/>
          <p:cNvPicPr>
            <a:picLocks noChangeAspect="1"/>
          </p:cNvPicPr>
          <p:nvPr/>
        </p:nvPicPr>
        <p:blipFill>
          <a:blip r:embed="rId2"/>
          <a:stretch>
            <a:fillRect/>
          </a:stretch>
        </p:blipFill>
        <p:spPr>
          <a:xfrm>
            <a:off x="457200" y="1280160"/>
            <a:ext cx="5203231" cy="4937760"/>
          </a:xfrm>
          <a:prstGeom prst="rect">
            <a:avLst/>
          </a:prstGeom>
        </p:spPr>
      </p:pic>
      <p:sp>
        <p:nvSpPr>
          <p:cNvPr id="34" name="TextBox 33"/>
          <p:cNvSpPr txBox="1"/>
          <p:nvPr/>
        </p:nvSpPr>
        <p:spPr>
          <a:xfrm>
            <a:off x="5934751" y="1371600"/>
            <a:ext cx="5952449" cy="4206240"/>
          </a:xfrm>
          <a:prstGeom prst="rect">
            <a:avLst/>
          </a:prstGeom>
          <a:noFill/>
        </p:spPr>
        <p:txBody>
          <a:bodyPr wrap="square">
            <a:spAutoFit/>
          </a:bodyPr>
          <a:lstStyle/>
          <a:p>
            <a:pPr algn="l">
              <a:spcAft>
                <a:spcPts val="600"/>
              </a:spcAft>
              <a:defRPr sz="1800" b="1">
                <a:solidFill>
                  <a:srgbClr val="1F4E79"/>
                </a:solidFill>
              </a:defRPr>
            </a:pPr>
            <a:r>
              <a:t>❓ Comment a évolué la population urbaine ?</a:t>
            </a:r>
          </a:p>
          <a:p>
            <a:pPr algn="l">
              <a:spcAft>
                <a:spcPts val="600"/>
              </a:spcAft>
              <a:defRPr sz="1800" b="1">
                <a:solidFill>
                  <a:srgbClr val="1F4E79"/>
                </a:solidFill>
              </a:defRPr>
            </a:pPr>
            <a:r>
              <a:t>❓ À quoi ce phénomène est-il dû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 taux d'urbanisation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Forte hausse : d'environ 40 % à près de 60 % de la population (1970 → 2000).</a:t>
            </a:r>
          </a:p>
          <a:p>
            <a:pPr algn="l">
              <a:spcAft>
                <a:spcPts val="600"/>
              </a:spcAft>
              <a:defRPr sz="1900" b="0">
                <a:solidFill>
                  <a:srgbClr val="2B2B2B"/>
                </a:solidFill>
              </a:defRPr>
            </a:pPr>
            <a:r>
              <a:t>✅ Au chômage dans les campagnes (exode rural) et à la forte croissance de la population.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 Doc. 6 p. 225 : les problèmes dans les villes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villes.png"/>
          <p:cNvPicPr>
            <a:picLocks noChangeAspect="1"/>
          </p:cNvPicPr>
          <p:nvPr/>
        </p:nvPicPr>
        <p:blipFill>
          <a:blip r:embed="rId2"/>
          <a:stretch>
            <a:fillRect/>
          </a:stretch>
        </p:blipFill>
        <p:spPr>
          <a:xfrm>
            <a:off x="457200" y="1280160"/>
            <a:ext cx="2587386" cy="4937760"/>
          </a:xfrm>
          <a:prstGeom prst="rect">
            <a:avLst/>
          </a:prstGeom>
        </p:spPr>
      </p:pic>
      <p:sp>
        <p:nvSpPr>
          <p:cNvPr id="34" name="TextBox 33"/>
          <p:cNvSpPr txBox="1"/>
          <p:nvPr/>
        </p:nvSpPr>
        <p:spPr>
          <a:xfrm>
            <a:off x="3318906" y="1371600"/>
            <a:ext cx="8568294" cy="4206240"/>
          </a:xfrm>
          <a:prstGeom prst="rect">
            <a:avLst/>
          </a:prstGeom>
          <a:noFill/>
        </p:spPr>
        <p:txBody>
          <a:bodyPr wrap="square">
            <a:spAutoFit/>
          </a:bodyPr>
          <a:lstStyle/>
          <a:p>
            <a:pPr algn="l">
              <a:spcAft>
                <a:spcPts val="600"/>
              </a:spcAft>
              <a:defRPr sz="1800" b="1">
                <a:solidFill>
                  <a:srgbClr val="1F4E79"/>
                </a:solidFill>
              </a:defRPr>
            </a:pPr>
            <a:r>
              <a:t>❓ Quels problèmes la forte urbanisation a-t-elle entraînés ?</a:t>
            </a:r>
          </a:p>
          <a:p>
            <a:pPr algn="l">
              <a:spcAft>
                <a:spcPts val="600"/>
              </a:spcAft>
              <a:defRPr sz="1800" b="1">
                <a:solidFill>
                  <a:srgbClr val="1F4E79"/>
                </a:solidFill>
              </a:defRPr>
            </a:pPr>
            <a:r>
              <a:t>❓ Combien de personnes par logement en moyenne ?</a:t>
            </a:r>
          </a:p>
          <a:p>
            <a:pPr algn="l">
              <a:spcAft>
                <a:spcPts val="600"/>
              </a:spcAft>
              <a:defRPr sz="1800" b="1">
                <a:solidFill>
                  <a:srgbClr val="1F4E79"/>
                </a:solidFill>
              </a:defRPr>
            </a:pPr>
            <a:r>
              <a:t>❓ Où se concentrent les mécontentements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problèmes dans les villes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4754880"/>
          </a:xfrm>
          <a:prstGeom prst="rect">
            <a:avLst/>
          </a:prstGeom>
          <a:noFill/>
        </p:spPr>
        <p:txBody>
          <a:bodyPr wrap="square">
            <a:spAutoFit/>
          </a:bodyPr>
          <a:lstStyle/>
          <a:p>
            <a:pPr algn="l">
              <a:spcAft>
                <a:spcPts val="600"/>
              </a:spcAft>
              <a:defRPr sz="1900" b="0">
                <a:solidFill>
                  <a:srgbClr val="2B2B2B"/>
                </a:solidFill>
              </a:defRPr>
            </a:pPr>
            <a:r>
              <a:t>✅ Logement (bidonvilles), circulation, transports, manque d'emplois.</a:t>
            </a:r>
          </a:p>
          <a:p>
            <a:pPr algn="l">
              <a:spcAft>
                <a:spcPts val="600"/>
              </a:spcAft>
              <a:defRPr sz="1900" b="0">
                <a:solidFill>
                  <a:srgbClr val="2B2B2B"/>
                </a:solidFill>
              </a:defRPr>
            </a:pPr>
            <a:r>
              <a:t>✅ 8 personnes par logement.</a:t>
            </a:r>
          </a:p>
          <a:p>
            <a:pPr algn="l">
              <a:spcAft>
                <a:spcPts val="600"/>
              </a:spcAft>
              <a:defRPr sz="1900" b="0">
                <a:solidFill>
                  <a:srgbClr val="2B2B2B"/>
                </a:solidFill>
              </a:defRPr>
            </a:pPr>
            <a:r>
              <a:t>✅ Dans les quartiers pauvres des villes : « la poudrière du pays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Schéma : les conséquences de la croissance démographique</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3108960" y="1371600"/>
            <a:ext cx="594360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defRPr>
            </a:pPr>
            <a:r>
              <a:t>Augmentation de la population</a:t>
            </a:r>
          </a:p>
        </p:txBody>
      </p:sp>
      <p:cxnSp>
        <p:nvCxnSpPr>
          <p:cNvPr id="34" name="Connector 33"/>
          <p:cNvCxnSpPr/>
          <p:nvPr/>
        </p:nvCxnSpPr>
        <p:spPr>
          <a:xfrm flipH="1">
            <a:off x="233172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5" name="Rounded Rectangle 34">
            <a:hlinkClick action="ppaction://hlinksldjump" r:id="rId4"/>
          </p:cNvPr>
          <p:cNvSpPr/>
          <p:nvPr/>
        </p:nvSpPr>
        <p:spPr>
          <a:xfrm>
            <a:off x="731520"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1</a:t>
            </a:r>
          </a:p>
        </p:txBody>
      </p:sp>
      <p:cxnSp>
        <p:nvCxnSpPr>
          <p:cNvPr id="36" name="Connector 35"/>
          <p:cNvCxnSpPr/>
          <p:nvPr/>
        </p:nvCxnSpPr>
        <p:spPr>
          <a:xfrm flipH="1">
            <a:off x="6080759" y="2286000"/>
            <a:ext cx="1"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7" name="Rounded Rectangle 36">
            <a:hlinkClick action="ppaction://hlinksldjump" r:id="rId4"/>
          </p:cNvPr>
          <p:cNvSpPr/>
          <p:nvPr/>
        </p:nvSpPr>
        <p:spPr>
          <a:xfrm>
            <a:off x="4480559"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2</a:t>
            </a:r>
          </a:p>
        </p:txBody>
      </p:sp>
      <p:cxnSp>
        <p:nvCxnSpPr>
          <p:cNvPr id="38" name="Connector 37"/>
          <p:cNvCxnSpPr/>
          <p:nvPr/>
        </p:nvCxnSpPr>
        <p:spPr>
          <a:xfrm>
            <a:off x="608076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9" name="Rounded Rectangle 38">
            <a:hlinkClick action="ppaction://hlinksldjump" r:id="rId4"/>
          </p:cNvPr>
          <p:cNvSpPr/>
          <p:nvPr/>
        </p:nvSpPr>
        <p:spPr>
          <a:xfrm>
            <a:off x="8229600" y="3383280"/>
            <a:ext cx="3200400" cy="11887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 Conséquence 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Schéma complété</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3108960" y="1371600"/>
            <a:ext cx="5943600" cy="91440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600" b="1">
                <a:solidFill>
                  <a:srgbClr val="FFFFFF"/>
                </a:solidFill>
              </a:defRPr>
            </a:pPr>
            <a:r>
              <a:t>Augmentation de la population</a:t>
            </a:r>
          </a:p>
        </p:txBody>
      </p:sp>
      <p:cxnSp>
        <p:nvCxnSpPr>
          <p:cNvPr id="34" name="Connector 33"/>
          <p:cNvCxnSpPr/>
          <p:nvPr/>
        </p:nvCxnSpPr>
        <p:spPr>
          <a:xfrm flipH="1">
            <a:off x="233172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31520"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Scolarisation de tous les enfants difficile</a:t>
            </a:r>
          </a:p>
        </p:txBody>
      </p:sp>
      <p:cxnSp>
        <p:nvCxnSpPr>
          <p:cNvPr id="36" name="Connector 35"/>
          <p:cNvCxnSpPr/>
          <p:nvPr/>
        </p:nvCxnSpPr>
        <p:spPr>
          <a:xfrm flipH="1">
            <a:off x="6080759" y="2286000"/>
            <a:ext cx="1"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80559"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Exode rural, forte croissance urbaine, bidonvilles</a:t>
            </a:r>
          </a:p>
        </p:txBody>
      </p:sp>
      <p:cxnSp>
        <p:nvCxnSpPr>
          <p:cNvPr id="38" name="Connector 37"/>
          <p:cNvCxnSpPr/>
          <p:nvPr/>
        </p:nvCxnSpPr>
        <p:spPr>
          <a:xfrm>
            <a:off x="6080760" y="2286000"/>
            <a:ext cx="3749040" cy="1097280"/>
          </a:xfrm>
          <a:prstGeom prst="line">
            <a:avLst/>
          </a:prstGeom>
          <a:ln w="31750">
            <a:solidFill>
              <a:srgbClr val="2B2B2B"/>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229600" y="3383280"/>
            <a:ext cx="3200400" cy="11887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Chômage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 C.E. — Doc. 2 p. 230 : les migrations au Maghreb</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igrations.png"/>
          <p:cNvPicPr>
            <a:picLocks noChangeAspect="1"/>
          </p:cNvPicPr>
          <p:nvPr/>
        </p:nvPicPr>
        <p:blipFill>
          <a:blip r:embed="rId2"/>
          <a:stretch>
            <a:fillRect/>
          </a:stretch>
        </p:blipFill>
        <p:spPr>
          <a:xfrm>
            <a:off x="457200" y="1280160"/>
            <a:ext cx="3271266" cy="4937760"/>
          </a:xfrm>
          <a:prstGeom prst="rect">
            <a:avLst/>
          </a:prstGeom>
        </p:spPr>
      </p:pic>
      <p:sp>
        <p:nvSpPr>
          <p:cNvPr id="34" name="TextBox 33"/>
          <p:cNvSpPr txBox="1"/>
          <p:nvPr/>
        </p:nvSpPr>
        <p:spPr>
          <a:xfrm>
            <a:off x="4002786" y="1371600"/>
            <a:ext cx="7884413" cy="4206240"/>
          </a:xfrm>
          <a:prstGeom prst="rect">
            <a:avLst/>
          </a:prstGeom>
          <a:noFill/>
        </p:spPr>
        <p:txBody>
          <a:bodyPr wrap="square">
            <a:spAutoFit/>
          </a:bodyPr>
          <a:lstStyle/>
          <a:p>
            <a:pPr algn="l">
              <a:spcAft>
                <a:spcPts val="600"/>
              </a:spcAft>
              <a:defRPr sz="1800" b="1">
                <a:solidFill>
                  <a:srgbClr val="1F4E79"/>
                </a:solidFill>
              </a:defRPr>
            </a:pPr>
            <a:r>
              <a:t>❓ Face à la pauvreté, que fait une partie de la population ?</a:t>
            </a:r>
          </a:p>
          <a:p>
            <a:pPr algn="l">
              <a:spcAft>
                <a:spcPts val="600"/>
              </a:spcAft>
              <a:defRPr sz="1800" b="1">
                <a:solidFill>
                  <a:srgbClr val="1F4E79"/>
                </a:solidFill>
              </a:defRPr>
            </a:pPr>
            <a:r>
              <a:t>❓ Quelles sont les motivations ?</a:t>
            </a:r>
          </a:p>
          <a:p>
            <a:pPr algn="l">
              <a:spcAft>
                <a:spcPts val="600"/>
              </a:spcAft>
              <a:defRPr sz="1800" b="1">
                <a:solidFill>
                  <a:srgbClr val="1F4E79"/>
                </a:solidFill>
              </a:defRPr>
            </a:pPr>
            <a:r>
              <a:t>❓ Vers quels pays se dirigent les émigrés ?</a:t>
            </a:r>
          </a:p>
          <a:p>
            <a:pPr algn="l">
              <a:spcAft>
                <a:spcPts val="600"/>
              </a:spcAft>
              <a:defRPr sz="1800" b="1">
                <a:solidFill>
                  <a:srgbClr val="1F4E79"/>
                </a:solidFill>
              </a:defRPr>
            </a:pPr>
            <a:r>
              <a:t>❓ Ce phénomène est-il du passé ou du présent ?</a:t>
            </a:r>
          </a:p>
          <a:p>
            <a:pPr algn="l">
              <a:spcAft>
                <a:spcPts val="600"/>
              </a:spcAft>
              <a:defRPr sz="1800" b="1">
                <a:solidFill>
                  <a:srgbClr val="1F4E79"/>
                </a:solidFill>
              </a:defRPr>
            </a:pPr>
            <a:r>
              <a:t>❓ Quelle part des revenus du Maroc représentait l'argent envoyé en 1993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les migrations au Maghreb</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Elle émigre vers l'Europe.</a:t>
            </a:r>
          </a:p>
          <a:p>
            <a:pPr algn="l">
              <a:spcAft>
                <a:spcPts val="600"/>
              </a:spcAft>
              <a:defRPr sz="1900" b="0">
                <a:solidFill>
                  <a:srgbClr val="2B2B2B"/>
                </a:solidFill>
              </a:defRPr>
            </a:pPr>
            <a:r>
              <a:t>✅ Le travail.</a:t>
            </a:r>
          </a:p>
          <a:p>
            <a:pPr algn="l">
              <a:spcAft>
                <a:spcPts val="600"/>
              </a:spcAft>
              <a:defRPr sz="1900" b="0">
                <a:solidFill>
                  <a:srgbClr val="2B2B2B"/>
                </a:solidFill>
              </a:defRPr>
            </a:pPr>
            <a:r>
              <a:t>✅ La France, le Benelux, l'Italie et l'Espagne.</a:t>
            </a:r>
          </a:p>
          <a:p>
            <a:pPr algn="l">
              <a:spcAft>
                <a:spcPts val="600"/>
              </a:spcAft>
              <a:defRPr sz="1900" b="0">
                <a:solidFill>
                  <a:srgbClr val="2B2B2B"/>
                </a:solidFill>
              </a:defRPr>
            </a:pPr>
            <a:r>
              <a:t>✅ Surtout du passé : l'Europe a fermé ses frontières ; aujourd'hui surtout regroupement familial (et clandestins).</a:t>
            </a:r>
          </a:p>
          <a:p>
            <a:pPr algn="l">
              <a:spcAft>
                <a:spcPts val="600"/>
              </a:spcAft>
              <a:defRPr sz="1900" b="0">
                <a:solidFill>
                  <a:srgbClr val="2B2B2B"/>
                </a:solidFill>
              </a:defRPr>
            </a:pPr>
            <a:r>
              <a:t>✅ 7,5 % (4,5 % pour la Tunisie, 2,5 % pour l'Algérie).</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Depuis environ 40 ans, beaucoup de Maghrébins ont choisi d'émigrer vers l'Europe pour travailler. Aujourd'hui, l'Europe a fermé ses frontières et seul le regroupement familial est autorisé. Certains tentent toutefois encore d'émigrer : on parle de clandestins.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IV. Islam, Moyen-Orient et conflits</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30'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011680"/>
            <a:ext cx="10972800" cy="914400"/>
          </a:xfrm>
          <a:prstGeom prst="rect">
            <a:avLst/>
          </a:prstGeom>
          <a:noFill/>
        </p:spPr>
        <p:txBody>
          <a:bodyPr wrap="square">
            <a:spAutoFit/>
          </a:bodyPr>
          <a:lstStyle/>
          <a:p>
            <a:pPr algn="ctr">
              <a:spcAft>
                <a:spcPts val="600"/>
              </a:spcAft>
              <a:defRPr sz="3400" b="1">
                <a:solidFill>
                  <a:srgbClr val="E0A11B"/>
                </a:solidFill>
              </a:defRPr>
            </a:pPr>
            <a:r>
              <a:t>Une région riche d'histoire… mais aussi de tensions</a:t>
            </a:r>
          </a:p>
        </p:txBody>
      </p:sp>
      <p:sp>
        <p:nvSpPr>
          <p:cNvPr id="35" name="TextBox 34"/>
          <p:cNvSpPr txBox="1"/>
          <p:nvPr/>
        </p:nvSpPr>
        <p:spPr>
          <a:xfrm>
            <a:off x="548640" y="3291840"/>
            <a:ext cx="10972800" cy="1371600"/>
          </a:xfrm>
          <a:prstGeom prst="rect">
            <a:avLst/>
          </a:prstGeom>
          <a:noFill/>
        </p:spPr>
        <p:txBody>
          <a:bodyPr wrap="square">
            <a:spAutoFit/>
          </a:bodyPr>
          <a:lstStyle/>
          <a:p>
            <a:pPr algn="ctr">
              <a:spcAft>
                <a:spcPts val="600"/>
              </a:spcAft>
              <a:defRPr sz="2200" b="0">
                <a:solidFill>
                  <a:srgbClr val="FFFFFF"/>
                </a:solidFill>
              </a:defRPr>
            </a:pPr>
            <a:r>
              <a:t>A/ L'arrivée de l'islam   •   B/ Sunnites et chiites</a:t>
            </a:r>
          </a:p>
          <a:p>
            <a:pPr algn="ctr">
              <a:spcAft>
                <a:spcPts val="600"/>
              </a:spcAft>
              <a:defRPr sz="2200" b="0">
                <a:solidFill>
                  <a:srgbClr val="FFFFFF"/>
                </a:solidFill>
              </a:defRPr>
            </a:pPr>
            <a:r>
              <a:t>C/ Les conflits au Moyen-Orient   •   D/ Printemps arabe et terrorisme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A/ Quand l'islam est-il arrivé au Maghreb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463040" cy="7315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610</a:t>
            </a:r>
          </a:p>
        </p:txBody>
      </p:sp>
      <p:sp>
        <p:nvSpPr>
          <p:cNvPr id="34" name="TextBox 33"/>
          <p:cNvSpPr txBox="1"/>
          <p:nvPr/>
        </p:nvSpPr>
        <p:spPr>
          <a:xfrm>
            <a:off x="2194560" y="1463040"/>
            <a:ext cx="9509760" cy="731520"/>
          </a:xfrm>
          <a:prstGeom prst="rect">
            <a:avLst/>
          </a:prstGeom>
          <a:noFill/>
        </p:spPr>
        <p:txBody>
          <a:bodyPr wrap="square">
            <a:spAutoFit/>
          </a:bodyPr>
          <a:lstStyle/>
          <a:p>
            <a:pPr algn="l">
              <a:spcAft>
                <a:spcPts val="600"/>
              </a:spcAft>
              <a:defRPr sz="1900" b="0">
                <a:solidFill>
                  <a:srgbClr val="2B2B2B"/>
                </a:solidFill>
              </a:defRPr>
            </a:pPr>
            <a:r>
              <a:t>Mahomet reçoit la Révélation à La Mecque</a:t>
            </a:r>
          </a:p>
        </p:txBody>
      </p:sp>
      <p:sp>
        <p:nvSpPr>
          <p:cNvPr id="35" name="Rounded Rectangle 34"/>
          <p:cNvSpPr/>
          <p:nvPr/>
        </p:nvSpPr>
        <p:spPr>
          <a:xfrm>
            <a:off x="548640" y="2240280"/>
            <a:ext cx="146304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622</a:t>
            </a:r>
          </a:p>
        </p:txBody>
      </p:sp>
      <p:sp>
        <p:nvSpPr>
          <p:cNvPr id="36" name="TextBox 35"/>
          <p:cNvSpPr txBox="1"/>
          <p:nvPr/>
        </p:nvSpPr>
        <p:spPr>
          <a:xfrm>
            <a:off x="2194560" y="2331720"/>
            <a:ext cx="9509760" cy="731520"/>
          </a:xfrm>
          <a:prstGeom prst="rect">
            <a:avLst/>
          </a:prstGeom>
          <a:noFill/>
        </p:spPr>
        <p:txBody>
          <a:bodyPr wrap="square">
            <a:spAutoFit/>
          </a:bodyPr>
          <a:lstStyle/>
          <a:p>
            <a:pPr algn="l">
              <a:spcAft>
                <a:spcPts val="600"/>
              </a:spcAft>
              <a:defRPr sz="1900" b="0">
                <a:solidFill>
                  <a:srgbClr val="2B2B2B"/>
                </a:solidFill>
              </a:defRPr>
            </a:pPr>
            <a:r>
              <a:t>Hégire : départ pour Médine (an 1 du calendrier musulman)</a:t>
            </a:r>
          </a:p>
        </p:txBody>
      </p:sp>
      <p:sp>
        <p:nvSpPr>
          <p:cNvPr id="37" name="Rounded Rectangle 36"/>
          <p:cNvSpPr/>
          <p:nvPr/>
        </p:nvSpPr>
        <p:spPr>
          <a:xfrm>
            <a:off x="548640" y="3108960"/>
            <a:ext cx="1463040" cy="7315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632</a:t>
            </a:r>
          </a:p>
        </p:txBody>
      </p:sp>
      <p:sp>
        <p:nvSpPr>
          <p:cNvPr id="38" name="TextBox 37"/>
          <p:cNvSpPr txBox="1"/>
          <p:nvPr/>
        </p:nvSpPr>
        <p:spPr>
          <a:xfrm>
            <a:off x="2194560" y="3200400"/>
            <a:ext cx="9509760" cy="731520"/>
          </a:xfrm>
          <a:prstGeom prst="rect">
            <a:avLst/>
          </a:prstGeom>
          <a:noFill/>
        </p:spPr>
        <p:txBody>
          <a:bodyPr wrap="square">
            <a:spAutoFit/>
          </a:bodyPr>
          <a:lstStyle/>
          <a:p>
            <a:pPr algn="l">
              <a:spcAft>
                <a:spcPts val="600"/>
              </a:spcAft>
              <a:defRPr sz="1900" b="0">
                <a:solidFill>
                  <a:srgbClr val="2B2B2B"/>
                </a:solidFill>
              </a:defRPr>
            </a:pPr>
            <a:r>
              <a:t>Mort de Mahomet</a:t>
            </a:r>
          </a:p>
        </p:txBody>
      </p:sp>
      <p:sp>
        <p:nvSpPr>
          <p:cNvPr id="39" name="Rounded Rectangle 38"/>
          <p:cNvSpPr/>
          <p:nvPr/>
        </p:nvSpPr>
        <p:spPr>
          <a:xfrm>
            <a:off x="548640" y="3977639"/>
            <a:ext cx="1463040" cy="73152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670</a:t>
            </a:r>
          </a:p>
        </p:txBody>
      </p:sp>
      <p:sp>
        <p:nvSpPr>
          <p:cNvPr id="40" name="TextBox 39"/>
          <p:cNvSpPr txBox="1"/>
          <p:nvPr/>
        </p:nvSpPr>
        <p:spPr>
          <a:xfrm>
            <a:off x="2194560" y="4069079"/>
            <a:ext cx="9509760" cy="731520"/>
          </a:xfrm>
          <a:prstGeom prst="rect">
            <a:avLst/>
          </a:prstGeom>
          <a:noFill/>
        </p:spPr>
        <p:txBody>
          <a:bodyPr wrap="square">
            <a:spAutoFit/>
          </a:bodyPr>
          <a:lstStyle/>
          <a:p>
            <a:pPr algn="l">
              <a:spcAft>
                <a:spcPts val="600"/>
              </a:spcAft>
              <a:defRPr sz="1900" b="0">
                <a:solidFill>
                  <a:srgbClr val="2B2B2B"/>
                </a:solidFill>
              </a:defRPr>
            </a:pPr>
            <a:r>
              <a:t>Fondation de Kairouan (Tunisie), 1re grande ville musulmane du Maghreb</a:t>
            </a:r>
          </a:p>
        </p:txBody>
      </p:sp>
      <p:sp>
        <p:nvSpPr>
          <p:cNvPr id="41" name="Rounded Rectangle 40"/>
          <p:cNvSpPr/>
          <p:nvPr/>
        </p:nvSpPr>
        <p:spPr>
          <a:xfrm>
            <a:off x="548640" y="4846320"/>
            <a:ext cx="1463040" cy="7315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711</a:t>
            </a:r>
          </a:p>
        </p:txBody>
      </p:sp>
      <p:sp>
        <p:nvSpPr>
          <p:cNvPr id="42" name="TextBox 41"/>
          <p:cNvSpPr txBox="1"/>
          <p:nvPr/>
        </p:nvSpPr>
        <p:spPr>
          <a:xfrm>
            <a:off x="2194560" y="4937760"/>
            <a:ext cx="9509760" cy="731520"/>
          </a:xfrm>
          <a:prstGeom prst="rect">
            <a:avLst/>
          </a:prstGeom>
          <a:noFill/>
        </p:spPr>
        <p:txBody>
          <a:bodyPr wrap="square">
            <a:spAutoFit/>
          </a:bodyPr>
          <a:lstStyle/>
          <a:p>
            <a:pPr algn="l">
              <a:spcAft>
                <a:spcPts val="600"/>
              </a:spcAft>
              <a:defRPr sz="1900" b="0">
                <a:solidFill>
                  <a:srgbClr val="2B2B2B"/>
                </a:solidFill>
              </a:defRPr>
            </a:pPr>
            <a:r>
              <a:t>Tariq ibn Ziyad traverse vers l'Espagne (Gibraltar = « Djebel Tariq »)</a:t>
            </a:r>
          </a:p>
        </p:txBody>
      </p:sp>
      <p:sp>
        <p:nvSpPr>
          <p:cNvPr id="43" name="TextBox 42"/>
          <p:cNvSpPr txBox="1"/>
          <p:nvPr/>
        </p:nvSpPr>
        <p:spPr>
          <a:xfrm>
            <a:off x="548640" y="5806440"/>
            <a:ext cx="10972800" cy="457200"/>
          </a:xfrm>
          <a:prstGeom prst="rect">
            <a:avLst/>
          </a:prstGeom>
          <a:noFill/>
        </p:spPr>
        <p:txBody>
          <a:bodyPr wrap="square">
            <a:spAutoFit/>
          </a:bodyPr>
          <a:lstStyle/>
          <a:p>
            <a:pPr algn="l">
              <a:spcAft>
                <a:spcPts val="600"/>
              </a:spcAft>
              <a:defRPr sz="1600" b="1">
                <a:solidFill>
                  <a:srgbClr val="B84A1E"/>
                </a:solidFill>
              </a:defRPr>
            </a:pPr>
            <a:r>
              <a:t>➡️ Les Berbères se convertissent peu à peu ; l'arabe devient la langue de la religion et des villes.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B/ Sunnites et chiites : quelle différence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25880"/>
            <a:ext cx="11064240" cy="3840480"/>
          </a:xfrm>
          <a:prstGeom prst="rect">
            <a:avLst/>
          </a:prstGeom>
          <a:noFill/>
        </p:spPr>
        <p:txBody>
          <a:bodyPr wrap="square">
            <a:spAutoFit/>
          </a:bodyPr>
          <a:lstStyle/>
          <a:p>
            <a:pPr algn="l">
              <a:spcAft>
                <a:spcPts val="600"/>
              </a:spcAft>
              <a:defRPr sz="1600" b="0">
                <a:solidFill>
                  <a:srgbClr val="2B2B2B"/>
                </a:solidFill>
              </a:defRPr>
            </a:pPr>
            <a:r>
              <a:t>❓ Pourquoi les musulmans se sont-ils divisés après 632 ?</a:t>
            </a:r>
          </a:p>
          <a:p>
            <a:pPr algn="l">
              <a:spcAft>
                <a:spcPts val="600"/>
              </a:spcAft>
              <a:defRPr sz="1600" b="0">
                <a:solidFill>
                  <a:srgbClr val="2B2B2B"/>
                </a:solidFill>
              </a:defRPr>
            </a:pPr>
            <a:r>
              <a:t>     ➜ Désaccord sur la succession de Mahomet (qui doit diriger les musulmans ?).</a:t>
            </a:r>
          </a:p>
          <a:p>
            <a:pPr algn="l">
              <a:spcAft>
                <a:spcPts val="600"/>
              </a:spcAft>
              <a:defRPr sz="1600" b="0">
                <a:solidFill>
                  <a:srgbClr val="2B2B2B"/>
                </a:solidFill>
              </a:defRPr>
            </a:pPr>
            <a:r>
              <a:t>❓ Que pensent les sunnites ? les chiites ?</a:t>
            </a:r>
          </a:p>
          <a:p>
            <a:pPr algn="l">
              <a:spcAft>
                <a:spcPts val="600"/>
              </a:spcAft>
              <a:defRPr sz="1600" b="0">
                <a:solidFill>
                  <a:srgbClr val="2B2B2B"/>
                </a:solidFill>
              </a:defRPr>
            </a:pPr>
            <a:r>
              <a:t>     ➜ Sunnites (≈ 85-90 %) : le chef (calife) est choisi parmi les fidèles. Chiites (≈ 10-15 %) : il doit descendre d'Ali, gendre de Mahomet (bataille de Kerbala, 680).</a:t>
            </a:r>
          </a:p>
          <a:p>
            <a:pPr algn="l">
              <a:spcAft>
                <a:spcPts val="600"/>
              </a:spcAft>
              <a:defRPr sz="1600" b="0">
                <a:solidFill>
                  <a:srgbClr val="2B2B2B"/>
                </a:solidFill>
              </a:defRPr>
            </a:pPr>
            <a:r>
              <a:t>❓ Le Maghreb est-il sunnite ou chiite ?</a:t>
            </a:r>
          </a:p>
          <a:p>
            <a:pPr algn="l">
              <a:spcAft>
                <a:spcPts val="600"/>
              </a:spcAft>
              <a:defRPr sz="1600" b="0">
                <a:solidFill>
                  <a:srgbClr val="2B2B2B"/>
                </a:solidFill>
              </a:defRPr>
            </a:pPr>
            <a:r>
              <a:t>     ➜ Presque entièrement sunnite (rite malékite).</a:t>
            </a:r>
          </a:p>
          <a:p>
            <a:pPr algn="l">
              <a:spcAft>
                <a:spcPts val="600"/>
              </a:spcAft>
              <a:defRPr sz="1600" b="0">
                <a:solidFill>
                  <a:srgbClr val="2B2B2B"/>
                </a:solidFill>
              </a:defRPr>
            </a:pPr>
            <a:r>
              <a:t>❓ Où vivent surtout les chiites ?</a:t>
            </a:r>
          </a:p>
          <a:p>
            <a:pPr algn="l">
              <a:spcAft>
                <a:spcPts val="600"/>
              </a:spcAft>
              <a:defRPr sz="1600" b="0">
                <a:solidFill>
                  <a:srgbClr val="2B2B2B"/>
                </a:solidFill>
              </a:defRPr>
            </a:pPr>
            <a:r>
              <a:t>     ➜ Iran, Irak, Bahreïn, Liban (en partie).</a:t>
            </a:r>
          </a:p>
        </p:txBody>
      </p:sp>
      <p:sp>
        <p:nvSpPr>
          <p:cNvPr id="34" name="Rounded Rectangle 33"/>
          <p:cNvSpPr/>
          <p:nvPr/>
        </p:nvSpPr>
        <p:spPr>
          <a:xfrm>
            <a:off x="548640" y="5257800"/>
            <a:ext cx="11064240" cy="9144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303520"/>
            <a:ext cx="10698480" cy="868680"/>
          </a:xfrm>
          <a:prstGeom prst="rect">
            <a:avLst/>
          </a:prstGeom>
          <a:noFill/>
        </p:spPr>
        <p:txBody>
          <a:bodyPr wrap="square">
            <a:spAutoFit/>
          </a:bodyPr>
          <a:lstStyle/>
          <a:p>
            <a:pPr algn="l">
              <a:spcAft>
                <a:spcPts val="600"/>
              </a:spcAft>
              <a:defRPr sz="1400" b="1">
                <a:solidFill>
                  <a:srgbClr val="1A2FC8"/>
                </a:solidFill>
              </a:defRPr>
            </a:pPr>
            <a:r>
              <a:t>✏️ Trace écrite : Le Maghreb est musulman sunnite. La division sunnites/chiites, née d'une querelle de succession, alimente aujourd'hui des rivalités au Moyen-Orient (Arabie saoudite sunnite / Iran chiite).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C/ Le Moyen-Orient : une région de conflits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1948 →</a:t>
            </a:r>
          </a:p>
        </p:txBody>
      </p:sp>
      <p:sp>
        <p:nvSpPr>
          <p:cNvPr id="34" name="TextBox 33"/>
          <p:cNvSpPr txBox="1"/>
          <p:nvPr/>
        </p:nvSpPr>
        <p:spPr>
          <a:xfrm>
            <a:off x="2651760" y="1417320"/>
            <a:ext cx="8961120" cy="640080"/>
          </a:xfrm>
          <a:prstGeom prst="rect">
            <a:avLst/>
          </a:prstGeom>
          <a:noFill/>
        </p:spPr>
        <p:txBody>
          <a:bodyPr wrap="square">
            <a:spAutoFit/>
          </a:bodyPr>
          <a:lstStyle/>
          <a:p>
            <a:pPr algn="l">
              <a:spcAft>
                <a:spcPts val="600"/>
              </a:spcAft>
              <a:defRPr sz="1900" b="0">
                <a:solidFill>
                  <a:srgbClr val="2B2B2B"/>
                </a:solidFill>
              </a:defRPr>
            </a:pPr>
            <a:r>
              <a:t>Conflit israélo-palestinien</a:t>
            </a:r>
          </a:p>
        </p:txBody>
      </p:sp>
      <p:sp>
        <p:nvSpPr>
          <p:cNvPr id="35" name="Rounded Rectangle 34"/>
          <p:cNvSpPr/>
          <p:nvPr/>
        </p:nvSpPr>
        <p:spPr>
          <a:xfrm>
            <a:off x="548640" y="2121408"/>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1980–1988</a:t>
            </a:r>
          </a:p>
        </p:txBody>
      </p:sp>
      <p:sp>
        <p:nvSpPr>
          <p:cNvPr id="36" name="TextBox 35"/>
          <p:cNvSpPr txBox="1"/>
          <p:nvPr/>
        </p:nvSpPr>
        <p:spPr>
          <a:xfrm>
            <a:off x="2651760" y="2167128"/>
            <a:ext cx="8961120" cy="640080"/>
          </a:xfrm>
          <a:prstGeom prst="rect">
            <a:avLst/>
          </a:prstGeom>
          <a:noFill/>
        </p:spPr>
        <p:txBody>
          <a:bodyPr wrap="square">
            <a:spAutoFit/>
          </a:bodyPr>
          <a:lstStyle/>
          <a:p>
            <a:pPr algn="l">
              <a:spcAft>
                <a:spcPts val="600"/>
              </a:spcAft>
              <a:defRPr sz="1900" b="0">
                <a:solidFill>
                  <a:srgbClr val="2B2B2B"/>
                </a:solidFill>
              </a:defRPr>
            </a:pPr>
            <a:r>
              <a:t>Guerre Iran–Irak</a:t>
            </a:r>
          </a:p>
        </p:txBody>
      </p:sp>
      <p:sp>
        <p:nvSpPr>
          <p:cNvPr id="37" name="Rounded Rectangle 36"/>
          <p:cNvSpPr/>
          <p:nvPr/>
        </p:nvSpPr>
        <p:spPr>
          <a:xfrm>
            <a:off x="548640" y="2871215"/>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2003</a:t>
            </a:r>
          </a:p>
        </p:txBody>
      </p:sp>
      <p:sp>
        <p:nvSpPr>
          <p:cNvPr id="38" name="TextBox 37"/>
          <p:cNvSpPr txBox="1"/>
          <p:nvPr/>
        </p:nvSpPr>
        <p:spPr>
          <a:xfrm>
            <a:off x="2651760" y="2916936"/>
            <a:ext cx="8961120" cy="640080"/>
          </a:xfrm>
          <a:prstGeom prst="rect">
            <a:avLst/>
          </a:prstGeom>
          <a:noFill/>
        </p:spPr>
        <p:txBody>
          <a:bodyPr wrap="square">
            <a:spAutoFit/>
          </a:bodyPr>
          <a:lstStyle/>
          <a:p>
            <a:pPr algn="l">
              <a:spcAft>
                <a:spcPts val="600"/>
              </a:spcAft>
              <a:defRPr sz="1900" b="0">
                <a:solidFill>
                  <a:srgbClr val="2B2B2B"/>
                </a:solidFill>
              </a:defRPr>
            </a:pPr>
            <a:r>
              <a:t>Guerre en Irak (intervention américaine)</a:t>
            </a:r>
          </a:p>
        </p:txBody>
      </p:sp>
      <p:sp>
        <p:nvSpPr>
          <p:cNvPr id="39" name="Rounded Rectangle 38"/>
          <p:cNvSpPr/>
          <p:nvPr/>
        </p:nvSpPr>
        <p:spPr>
          <a:xfrm>
            <a:off x="548640" y="3621024"/>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2011 →</a:t>
            </a:r>
          </a:p>
        </p:txBody>
      </p:sp>
      <p:sp>
        <p:nvSpPr>
          <p:cNvPr id="40" name="TextBox 39"/>
          <p:cNvSpPr txBox="1"/>
          <p:nvPr/>
        </p:nvSpPr>
        <p:spPr>
          <a:xfrm>
            <a:off x="2651760" y="3666744"/>
            <a:ext cx="8961120" cy="640080"/>
          </a:xfrm>
          <a:prstGeom prst="rect">
            <a:avLst/>
          </a:prstGeom>
          <a:noFill/>
        </p:spPr>
        <p:txBody>
          <a:bodyPr wrap="square">
            <a:spAutoFit/>
          </a:bodyPr>
          <a:lstStyle/>
          <a:p>
            <a:pPr algn="l">
              <a:spcAft>
                <a:spcPts val="600"/>
              </a:spcAft>
              <a:defRPr sz="1900" b="0">
                <a:solidFill>
                  <a:srgbClr val="2B2B2B"/>
                </a:solidFill>
              </a:defRPr>
            </a:pPr>
            <a:r>
              <a:t>Guerre civile en Syrie</a:t>
            </a:r>
          </a:p>
        </p:txBody>
      </p:sp>
      <p:sp>
        <p:nvSpPr>
          <p:cNvPr id="41" name="Rounded Rectangle 40"/>
          <p:cNvSpPr/>
          <p:nvPr/>
        </p:nvSpPr>
        <p:spPr>
          <a:xfrm>
            <a:off x="548640" y="4370831"/>
            <a:ext cx="1920240" cy="6400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2014–2019</a:t>
            </a:r>
          </a:p>
        </p:txBody>
      </p:sp>
      <p:sp>
        <p:nvSpPr>
          <p:cNvPr id="42" name="TextBox 41"/>
          <p:cNvSpPr txBox="1"/>
          <p:nvPr/>
        </p:nvSpPr>
        <p:spPr>
          <a:xfrm>
            <a:off x="2651760" y="4416552"/>
            <a:ext cx="8961120" cy="640080"/>
          </a:xfrm>
          <a:prstGeom prst="rect">
            <a:avLst/>
          </a:prstGeom>
          <a:noFill/>
        </p:spPr>
        <p:txBody>
          <a:bodyPr wrap="square">
            <a:spAutoFit/>
          </a:bodyPr>
          <a:lstStyle/>
          <a:p>
            <a:pPr algn="l">
              <a:spcAft>
                <a:spcPts val="600"/>
              </a:spcAft>
              <a:defRPr sz="1900" b="0">
                <a:solidFill>
                  <a:srgbClr val="2B2B2B"/>
                </a:solidFill>
              </a:defRPr>
            </a:pPr>
            <a:r>
              <a:t>L'État islamique (Daech) en Irak et en Syrie</a:t>
            </a:r>
          </a:p>
        </p:txBody>
      </p:sp>
      <p:sp>
        <p:nvSpPr>
          <p:cNvPr id="43" name="Rounded Rectangle 42"/>
          <p:cNvSpPr/>
          <p:nvPr/>
        </p:nvSpPr>
        <p:spPr>
          <a:xfrm>
            <a:off x="548640" y="5120640"/>
            <a:ext cx="192024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2015 →</a:t>
            </a:r>
          </a:p>
        </p:txBody>
      </p:sp>
      <p:sp>
        <p:nvSpPr>
          <p:cNvPr id="44" name="TextBox 43"/>
          <p:cNvSpPr txBox="1"/>
          <p:nvPr/>
        </p:nvSpPr>
        <p:spPr>
          <a:xfrm>
            <a:off x="2651760" y="5166359"/>
            <a:ext cx="8961120" cy="640080"/>
          </a:xfrm>
          <a:prstGeom prst="rect">
            <a:avLst/>
          </a:prstGeom>
          <a:noFill/>
        </p:spPr>
        <p:txBody>
          <a:bodyPr wrap="square">
            <a:spAutoFit/>
          </a:bodyPr>
          <a:lstStyle/>
          <a:p>
            <a:pPr algn="l">
              <a:spcAft>
                <a:spcPts val="600"/>
              </a:spcAft>
              <a:defRPr sz="1900" b="0">
                <a:solidFill>
                  <a:srgbClr val="2B2B2B"/>
                </a:solidFill>
              </a:defRPr>
            </a:pPr>
            <a:r>
              <a:t>Guerre au Yémen (rivalité Arabie saoudite / Iran)</a:t>
            </a:r>
          </a:p>
        </p:txBody>
      </p:sp>
      <p:sp>
        <p:nvSpPr>
          <p:cNvPr id="45" name="TextBox 44"/>
          <p:cNvSpPr txBox="1"/>
          <p:nvPr/>
        </p:nvSpPr>
        <p:spPr>
          <a:xfrm>
            <a:off x="548640" y="5943600"/>
            <a:ext cx="10972800" cy="457200"/>
          </a:xfrm>
          <a:prstGeom prst="rect">
            <a:avLst/>
          </a:prstGeom>
          <a:noFill/>
        </p:spPr>
        <p:txBody>
          <a:bodyPr wrap="square">
            <a:spAutoFit/>
          </a:bodyPr>
          <a:lstStyle/>
          <a:p>
            <a:pPr algn="l">
              <a:spcAft>
                <a:spcPts val="600"/>
              </a:spcAft>
              <a:defRPr sz="1600" b="1">
                <a:solidFill>
                  <a:srgbClr val="1F4E79"/>
                </a:solidFill>
              </a:defRPr>
            </a:pPr>
            <a:r>
              <a:t>💡 Causes mêlées : pétrole, frontières, religion (sunnites/chiites), rivalités entre puissances.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 Le Printemps arabe (2010–2011)</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2377440" cy="731520"/>
          </a:xfrm>
          <a:prstGeom prst="rect">
            <a:avLst/>
          </a:prstGeom>
          <a:noFill/>
        </p:spPr>
        <p:txBody>
          <a:bodyPr wrap="square">
            <a:spAutoFit/>
          </a:bodyPr>
          <a:lstStyle/>
          <a:p>
            <a:pPr algn="l">
              <a:spcAft>
                <a:spcPts val="600"/>
              </a:spcAft>
              <a:defRPr sz="2000" b="1">
                <a:solidFill>
                  <a:srgbClr val="B84A1E"/>
                </a:solidFill>
              </a:defRPr>
            </a:pPr>
            <a:r>
              <a:t>🇹🇳 Tunisie</a:t>
            </a:r>
          </a:p>
        </p:txBody>
      </p:sp>
      <p:sp>
        <p:nvSpPr>
          <p:cNvPr id="34" name="TextBox 33"/>
          <p:cNvSpPr txBox="1"/>
          <p:nvPr/>
        </p:nvSpPr>
        <p:spPr>
          <a:xfrm>
            <a:off x="2926080" y="1389888"/>
            <a:ext cx="8778240" cy="731520"/>
          </a:xfrm>
          <a:prstGeom prst="rect">
            <a:avLst/>
          </a:prstGeom>
          <a:noFill/>
        </p:spPr>
        <p:txBody>
          <a:bodyPr wrap="square">
            <a:spAutoFit/>
          </a:bodyPr>
          <a:lstStyle/>
          <a:p>
            <a:pPr algn="l">
              <a:spcAft>
                <a:spcPts val="600"/>
              </a:spcAft>
              <a:defRPr sz="1800" b="0">
                <a:solidFill>
                  <a:srgbClr val="2B2B2B"/>
                </a:solidFill>
              </a:defRPr>
            </a:pPr>
            <a:r>
              <a:t>17 déc. 2010 : immolation de Mohamed Bouazizi → départ de Ben Ali (14 janv. 2011)</a:t>
            </a:r>
          </a:p>
        </p:txBody>
      </p:sp>
      <p:sp>
        <p:nvSpPr>
          <p:cNvPr id="35" name="TextBox 34"/>
          <p:cNvSpPr txBox="1"/>
          <p:nvPr/>
        </p:nvSpPr>
        <p:spPr>
          <a:xfrm>
            <a:off x="548640" y="2148840"/>
            <a:ext cx="2377440" cy="731520"/>
          </a:xfrm>
          <a:prstGeom prst="rect">
            <a:avLst/>
          </a:prstGeom>
          <a:noFill/>
        </p:spPr>
        <p:txBody>
          <a:bodyPr wrap="square">
            <a:spAutoFit/>
          </a:bodyPr>
          <a:lstStyle/>
          <a:p>
            <a:pPr algn="l">
              <a:spcAft>
                <a:spcPts val="600"/>
              </a:spcAft>
              <a:defRPr sz="2000" b="1">
                <a:solidFill>
                  <a:srgbClr val="B84A1E"/>
                </a:solidFill>
              </a:defRPr>
            </a:pPr>
            <a:r>
              <a:t>🇪🇬 Égypte</a:t>
            </a:r>
          </a:p>
        </p:txBody>
      </p:sp>
      <p:sp>
        <p:nvSpPr>
          <p:cNvPr id="36" name="TextBox 35"/>
          <p:cNvSpPr txBox="1"/>
          <p:nvPr/>
        </p:nvSpPr>
        <p:spPr>
          <a:xfrm>
            <a:off x="2926080" y="2167128"/>
            <a:ext cx="8778240" cy="731520"/>
          </a:xfrm>
          <a:prstGeom prst="rect">
            <a:avLst/>
          </a:prstGeom>
          <a:noFill/>
        </p:spPr>
        <p:txBody>
          <a:bodyPr wrap="square">
            <a:spAutoFit/>
          </a:bodyPr>
          <a:lstStyle/>
          <a:p>
            <a:pPr algn="l">
              <a:spcAft>
                <a:spcPts val="600"/>
              </a:spcAft>
              <a:defRPr sz="1800" b="0">
                <a:solidFill>
                  <a:srgbClr val="2B2B2B"/>
                </a:solidFill>
              </a:defRPr>
            </a:pPr>
            <a:r>
              <a:t>Février 2011 : chute de Moubarak</a:t>
            </a:r>
          </a:p>
        </p:txBody>
      </p:sp>
      <p:sp>
        <p:nvSpPr>
          <p:cNvPr id="37" name="TextBox 36"/>
          <p:cNvSpPr txBox="1"/>
          <p:nvPr/>
        </p:nvSpPr>
        <p:spPr>
          <a:xfrm>
            <a:off x="548640" y="2926080"/>
            <a:ext cx="2377440" cy="731520"/>
          </a:xfrm>
          <a:prstGeom prst="rect">
            <a:avLst/>
          </a:prstGeom>
          <a:noFill/>
        </p:spPr>
        <p:txBody>
          <a:bodyPr wrap="square">
            <a:spAutoFit/>
          </a:bodyPr>
          <a:lstStyle/>
          <a:p>
            <a:pPr algn="l">
              <a:spcAft>
                <a:spcPts val="600"/>
              </a:spcAft>
              <a:defRPr sz="2000" b="1">
                <a:solidFill>
                  <a:srgbClr val="B84A1E"/>
                </a:solidFill>
              </a:defRPr>
            </a:pPr>
            <a:r>
              <a:t>🇱🇾 Libye</a:t>
            </a:r>
          </a:p>
        </p:txBody>
      </p:sp>
      <p:sp>
        <p:nvSpPr>
          <p:cNvPr id="38" name="TextBox 37"/>
          <p:cNvSpPr txBox="1"/>
          <p:nvPr/>
        </p:nvSpPr>
        <p:spPr>
          <a:xfrm>
            <a:off x="2926080" y="2944368"/>
            <a:ext cx="8778240" cy="731520"/>
          </a:xfrm>
          <a:prstGeom prst="rect">
            <a:avLst/>
          </a:prstGeom>
          <a:noFill/>
        </p:spPr>
        <p:txBody>
          <a:bodyPr wrap="square">
            <a:spAutoFit/>
          </a:bodyPr>
          <a:lstStyle/>
          <a:p>
            <a:pPr algn="l">
              <a:spcAft>
                <a:spcPts val="600"/>
              </a:spcAft>
              <a:defRPr sz="1800" b="0">
                <a:solidFill>
                  <a:srgbClr val="2B2B2B"/>
                </a:solidFill>
              </a:defRPr>
            </a:pPr>
            <a:r>
              <a:t>2011 : guerre civile, mort de Kadhafi ; le pays reste divisé</a:t>
            </a:r>
          </a:p>
        </p:txBody>
      </p:sp>
      <p:sp>
        <p:nvSpPr>
          <p:cNvPr id="39" name="TextBox 38"/>
          <p:cNvSpPr txBox="1"/>
          <p:nvPr/>
        </p:nvSpPr>
        <p:spPr>
          <a:xfrm>
            <a:off x="548640" y="3703320"/>
            <a:ext cx="2377440" cy="731520"/>
          </a:xfrm>
          <a:prstGeom prst="rect">
            <a:avLst/>
          </a:prstGeom>
          <a:noFill/>
        </p:spPr>
        <p:txBody>
          <a:bodyPr wrap="square">
            <a:spAutoFit/>
          </a:bodyPr>
          <a:lstStyle/>
          <a:p>
            <a:pPr algn="l">
              <a:spcAft>
                <a:spcPts val="600"/>
              </a:spcAft>
              <a:defRPr sz="2000" b="1">
                <a:solidFill>
                  <a:srgbClr val="B84A1E"/>
                </a:solidFill>
              </a:defRPr>
            </a:pPr>
            <a:r>
              <a:t>🇲🇦 Maroc</a:t>
            </a:r>
          </a:p>
        </p:txBody>
      </p:sp>
      <p:sp>
        <p:nvSpPr>
          <p:cNvPr id="40" name="TextBox 39"/>
          <p:cNvSpPr txBox="1"/>
          <p:nvPr/>
        </p:nvSpPr>
        <p:spPr>
          <a:xfrm>
            <a:off x="2926080" y="3721608"/>
            <a:ext cx="8778240" cy="731520"/>
          </a:xfrm>
          <a:prstGeom prst="rect">
            <a:avLst/>
          </a:prstGeom>
          <a:noFill/>
        </p:spPr>
        <p:txBody>
          <a:bodyPr wrap="square">
            <a:spAutoFit/>
          </a:bodyPr>
          <a:lstStyle/>
          <a:p>
            <a:pPr algn="l">
              <a:spcAft>
                <a:spcPts val="600"/>
              </a:spcAft>
              <a:defRPr sz="1800" b="0">
                <a:solidFill>
                  <a:srgbClr val="2B2B2B"/>
                </a:solidFill>
              </a:defRPr>
            </a:pPr>
            <a:r>
              <a:t>2011 : manifestations, nouvelle Constitution</a:t>
            </a:r>
          </a:p>
        </p:txBody>
      </p:sp>
      <p:sp>
        <p:nvSpPr>
          <p:cNvPr id="41" name="TextBox 40"/>
          <p:cNvSpPr txBox="1"/>
          <p:nvPr/>
        </p:nvSpPr>
        <p:spPr>
          <a:xfrm>
            <a:off x="548640" y="4480560"/>
            <a:ext cx="2377440" cy="731520"/>
          </a:xfrm>
          <a:prstGeom prst="rect">
            <a:avLst/>
          </a:prstGeom>
          <a:noFill/>
        </p:spPr>
        <p:txBody>
          <a:bodyPr wrap="square">
            <a:spAutoFit/>
          </a:bodyPr>
          <a:lstStyle/>
          <a:p>
            <a:pPr algn="l">
              <a:spcAft>
                <a:spcPts val="600"/>
              </a:spcAft>
              <a:defRPr sz="2000" b="1">
                <a:solidFill>
                  <a:srgbClr val="B84A1E"/>
                </a:solidFill>
              </a:defRPr>
            </a:pPr>
            <a:r>
              <a:t>🇩🇿 Algérie</a:t>
            </a:r>
          </a:p>
        </p:txBody>
      </p:sp>
      <p:sp>
        <p:nvSpPr>
          <p:cNvPr id="42" name="TextBox 41"/>
          <p:cNvSpPr txBox="1"/>
          <p:nvPr/>
        </p:nvSpPr>
        <p:spPr>
          <a:xfrm>
            <a:off x="2926080" y="4498848"/>
            <a:ext cx="8778240" cy="731520"/>
          </a:xfrm>
          <a:prstGeom prst="rect">
            <a:avLst/>
          </a:prstGeom>
          <a:noFill/>
        </p:spPr>
        <p:txBody>
          <a:bodyPr wrap="square">
            <a:spAutoFit/>
          </a:bodyPr>
          <a:lstStyle/>
          <a:p>
            <a:pPr algn="l">
              <a:spcAft>
                <a:spcPts val="600"/>
              </a:spcAft>
              <a:defRPr sz="1800" b="0">
                <a:solidFill>
                  <a:srgbClr val="2B2B2B"/>
                </a:solidFill>
              </a:defRPr>
            </a:pPr>
            <a:r>
              <a:t>2019 : le Hirak pousse Bouteflika à partir</a:t>
            </a:r>
          </a:p>
        </p:txBody>
      </p:sp>
      <p:sp>
        <p:nvSpPr>
          <p:cNvPr id="43" name="TextBox 42"/>
          <p:cNvSpPr txBox="1"/>
          <p:nvPr/>
        </p:nvSpPr>
        <p:spPr>
          <a:xfrm>
            <a:off x="548640" y="5257800"/>
            <a:ext cx="2377440" cy="731520"/>
          </a:xfrm>
          <a:prstGeom prst="rect">
            <a:avLst/>
          </a:prstGeom>
          <a:noFill/>
        </p:spPr>
        <p:txBody>
          <a:bodyPr wrap="square">
            <a:spAutoFit/>
          </a:bodyPr>
          <a:lstStyle/>
          <a:p>
            <a:pPr algn="l">
              <a:spcAft>
                <a:spcPts val="600"/>
              </a:spcAft>
              <a:defRPr sz="2000" b="1">
                <a:solidFill>
                  <a:srgbClr val="B84A1E"/>
                </a:solidFill>
              </a:defRPr>
            </a:pPr>
            <a:r>
              <a:t>🇸🇾 Syrie</a:t>
            </a:r>
          </a:p>
        </p:txBody>
      </p:sp>
      <p:sp>
        <p:nvSpPr>
          <p:cNvPr id="44" name="TextBox 43"/>
          <p:cNvSpPr txBox="1"/>
          <p:nvPr/>
        </p:nvSpPr>
        <p:spPr>
          <a:xfrm>
            <a:off x="2926080" y="5276088"/>
            <a:ext cx="8778240" cy="731520"/>
          </a:xfrm>
          <a:prstGeom prst="rect">
            <a:avLst/>
          </a:prstGeom>
          <a:noFill/>
        </p:spPr>
        <p:txBody>
          <a:bodyPr wrap="square">
            <a:spAutoFit/>
          </a:bodyPr>
          <a:lstStyle/>
          <a:p>
            <a:pPr algn="l">
              <a:spcAft>
                <a:spcPts val="600"/>
              </a:spcAft>
              <a:defRPr sz="1800" b="0">
                <a:solidFill>
                  <a:srgbClr val="2B2B2B"/>
                </a:solidFill>
              </a:defRPr>
            </a:pPr>
            <a:r>
              <a:t>2011 : révolte réprimée → guerre civile</a:t>
            </a:r>
          </a:p>
        </p:txBody>
      </p:sp>
      <p:sp>
        <p:nvSpPr>
          <p:cNvPr id="45" name="TextBox 44"/>
          <p:cNvSpPr txBox="1"/>
          <p:nvPr/>
        </p:nvSpPr>
        <p:spPr>
          <a:xfrm>
            <a:off x="548640" y="6035040"/>
            <a:ext cx="10972800" cy="457200"/>
          </a:xfrm>
          <a:prstGeom prst="rect">
            <a:avLst/>
          </a:prstGeom>
          <a:noFill/>
        </p:spPr>
        <p:txBody>
          <a:bodyPr wrap="square">
            <a:spAutoFit/>
          </a:bodyPr>
          <a:lstStyle/>
          <a:p>
            <a:pPr algn="l">
              <a:spcAft>
                <a:spcPts val="600"/>
              </a:spcAft>
              <a:defRPr sz="1600" b="1">
                <a:solidFill>
                  <a:srgbClr val="1F4E79"/>
                </a:solidFill>
              </a:defRPr>
            </a:pPr>
            <a:r>
              <a:t>❓ Débat : pourquoi les jeunes se sont-ils révoltés ? (chômage, corruption, manque de libertés)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D/ Le terrorisme : de quoi parle-t-on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pic>
        <p:nvPicPr>
          <p:cNvPr id="33" name="Picture 32" descr="monde-musulman.png"/>
          <p:cNvPicPr>
            <a:picLocks noChangeAspect="1"/>
          </p:cNvPicPr>
          <p:nvPr/>
        </p:nvPicPr>
        <p:blipFill>
          <a:blip r:embed="rId2"/>
          <a:stretch>
            <a:fillRect/>
          </a:stretch>
        </p:blipFill>
        <p:spPr>
          <a:xfrm>
            <a:off x="457200" y="1280160"/>
            <a:ext cx="5621450" cy="4937760"/>
          </a:xfrm>
          <a:prstGeom prst="rect">
            <a:avLst/>
          </a:prstGeom>
        </p:spPr>
      </p:pic>
      <p:sp>
        <p:nvSpPr>
          <p:cNvPr id="34" name="TextBox 33"/>
          <p:cNvSpPr txBox="1"/>
          <p:nvPr/>
        </p:nvSpPr>
        <p:spPr>
          <a:xfrm>
            <a:off x="6352970" y="1371600"/>
            <a:ext cx="5534230" cy="4206240"/>
          </a:xfrm>
          <a:prstGeom prst="rect">
            <a:avLst/>
          </a:prstGeom>
          <a:noFill/>
        </p:spPr>
        <p:txBody>
          <a:bodyPr wrap="square">
            <a:spAutoFit/>
          </a:bodyPr>
          <a:lstStyle/>
          <a:p>
            <a:pPr algn="l">
              <a:spcAft>
                <a:spcPts val="600"/>
              </a:spcAft>
              <a:defRPr sz="1800" b="1">
                <a:solidFill>
                  <a:srgbClr val="1F4E79"/>
                </a:solidFill>
              </a:defRPr>
            </a:pPr>
            <a:r>
              <a:t>❓ Islam et islamisme, est-ce la même chose ?</a:t>
            </a:r>
          </a:p>
          <a:p>
            <a:pPr algn="l">
              <a:spcAft>
                <a:spcPts val="600"/>
              </a:spcAft>
              <a:defRPr sz="1800" b="1">
                <a:solidFill>
                  <a:srgbClr val="1F4E79"/>
                </a:solidFill>
              </a:defRPr>
            </a:pPr>
            <a:r>
              <a:t>❓ Qu'est-ce que la « décennie noire » en Algérie ?</a:t>
            </a:r>
          </a:p>
          <a:p>
            <a:pPr algn="l">
              <a:spcAft>
                <a:spcPts val="600"/>
              </a:spcAft>
              <a:defRPr sz="1800" b="1">
                <a:solidFill>
                  <a:srgbClr val="1F4E79"/>
                </a:solidFill>
              </a:defRPr>
            </a:pPr>
            <a:r>
              <a:t>❓ Cite des attentats au Maghreb.</a:t>
            </a:r>
          </a:p>
          <a:p>
            <a:pPr algn="l">
              <a:spcAft>
                <a:spcPts val="600"/>
              </a:spcAft>
              <a:defRPr sz="1800" b="1">
                <a:solidFill>
                  <a:srgbClr val="1F4E79"/>
                </a:solidFill>
              </a:defRPr>
            </a:pPr>
            <a:r>
              <a:t>❓ Qui sont les principales victimes du terrorisme islamiste ?</a:t>
            </a:r>
          </a:p>
        </p:txBody>
      </p:sp>
      <p:sp>
        <p:nvSpPr>
          <p:cNvPr id="35" name="Rounded Rectangle 34">
            <a:hlinkClick action="ppaction://hlinksldjump" r:id="rId4"/>
          </p:cNvPr>
          <p:cNvSpPr/>
          <p:nvPr/>
        </p:nvSpPr>
        <p:spPr>
          <a:xfrm>
            <a:off x="9326880" y="5623560"/>
            <a:ext cx="2011680" cy="5486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Réponses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Réponses — de quoi parle-t-on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1064240" cy="3474720"/>
          </a:xfrm>
          <a:prstGeom prst="rect">
            <a:avLst/>
          </a:prstGeom>
          <a:noFill/>
        </p:spPr>
        <p:txBody>
          <a:bodyPr wrap="square">
            <a:spAutoFit/>
          </a:bodyPr>
          <a:lstStyle/>
          <a:p>
            <a:pPr algn="l">
              <a:spcAft>
                <a:spcPts val="600"/>
              </a:spcAft>
              <a:defRPr sz="1900" b="0">
                <a:solidFill>
                  <a:srgbClr val="2B2B2B"/>
                </a:solidFill>
              </a:defRPr>
            </a:pPr>
            <a:r>
              <a:t>✅ Non ! L'islam est une religion ; l'islamisme radical est une idéologie politique violente rejetée par la grande majorité des musulmans.</a:t>
            </a:r>
          </a:p>
          <a:p>
            <a:pPr algn="l">
              <a:spcAft>
                <a:spcPts val="600"/>
              </a:spcAft>
              <a:defRPr sz="1900" b="0">
                <a:solidFill>
                  <a:srgbClr val="2B2B2B"/>
                </a:solidFill>
              </a:defRPr>
            </a:pPr>
            <a:r>
              <a:t>✅ 1991-2002 : guerre entre l'État et des groupes islamistes armés (GIA…), des dizaines de milliers de morts.</a:t>
            </a:r>
          </a:p>
          <a:p>
            <a:pPr algn="l">
              <a:spcAft>
                <a:spcPts val="600"/>
              </a:spcAft>
              <a:defRPr sz="1900" b="0">
                <a:solidFill>
                  <a:srgbClr val="2B2B2B"/>
                </a:solidFill>
              </a:defRPr>
            </a:pPr>
            <a:r>
              <a:t>✅ Casablanca (2003), musée du Bardo et Sousse en Tunisie (2015)…</a:t>
            </a:r>
          </a:p>
          <a:p>
            <a:pPr algn="l">
              <a:spcAft>
                <a:spcPts val="600"/>
              </a:spcAft>
              <a:defRPr sz="1900" b="0">
                <a:solidFill>
                  <a:srgbClr val="2B2B2B"/>
                </a:solidFill>
              </a:defRPr>
            </a:pPr>
            <a:r>
              <a:t>✅ Surtout des musulmans eux-mêmes, au Maghreb et au Moyen-Orient.</a:t>
            </a:r>
          </a:p>
        </p:txBody>
      </p:sp>
      <p:sp>
        <p:nvSpPr>
          <p:cNvPr id="34" name="Rounded Rectangle 33"/>
          <p:cNvSpPr/>
          <p:nvPr/>
        </p:nvSpPr>
        <p:spPr>
          <a:xfrm>
            <a:off x="548640" y="4800600"/>
            <a:ext cx="11064240" cy="1371600"/>
          </a:xfrm>
          <a:prstGeom prst="roundRect">
            <a:avLst/>
          </a:prstGeom>
          <a:solidFill>
            <a:srgbClr val="E6E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4846320"/>
            <a:ext cx="10698480" cy="1325880"/>
          </a:xfrm>
          <a:prstGeom prst="rect">
            <a:avLst/>
          </a:prstGeom>
          <a:noFill/>
        </p:spPr>
        <p:txBody>
          <a:bodyPr wrap="square">
            <a:spAutoFit/>
          </a:bodyPr>
          <a:lstStyle/>
          <a:p>
            <a:pPr algn="l">
              <a:spcAft>
                <a:spcPts val="600"/>
              </a:spcAft>
              <a:defRPr sz="1700" b="1">
                <a:solidFill>
                  <a:srgbClr val="1A2FC8"/>
                </a:solidFill>
              </a:defRPr>
            </a:pPr>
            <a:r>
              <a:t>✏️ Trace écrite : Le Maghreb a connu le terrorisme islamiste (décennie noire en Algérie, attentats au Maroc et en Tunisie). Il ne faut pas confondre islam et terrorisme.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Vrai ou faux ? (islam &amp; conflits)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7680960" cy="731520"/>
          </a:xfrm>
          <a:prstGeom prst="rect">
            <a:avLst/>
          </a:prstGeom>
          <a:noFill/>
        </p:spPr>
        <p:txBody>
          <a:bodyPr wrap="square">
            <a:spAutoFit/>
          </a:bodyPr>
          <a:lstStyle/>
          <a:p>
            <a:pPr algn="l">
              <a:spcAft>
                <a:spcPts val="600"/>
              </a:spcAft>
              <a:defRPr sz="1900" b="0">
                <a:solidFill>
                  <a:srgbClr val="2B2B2B"/>
                </a:solidFill>
              </a:defRPr>
            </a:pPr>
            <a:r>
              <a:t>1. L'islam est arrivé au Maghreb au VIIe siècle.</a:t>
            </a:r>
          </a:p>
        </p:txBody>
      </p:sp>
      <p:sp>
        <p:nvSpPr>
          <p:cNvPr id="34" name="TextBox 33"/>
          <p:cNvSpPr txBox="1"/>
          <p:nvPr/>
        </p:nvSpPr>
        <p:spPr>
          <a:xfrm>
            <a:off x="8503920" y="1417320"/>
            <a:ext cx="3291840" cy="685800"/>
          </a:xfrm>
          <a:prstGeom prst="rect">
            <a:avLst/>
          </a:prstGeom>
          <a:noFill/>
        </p:spPr>
        <p:txBody>
          <a:bodyPr wrap="square">
            <a:spAutoFit/>
          </a:bodyPr>
          <a:lstStyle/>
          <a:p>
            <a:pPr algn="l">
              <a:spcAft>
                <a:spcPts val="600"/>
              </a:spcAft>
              <a:defRPr sz="1800" b="1">
                <a:solidFill>
                  <a:srgbClr val="B84A1E"/>
                </a:solidFill>
              </a:defRPr>
            </a:pPr>
            <a:r>
              <a:t>VRAI ☐   FAUX ☐</a:t>
            </a:r>
          </a:p>
        </p:txBody>
      </p:sp>
      <p:sp>
        <p:nvSpPr>
          <p:cNvPr id="35" name="TextBox 34"/>
          <p:cNvSpPr txBox="1"/>
          <p:nvPr/>
        </p:nvSpPr>
        <p:spPr>
          <a:xfrm>
            <a:off x="548640" y="2240280"/>
            <a:ext cx="7680960" cy="731520"/>
          </a:xfrm>
          <a:prstGeom prst="rect">
            <a:avLst/>
          </a:prstGeom>
          <a:noFill/>
        </p:spPr>
        <p:txBody>
          <a:bodyPr wrap="square">
            <a:spAutoFit/>
          </a:bodyPr>
          <a:lstStyle/>
          <a:p>
            <a:pPr algn="l">
              <a:spcAft>
                <a:spcPts val="600"/>
              </a:spcAft>
              <a:defRPr sz="1900" b="0">
                <a:solidFill>
                  <a:srgbClr val="2B2B2B"/>
                </a:solidFill>
              </a:defRPr>
            </a:pPr>
            <a:r>
              <a:t>2. Le Maghreb est majoritairement chiite.</a:t>
            </a:r>
          </a:p>
        </p:txBody>
      </p:sp>
      <p:sp>
        <p:nvSpPr>
          <p:cNvPr id="36" name="TextBox 35"/>
          <p:cNvSpPr txBox="1"/>
          <p:nvPr/>
        </p:nvSpPr>
        <p:spPr>
          <a:xfrm>
            <a:off x="8503920" y="2286000"/>
            <a:ext cx="3291840" cy="685800"/>
          </a:xfrm>
          <a:prstGeom prst="rect">
            <a:avLst/>
          </a:prstGeom>
          <a:noFill/>
        </p:spPr>
        <p:txBody>
          <a:bodyPr wrap="square">
            <a:spAutoFit/>
          </a:bodyPr>
          <a:lstStyle/>
          <a:p>
            <a:pPr algn="l">
              <a:spcAft>
                <a:spcPts val="600"/>
              </a:spcAft>
              <a:defRPr sz="1800" b="1">
                <a:solidFill>
                  <a:srgbClr val="B84A1E"/>
                </a:solidFill>
              </a:defRPr>
            </a:pPr>
            <a:r>
              <a:t>VRAI ☐   FAUX ☐</a:t>
            </a:r>
          </a:p>
        </p:txBody>
      </p:sp>
      <p:sp>
        <p:nvSpPr>
          <p:cNvPr id="37" name="TextBox 36"/>
          <p:cNvSpPr txBox="1"/>
          <p:nvPr/>
        </p:nvSpPr>
        <p:spPr>
          <a:xfrm>
            <a:off x="548640" y="3108960"/>
            <a:ext cx="7680960" cy="731520"/>
          </a:xfrm>
          <a:prstGeom prst="rect">
            <a:avLst/>
          </a:prstGeom>
          <a:noFill/>
        </p:spPr>
        <p:txBody>
          <a:bodyPr wrap="square">
            <a:spAutoFit/>
          </a:bodyPr>
          <a:lstStyle/>
          <a:p>
            <a:pPr algn="l">
              <a:spcAft>
                <a:spcPts val="600"/>
              </a:spcAft>
              <a:defRPr sz="1900" b="0">
                <a:solidFill>
                  <a:srgbClr val="2B2B2B"/>
                </a:solidFill>
              </a:defRPr>
            </a:pPr>
            <a:r>
              <a:t>3. Le Printemps arabe a commencé en Tunisie.</a:t>
            </a:r>
          </a:p>
        </p:txBody>
      </p:sp>
      <p:sp>
        <p:nvSpPr>
          <p:cNvPr id="38" name="TextBox 37"/>
          <p:cNvSpPr txBox="1"/>
          <p:nvPr/>
        </p:nvSpPr>
        <p:spPr>
          <a:xfrm>
            <a:off x="8503920" y="3154680"/>
            <a:ext cx="3291840" cy="685800"/>
          </a:xfrm>
          <a:prstGeom prst="rect">
            <a:avLst/>
          </a:prstGeom>
          <a:noFill/>
        </p:spPr>
        <p:txBody>
          <a:bodyPr wrap="square">
            <a:spAutoFit/>
          </a:bodyPr>
          <a:lstStyle/>
          <a:p>
            <a:pPr algn="l">
              <a:spcAft>
                <a:spcPts val="600"/>
              </a:spcAft>
              <a:defRPr sz="1800" b="1">
                <a:solidFill>
                  <a:srgbClr val="B84A1E"/>
                </a:solidFill>
              </a:defRPr>
            </a:pPr>
            <a:r>
              <a:t>VRAI ☐   FAUX ☐</a:t>
            </a:r>
          </a:p>
        </p:txBody>
      </p:sp>
      <p:sp>
        <p:nvSpPr>
          <p:cNvPr id="39" name="TextBox 38"/>
          <p:cNvSpPr txBox="1"/>
          <p:nvPr/>
        </p:nvSpPr>
        <p:spPr>
          <a:xfrm>
            <a:off x="548640" y="3977639"/>
            <a:ext cx="7680960" cy="731520"/>
          </a:xfrm>
          <a:prstGeom prst="rect">
            <a:avLst/>
          </a:prstGeom>
          <a:noFill/>
        </p:spPr>
        <p:txBody>
          <a:bodyPr wrap="square">
            <a:spAutoFit/>
          </a:bodyPr>
          <a:lstStyle/>
          <a:p>
            <a:pPr algn="l">
              <a:spcAft>
                <a:spcPts val="600"/>
              </a:spcAft>
              <a:defRPr sz="1900" b="0">
                <a:solidFill>
                  <a:srgbClr val="2B2B2B"/>
                </a:solidFill>
              </a:defRPr>
            </a:pPr>
            <a:r>
              <a:t>4. Tous les musulmans soutiennent le terrorisme.</a:t>
            </a:r>
          </a:p>
        </p:txBody>
      </p:sp>
      <p:sp>
        <p:nvSpPr>
          <p:cNvPr id="40" name="TextBox 39"/>
          <p:cNvSpPr txBox="1"/>
          <p:nvPr/>
        </p:nvSpPr>
        <p:spPr>
          <a:xfrm>
            <a:off x="8503920" y="4023359"/>
            <a:ext cx="3291840" cy="685800"/>
          </a:xfrm>
          <a:prstGeom prst="rect">
            <a:avLst/>
          </a:prstGeom>
          <a:noFill/>
        </p:spPr>
        <p:txBody>
          <a:bodyPr wrap="square">
            <a:spAutoFit/>
          </a:bodyPr>
          <a:lstStyle/>
          <a:p>
            <a:pPr algn="l">
              <a:spcAft>
                <a:spcPts val="600"/>
              </a:spcAft>
              <a:defRPr sz="1800" b="1">
                <a:solidFill>
                  <a:srgbClr val="B84A1E"/>
                </a:solidFill>
              </a:defRPr>
            </a:pPr>
            <a:r>
              <a:t>VRAI ☐   FAUX ☐</a:t>
            </a:r>
          </a:p>
        </p:txBody>
      </p:sp>
      <p:sp>
        <p:nvSpPr>
          <p:cNvPr id="41" name="TextBox 40"/>
          <p:cNvSpPr txBox="1"/>
          <p:nvPr/>
        </p:nvSpPr>
        <p:spPr>
          <a:xfrm>
            <a:off x="548640" y="4846320"/>
            <a:ext cx="7680960" cy="731520"/>
          </a:xfrm>
          <a:prstGeom prst="rect">
            <a:avLst/>
          </a:prstGeom>
          <a:noFill/>
        </p:spPr>
        <p:txBody>
          <a:bodyPr wrap="square">
            <a:spAutoFit/>
          </a:bodyPr>
          <a:lstStyle/>
          <a:p>
            <a:pPr algn="l">
              <a:spcAft>
                <a:spcPts val="600"/>
              </a:spcAft>
              <a:defRPr sz="1900" b="0">
                <a:solidFill>
                  <a:srgbClr val="2B2B2B"/>
                </a:solidFill>
              </a:defRPr>
            </a:pPr>
            <a:r>
              <a:t>5. Gibraltar vient de « Djebel Tariq ».</a:t>
            </a:r>
          </a:p>
        </p:txBody>
      </p:sp>
      <p:sp>
        <p:nvSpPr>
          <p:cNvPr id="42" name="TextBox 41"/>
          <p:cNvSpPr txBox="1"/>
          <p:nvPr/>
        </p:nvSpPr>
        <p:spPr>
          <a:xfrm>
            <a:off x="8503920" y="4892040"/>
            <a:ext cx="3291840" cy="685800"/>
          </a:xfrm>
          <a:prstGeom prst="rect">
            <a:avLst/>
          </a:prstGeom>
          <a:noFill/>
        </p:spPr>
        <p:txBody>
          <a:bodyPr wrap="square">
            <a:spAutoFit/>
          </a:bodyPr>
          <a:lstStyle/>
          <a:p>
            <a:pPr algn="l">
              <a:spcAft>
                <a:spcPts val="600"/>
              </a:spcAft>
              <a:defRPr sz="1800" b="1">
                <a:solidFill>
                  <a:srgbClr val="B84A1E"/>
                </a:solidFill>
              </a:defRPr>
            </a:pPr>
            <a:r>
              <a:t>VRAI ☐   FAUX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C.O. Compréhension orale : vidéo</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20'</a:t>
            </a:r>
          </a:p>
        </p:txBody>
      </p:sp>
      <p:sp>
        <p:nvSpPr>
          <p:cNvPr id="33" name="Rounded Rectangle 32">
            <a:hlinkClick action="ppaction://hlinksldjump" r:id="rId4"/>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ectangle 33"/>
          <p:cNvSpPr/>
          <p:nvPr/>
        </p:nvSpPr>
        <p:spPr>
          <a:xfrm>
            <a:off x="731520" y="1463040"/>
            <a:ext cx="6035040" cy="3840480"/>
          </a:xfrm>
          <a:prstGeom prst="rect">
            <a:avLst/>
          </a:prstGeom>
          <a:solidFill>
            <a:srgbClr val="2B2B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a:hlinkClick r:id="rId3"/>
          </p:cNvPr>
          <p:cNvSpPr/>
          <p:nvPr/>
        </p:nvSpPr>
        <p:spPr>
          <a:xfrm>
            <a:off x="2377440" y="2926080"/>
            <a:ext cx="2743200" cy="91440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LANCER LA VIDÉO</a:t>
            </a:r>
          </a:p>
        </p:txBody>
      </p:sp>
      <p:sp>
        <p:nvSpPr>
          <p:cNvPr id="36" name="TextBox 35"/>
          <p:cNvSpPr txBox="1"/>
          <p:nvPr/>
        </p:nvSpPr>
        <p:spPr>
          <a:xfrm>
            <a:off x="731520" y="5394960"/>
            <a:ext cx="6035040" cy="731520"/>
          </a:xfrm>
          <a:prstGeom prst="rect">
            <a:avLst/>
          </a:prstGeom>
          <a:noFill/>
        </p:spPr>
        <p:txBody>
          <a:bodyPr wrap="square">
            <a:spAutoFit/>
          </a:bodyPr>
          <a:lstStyle/>
          <a:p>
            <a:pPr algn="ctr">
              <a:spcAft>
                <a:spcPts val="600"/>
              </a:spcAft>
              <a:defRPr sz="1400" b="0">
                <a:solidFill>
                  <a:srgbClr val="1F4E79"/>
                </a:solidFill>
              </a:defRPr>
            </a:pPr>
            <a:r>
              <a:t>(Clique pour ouvrir la vidéo — ou insère ton .mp4 ici)</a:t>
            </a:r>
          </a:p>
        </p:txBody>
      </p:sp>
      <p:sp>
        <p:nvSpPr>
          <p:cNvPr id="37" name="TextBox 36"/>
          <p:cNvSpPr txBox="1"/>
          <p:nvPr/>
        </p:nvSpPr>
        <p:spPr>
          <a:xfrm>
            <a:off x="7040880" y="1463040"/>
            <a:ext cx="4754880" cy="4572000"/>
          </a:xfrm>
          <a:prstGeom prst="rect">
            <a:avLst/>
          </a:prstGeom>
          <a:noFill/>
        </p:spPr>
        <p:txBody>
          <a:bodyPr wrap="square">
            <a:spAutoFit/>
          </a:bodyPr>
          <a:lstStyle/>
          <a:p>
            <a:pPr algn="l">
              <a:spcAft>
                <a:spcPts val="600"/>
              </a:spcAft>
              <a:defRPr sz="1800" b="0">
                <a:solidFill>
                  <a:srgbClr val="2B2B2B"/>
                </a:solidFill>
              </a:defRPr>
            </a:pPr>
            <a:r>
              <a:t>📺 Visionnage 1 — sans le son :</a:t>
            </a:r>
          </a:p>
          <a:p>
            <a:pPr algn="l">
              <a:spcAft>
                <a:spcPts val="600"/>
              </a:spcAft>
              <a:defRPr sz="1800" b="0">
                <a:solidFill>
                  <a:srgbClr val="2B2B2B"/>
                </a:solidFill>
              </a:defRPr>
            </a:pPr>
            <a:r>
              <a:t>   Quels lieux, couleurs, objets vois-tu ?</a:t>
            </a:r>
          </a:p>
          <a:p>
            <a:pPr algn="l">
              <a:spcAft>
                <a:spcPts val="600"/>
              </a:spcAft>
              <a:defRPr sz="1800" b="0">
                <a:solidFill>
                  <a:srgbClr val="2B2B2B"/>
                </a:solidFill>
              </a:defRPr>
            </a:pPr>
            <a:r>
              <a:t>📺 Visionnage 2 — avec le son :</a:t>
            </a:r>
          </a:p>
          <a:p>
            <a:pPr algn="l">
              <a:spcAft>
                <a:spcPts val="600"/>
              </a:spcAft>
              <a:defRPr sz="1800" b="0">
                <a:solidFill>
                  <a:srgbClr val="2B2B2B"/>
                </a:solidFill>
              </a:defRPr>
            </a:pPr>
            <a:r>
              <a:t>   Note 3 pays, 2 villes, 1 plat.</a:t>
            </a:r>
          </a:p>
          <a:p>
            <a:pPr algn="l">
              <a:spcAft>
                <a:spcPts val="600"/>
              </a:spcAft>
              <a:defRPr sz="1800" b="0">
                <a:solidFill>
                  <a:srgbClr val="2B2B2B"/>
                </a:solidFill>
              </a:defRPr>
            </a:pPr>
            <a:r>
              <a:t>📺 Visionnage 3 :</a:t>
            </a:r>
          </a:p>
          <a:p>
            <a:pPr algn="l">
              <a:spcAft>
                <a:spcPts val="600"/>
              </a:spcAft>
              <a:defRPr sz="1800" b="0">
                <a:solidFill>
                  <a:srgbClr val="2B2B2B"/>
                </a:solidFill>
              </a:defRPr>
            </a:pPr>
            <a:r>
              <a:t>   Réponds à la fiche vidéo ➡️</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V. 3 000 ans d'histoire du Maghreb</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40'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737360"/>
            <a:ext cx="10972800" cy="914400"/>
          </a:xfrm>
          <a:prstGeom prst="rect">
            <a:avLst/>
          </a:prstGeom>
          <a:noFill/>
        </p:spPr>
        <p:txBody>
          <a:bodyPr wrap="square">
            <a:spAutoFit/>
          </a:bodyPr>
          <a:lstStyle/>
          <a:p>
            <a:pPr algn="ctr">
              <a:spcAft>
                <a:spcPts val="600"/>
              </a:spcAft>
              <a:defRPr sz="3400" b="1">
                <a:solidFill>
                  <a:srgbClr val="E0A11B"/>
                </a:solidFill>
              </a:defRPr>
            </a:pPr>
            <a:r>
              <a:t>📜 Le Maghreb, un carrefour de civilisations</a:t>
            </a:r>
          </a:p>
        </p:txBody>
      </p:sp>
      <p:sp>
        <p:nvSpPr>
          <p:cNvPr id="35" name="Rounded Rectangle 34">
            <a:hlinkClick action="ppaction://hlinksldjump" r:id="rId4"/>
          </p:cNvPr>
          <p:cNvSpPr/>
          <p:nvPr/>
        </p:nvSpPr>
        <p:spPr>
          <a:xfrm>
            <a:off x="822960" y="3108960"/>
            <a:ext cx="329184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Antiquité</a:t>
            </a:r>
          </a:p>
        </p:txBody>
      </p:sp>
      <p:sp>
        <p:nvSpPr>
          <p:cNvPr id="36" name="Rounded Rectangle 35">
            <a:hlinkClick action="ppaction://hlinksldjump" r:id="rId5"/>
          </p:cNvPr>
          <p:cNvSpPr/>
          <p:nvPr/>
        </p:nvSpPr>
        <p:spPr>
          <a:xfrm>
            <a:off x="4480560" y="3108960"/>
            <a:ext cx="329184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Islam &amp; dynasties</a:t>
            </a:r>
          </a:p>
        </p:txBody>
      </p:sp>
      <p:sp>
        <p:nvSpPr>
          <p:cNvPr id="37" name="Rounded Rectangle 36">
            <a:hlinkClick action="ppaction://hlinksldjump" r:id="rId6"/>
          </p:cNvPr>
          <p:cNvSpPr/>
          <p:nvPr/>
        </p:nvSpPr>
        <p:spPr>
          <a:xfrm>
            <a:off x="8138160" y="3108960"/>
            <a:ext cx="329184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Ottomans</a:t>
            </a:r>
          </a:p>
        </p:txBody>
      </p:sp>
      <p:sp>
        <p:nvSpPr>
          <p:cNvPr id="38" name="Rounded Rectangle 37">
            <a:hlinkClick action="ppaction://hlinksldjump" r:id="rId7"/>
          </p:cNvPr>
          <p:cNvSpPr/>
          <p:nvPr/>
        </p:nvSpPr>
        <p:spPr>
          <a:xfrm>
            <a:off x="822960" y="4389120"/>
            <a:ext cx="3291840" cy="100584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Colonisation</a:t>
            </a:r>
          </a:p>
        </p:txBody>
      </p:sp>
      <p:sp>
        <p:nvSpPr>
          <p:cNvPr id="39" name="Rounded Rectangle 38">
            <a:hlinkClick action="ppaction://hlinksldjump" r:id="rId8"/>
          </p:cNvPr>
          <p:cNvSpPr/>
          <p:nvPr/>
        </p:nvSpPr>
        <p:spPr>
          <a:xfrm>
            <a:off x="4480560" y="4389120"/>
            <a:ext cx="3291840" cy="100584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Indépendances</a:t>
            </a:r>
          </a:p>
        </p:txBody>
      </p:sp>
      <p:sp>
        <p:nvSpPr>
          <p:cNvPr id="40" name="Rounded Rectangle 39">
            <a:hlinkClick action="ppaction://hlinksldjump" r:id="rId9"/>
          </p:cNvPr>
          <p:cNvSpPr/>
          <p:nvPr/>
        </p:nvSpPr>
        <p:spPr>
          <a:xfrm>
            <a:off x="8138160" y="4389120"/>
            <a:ext cx="3291840" cy="100584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defRPr>
            </a:pPr>
            <a:r>
              <a:t>🎭 Qui suis-je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L'Antiquité : Berbères, Carthage et Rome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3000 av.</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Les Berbères (Amazighs, « hommes libres ») peuplent l'Afrique du Nord</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814 av. J.-C.</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Les Phéniciens fondent Carthage (près de Tunis)</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218 av. J.-C.</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Hannibal traverse les Alpes avec des éléphants pour attaquer Rome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146 av. J.-C.</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Rome détruit Carthage : l'« Africa » devient province romaine</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354–430</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Saint Augustin, Berbère né en Algérie, grand penseur chrétien</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Vestiges</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Timgad, Djemila (Algérie), Volubilis (Maroc), El Jem (Tunisie)</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 signifie « Amazigh », le nom des Berbères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L'Antiquité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 signifie « Amazigh », le nom des Berbères ?</a:t>
            </a:r>
          </a:p>
          <a:p>
            <a:pPr algn="ctr">
              <a:spcAft>
                <a:spcPts val="600"/>
              </a:spcAft>
              <a:defRPr sz="2400" b="1">
                <a:solidFill>
                  <a:srgbClr val="2B2B2B"/>
                </a:solidFill>
              </a:defRPr>
            </a:pPr>
          </a:p>
          <a:p>
            <a:pPr algn="ctr">
              <a:spcAft>
                <a:spcPts val="600"/>
              </a:spcAft>
              <a:defRPr sz="2400" b="1">
                <a:solidFill>
                  <a:srgbClr val="2B2B2B"/>
                </a:solidFill>
              </a:defRPr>
            </a:pPr>
            <a:r>
              <a:t>➡️ « Homme libre ». Le Maghreb est berbère bien avant d'être arabe !</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L'islam et les grandes dynasties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670</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Fondation de Kairouan ; conquête arabe du Maghreb</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711</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Tariq ibn Ziyad passe en Espagne : début d'Al-Andalus</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789</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Fondation de Fès par les Idrissides (Maroc)</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859</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Fatima al-Fihri fonde la Qarawiyyin à Fès</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XIe–XIIIe s.</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Almoravides puis Almohades : empires berbères de l'Espagne au Sahara</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1325–1354</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Ibn Battuta, né à Tanger, voyage jusqu'en Chine</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Qui a fondé la plus ancienne université du monde encore en activité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L'islam et les grandes dynasties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Qui a fondé la plus ancienne université du monde encore en activité ?</a:t>
            </a:r>
          </a:p>
          <a:p>
            <a:pPr algn="ctr">
              <a:spcAft>
                <a:spcPts val="600"/>
              </a:spcAft>
              <a:defRPr sz="2400" b="1">
                <a:solidFill>
                  <a:srgbClr val="2B2B2B"/>
                </a:solidFill>
              </a:defRPr>
            </a:pPr>
          </a:p>
          <a:p>
            <a:pPr algn="ctr">
              <a:spcAft>
                <a:spcPts val="600"/>
              </a:spcAft>
              <a:defRPr sz="2400" b="1">
                <a:solidFill>
                  <a:srgbClr val="2B2B2B"/>
                </a:solidFill>
              </a:defRPr>
            </a:pPr>
            <a:r>
              <a:t>➡️ Une femme : Fatima al-Fihri, en 859, à Fès (la Qarawiyyin).</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Ottomans et corsaires (XVIe–XIXe 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1492</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Fin d'Al-Andalus : musulmans et juifs d'Espagne se réfugient au Maghreb</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1516–1529</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Les frères Barberousse prennent Alger</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XVIe s.</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Alger, Tunis et Tripoli passent sous l'Empire ottoman</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Maroc</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Reste indépendant (dynasties saadienne puis alaouite, encore au pouvoir)</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XVIIe s.</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Les corsaires « barbaresques » capturent des navires en Méditerranée</a:t>
            </a:r>
          </a:p>
        </p:txBody>
      </p:sp>
      <p:sp>
        <p:nvSpPr>
          <p:cNvPr id="43" name="Rounded Rectangle 42"/>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Quel pays du Maghreb n'a jamais été ottoman ?</a:t>
            </a:r>
          </a:p>
        </p:txBody>
      </p:sp>
      <p:sp>
        <p:nvSpPr>
          <p:cNvPr id="45" name="Rounded Rectangle 44">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Ottomans et corsaires (XVIe–XIXe s.)</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Quel pays du Maghreb n'a jamais été ottoman ?</a:t>
            </a:r>
          </a:p>
          <a:p>
            <a:pPr algn="ctr">
              <a:spcAft>
                <a:spcPts val="600"/>
              </a:spcAft>
              <a:defRPr sz="2400" b="1">
                <a:solidFill>
                  <a:srgbClr val="2B2B2B"/>
                </a:solidFill>
              </a:defRPr>
            </a:pPr>
          </a:p>
          <a:p>
            <a:pPr algn="ctr">
              <a:spcAft>
                <a:spcPts val="600"/>
              </a:spcAft>
              <a:defRPr sz="2400" b="1">
                <a:solidFill>
                  <a:srgbClr val="2B2B2B"/>
                </a:solidFill>
              </a:defRPr>
            </a:pPr>
            <a:r>
              <a:t>➡️ Le Maroc, gouverné par la dynastie alaouite depuis le XVIIe siècle (le roi actuel, Mohammed VI, en fait partie).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La colonisation européenne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1830</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La France prend Alger ; l'Algérie devient française (3 départements)</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1832–1847</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L'émir Abd el-Kader résiste à la conquête</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1881</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Protectorat français sur la Tunisie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1911–1912</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Italie en Libye ; protectorats français et espagnol sur le Maroc</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1914–1945</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Des tirailleurs maghrébins combattent pour la France dans les deux guerres mondiales</a:t>
            </a:r>
          </a:p>
        </p:txBody>
      </p:sp>
      <p:sp>
        <p:nvSpPr>
          <p:cNvPr id="43" name="Rounded Rectangle 42"/>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Quelle différence entre une colonie et un protectorat ?</a:t>
            </a:r>
          </a:p>
        </p:txBody>
      </p:sp>
      <p:sp>
        <p:nvSpPr>
          <p:cNvPr id="45" name="Rounded Rectangle 44">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La colonisation européenne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Quelle différence entre une colonie et un protectorat ?</a:t>
            </a:r>
          </a:p>
          <a:p>
            <a:pPr algn="ctr">
              <a:spcAft>
                <a:spcPts val="600"/>
              </a:spcAft>
              <a:defRPr sz="2400" b="1">
                <a:solidFill>
                  <a:srgbClr val="2B2B2B"/>
                </a:solidFill>
              </a:defRPr>
            </a:pPr>
          </a:p>
          <a:p>
            <a:pPr algn="ctr">
              <a:spcAft>
                <a:spcPts val="600"/>
              </a:spcAft>
              <a:defRPr sz="2400" b="1">
                <a:solidFill>
                  <a:srgbClr val="2B2B2B"/>
                </a:solidFill>
              </a:defRPr>
            </a:pPr>
            <a:r>
              <a:t>➡️ Colonie (Algérie) : le pays est annexé et gouverné directement. Protectorat (Maroc, Tunisie) : le souverain local reste, mais la France contrôle.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Les indépendances et la guerre d'Algérie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1951</a:t>
            </a:r>
          </a:p>
        </p:txBody>
      </p:sp>
      <p:sp>
        <p:nvSpPr>
          <p:cNvPr id="34" name="TextBox 33"/>
          <p:cNvSpPr txBox="1"/>
          <p:nvPr/>
        </p:nvSpPr>
        <p:spPr>
          <a:xfrm>
            <a:off x="2743200" y="1417320"/>
            <a:ext cx="8961120" cy="685800"/>
          </a:xfrm>
          <a:prstGeom prst="rect">
            <a:avLst/>
          </a:prstGeom>
          <a:noFill/>
        </p:spPr>
        <p:txBody>
          <a:bodyPr wrap="square">
            <a:spAutoFit/>
          </a:bodyPr>
          <a:lstStyle/>
          <a:p>
            <a:pPr algn="l">
              <a:spcAft>
                <a:spcPts val="600"/>
              </a:spcAft>
              <a:defRPr sz="1800" b="0">
                <a:solidFill>
                  <a:srgbClr val="2B2B2B"/>
                </a:solidFill>
              </a:defRPr>
            </a:pPr>
            <a:r>
              <a:t>Indépendance de la Libye</a:t>
            </a:r>
          </a:p>
        </p:txBody>
      </p:sp>
      <p:sp>
        <p:nvSpPr>
          <p:cNvPr id="35" name="Rounded Rectangle 34"/>
          <p:cNvSpPr/>
          <p:nvPr/>
        </p:nvSpPr>
        <p:spPr>
          <a:xfrm>
            <a:off x="548640" y="214884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1956</a:t>
            </a:r>
          </a:p>
        </p:txBody>
      </p:sp>
      <p:sp>
        <p:nvSpPr>
          <p:cNvPr id="36" name="TextBox 35"/>
          <p:cNvSpPr txBox="1"/>
          <p:nvPr/>
        </p:nvSpPr>
        <p:spPr>
          <a:xfrm>
            <a:off x="2743200" y="2194560"/>
            <a:ext cx="8961120" cy="685800"/>
          </a:xfrm>
          <a:prstGeom prst="rect">
            <a:avLst/>
          </a:prstGeom>
          <a:noFill/>
        </p:spPr>
        <p:txBody>
          <a:bodyPr wrap="square">
            <a:spAutoFit/>
          </a:bodyPr>
          <a:lstStyle/>
          <a:p>
            <a:pPr algn="l">
              <a:spcAft>
                <a:spcPts val="600"/>
              </a:spcAft>
              <a:defRPr sz="1800" b="0">
                <a:solidFill>
                  <a:srgbClr val="2B2B2B"/>
                </a:solidFill>
              </a:defRPr>
            </a:pPr>
            <a:r>
              <a:t>Indépendance du Maroc (Mohammed V) et de la Tunisie (Bourguiba)</a:t>
            </a:r>
          </a:p>
        </p:txBody>
      </p:sp>
      <p:sp>
        <p:nvSpPr>
          <p:cNvPr id="37" name="Rounded Rectangle 36"/>
          <p:cNvSpPr/>
          <p:nvPr/>
        </p:nvSpPr>
        <p:spPr>
          <a:xfrm>
            <a:off x="548640" y="292608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1er nov. 1954</a:t>
            </a:r>
          </a:p>
        </p:txBody>
      </p:sp>
      <p:sp>
        <p:nvSpPr>
          <p:cNvPr id="38" name="TextBox 37"/>
          <p:cNvSpPr txBox="1"/>
          <p:nvPr/>
        </p:nvSpPr>
        <p:spPr>
          <a:xfrm>
            <a:off x="2743200" y="2971800"/>
            <a:ext cx="8961120" cy="685800"/>
          </a:xfrm>
          <a:prstGeom prst="rect">
            <a:avLst/>
          </a:prstGeom>
          <a:noFill/>
        </p:spPr>
        <p:txBody>
          <a:bodyPr wrap="square">
            <a:spAutoFit/>
          </a:bodyPr>
          <a:lstStyle/>
          <a:p>
            <a:pPr algn="l">
              <a:spcAft>
                <a:spcPts val="600"/>
              </a:spcAft>
              <a:defRPr sz="1800" b="0">
                <a:solidFill>
                  <a:srgbClr val="2B2B2B"/>
                </a:solidFill>
              </a:defRPr>
            </a:pPr>
            <a:r>
              <a:t>« Toussaint rouge » : le FLN déclenche la guerre d'Algérie</a:t>
            </a:r>
          </a:p>
        </p:txBody>
      </p:sp>
      <p:sp>
        <p:nvSpPr>
          <p:cNvPr id="39" name="Rounded Rectangle 38"/>
          <p:cNvSpPr/>
          <p:nvPr/>
        </p:nvSpPr>
        <p:spPr>
          <a:xfrm>
            <a:off x="548640" y="3703320"/>
            <a:ext cx="2011680" cy="658368"/>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1962</a:t>
            </a:r>
          </a:p>
        </p:txBody>
      </p:sp>
      <p:sp>
        <p:nvSpPr>
          <p:cNvPr id="40" name="TextBox 39"/>
          <p:cNvSpPr txBox="1"/>
          <p:nvPr/>
        </p:nvSpPr>
        <p:spPr>
          <a:xfrm>
            <a:off x="2743200" y="3749039"/>
            <a:ext cx="8961120" cy="685800"/>
          </a:xfrm>
          <a:prstGeom prst="rect">
            <a:avLst/>
          </a:prstGeom>
          <a:noFill/>
        </p:spPr>
        <p:txBody>
          <a:bodyPr wrap="square">
            <a:spAutoFit/>
          </a:bodyPr>
          <a:lstStyle/>
          <a:p>
            <a:pPr algn="l">
              <a:spcAft>
                <a:spcPts val="600"/>
              </a:spcAft>
              <a:defRPr sz="1800" b="0">
                <a:solidFill>
                  <a:srgbClr val="2B2B2B"/>
                </a:solidFill>
              </a:defRPr>
            </a:pPr>
            <a:r>
              <a:t>Accords d'Évian → indépendance de l'Algérie (5 juillet)</a:t>
            </a:r>
          </a:p>
        </p:txBody>
      </p:sp>
      <p:sp>
        <p:nvSpPr>
          <p:cNvPr id="41" name="Rounded Rectangle 40"/>
          <p:cNvSpPr/>
          <p:nvPr/>
        </p:nvSpPr>
        <p:spPr>
          <a:xfrm>
            <a:off x="548640" y="4480560"/>
            <a:ext cx="2011680" cy="658368"/>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1962</a:t>
            </a:r>
          </a:p>
        </p:txBody>
      </p:sp>
      <p:sp>
        <p:nvSpPr>
          <p:cNvPr id="42" name="TextBox 41"/>
          <p:cNvSpPr txBox="1"/>
          <p:nvPr/>
        </p:nvSpPr>
        <p:spPr>
          <a:xfrm>
            <a:off x="2743200" y="4526280"/>
            <a:ext cx="8961120" cy="685800"/>
          </a:xfrm>
          <a:prstGeom prst="rect">
            <a:avLst/>
          </a:prstGeom>
          <a:noFill/>
        </p:spPr>
        <p:txBody>
          <a:bodyPr wrap="square">
            <a:spAutoFit/>
          </a:bodyPr>
          <a:lstStyle/>
          <a:p>
            <a:pPr algn="l">
              <a:spcAft>
                <a:spcPts val="600"/>
              </a:spcAft>
              <a:defRPr sz="1800" b="0">
                <a:solidFill>
                  <a:srgbClr val="2B2B2B"/>
                </a:solidFill>
              </a:defRPr>
            </a:pPr>
            <a:r>
              <a:t>Environ 1 million de pieds-noirs et des harkis partent pour la France</a:t>
            </a:r>
          </a:p>
        </p:txBody>
      </p:sp>
      <p:sp>
        <p:nvSpPr>
          <p:cNvPr id="43" name="Rounded Rectangle 42"/>
          <p:cNvSpPr/>
          <p:nvPr/>
        </p:nvSpPr>
        <p:spPr>
          <a:xfrm>
            <a:off x="548640" y="5257800"/>
            <a:ext cx="2011680" cy="658368"/>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Aujourd'hui</a:t>
            </a:r>
          </a:p>
        </p:txBody>
      </p:sp>
      <p:sp>
        <p:nvSpPr>
          <p:cNvPr id="44" name="TextBox 43"/>
          <p:cNvSpPr txBox="1"/>
          <p:nvPr/>
        </p:nvSpPr>
        <p:spPr>
          <a:xfrm>
            <a:off x="2743200" y="5303520"/>
            <a:ext cx="8961120" cy="685800"/>
          </a:xfrm>
          <a:prstGeom prst="rect">
            <a:avLst/>
          </a:prstGeom>
          <a:noFill/>
        </p:spPr>
        <p:txBody>
          <a:bodyPr wrap="square">
            <a:spAutoFit/>
          </a:bodyPr>
          <a:lstStyle/>
          <a:p>
            <a:pPr algn="l">
              <a:spcAft>
                <a:spcPts val="600"/>
              </a:spcAft>
              <a:defRPr sz="1800" b="0">
                <a:solidFill>
                  <a:srgbClr val="2B2B2B"/>
                </a:solidFill>
              </a:defRPr>
            </a:pPr>
            <a:r>
              <a:t>Une histoire commune : des millions de Français ont des origines maghrébines</a:t>
            </a:r>
          </a:p>
        </p:txBody>
      </p:sp>
      <p:sp>
        <p:nvSpPr>
          <p:cNvPr id="45" name="Rounded Rectangle 44"/>
          <p:cNvSpPr/>
          <p:nvPr/>
        </p:nvSpPr>
        <p:spPr>
          <a:xfrm>
            <a:off x="548640" y="5486400"/>
            <a:ext cx="8503920" cy="685800"/>
          </a:xfrm>
          <a:prstGeom prst="roundRect">
            <a:avLst/>
          </a:prstGeom>
          <a:solidFill>
            <a:srgbClr val="FBF3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1520" y="5559552"/>
            <a:ext cx="8229600" cy="548640"/>
          </a:xfrm>
          <a:prstGeom prst="rect">
            <a:avLst/>
          </a:prstGeom>
          <a:noFill/>
        </p:spPr>
        <p:txBody>
          <a:bodyPr wrap="square">
            <a:spAutoFit/>
          </a:bodyPr>
          <a:lstStyle/>
          <a:p>
            <a:pPr algn="l">
              <a:spcAft>
                <a:spcPts val="600"/>
              </a:spcAft>
              <a:defRPr sz="1600" b="1">
                <a:solidFill>
                  <a:srgbClr val="1F4E79"/>
                </a:solidFill>
              </a:defRPr>
            </a:pPr>
            <a:r>
              <a:t>❓ Combien de temps a duré la guerre d'Algérie ?</a:t>
            </a:r>
          </a:p>
        </p:txBody>
      </p:sp>
      <p:sp>
        <p:nvSpPr>
          <p:cNvPr id="47" name="Rounded Rectangle 46">
            <a:hlinkClick action="ppaction://hlinksldjump" r:id="rId3"/>
          </p:cNvPr>
          <p:cNvSpPr/>
          <p:nvPr/>
        </p:nvSpPr>
        <p:spPr>
          <a:xfrm>
            <a:off x="9235440" y="5486400"/>
            <a:ext cx="1920240" cy="6858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Réponse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D5F0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 Les indépendances et la guerre d'Algérie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2011680"/>
            <a:ext cx="10972800" cy="2743200"/>
          </a:xfrm>
          <a:prstGeom prst="rect">
            <a:avLst/>
          </a:prstGeom>
          <a:noFill/>
        </p:spPr>
        <p:txBody>
          <a:bodyPr wrap="square">
            <a:spAutoFit/>
          </a:bodyPr>
          <a:lstStyle/>
          <a:p>
            <a:pPr algn="ctr">
              <a:spcAft>
                <a:spcPts val="600"/>
              </a:spcAft>
              <a:defRPr sz="2400" b="1">
                <a:solidFill>
                  <a:srgbClr val="2B2B2B"/>
                </a:solidFill>
              </a:defRPr>
            </a:pPr>
            <a:r>
              <a:t>❓ Combien de temps a duré la guerre d'Algérie ?</a:t>
            </a:r>
          </a:p>
          <a:p>
            <a:pPr algn="ctr">
              <a:spcAft>
                <a:spcPts val="600"/>
              </a:spcAft>
              <a:defRPr sz="2400" b="1">
                <a:solidFill>
                  <a:srgbClr val="2B2B2B"/>
                </a:solidFill>
              </a:defRPr>
            </a:pPr>
          </a:p>
          <a:p>
            <a:pPr algn="ctr">
              <a:spcAft>
                <a:spcPts val="600"/>
              </a:spcAft>
              <a:defRPr sz="2400" b="1">
                <a:solidFill>
                  <a:srgbClr val="2B2B2B"/>
                </a:solidFill>
              </a:defRPr>
            </a:pPr>
            <a:r>
              <a:t>➡️ Près de 8 ans (1954-1962), avec des centaines de milliers de morts. Une mémoire encore sensible des deux côtés de la Méditerranée.</a:t>
            </a:r>
          </a:p>
        </p:txBody>
      </p:sp>
      <p:sp>
        <p:nvSpPr>
          <p:cNvPr id="34" name="Rounded Rectangle 33">
            <a:hlinkClick action="ppaction://hlinksldjump" r:id="rId3"/>
          </p:cNvPr>
          <p:cNvSpPr/>
          <p:nvPr/>
        </p:nvSpPr>
        <p:spPr>
          <a:xfrm>
            <a:off x="4754880" y="5029200"/>
            <a:ext cx="2651760" cy="7315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Retour aux époques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Qui suis-je ? Les grands personnages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54864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1508760"/>
            <a:ext cx="3291840" cy="1371600"/>
          </a:xfrm>
          <a:prstGeom prst="rect">
            <a:avLst/>
          </a:prstGeom>
          <a:noFill/>
        </p:spPr>
        <p:txBody>
          <a:bodyPr wrap="square">
            <a:spAutoFit/>
          </a:bodyPr>
          <a:lstStyle/>
          <a:p>
            <a:pPr algn="l">
              <a:spcAft>
                <a:spcPts val="600"/>
              </a:spcAft>
              <a:defRPr sz="1500" b="0">
                <a:solidFill>
                  <a:srgbClr val="2B2B2B"/>
                </a:solidFill>
              </a:defRPr>
            </a:pPr>
            <a:r>
              <a:t>« Je suis né à Carthage et j'ai traversé les Alpes avec des éléphants. »</a:t>
            </a:r>
          </a:p>
        </p:txBody>
      </p:sp>
      <p:sp>
        <p:nvSpPr>
          <p:cNvPr id="35" name="Rounded Rectangle 34">
            <a:hlinkClick action="ppaction://hlinksldjump" r:id="rId4"/>
          </p:cNvPr>
          <p:cNvSpPr/>
          <p:nvPr/>
        </p:nvSpPr>
        <p:spPr>
          <a:xfrm>
            <a:off x="1097280" y="2880360"/>
            <a:ext cx="2468880" cy="5029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36" name="Rounded Rectangle 35"/>
          <p:cNvSpPr/>
          <p:nvPr/>
        </p:nvSpPr>
        <p:spPr>
          <a:xfrm>
            <a:off x="434340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80560" y="1508760"/>
            <a:ext cx="3291840" cy="1371600"/>
          </a:xfrm>
          <a:prstGeom prst="rect">
            <a:avLst/>
          </a:prstGeom>
          <a:noFill/>
        </p:spPr>
        <p:txBody>
          <a:bodyPr wrap="square">
            <a:spAutoFit/>
          </a:bodyPr>
          <a:lstStyle/>
          <a:p>
            <a:pPr algn="l">
              <a:spcAft>
                <a:spcPts val="600"/>
              </a:spcAft>
              <a:defRPr sz="1500" b="0">
                <a:solidFill>
                  <a:srgbClr val="2B2B2B"/>
                </a:solidFill>
              </a:defRPr>
            </a:pPr>
            <a:r>
              <a:t>« Je suis né à Thagaste (Algérie) et je suis un saint chrétien. »</a:t>
            </a:r>
          </a:p>
        </p:txBody>
      </p:sp>
      <p:sp>
        <p:nvSpPr>
          <p:cNvPr id="38" name="Rounded Rectangle 37">
            <a:hlinkClick action="ppaction://hlinksldjump" r:id="rId4"/>
          </p:cNvPr>
          <p:cNvSpPr/>
          <p:nvPr/>
        </p:nvSpPr>
        <p:spPr>
          <a:xfrm>
            <a:off x="4892040" y="2880360"/>
            <a:ext cx="2468880" cy="5029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39" name="Rounded Rectangle 38"/>
          <p:cNvSpPr/>
          <p:nvPr/>
        </p:nvSpPr>
        <p:spPr>
          <a:xfrm>
            <a:off x="8138160" y="1371600"/>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75320" y="1508760"/>
            <a:ext cx="3291840" cy="1371600"/>
          </a:xfrm>
          <a:prstGeom prst="rect">
            <a:avLst/>
          </a:prstGeom>
          <a:noFill/>
        </p:spPr>
        <p:txBody>
          <a:bodyPr wrap="square">
            <a:spAutoFit/>
          </a:bodyPr>
          <a:lstStyle/>
          <a:p>
            <a:pPr algn="l">
              <a:spcAft>
                <a:spcPts val="600"/>
              </a:spcAft>
              <a:defRPr sz="1500" b="0">
                <a:solidFill>
                  <a:srgbClr val="2B2B2B"/>
                </a:solidFill>
              </a:defRPr>
            </a:pPr>
            <a:r>
              <a:t>« Un rocher d'Espagne porte mon nom. »</a:t>
            </a:r>
          </a:p>
        </p:txBody>
      </p:sp>
      <p:sp>
        <p:nvSpPr>
          <p:cNvPr id="41" name="Rounded Rectangle 40">
            <a:hlinkClick action="ppaction://hlinksldjump" r:id="rId4"/>
          </p:cNvPr>
          <p:cNvSpPr/>
          <p:nvPr/>
        </p:nvSpPr>
        <p:spPr>
          <a:xfrm>
            <a:off x="8686800" y="2880360"/>
            <a:ext cx="2468880" cy="5029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2" name="Rounded Rectangle 41"/>
          <p:cNvSpPr/>
          <p:nvPr/>
        </p:nvSpPr>
        <p:spPr>
          <a:xfrm>
            <a:off x="54864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5800" y="3886200"/>
            <a:ext cx="3291840" cy="1371600"/>
          </a:xfrm>
          <a:prstGeom prst="rect">
            <a:avLst/>
          </a:prstGeom>
          <a:noFill/>
        </p:spPr>
        <p:txBody>
          <a:bodyPr wrap="square">
            <a:spAutoFit/>
          </a:bodyPr>
          <a:lstStyle/>
          <a:p>
            <a:pPr algn="l">
              <a:spcAft>
                <a:spcPts val="600"/>
              </a:spcAft>
              <a:defRPr sz="1500" b="0">
                <a:solidFill>
                  <a:srgbClr val="2B2B2B"/>
                </a:solidFill>
              </a:defRPr>
            </a:pPr>
            <a:r>
              <a:t>« Né à Tanger, j'ai voyagé 30 ans jusqu'en Chine. »</a:t>
            </a:r>
          </a:p>
        </p:txBody>
      </p:sp>
      <p:sp>
        <p:nvSpPr>
          <p:cNvPr id="44" name="Rounded Rectangle 43">
            <a:hlinkClick action="ppaction://hlinksldjump" r:id="rId4"/>
          </p:cNvPr>
          <p:cNvSpPr/>
          <p:nvPr/>
        </p:nvSpPr>
        <p:spPr>
          <a:xfrm>
            <a:off x="1097280" y="5257800"/>
            <a:ext cx="2468880" cy="50292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5" name="Rounded Rectangle 44"/>
          <p:cNvSpPr/>
          <p:nvPr/>
        </p:nvSpPr>
        <p:spPr>
          <a:xfrm>
            <a:off x="434340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480560" y="3886200"/>
            <a:ext cx="3291840" cy="1371600"/>
          </a:xfrm>
          <a:prstGeom prst="rect">
            <a:avLst/>
          </a:prstGeom>
          <a:noFill/>
        </p:spPr>
        <p:txBody>
          <a:bodyPr wrap="square">
            <a:spAutoFit/>
          </a:bodyPr>
          <a:lstStyle/>
          <a:p>
            <a:pPr algn="l">
              <a:spcAft>
                <a:spcPts val="600"/>
              </a:spcAft>
              <a:defRPr sz="1500" b="0">
                <a:solidFill>
                  <a:srgbClr val="2B2B2B"/>
                </a:solidFill>
              </a:defRPr>
            </a:pPr>
            <a:r>
              <a:t>« J'ai combattu la conquête française de l'Algérie. »</a:t>
            </a:r>
          </a:p>
        </p:txBody>
      </p:sp>
      <p:sp>
        <p:nvSpPr>
          <p:cNvPr id="47" name="Rounded Rectangle 46">
            <a:hlinkClick action="ppaction://hlinksldjump" r:id="rId4"/>
          </p:cNvPr>
          <p:cNvSpPr/>
          <p:nvPr/>
        </p:nvSpPr>
        <p:spPr>
          <a:xfrm>
            <a:off x="4892040" y="5257800"/>
            <a:ext cx="2468880" cy="50292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
        <p:nvSpPr>
          <p:cNvPr id="48" name="Rounded Rectangle 47"/>
          <p:cNvSpPr/>
          <p:nvPr/>
        </p:nvSpPr>
        <p:spPr>
          <a:xfrm>
            <a:off x="8138160" y="3749039"/>
            <a:ext cx="3566160" cy="21945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75320" y="3886200"/>
            <a:ext cx="3291840" cy="1371600"/>
          </a:xfrm>
          <a:prstGeom prst="rect">
            <a:avLst/>
          </a:prstGeom>
          <a:noFill/>
        </p:spPr>
        <p:txBody>
          <a:bodyPr wrap="square">
            <a:spAutoFit/>
          </a:bodyPr>
          <a:lstStyle/>
          <a:p>
            <a:pPr algn="l">
              <a:spcAft>
                <a:spcPts val="600"/>
              </a:spcAft>
              <a:defRPr sz="1500" b="0">
                <a:solidFill>
                  <a:srgbClr val="2B2B2B"/>
                </a:solidFill>
              </a:defRPr>
            </a:pPr>
            <a:r>
              <a:t>« J'ai été le 1er président de la Tunisie et j'ai donné des droits aux femmes. »</a:t>
            </a:r>
          </a:p>
        </p:txBody>
      </p:sp>
      <p:sp>
        <p:nvSpPr>
          <p:cNvPr id="50" name="Rounded Rectangle 49">
            <a:hlinkClick action="ppaction://hlinksldjump" r:id="rId4"/>
          </p:cNvPr>
          <p:cNvSpPr/>
          <p:nvPr/>
        </p:nvSpPr>
        <p:spPr>
          <a:xfrm>
            <a:off x="8686800" y="5257800"/>
            <a:ext cx="2468880" cy="50292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Qui suis-je ?</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Réponses : qui suis-je ?</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572000"/>
          </a:xfrm>
          <a:prstGeom prst="rect">
            <a:avLst/>
          </a:prstGeom>
          <a:noFill/>
        </p:spPr>
        <p:txBody>
          <a:bodyPr wrap="square">
            <a:spAutoFit/>
          </a:bodyPr>
          <a:lstStyle/>
          <a:p>
            <a:pPr algn="l">
              <a:spcAft>
                <a:spcPts val="600"/>
              </a:spcAft>
              <a:defRPr sz="2400" b="1">
                <a:solidFill>
                  <a:srgbClr val="B84A1E"/>
                </a:solidFill>
              </a:defRPr>
            </a:pPr>
            <a:r>
              <a:t>1. Hannibal</a:t>
            </a:r>
          </a:p>
          <a:p>
            <a:pPr algn="l">
              <a:spcAft>
                <a:spcPts val="600"/>
              </a:spcAft>
              <a:defRPr sz="2400" b="1">
                <a:solidFill>
                  <a:srgbClr val="B84A1E"/>
                </a:solidFill>
              </a:defRPr>
            </a:pPr>
            <a:r>
              <a:t>2. Saint Augustin</a:t>
            </a:r>
          </a:p>
          <a:p>
            <a:pPr algn="l">
              <a:spcAft>
                <a:spcPts val="600"/>
              </a:spcAft>
              <a:defRPr sz="2400" b="1">
                <a:solidFill>
                  <a:srgbClr val="B84A1E"/>
                </a:solidFill>
              </a:defRPr>
            </a:pPr>
            <a:r>
              <a:t>3. Tariq ibn Ziyad</a:t>
            </a:r>
          </a:p>
          <a:p>
            <a:pPr algn="l">
              <a:spcAft>
                <a:spcPts val="600"/>
              </a:spcAft>
              <a:defRPr sz="2400" b="1">
                <a:solidFill>
                  <a:srgbClr val="B84A1E"/>
                </a:solidFill>
              </a:defRPr>
            </a:pPr>
            <a:r>
              <a:t>4. Ibn Battuta</a:t>
            </a:r>
          </a:p>
          <a:p>
            <a:pPr algn="l">
              <a:spcAft>
                <a:spcPts val="600"/>
              </a:spcAft>
              <a:defRPr sz="2400" b="1">
                <a:solidFill>
                  <a:srgbClr val="B84A1E"/>
                </a:solidFill>
              </a:defRPr>
            </a:pPr>
            <a:r>
              <a:t>5. L'émir Abd el-Kader</a:t>
            </a:r>
          </a:p>
          <a:p>
            <a:pPr algn="l">
              <a:spcAft>
                <a:spcPts val="600"/>
              </a:spcAft>
              <a:defRPr sz="2400" b="1">
                <a:solidFill>
                  <a:srgbClr val="B84A1E"/>
                </a:solidFill>
              </a:defRPr>
            </a:pPr>
            <a:r>
              <a:t>6. Habib Bourguiba</a:t>
            </a:r>
          </a:p>
        </p:txBody>
      </p:sp>
      <p:sp>
        <p:nvSpPr>
          <p:cNvPr id="34" name="Rounded Rectangle 33">
            <a:hlinkClick action="ppaction://hlinksldjump" r:id="rId3"/>
          </p:cNvPr>
          <p:cNvSpPr/>
          <p:nvPr/>
        </p:nvSpPr>
        <p:spPr>
          <a:xfrm>
            <a:off x="8595360" y="548640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 Époques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Remets l'histoire dans l'ordre !</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822960" y="1554480"/>
            <a:ext cx="3291840" cy="10972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Indépendance de l'Algérie</a:t>
            </a:r>
          </a:p>
        </p:txBody>
      </p:sp>
      <p:sp>
        <p:nvSpPr>
          <p:cNvPr id="34" name="Rounded Rectangle 33"/>
          <p:cNvSpPr/>
          <p:nvPr/>
        </p:nvSpPr>
        <p:spPr>
          <a:xfrm>
            <a:off x="4480560" y="1554480"/>
            <a:ext cx="3291840" cy="10972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Carthage</a:t>
            </a:r>
          </a:p>
        </p:txBody>
      </p:sp>
      <p:sp>
        <p:nvSpPr>
          <p:cNvPr id="35" name="Rounded Rectangle 34"/>
          <p:cNvSpPr/>
          <p:nvPr/>
        </p:nvSpPr>
        <p:spPr>
          <a:xfrm>
            <a:off x="8138160" y="1554480"/>
            <a:ext cx="3291840" cy="10972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Kairouan</a:t>
            </a:r>
          </a:p>
        </p:txBody>
      </p:sp>
      <p:sp>
        <p:nvSpPr>
          <p:cNvPr id="36" name="Rounded Rectangle 35"/>
          <p:cNvSpPr/>
          <p:nvPr/>
        </p:nvSpPr>
        <p:spPr>
          <a:xfrm>
            <a:off x="822960" y="3017520"/>
            <a:ext cx="3291840" cy="1097280"/>
          </a:xfrm>
          <a:prstGeom prst="round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Prise d'Alger par la France</a:t>
            </a:r>
          </a:p>
        </p:txBody>
      </p:sp>
      <p:sp>
        <p:nvSpPr>
          <p:cNvPr id="37" name="Rounded Rectangle 36"/>
          <p:cNvSpPr/>
          <p:nvPr/>
        </p:nvSpPr>
        <p:spPr>
          <a:xfrm>
            <a:off x="4480560" y="3017520"/>
            <a:ext cx="3291840" cy="10972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Fondation de la Qarawiyyin</a:t>
            </a:r>
          </a:p>
        </p:txBody>
      </p:sp>
      <p:sp>
        <p:nvSpPr>
          <p:cNvPr id="38" name="Rounded Rectangle 37"/>
          <p:cNvSpPr/>
          <p:nvPr/>
        </p:nvSpPr>
        <p:spPr>
          <a:xfrm>
            <a:off x="8138160" y="3017520"/>
            <a:ext cx="3291840" cy="10972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700" b="1">
                <a:solidFill>
                  <a:srgbClr val="FFFFFF"/>
                </a:solidFill>
              </a:defRPr>
            </a:pPr>
            <a:r>
              <a:t>? — Printemps arabe</a:t>
            </a:r>
          </a:p>
        </p:txBody>
      </p:sp>
      <p:sp>
        <p:nvSpPr>
          <p:cNvPr id="39" name="Rounded Rectangle 38">
            <a:hlinkClick action="ppaction://hlinksldjump" r:id="rId4"/>
          </p:cNvPr>
          <p:cNvSpPr/>
          <p:nvPr/>
        </p:nvSpPr>
        <p:spPr>
          <a:xfrm>
            <a:off x="4754880" y="4937760"/>
            <a:ext cx="2651760" cy="731520"/>
          </a:xfrm>
          <a:prstGeom prst="round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defRPr>
            </a:pPr>
            <a:r>
              <a:t>Correction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L'ordre chronologique</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572000"/>
          </a:xfrm>
          <a:prstGeom prst="rect">
            <a:avLst/>
          </a:prstGeom>
          <a:noFill/>
        </p:spPr>
        <p:txBody>
          <a:bodyPr wrap="square">
            <a:spAutoFit/>
          </a:bodyPr>
          <a:lstStyle/>
          <a:p>
            <a:pPr algn="l">
              <a:spcAft>
                <a:spcPts val="600"/>
              </a:spcAft>
              <a:defRPr sz="2400" b="0">
                <a:solidFill>
                  <a:srgbClr val="2B2B2B"/>
                </a:solidFill>
              </a:defRPr>
            </a:pPr>
            <a:r>
              <a:t>1. Fondation de Carthage — 814 av. J.-C.</a:t>
            </a:r>
          </a:p>
          <a:p>
            <a:pPr algn="l">
              <a:spcAft>
                <a:spcPts val="600"/>
              </a:spcAft>
              <a:defRPr sz="2400" b="0">
                <a:solidFill>
                  <a:srgbClr val="2B2B2B"/>
                </a:solidFill>
              </a:defRPr>
            </a:pPr>
            <a:r>
              <a:t>2. Fondation de Kairouan — 670</a:t>
            </a:r>
          </a:p>
          <a:p>
            <a:pPr algn="l">
              <a:spcAft>
                <a:spcPts val="600"/>
              </a:spcAft>
              <a:defRPr sz="2400" b="0">
                <a:solidFill>
                  <a:srgbClr val="2B2B2B"/>
                </a:solidFill>
              </a:defRPr>
            </a:pPr>
            <a:r>
              <a:t>3. Fondation de la Qarawiyyin — 859</a:t>
            </a:r>
          </a:p>
          <a:p>
            <a:pPr algn="l">
              <a:spcAft>
                <a:spcPts val="600"/>
              </a:spcAft>
              <a:defRPr sz="2400" b="0">
                <a:solidFill>
                  <a:srgbClr val="2B2B2B"/>
                </a:solidFill>
              </a:defRPr>
            </a:pPr>
            <a:r>
              <a:t>4. Prise d'Alger par la France — 1830</a:t>
            </a:r>
          </a:p>
          <a:p>
            <a:pPr algn="l">
              <a:spcAft>
                <a:spcPts val="600"/>
              </a:spcAft>
              <a:defRPr sz="2400" b="0">
                <a:solidFill>
                  <a:srgbClr val="2B2B2B"/>
                </a:solidFill>
              </a:defRPr>
            </a:pPr>
            <a:r>
              <a:t>5. Indépendance de l'Algérie — 1962</a:t>
            </a:r>
          </a:p>
          <a:p>
            <a:pPr algn="l">
              <a:spcAft>
                <a:spcPts val="600"/>
              </a:spcAft>
              <a:defRPr sz="2400" b="0">
                <a:solidFill>
                  <a:srgbClr val="2B2B2B"/>
                </a:solidFill>
              </a:defRPr>
            </a:pPr>
            <a:r>
              <a:t>6. Printemps arabe — 2010-2011</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1 : pourquoi parle-t-on français au Maghreb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25'</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Rounded Rectangle 33"/>
          <p:cNvSpPr/>
          <p:nvPr/>
        </p:nvSpPr>
        <p:spPr>
          <a:xfrm>
            <a:off x="457200" y="1280160"/>
            <a:ext cx="6766560" cy="4937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1371600"/>
            <a:ext cx="6400800" cy="4754880"/>
          </a:xfrm>
          <a:prstGeom prst="rect">
            <a:avLst/>
          </a:prstGeom>
          <a:noFill/>
        </p:spPr>
        <p:txBody>
          <a:bodyPr wrap="square">
            <a:spAutoFit/>
          </a:bodyPr>
          <a:lstStyle/>
          <a:p>
            <a:pPr algn="l">
              <a:spcAft>
                <a:spcPts val="600"/>
              </a:spcAft>
              <a:defRPr sz="1500" b="0">
                <a:solidFill>
                  <a:srgbClr val="2B2B2B"/>
                </a:solidFill>
              </a:defRPr>
            </a:pPr>
            <a:r>
              <a:t>Une langue héritée de l'histoire</a:t>
            </a:r>
          </a:p>
          <a:p>
            <a:pPr algn="l">
              <a:spcAft>
                <a:spcPts val="600"/>
              </a:spcAft>
              <a:defRPr sz="1500" b="0">
                <a:solidFill>
                  <a:srgbClr val="2B2B2B"/>
                </a:solidFill>
              </a:defRPr>
            </a:pPr>
            <a:r>
              <a:t>Les pays du Maghreb ont été colonisés par la France pendant plus de cent ans. Cette période a fortement influencé la langue, l'école et l'organisation administrative. Après l'indépendance, les États ont choisi l'arabe comme langue officielle, mais le français n'a pas disparu.</a:t>
            </a:r>
          </a:p>
          <a:p>
            <a:pPr algn="l">
              <a:spcAft>
                <a:spcPts val="600"/>
              </a:spcAft>
              <a:defRPr sz="1500" b="0">
                <a:solidFill>
                  <a:srgbClr val="2B2B2B"/>
                </a:solidFill>
              </a:defRPr>
            </a:pPr>
            <a:r>
              <a:t>Aujourd'hui, le français est une langue de travail et d'ouverture internationale. Il permet de faciliter les échanges économiques, le tourisme et les études à l'étranger. Même si certains pays souhaitent renforcer l'usage de l'arabe, le français reste une langue très utilisée par la population.</a:t>
            </a:r>
          </a:p>
        </p:txBody>
      </p:sp>
      <p:sp>
        <p:nvSpPr>
          <p:cNvPr id="36" name="TextBox 35"/>
          <p:cNvSpPr txBox="1"/>
          <p:nvPr/>
        </p:nvSpPr>
        <p:spPr>
          <a:xfrm>
            <a:off x="7498079" y="1371600"/>
            <a:ext cx="4297680" cy="4023360"/>
          </a:xfrm>
          <a:prstGeom prst="rect">
            <a:avLst/>
          </a:prstGeom>
          <a:noFill/>
        </p:spPr>
        <p:txBody>
          <a:bodyPr wrap="square">
            <a:spAutoFit/>
          </a:bodyPr>
          <a:lstStyle/>
          <a:p>
            <a:pPr algn="l">
              <a:spcAft>
                <a:spcPts val="600"/>
              </a:spcAft>
              <a:defRPr sz="1700" b="1">
                <a:solidFill>
                  <a:srgbClr val="1F4E79"/>
                </a:solidFill>
              </a:defRPr>
            </a:pPr>
            <a:r>
              <a:t>1. Quelle période historique explique la présence du français ?</a:t>
            </a:r>
          </a:p>
          <a:p>
            <a:pPr algn="l">
              <a:spcAft>
                <a:spcPts val="600"/>
              </a:spcAft>
              <a:defRPr sz="1700" b="1">
                <a:solidFill>
                  <a:srgbClr val="1F4E79"/>
                </a:solidFill>
              </a:defRPr>
            </a:pPr>
            <a:r>
              <a:t>2. Pourquoi le français n'a-t-il pas disparu après l'indépendance ?</a:t>
            </a:r>
          </a:p>
          <a:p>
            <a:pPr algn="l">
              <a:spcAft>
                <a:spcPts val="600"/>
              </a:spcAft>
              <a:defRPr sz="1700" b="1">
                <a:solidFill>
                  <a:srgbClr val="1F4E79"/>
                </a:solidFill>
              </a:defRPr>
            </a:pPr>
            <a:r>
              <a:t>3. Quels avantages le français apporte-t-il aujourd'hui ?</a:t>
            </a:r>
          </a:p>
        </p:txBody>
      </p:sp>
      <p:sp>
        <p:nvSpPr>
          <p:cNvPr id="37" name="Rounded Rectangle 36">
            <a:hlinkClick action="ppaction://hlinksldjump" r:id="rId4"/>
          </p:cNvPr>
          <p:cNvSpPr/>
          <p:nvPr/>
        </p:nvSpPr>
        <p:spPr>
          <a:xfrm>
            <a:off x="8961120" y="5486400"/>
            <a:ext cx="21945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1 : pourquoi parle-t-on français au Maghreb ?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389120"/>
          </a:xfrm>
          <a:prstGeom prst="rect">
            <a:avLst/>
          </a:prstGeom>
          <a:noFill/>
        </p:spPr>
        <p:txBody>
          <a:bodyPr wrap="square">
            <a:spAutoFit/>
          </a:bodyPr>
          <a:lstStyle/>
          <a:p>
            <a:pPr algn="l">
              <a:spcAft>
                <a:spcPts val="600"/>
              </a:spcAft>
              <a:defRPr sz="1800" b="0">
                <a:solidFill>
                  <a:srgbClr val="2B2B2B"/>
                </a:solidFill>
              </a:defRPr>
            </a:pPr>
            <a:r>
              <a:t>1. Quelle période historique explique la présence du français ?</a:t>
            </a:r>
          </a:p>
          <a:p>
            <a:pPr algn="l">
              <a:spcAft>
                <a:spcPts val="600"/>
              </a:spcAft>
              <a:defRPr sz="1800" b="0">
                <a:solidFill>
                  <a:srgbClr val="2B2B2B"/>
                </a:solidFill>
              </a:defRPr>
            </a:pPr>
            <a:r>
              <a:t>   ✅ La colonisation française (plus de cent ans).</a:t>
            </a:r>
          </a:p>
          <a:p>
            <a:pPr algn="l">
              <a:spcAft>
                <a:spcPts val="600"/>
              </a:spcAft>
              <a:defRPr sz="1800" b="0">
                <a:solidFill>
                  <a:srgbClr val="2B2B2B"/>
                </a:solidFill>
              </a:defRPr>
            </a:pPr>
            <a:r>
              <a:t>2. Pourquoi le français n'a-t-il pas disparu après l'indépendance ?</a:t>
            </a:r>
          </a:p>
          <a:p>
            <a:pPr algn="l">
              <a:spcAft>
                <a:spcPts val="600"/>
              </a:spcAft>
              <a:defRPr sz="1800" b="0">
                <a:solidFill>
                  <a:srgbClr val="2B2B2B"/>
                </a:solidFill>
              </a:defRPr>
            </a:pPr>
            <a:r>
              <a:t>   ✅ Il avait marqué l'école, l'administration et la langue ; il reste une langue de travail et d'ouverture internationale.</a:t>
            </a:r>
          </a:p>
          <a:p>
            <a:pPr algn="l">
              <a:spcAft>
                <a:spcPts val="600"/>
              </a:spcAft>
              <a:defRPr sz="1800" b="0">
                <a:solidFill>
                  <a:srgbClr val="2B2B2B"/>
                </a:solidFill>
              </a:defRPr>
            </a:pPr>
            <a:r>
              <a:t>3. Quels avantages le français apporte-t-il aujourd'hui ?</a:t>
            </a:r>
          </a:p>
          <a:p>
            <a:pPr algn="l">
              <a:spcAft>
                <a:spcPts val="600"/>
              </a:spcAft>
              <a:defRPr sz="1800" b="0">
                <a:solidFill>
                  <a:srgbClr val="2B2B2B"/>
                </a:solidFill>
              </a:defRPr>
            </a:pPr>
            <a:r>
              <a:t>   ✅ Faciliter les échanges économiques, le tourisme et les études à l'étranger.</a:t>
            </a:r>
          </a:p>
        </p:txBody>
      </p:sp>
      <p:sp>
        <p:nvSpPr>
          <p:cNvPr id="34" name="Rounded Rectangle 33">
            <a:hlinkClick action="ppaction://hlinksldjump" r:id="rId3"/>
          </p:cNvPr>
          <p:cNvSpPr/>
          <p:nvPr/>
        </p:nvSpPr>
        <p:spPr>
          <a:xfrm>
            <a:off x="8595360" y="55778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Texte suivant ➡️</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2 : la population du Maroc</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457200" y="1280160"/>
            <a:ext cx="6766560" cy="4937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1371600"/>
            <a:ext cx="6400800" cy="4754880"/>
          </a:xfrm>
          <a:prstGeom prst="rect">
            <a:avLst/>
          </a:prstGeom>
          <a:noFill/>
        </p:spPr>
        <p:txBody>
          <a:bodyPr wrap="square">
            <a:spAutoFit/>
          </a:bodyPr>
          <a:lstStyle/>
          <a:p>
            <a:pPr algn="l">
              <a:spcAft>
                <a:spcPts val="600"/>
              </a:spcAft>
              <a:defRPr sz="1500" b="0">
                <a:solidFill>
                  <a:srgbClr val="2B2B2B"/>
                </a:solidFill>
              </a:defRPr>
            </a:pPr>
            <a:r>
              <a:t>Le Maroc est un pays du Maghreb. Depuis les années 1960, sa population augmente rapidement : c'est la croissance démographique. Aujourd'hui, le pays compte plus de 36 millions d'habitants. Cette évolution s'explique par une transition démographique. La fécondité baisse et l'espérance de vie augmente.</a:t>
            </a:r>
          </a:p>
          <a:p>
            <a:pPr algn="l">
              <a:spcAft>
                <a:spcPts val="600"/>
              </a:spcAft>
              <a:defRPr sz="1500" b="0">
                <a:solidFill>
                  <a:srgbClr val="2B2B2B"/>
                </a:solidFill>
              </a:defRPr>
            </a:pPr>
            <a:r>
              <a:t>La population est donc jeune, ce qui peut représenter un dividende démographique.</a:t>
            </a:r>
          </a:p>
          <a:p>
            <a:pPr algn="l">
              <a:spcAft>
                <a:spcPts val="600"/>
              </a:spcAft>
              <a:defRPr sz="1500" b="0">
                <a:solidFill>
                  <a:srgbClr val="2B2B2B"/>
                </a:solidFill>
              </a:defRPr>
            </a:pPr>
            <a:r>
              <a:t>Depuis plusieurs années, la population quitte les campagnes pour les villes : c'est l'exode rural. Les grandes villes attirent les habitants et la densité de population y est plus forte. La population est ainsi inégalement répartie. Cependant, cette évolution crée des défis comme le chômage des jeunes et le logement.</a:t>
            </a:r>
          </a:p>
        </p:txBody>
      </p:sp>
      <p:sp>
        <p:nvSpPr>
          <p:cNvPr id="35" name="TextBox 34"/>
          <p:cNvSpPr txBox="1"/>
          <p:nvPr/>
        </p:nvSpPr>
        <p:spPr>
          <a:xfrm>
            <a:off x="7498079" y="1371600"/>
            <a:ext cx="4297680" cy="4023360"/>
          </a:xfrm>
          <a:prstGeom prst="rect">
            <a:avLst/>
          </a:prstGeom>
          <a:noFill/>
        </p:spPr>
        <p:txBody>
          <a:bodyPr wrap="square">
            <a:spAutoFit/>
          </a:bodyPr>
          <a:lstStyle/>
          <a:p>
            <a:pPr algn="l">
              <a:spcAft>
                <a:spcPts val="600"/>
              </a:spcAft>
              <a:defRPr sz="1700" b="1">
                <a:solidFill>
                  <a:srgbClr val="1F4E79"/>
                </a:solidFill>
              </a:defRPr>
            </a:pPr>
            <a:r>
              <a:t>1. C'est quoi la transition démographique au Maroc ?</a:t>
            </a:r>
          </a:p>
          <a:p>
            <a:pPr algn="l">
              <a:spcAft>
                <a:spcPts val="600"/>
              </a:spcAft>
              <a:defRPr sz="1700" b="1">
                <a:solidFill>
                  <a:srgbClr val="1F4E79"/>
                </a:solidFill>
              </a:defRPr>
            </a:pPr>
            <a:r>
              <a:t>2. C'est quoi l'exode rural ?</a:t>
            </a:r>
          </a:p>
          <a:p>
            <a:pPr algn="l">
              <a:spcAft>
                <a:spcPts val="600"/>
              </a:spcAft>
              <a:defRPr sz="1700" b="1">
                <a:solidFill>
                  <a:srgbClr val="1F4E79"/>
                </a:solidFill>
              </a:defRPr>
            </a:pPr>
            <a:r>
              <a:t>3. Quels sont deux défis liés à cette évolution de la population ?</a:t>
            </a:r>
          </a:p>
        </p:txBody>
      </p:sp>
      <p:sp>
        <p:nvSpPr>
          <p:cNvPr id="36" name="Rounded Rectangle 35">
            <a:hlinkClick action="ppaction://hlinksldjump" r:id="rId4"/>
          </p:cNvPr>
          <p:cNvSpPr/>
          <p:nvPr/>
        </p:nvSpPr>
        <p:spPr>
          <a:xfrm>
            <a:off x="8961120" y="5486400"/>
            <a:ext cx="21945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2 : la population du Maroc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389120"/>
          </a:xfrm>
          <a:prstGeom prst="rect">
            <a:avLst/>
          </a:prstGeom>
          <a:noFill/>
        </p:spPr>
        <p:txBody>
          <a:bodyPr wrap="square">
            <a:spAutoFit/>
          </a:bodyPr>
          <a:lstStyle/>
          <a:p>
            <a:pPr algn="l">
              <a:spcAft>
                <a:spcPts val="600"/>
              </a:spcAft>
              <a:defRPr sz="1800" b="0">
                <a:solidFill>
                  <a:srgbClr val="2B2B2B"/>
                </a:solidFill>
              </a:defRPr>
            </a:pPr>
            <a:r>
              <a:t>1. C'est quoi la transition démographique au Maroc ?</a:t>
            </a:r>
          </a:p>
          <a:p>
            <a:pPr algn="l">
              <a:spcAft>
                <a:spcPts val="600"/>
              </a:spcAft>
              <a:defRPr sz="1800" b="0">
                <a:solidFill>
                  <a:srgbClr val="2B2B2B"/>
                </a:solidFill>
              </a:defRPr>
            </a:pPr>
            <a:r>
              <a:t>   ✅ Le passage à une baisse de la fécondité et à une hausse de l'espérance de vie, après une forte croissance de la population.</a:t>
            </a:r>
          </a:p>
          <a:p>
            <a:pPr algn="l">
              <a:spcAft>
                <a:spcPts val="600"/>
              </a:spcAft>
              <a:defRPr sz="1800" b="0">
                <a:solidFill>
                  <a:srgbClr val="2B2B2B"/>
                </a:solidFill>
              </a:defRPr>
            </a:pPr>
            <a:r>
              <a:t>2. C'est quoi l'exode rural ?</a:t>
            </a:r>
          </a:p>
          <a:p>
            <a:pPr algn="l">
              <a:spcAft>
                <a:spcPts val="600"/>
              </a:spcAft>
              <a:defRPr sz="1800" b="0">
                <a:solidFill>
                  <a:srgbClr val="2B2B2B"/>
                </a:solidFill>
              </a:defRPr>
            </a:pPr>
            <a:r>
              <a:t>   ✅ Le départ des habitants des campagnes vers les villes.</a:t>
            </a:r>
          </a:p>
          <a:p>
            <a:pPr algn="l">
              <a:spcAft>
                <a:spcPts val="600"/>
              </a:spcAft>
              <a:defRPr sz="1800" b="0">
                <a:solidFill>
                  <a:srgbClr val="2B2B2B"/>
                </a:solidFill>
              </a:defRPr>
            </a:pPr>
            <a:r>
              <a:t>3. Quels sont deux défis liés à cette évolution de la population ?</a:t>
            </a:r>
          </a:p>
          <a:p>
            <a:pPr algn="l">
              <a:spcAft>
                <a:spcPts val="600"/>
              </a:spcAft>
              <a:defRPr sz="1800" b="0">
                <a:solidFill>
                  <a:srgbClr val="2B2B2B"/>
                </a:solidFill>
              </a:defRPr>
            </a:pPr>
            <a:r>
              <a:t>   ✅ Le chômage des jeunes et le logement.</a:t>
            </a:r>
          </a:p>
        </p:txBody>
      </p:sp>
      <p:sp>
        <p:nvSpPr>
          <p:cNvPr id="34" name="Rounded Rectangle 33">
            <a:hlinkClick action="ppaction://hlinksldjump" r:id="rId3"/>
          </p:cNvPr>
          <p:cNvSpPr/>
          <p:nvPr/>
        </p:nvSpPr>
        <p:spPr>
          <a:xfrm>
            <a:off x="8595360" y="5577840"/>
            <a:ext cx="2560320" cy="64008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defRPr>
            </a:pPr>
            <a:r>
              <a:t>Texte suivant ➡️</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3 : le Maghreb, l'Europe et les tensions</a:t>
            </a:r>
          </a:p>
        </p:txBody>
      </p:sp>
      <p:sp>
        <p:nvSpPr>
          <p:cNvPr id="32" name="Rounded Rectangle 31">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Rounded Rectangle 32"/>
          <p:cNvSpPr/>
          <p:nvPr/>
        </p:nvSpPr>
        <p:spPr>
          <a:xfrm>
            <a:off x="457200" y="1280160"/>
            <a:ext cx="6766560" cy="493776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1371600"/>
            <a:ext cx="6400800" cy="4754880"/>
          </a:xfrm>
          <a:prstGeom prst="rect">
            <a:avLst/>
          </a:prstGeom>
          <a:noFill/>
        </p:spPr>
        <p:txBody>
          <a:bodyPr wrap="square">
            <a:spAutoFit/>
          </a:bodyPr>
          <a:lstStyle/>
          <a:p>
            <a:pPr algn="l">
              <a:spcAft>
                <a:spcPts val="600"/>
              </a:spcAft>
              <a:defRPr sz="1500" b="0">
                <a:solidFill>
                  <a:srgbClr val="2B2B2B"/>
                </a:solidFill>
              </a:defRPr>
            </a:pPr>
            <a:r>
              <a:t>Les pays du Maghreb ont une histoire commune avec l'Europe à cause de la colonisation. Avec la plupart des pays, les relations commerciales et politiques sont aujourd'hui plutôt bonnes.</a:t>
            </a:r>
          </a:p>
          <a:p>
            <a:pPr algn="l">
              <a:spcAft>
                <a:spcPts val="600"/>
              </a:spcAft>
              <a:defRPr sz="1500" b="0">
                <a:solidFill>
                  <a:srgbClr val="2B2B2B"/>
                </a:solidFill>
              </a:defRPr>
            </a:pPr>
            <a:r>
              <a:t>L'Algérie cependant a été colonisée par la France pendant plus de 130 ans. Cette histoire crée encore aujourd'hui des tensions politiques et le président algérien exprime souvent des propos contre la France. On parle de crises diplomatiques.</a:t>
            </a:r>
          </a:p>
          <a:p>
            <a:pPr algn="l">
              <a:spcAft>
                <a:spcPts val="600"/>
              </a:spcAft>
              <a:defRPr sz="1500" b="0">
                <a:solidFill>
                  <a:srgbClr val="2B2B2B"/>
                </a:solidFill>
              </a:defRPr>
            </a:pPr>
            <a:r>
              <a:t>Il existe aussi des tensions entre pays du Maghreb. L'Algérie et le Maroc sont en désaccord sur certains territoires, ce qui complique leurs relations.</a:t>
            </a:r>
          </a:p>
          <a:p>
            <a:pPr algn="l">
              <a:spcAft>
                <a:spcPts val="600"/>
              </a:spcAft>
              <a:defRPr sz="1500" b="0">
                <a:solidFill>
                  <a:srgbClr val="2B2B2B"/>
                </a:solidFill>
              </a:defRPr>
            </a:pPr>
            <a:r>
              <a:t>Depuis les révolutions arabes de 2011, des mouvements religieux ont pris plus de place dans la vie politique en Tunisie (Ennahdha) et au Maroc (Parti de la justice et du développement – PJD), tandis qu'en Algérie, l'État a gardé un contrôle plus fort pour limiter leur influence.</a:t>
            </a:r>
          </a:p>
        </p:txBody>
      </p:sp>
      <p:sp>
        <p:nvSpPr>
          <p:cNvPr id="35" name="TextBox 34"/>
          <p:cNvSpPr txBox="1"/>
          <p:nvPr/>
        </p:nvSpPr>
        <p:spPr>
          <a:xfrm>
            <a:off x="7498079" y="1371600"/>
            <a:ext cx="4297680" cy="4023360"/>
          </a:xfrm>
          <a:prstGeom prst="rect">
            <a:avLst/>
          </a:prstGeom>
          <a:noFill/>
        </p:spPr>
        <p:txBody>
          <a:bodyPr wrap="square">
            <a:spAutoFit/>
          </a:bodyPr>
          <a:lstStyle/>
          <a:p>
            <a:pPr algn="l">
              <a:spcAft>
                <a:spcPts val="600"/>
              </a:spcAft>
              <a:defRPr sz="1700" b="1">
                <a:solidFill>
                  <a:srgbClr val="1F4E79"/>
                </a:solidFill>
              </a:defRPr>
            </a:pPr>
            <a:r>
              <a:t>1. Avec quel pays l'Algérie a-t-elle encore des tensions politiques ?</a:t>
            </a:r>
          </a:p>
          <a:p>
            <a:pPr algn="l">
              <a:spcAft>
                <a:spcPts val="600"/>
              </a:spcAft>
              <a:defRPr sz="1700" b="1">
                <a:solidFill>
                  <a:srgbClr val="1F4E79"/>
                </a:solidFill>
              </a:defRPr>
            </a:pPr>
            <a:r>
              <a:t>2. Quels deux pays du Maghreb sont en désaccord sur certains territoires ?</a:t>
            </a:r>
          </a:p>
          <a:p>
            <a:pPr algn="l">
              <a:spcAft>
                <a:spcPts val="600"/>
              </a:spcAft>
              <a:defRPr sz="1700" b="1">
                <a:solidFill>
                  <a:srgbClr val="1F4E79"/>
                </a:solidFill>
              </a:defRPr>
            </a:pPr>
            <a:r>
              <a:t>3. Dans quels pays des mouvements religieux ont-ils pris plus de place après 2011 ?</a:t>
            </a:r>
          </a:p>
        </p:txBody>
      </p:sp>
      <p:sp>
        <p:nvSpPr>
          <p:cNvPr id="36" name="Rounded Rectangle 35">
            <a:hlinkClick action="ppaction://hlinksldjump" r:id="rId4"/>
          </p:cNvPr>
          <p:cNvSpPr/>
          <p:nvPr/>
        </p:nvSpPr>
        <p:spPr>
          <a:xfrm>
            <a:off x="8961120" y="5486400"/>
            <a:ext cx="2194560" cy="64008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Correction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C.E. B1 — Texte 3 : le Maghreb, l'Europe et les tensions — correction</a:t>
            </a:r>
          </a:p>
        </p:txBody>
      </p:sp>
      <p:sp>
        <p:nvSpPr>
          <p:cNvPr id="32" name="Rounded Rectangle 31">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3" name="TextBox 32"/>
          <p:cNvSpPr txBox="1"/>
          <p:nvPr/>
        </p:nvSpPr>
        <p:spPr>
          <a:xfrm>
            <a:off x="548640" y="1371600"/>
            <a:ext cx="10972800" cy="4389120"/>
          </a:xfrm>
          <a:prstGeom prst="rect">
            <a:avLst/>
          </a:prstGeom>
          <a:noFill/>
        </p:spPr>
        <p:txBody>
          <a:bodyPr wrap="square">
            <a:spAutoFit/>
          </a:bodyPr>
          <a:lstStyle/>
          <a:p>
            <a:pPr algn="l">
              <a:spcAft>
                <a:spcPts val="600"/>
              </a:spcAft>
              <a:defRPr sz="1800" b="0">
                <a:solidFill>
                  <a:srgbClr val="2B2B2B"/>
                </a:solidFill>
              </a:defRPr>
            </a:pPr>
            <a:r>
              <a:t>1. Avec quel pays l'Algérie a-t-elle encore des tensions politiques ?</a:t>
            </a:r>
          </a:p>
          <a:p>
            <a:pPr algn="l">
              <a:spcAft>
                <a:spcPts val="600"/>
              </a:spcAft>
              <a:defRPr sz="1800" b="0">
                <a:solidFill>
                  <a:srgbClr val="2B2B2B"/>
                </a:solidFill>
              </a:defRPr>
            </a:pPr>
            <a:r>
              <a:t>   ✅ Avec la France (crises diplomatiques liées à 130 ans de colonisation).</a:t>
            </a:r>
          </a:p>
          <a:p>
            <a:pPr algn="l">
              <a:spcAft>
                <a:spcPts val="600"/>
              </a:spcAft>
              <a:defRPr sz="1800" b="0">
                <a:solidFill>
                  <a:srgbClr val="2B2B2B"/>
                </a:solidFill>
              </a:defRPr>
            </a:pPr>
            <a:r>
              <a:t>2. Quels deux pays du Maghreb sont en désaccord sur certains territoires ?</a:t>
            </a:r>
          </a:p>
          <a:p>
            <a:pPr algn="l">
              <a:spcAft>
                <a:spcPts val="600"/>
              </a:spcAft>
              <a:defRPr sz="1800" b="0">
                <a:solidFill>
                  <a:srgbClr val="2B2B2B"/>
                </a:solidFill>
              </a:defRPr>
            </a:pPr>
            <a:r>
              <a:t>   ✅ L'Algérie et le Maroc (notamment le Sahara occidental).</a:t>
            </a:r>
          </a:p>
          <a:p>
            <a:pPr algn="l">
              <a:spcAft>
                <a:spcPts val="600"/>
              </a:spcAft>
              <a:defRPr sz="1800" b="0">
                <a:solidFill>
                  <a:srgbClr val="2B2B2B"/>
                </a:solidFill>
              </a:defRPr>
            </a:pPr>
            <a:r>
              <a:t>3. Dans quels pays des mouvements religieux ont-ils pris plus de place après 2011 ?</a:t>
            </a:r>
          </a:p>
          <a:p>
            <a:pPr algn="l">
              <a:spcAft>
                <a:spcPts val="600"/>
              </a:spcAft>
              <a:defRPr sz="1800" b="0">
                <a:solidFill>
                  <a:srgbClr val="2B2B2B"/>
                </a:solidFill>
              </a:defRPr>
            </a:pPr>
            <a:r>
              <a:t>   ✅ En Tunisie (Ennahdha) et au Maroc (PJD).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3F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 PAUSE — thé à la menthe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15'</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2194560"/>
            <a:ext cx="10972800" cy="1828800"/>
          </a:xfrm>
          <a:prstGeom prst="rect">
            <a:avLst/>
          </a:prstGeom>
          <a:noFill/>
        </p:spPr>
        <p:txBody>
          <a:bodyPr wrap="square">
            <a:spAutoFit/>
          </a:bodyPr>
          <a:lstStyle/>
          <a:p>
            <a:pPr algn="ctr">
              <a:spcAft>
                <a:spcPts val="600"/>
              </a:spcAft>
              <a:defRPr sz="3000" b="1">
                <a:solidFill>
                  <a:srgbClr val="1E7B4A"/>
                </a:solidFill>
              </a:defRPr>
            </a:pPr>
            <a:r>
              <a:t>🫖 15 minutes de pause</a:t>
            </a:r>
          </a:p>
          <a:p>
            <a:pPr algn="ctr">
              <a:spcAft>
                <a:spcPts val="600"/>
              </a:spcAft>
              <a:defRPr sz="3000" b="1">
                <a:solidFill>
                  <a:srgbClr val="1E7B4A"/>
                </a:solidFill>
              </a:defRPr>
            </a:pPr>
            <a:r>
              <a:t>Le thé à la menthe, symbole d'hospitalité, se sert « de haut » pour faire de la mousse !</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9. Défi final : 60 secondes chrono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3"/>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548640" y="1554480"/>
            <a:ext cx="10972800" cy="914400"/>
          </a:xfrm>
          <a:prstGeom prst="rect">
            <a:avLst/>
          </a:prstGeom>
          <a:noFill/>
        </p:spPr>
        <p:txBody>
          <a:bodyPr wrap="square">
            <a:spAutoFit/>
          </a:bodyPr>
          <a:lstStyle/>
          <a:p>
            <a:pPr algn="ctr">
              <a:spcAft>
                <a:spcPts val="600"/>
              </a:spcAft>
              <a:defRPr sz="8000" b="1">
                <a:solidFill>
                  <a:srgbClr val="C0392B"/>
                </a:solidFill>
              </a:defRPr>
            </a:pPr>
            <a:r>
              <a:t>⏳ 60 s</a:t>
            </a:r>
          </a:p>
        </p:txBody>
      </p:sp>
      <p:sp>
        <p:nvSpPr>
          <p:cNvPr id="35" name="TextBox 34"/>
          <p:cNvSpPr txBox="1"/>
          <p:nvPr/>
        </p:nvSpPr>
        <p:spPr>
          <a:xfrm>
            <a:off x="640080" y="3291840"/>
            <a:ext cx="10972800" cy="4846320"/>
          </a:xfrm>
          <a:prstGeom prst="rect">
            <a:avLst/>
          </a:prstGeom>
          <a:noFill/>
        </p:spPr>
        <p:txBody>
          <a:bodyPr wrap="square">
            <a:spAutoFit/>
          </a:bodyPr>
          <a:lstStyle/>
          <a:p>
            <a:pPr algn="l">
              <a:spcAft>
                <a:spcPts val="600"/>
              </a:spcAft>
              <a:defRPr sz="2200" b="0">
                <a:solidFill>
                  <a:srgbClr val="2B2B2B"/>
                </a:solidFill>
              </a:defRPr>
            </a:pPr>
            <a:r>
              <a:t>• Cite le plus de mots possibles sur le Maghreb (villes, plats, paysages…)</a:t>
            </a:r>
          </a:p>
          <a:p>
            <a:pPr algn="l">
              <a:spcAft>
                <a:spcPts val="600"/>
              </a:spcAft>
              <a:defRPr sz="2200" b="0">
                <a:solidFill>
                  <a:srgbClr val="2B2B2B"/>
                </a:solidFill>
              </a:defRPr>
            </a:pPr>
            <a:r>
              <a:t>• 1 mot correct = 1 point • pas de répétition !</a:t>
            </a:r>
          </a:p>
          <a:p>
            <a:pPr algn="l">
              <a:spcAft>
                <a:spcPts val="600"/>
              </a:spcAft>
              <a:defRPr sz="2200" b="0">
                <a:solidFill>
                  <a:srgbClr val="2B2B2B"/>
                </a:solidFill>
              </a:defRPr>
            </a:pPr>
            <a:r>
              <a:t>• 🏆 L'équipe gagnante choisit la musique de fin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E7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B84A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371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286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00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57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029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436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008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80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6868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440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6012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00584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5156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972800" y="1005840"/>
            <a:ext cx="457200" cy="109728"/>
          </a:xfrm>
          <a:prstGeom prst="rect">
            <a:avLst/>
          </a:prstGeom>
          <a:solidFill>
            <a:srgbClr val="E0A1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430000" y="1005840"/>
            <a:ext cx="457200" cy="109728"/>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1887200" y="1005840"/>
            <a:ext cx="457200" cy="109728"/>
          </a:xfrm>
          <a:prstGeom prst="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137160"/>
            <a:ext cx="9601200" cy="822960"/>
          </a:xfrm>
          <a:prstGeom prst="rect">
            <a:avLst/>
          </a:prstGeom>
          <a:noFill/>
        </p:spPr>
        <p:txBody>
          <a:bodyPr wrap="square">
            <a:spAutoFit/>
          </a:bodyPr>
          <a:lstStyle/>
          <a:p>
            <a:pPr algn="l">
              <a:spcAft>
                <a:spcPts val="600"/>
              </a:spcAft>
              <a:defRPr sz="3200" b="1">
                <a:solidFill>
                  <a:srgbClr val="FFFFFF"/>
                </a:solidFill>
              </a:defRPr>
            </a:pPr>
            <a:r>
              <a:t>10. Bilan : qu'as-tu appris ?</a:t>
            </a:r>
          </a:p>
        </p:txBody>
      </p:sp>
      <p:sp>
        <p:nvSpPr>
          <p:cNvPr id="32" name="Rounded Rectangle 31"/>
          <p:cNvSpPr/>
          <p:nvPr/>
        </p:nvSpPr>
        <p:spPr>
          <a:xfrm>
            <a:off x="10058400" y="228600"/>
            <a:ext cx="1828800" cy="548640"/>
          </a:xfrm>
          <a:prstGeom prst="round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 10'</a:t>
            </a:r>
          </a:p>
        </p:txBody>
      </p:sp>
      <p:sp>
        <p:nvSpPr>
          <p:cNvPr id="33" name="Rounded Rectangle 32">
            <a:hlinkClick action="ppaction://hlinksldjump" r:id="rId2"/>
          </p:cNvPr>
          <p:cNvSpPr/>
          <p:nvPr/>
        </p:nvSpPr>
        <p:spPr>
          <a:xfrm>
            <a:off x="11292840" y="6263640"/>
            <a:ext cx="777240" cy="457200"/>
          </a:xfrm>
          <a:prstGeom prst="roundRect">
            <a:avLst/>
          </a:prstGeom>
          <a:solidFill>
            <a:srgbClr val="1E7B4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600" b="1">
                <a:solidFill>
                  <a:srgbClr val="FFFFFF"/>
                </a:solidFill>
              </a:defRPr>
            </a:pPr>
            <a:r>
              <a:t>🏠</a:t>
            </a:r>
          </a:p>
        </p:txBody>
      </p:sp>
      <p:sp>
        <p:nvSpPr>
          <p:cNvPr id="34" name="TextBox 33"/>
          <p:cNvSpPr txBox="1"/>
          <p:nvPr/>
        </p:nvSpPr>
        <p:spPr>
          <a:xfrm>
            <a:off x="640080" y="1463040"/>
            <a:ext cx="10972800" cy="4846320"/>
          </a:xfrm>
          <a:prstGeom prst="rect">
            <a:avLst/>
          </a:prstGeom>
          <a:noFill/>
        </p:spPr>
        <p:txBody>
          <a:bodyPr wrap="square">
            <a:spAutoFit/>
          </a:bodyPr>
          <a:lstStyle/>
          <a:p>
            <a:pPr algn="l">
              <a:spcAft>
                <a:spcPts val="600"/>
              </a:spcAft>
              <a:defRPr sz="2400" b="0">
                <a:solidFill>
                  <a:srgbClr val="2B2B2B"/>
                </a:solidFill>
              </a:defRPr>
            </a:pPr>
            <a:r>
              <a:t>• 🎯 3 choses que j'ai apprises…</a:t>
            </a:r>
          </a:p>
          <a:p>
            <a:pPr algn="l">
              <a:spcAft>
                <a:spcPts val="600"/>
              </a:spcAft>
              <a:defRPr sz="2400" b="0">
                <a:solidFill>
                  <a:srgbClr val="2B2B2B"/>
                </a:solidFill>
              </a:defRPr>
            </a:pPr>
            <a:r>
              <a:t>• ❤️ 2 choses que j'ai aimées…</a:t>
            </a:r>
          </a:p>
          <a:p>
            <a:pPr algn="l">
              <a:spcAft>
                <a:spcPts val="600"/>
              </a:spcAft>
              <a:defRPr sz="2400" b="0">
                <a:solidFill>
                  <a:srgbClr val="2B2B2B"/>
                </a:solidFill>
              </a:defRPr>
            </a:pPr>
            <a:r>
              <a:t>• ❓ 1 question qu'il me reste…</a:t>
            </a:r>
          </a:p>
          <a:p>
            <a:pPr algn="l">
              <a:spcAft>
                <a:spcPts val="600"/>
              </a:spcAft>
              <a:defRPr sz="2400" b="0">
                <a:solidFill>
                  <a:srgbClr val="2B2B2B"/>
                </a:solidFill>
              </a:defRPr>
            </a:pPr>
            <a:r>
              <a:t>• ✍️ Ticket de sortie : écris une carte postale du Maghreb (3 phrases)</a:t>
            </a:r>
          </a:p>
        </p:txBody>
      </p:sp>
      <p:sp>
        <p:nvSpPr>
          <p:cNvPr id="35" name="TextBox 34"/>
          <p:cNvSpPr txBox="1"/>
          <p:nvPr/>
        </p:nvSpPr>
        <p:spPr>
          <a:xfrm>
            <a:off x="548640" y="5120640"/>
            <a:ext cx="10972800" cy="914400"/>
          </a:xfrm>
          <a:prstGeom prst="rect">
            <a:avLst/>
          </a:prstGeom>
          <a:noFill/>
        </p:spPr>
        <p:txBody>
          <a:bodyPr wrap="square">
            <a:spAutoFit/>
          </a:bodyPr>
          <a:lstStyle/>
          <a:p>
            <a:pPr algn="ctr">
              <a:spcAft>
                <a:spcPts val="600"/>
              </a:spcAft>
              <a:defRPr sz="3600" b="1">
                <a:solidFill>
                  <a:srgbClr val="B84A1E"/>
                </a:solidFill>
              </a:defRPr>
            </a:pPr>
            <a:r>
              <a:t>Choukran • Tanemmirt • Merci !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