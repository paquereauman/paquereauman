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d'environ 3 h. Cliquez sur les boutons pour naviguer (mode diaporama). Le bouton 🏠 revient au menu.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répondent sur ardoise avant de cliquer. 1 bonne réponse = 1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Chacun dit un mot qui lui évoque le Maghreb ; on construit un nuage de mots au tableau. Puis formation de 3 équipes : Atlas, Sahara, Médina.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chiffres à voix haute, comparer avec la France (551 695 km², 68 M hab.). Valeurs arrondies : vérifier les dernières données Banque mondiale si besoin.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chaque équipe calcule la densité d'un pays (population ÷ superficie) et vérifie.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leur carte au fil du cours. Distribuer la carte muette.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à partir de la carte. Cliquer sur « Réponses » pour révéler.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puis « Réponses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Insérer ici la photo de l'oasis de Bou Thramar (Insertion &gt; Image) à la place du cadre.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repérer les lignes 300 mm et 150 mm sur la carte.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Préciser qu'en dessous de 250 mm de précipitations, il n'y a plus d'agriculture possible (sans irrigation).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 tableau sur leur fiche, puis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http://fr.calameo.com/read/0000054193e34050e91d9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5',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Calaméo : https://www.calameo.com/read/000005419914424b872ed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http://fr.calameo.com/read/00000541937ce663e2326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http://fr.calameo.com/read/000005419fb38f20f0ef7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Cliquer sur chaque « ? » pour révéler la conséquence.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sensible : rappeler que l'immense majorité des musulmans rejette le terrorisme. Ne pas confondre islam et islamisme.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 laisser les élèves poser leurs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Bouazizi : vendeur ambulant de Sidi Bouzid.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Remplacer le lien par la vidéo choisie (ou insérer un fichier .mp4 : Insertion &gt; Vidéo). 1er visionnage sans son, 2e avec son, 3e pour vérifier.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distribuer les étiquettes dans le désordre, les équipes les remettent dans l'ordre.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 rouge : le Maghreb, carrefour entre l'Afrique, l'Orient et l'Europe.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indices un par un ; les équipes devinent. Cliquer sur une carte pour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Imprimer les étiquettes ; chaque équipe les classe. Puis cliquer pour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10', questions en binômes 15', correction collective 10'.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 sur chaque carte pour révéler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devinent lettre par lettre (pendu).</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 Médina → Vieille ville entourée de remparts ; Casbah → Citadelle, quartier fortifié ; Oasis → Point d'eau dans le désert ; Hammam → Bain de vapeur traditionnel ; Riad → Maison avec jardin intérieur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équipe cite le plus de mots liés au Maghreb en 60 s. 1 mot = 1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7.xml"/><Relationship Id="rId4"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 Id="rId4" Type="http://schemas.openxmlformats.org/officeDocument/2006/relationships/slide" Target="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 Id="rId4"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 Id="rId4" Type="http://schemas.openxmlformats.org/officeDocument/2006/relationships/slide" Target="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xml"/><Relationship Id="rId4" Type="http://schemas.openxmlformats.org/officeDocument/2006/relationships/slide" Target="slide38.xml"/><Relationship Id="rId5" Type="http://schemas.openxmlformats.org/officeDocument/2006/relationships/slide" Target="slide39.xml"/><Relationship Id="rId6" Type="http://schemas.openxmlformats.org/officeDocument/2006/relationships/slide" Target="slide99.xml"/><Relationship Id="rId7" Type="http://schemas.openxmlformats.org/officeDocument/2006/relationships/slide" Target="slide102.xml"/><Relationship Id="rId8" Type="http://schemas.openxmlformats.org/officeDocument/2006/relationships/slide" Target="slide119.xml"/><Relationship Id="rId9" Type="http://schemas.openxmlformats.org/officeDocument/2006/relationships/slide" Target="slide60.xml"/><Relationship Id="rId10" Type="http://schemas.openxmlformats.org/officeDocument/2006/relationships/slide" Target="slide134.xml"/><Relationship Id="rId11" Type="http://schemas.openxmlformats.org/officeDocument/2006/relationships/slide" Target="slide75.xml"/><Relationship Id="rId12" Type="http://schemas.openxmlformats.org/officeDocument/2006/relationships/slide" Target="slide88.xml"/><Relationship Id="rId13" Type="http://schemas.openxmlformats.org/officeDocument/2006/relationships/slide" Target="slide135.xml"/><Relationship Id="rId14" Type="http://schemas.openxmlformats.org/officeDocument/2006/relationships/slide" Target="slide138.xml"/><Relationship Id="rId15" Type="http://schemas.openxmlformats.org/officeDocument/2006/relationships/slide" Target="slide140.xml"/><Relationship Id="rId16" Type="http://schemas.openxmlformats.org/officeDocument/2006/relationships/slide" Target="slide143.xml"/><Relationship Id="rId17" Type="http://schemas.openxmlformats.org/officeDocument/2006/relationships/slide" Target="slide14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slide" Target="slide37.xml"/><Relationship Id="rId5" Type="http://schemas.openxmlformats.org/officeDocument/2006/relationships/slide" Target="slide4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slide" Target="slide37.xml"/><Relationship Id="rId5" Type="http://schemas.openxmlformats.org/officeDocument/2006/relationships/slide" Target="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37.xml"/><Relationship Id="rId4" Type="http://schemas.openxmlformats.org/officeDocument/2006/relationships/slide" Target="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slide" Target="slide37.xml"/><Relationship Id="rId5" Type="http://schemas.openxmlformats.org/officeDocument/2006/relationships/slide" Target="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37.xml"/><Relationship Id="rId4" Type="http://schemas.openxmlformats.org/officeDocument/2006/relationships/slide" Target="slide4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37.xml"/><Relationship Id="rId4" Type="http://schemas.openxmlformats.org/officeDocument/2006/relationships/slide" Target="slide5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slide" Target="slide37.xml"/><Relationship Id="rId5" Type="http://schemas.openxmlformats.org/officeDocument/2006/relationships/slide" Target="slide5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37.xml"/><Relationship Id="rId4" Type="http://schemas.openxmlformats.org/officeDocument/2006/relationships/slide" Target="slide5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5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slide" Target="slide37.xml"/><Relationship Id="rId5" Type="http://schemas.openxmlformats.org/officeDocument/2006/relationships/slide" Target="slide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3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slide" Target="slide37.xml"/><Relationship Id="rId4" Type="http://schemas.openxmlformats.org/officeDocument/2006/relationships/slide" Target="slide6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6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37.xml"/><Relationship Id="rId4" Type="http://schemas.openxmlformats.org/officeDocument/2006/relationships/slide" Target="slide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slide" Target="slide37.xml"/><Relationship Id="rId4" Type="http://schemas.openxmlformats.org/officeDocument/2006/relationships/slide" Target="slide6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slide" Target="slide37.xml"/><Relationship Id="rId4" Type="http://schemas.openxmlformats.org/officeDocument/2006/relationships/slide" Target="slide7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slide" Target="slide37.xml"/><Relationship Id="rId4" Type="http://schemas.openxmlformats.org/officeDocument/2006/relationships/slide" Target="slide7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 Id="rId4" Type="http://schemas.openxmlformats.org/officeDocument/2006/relationships/slide" Target="slide7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3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slide" Target="slide37.xml"/><Relationship Id="rId4" Type="http://schemas.openxmlformats.org/officeDocument/2006/relationships/slide" Target="slide7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slide" Target="slide37.xml"/><Relationship Id="rId4" Type="http://schemas.openxmlformats.org/officeDocument/2006/relationships/slide" Target="slide7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37.xml"/><Relationship Id="rId4" Type="http://schemas.openxmlformats.org/officeDocument/2006/relationships/slide" Target="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37.xml"/><Relationship Id="rId4" Type="http://schemas.openxmlformats.org/officeDocument/2006/relationships/slide" Target="slide8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37.xml"/><Relationship Id="rId4" Type="http://schemas.openxmlformats.org/officeDocument/2006/relationships/slide" Target="slide8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37.xml"/><Relationship Id="rId4" Type="http://schemas.openxmlformats.org/officeDocument/2006/relationships/slide" Target="slide8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3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9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3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3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9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9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www.youtube.com/results?search_query=le+maghreb+documentaire+maroc+alg%C3%A9rie+tunisie" TargetMode="External"/><Relationship Id="rId4" Type="http://schemas.openxmlformats.org/officeDocument/2006/relationships/slide" Target="slide37.xml"/><Relationship Id="rId5" Type="http://schemas.openxmlformats.org/officeDocument/2006/relationships/slide" Target="slide10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4.xml"/><Relationship Id="rId4" Type="http://schemas.openxmlformats.org/officeDocument/2006/relationships/slide" Target="slide10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6.xml"/><Relationship Id="rId4" Type="http://schemas.openxmlformats.org/officeDocument/2006/relationships/slide" Target="slide10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0.xml"/><Relationship Id="rId4" Type="http://schemas.openxmlformats.org/officeDocument/2006/relationships/slide" Target="slide109.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3.xml"/><Relationship Id="rId4" Type="http://schemas.openxmlformats.org/officeDocument/2006/relationships/slide" Target="slide11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6.xml"/><Relationship Id="rId4" Type="http://schemas.openxmlformats.org/officeDocument/2006/relationships/slide" Target="slide115.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slide" Target="slide3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slide" Target="slide37.xml"/><Relationship Id="rId4" Type="http://schemas.openxmlformats.org/officeDocument/2006/relationships/slide" Target="slide120.xml"/><Relationship Id="rId5" Type="http://schemas.openxmlformats.org/officeDocument/2006/relationships/slide" Target="slide122.xml"/><Relationship Id="rId6" Type="http://schemas.openxmlformats.org/officeDocument/2006/relationships/slide" Target="slide124.xml"/><Relationship Id="rId7" Type="http://schemas.openxmlformats.org/officeDocument/2006/relationships/slide" Target="slide126.xml"/><Relationship Id="rId8" Type="http://schemas.openxmlformats.org/officeDocument/2006/relationships/slide" Target="slide128.xml"/><Relationship Id="rId9" Type="http://schemas.openxmlformats.org/officeDocument/2006/relationships/slide" Target="slide13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slide" Target="slide37.xml"/><Relationship Id="rId4" Type="http://schemas.openxmlformats.org/officeDocument/2006/relationships/slide" Target="slide13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slide" Target="slide37.xml"/><Relationship Id="rId4" Type="http://schemas.openxmlformats.org/officeDocument/2006/relationships/slide" Target="slide13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slide" Target="slide37.xml"/><Relationship Id="rId4" Type="http://schemas.openxmlformats.org/officeDocument/2006/relationships/slide" Target="slide13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3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slide" Target="slide37.xml"/><Relationship Id="rId4" Type="http://schemas.openxmlformats.org/officeDocument/2006/relationships/slide" Target="slide13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slide" Target="slide37.xml"/><Relationship Id="rId4" Type="http://schemas.openxmlformats.org/officeDocument/2006/relationships/slide" Target="slide14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slide" Target="slide3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slide" Target="slide3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28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9436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86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86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144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144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601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601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58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58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515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515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972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972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430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430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887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887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1463040"/>
            <a:ext cx="11247120" cy="1371600"/>
          </a:xfrm>
          <a:prstGeom prst="rect">
            <a:avLst/>
          </a:prstGeom>
          <a:noFill/>
        </p:spPr>
        <p:txBody>
          <a:bodyPr wrap="square">
            <a:spAutoFit/>
          </a:bodyPr>
          <a:lstStyle/>
          <a:p>
            <a:pPr algn="ctr">
              <a:spcAft>
                <a:spcPts val="600"/>
              </a:spcAft>
              <a:defRPr sz="6000" b="1">
                <a:solidFill>
                  <a:srgbClr val="E0A11B"/>
                </a:solidFill>
              </a:defRPr>
            </a:pPr>
            <a:r>
              <a:t>🐪  Le MAGHREB  🌴</a:t>
            </a:r>
          </a:p>
        </p:txBody>
      </p:sp>
      <p:sp>
        <p:nvSpPr>
          <p:cNvPr id="58" name="TextBox 57"/>
          <p:cNvSpPr txBox="1"/>
          <p:nvPr/>
        </p:nvSpPr>
        <p:spPr>
          <a:xfrm>
            <a:off x="457200" y="2834640"/>
            <a:ext cx="11247120" cy="914400"/>
          </a:xfrm>
          <a:prstGeom prst="rect">
            <a:avLst/>
          </a:prstGeom>
          <a:noFill/>
        </p:spPr>
        <p:txBody>
          <a:bodyPr wrap="square">
            <a:spAutoFit/>
          </a:bodyPr>
          <a:lstStyle/>
          <a:p>
            <a:pPr algn="ctr">
              <a:spcAft>
                <a:spcPts val="600"/>
              </a:spcAft>
              <a:defRPr sz="2800" b="0">
                <a:solidFill>
                  <a:srgbClr val="FFFFFF"/>
                </a:solidFill>
              </a:defRPr>
            </a:pPr>
            <a:r>
              <a:t>Voyage ludique et interactif au pays du soleil couchant</a:t>
            </a:r>
          </a:p>
        </p:txBody>
      </p:sp>
      <p:sp>
        <p:nvSpPr>
          <p:cNvPr id="59" name="TextBox 58"/>
          <p:cNvSpPr txBox="1"/>
          <p:nvPr/>
        </p:nvSpPr>
        <p:spPr>
          <a:xfrm>
            <a:off x="457200" y="3749039"/>
            <a:ext cx="11247120" cy="914400"/>
          </a:xfrm>
          <a:prstGeom prst="rect">
            <a:avLst/>
          </a:prstGeom>
          <a:noFill/>
        </p:spPr>
        <p:txBody>
          <a:bodyPr wrap="square">
            <a:spAutoFit/>
          </a:bodyPr>
          <a:lstStyle/>
          <a:p>
            <a:pPr algn="ctr">
              <a:spcAft>
                <a:spcPts val="600"/>
              </a:spcAft>
              <a:defRPr sz="2000" b="0">
                <a:solidFill>
                  <a:srgbClr val="F6E7C8"/>
                </a:solidFill>
              </a:defRPr>
            </a:pPr>
            <a:r>
              <a:t>Algérie • Maroc • Tunisie  (+ Libye &amp; Mauritanie : le « Grand Maghreb »)</a:t>
            </a:r>
          </a:p>
        </p:txBody>
      </p:sp>
      <p:sp>
        <p:nvSpPr>
          <p:cNvPr id="60" name="Rounded Rectangle 59">
            <a:hlinkClick action="ppaction://hlinksldjump" r:id="rId3"/>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 COMMENCER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Jeu d'ouverture : Devine où c'est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828800"/>
            <a:ext cx="10972800" cy="1371600"/>
          </a:xfrm>
          <a:prstGeom prst="rect">
            <a:avLst/>
          </a:prstGeom>
          <a:noFill/>
        </p:spPr>
        <p:txBody>
          <a:bodyPr wrap="square">
            <a:spAutoFit/>
          </a:bodyPr>
          <a:lstStyle/>
          <a:p>
            <a:pPr algn="ctr">
              <a:spcAft>
                <a:spcPts val="600"/>
              </a:spcAft>
              <a:defRPr sz="3000" b="1">
                <a:solidFill>
                  <a:srgbClr val="FFFFFF"/>
                </a:solidFill>
              </a:defRPr>
            </a:pPr>
            <a:r>
              <a:t>📸 Des photos vont apparaître…</a:t>
            </a:r>
          </a:p>
          <a:p>
            <a:pPr algn="ctr">
              <a:spcAft>
                <a:spcPts val="600"/>
              </a:spcAft>
              <a:defRPr sz="3000" b="1">
                <a:solidFill>
                  <a:srgbClr val="FFFFFF"/>
                </a:solidFill>
              </a:defRPr>
            </a:pPr>
            <a:r>
              <a:t>Devine : où est-ce ? qu'est-ce que c'est ?</a:t>
            </a:r>
          </a:p>
          <a:p>
            <a:pPr algn="ctr">
              <a:spcAft>
                <a:spcPts val="600"/>
              </a:spcAft>
              <a:defRPr sz="3000" b="1">
                <a:solidFill>
                  <a:srgbClr val="FFFFFF"/>
                </a:solidFill>
              </a:defRPr>
            </a:pPr>
            <a:r>
              <a:t>1 bonne réponse = 1 point pour ton équipe !</a:t>
            </a:r>
          </a:p>
        </p:txBody>
      </p:sp>
      <p:sp>
        <p:nvSpPr>
          <p:cNvPr id="35" name="Rounded Rectangle 34">
            <a:hlinkClick action="ppaction://hlinksldjump" r:id="rId4"/>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C'est parti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1/17 : Où se trouve le Maghreb sur cette carte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rcRect t="28653" b="28653"/>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Encadré rouge, au nord-ouest de l'Afrique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Au Moyen-Orient</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En Europe du Sud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Encadré rouge, au nord-ouest de l'Afrique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548640" y="1371600"/>
            <a:ext cx="4788642" cy="4206240"/>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Encadré rouge, au nord-ouest de l'Afrique</a:t>
            </a:r>
          </a:p>
          <a:p>
            <a:pPr algn="l">
              <a:spcAft>
                <a:spcPts val="600"/>
              </a:spcAft>
              <a:defRPr sz="2000" b="0">
                <a:solidFill>
                  <a:srgbClr val="2B2B2B"/>
                </a:solidFill>
              </a:defRPr>
            </a:pPr>
          </a:p>
          <a:p>
            <a:pPr algn="l">
              <a:spcAft>
                <a:spcPts val="600"/>
              </a:spcAft>
              <a:defRPr sz="2000" b="0">
                <a:solidFill>
                  <a:srgbClr val="2B2B2B"/>
                </a:solidFill>
              </a:defRPr>
            </a:pPr>
            <a:r>
              <a:t>Le Maghreb est au nord-ouest de l'Afrique, face à l'Europe : seulement 14 km entre le Maroc et l'Espagne (détroit de Gibraltar) !</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2/17 : Où sommes-nous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yen-atlas.png"/>
          <p:cNvPicPr>
            <a:picLocks noChangeAspect="1"/>
          </p:cNvPicPr>
          <p:nvPr/>
        </p:nvPicPr>
        <p:blipFill>
          <a:blip r:embed="rId2"/>
          <a:srcRect t="11486" b="1148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Les Alpes suisses</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Moyen Atlas (Maroc)</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Les Pyrénées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Moyen Atlas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yen-atlas.png"/>
          <p:cNvPicPr>
            <a:picLocks noChangeAspect="1"/>
          </p:cNvPicPr>
          <p:nvPr/>
        </p:nvPicPr>
        <p:blipFill>
          <a:blip r:embed="rId2"/>
          <a:stretch>
            <a:fillRect/>
          </a:stretch>
        </p:blipFill>
        <p:spPr>
          <a:xfrm>
            <a:off x="548640" y="1371600"/>
            <a:ext cx="6400800" cy="3116179"/>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Moyen Atlas (Maroc)</a:t>
            </a:r>
          </a:p>
          <a:p>
            <a:pPr algn="l">
              <a:spcAft>
                <a:spcPts val="600"/>
              </a:spcAft>
              <a:defRPr sz="2000" b="0">
                <a:solidFill>
                  <a:srgbClr val="2B2B2B"/>
                </a:solidFill>
              </a:defRPr>
            </a:pPr>
          </a:p>
          <a:p>
            <a:pPr algn="l">
              <a:spcAft>
                <a:spcPts val="600"/>
              </a:spcAft>
              <a:defRPr sz="2000" b="0">
                <a:solidFill>
                  <a:srgbClr val="2B2B2B"/>
                </a:solidFill>
              </a:defRPr>
            </a:pPr>
            <a:r>
              <a:t>Le Moyen Atlas, près de Fès : montagnes vertes et villages.</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3/17 : Qu'est-ce que c'est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Couscous</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Paella</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Couscous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Risotto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Couscous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Couscous</a:t>
            </a:r>
          </a:p>
          <a:p>
            <a:pPr algn="l">
              <a:spcAft>
                <a:spcPts val="600"/>
              </a:spcAft>
              <a:defRPr sz="2000" b="0">
                <a:solidFill>
                  <a:srgbClr val="2B2B2B"/>
                </a:solidFill>
              </a:defRPr>
            </a:pPr>
          </a:p>
          <a:p>
            <a:pPr algn="l">
              <a:spcAft>
                <a:spcPts val="600"/>
              </a:spcAft>
              <a:defRPr sz="2000" b="0">
                <a:solidFill>
                  <a:srgbClr val="2B2B2B"/>
                </a:solidFill>
              </a:defRPr>
            </a:pPr>
            <a:r>
              <a:t>Le couscous : plat à base de semoule de blé, inscrit au patrimoine de l'UNESCO (2020).</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4/17 : Où sommes-nous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Sahara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Sahara (Maroc)</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Plage de Bretagne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Désert d'Atacama (Chili)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Sahara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Sahara (Maroc)</a:t>
            </a:r>
          </a:p>
          <a:p>
            <a:pPr algn="l">
              <a:spcAft>
                <a:spcPts val="600"/>
              </a:spcAft>
              <a:defRPr sz="2000" b="0">
                <a:solidFill>
                  <a:srgbClr val="2B2B2B"/>
                </a:solidFill>
              </a:defRPr>
            </a:pPr>
          </a:p>
          <a:p>
            <a:pPr algn="l">
              <a:spcAft>
                <a:spcPts val="600"/>
              </a:spcAft>
              <a:defRPr sz="2000" b="0">
                <a:solidFill>
                  <a:srgbClr val="2B2B2B"/>
                </a:solidFill>
              </a:defRPr>
            </a:pPr>
            <a:r>
              <a:t>Les dunes de l'Erg Chebbi, près de Merzouga : le Sahara marocain.</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5/17 : Quelle est cette ville bleue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Chefchaouen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Santorin (Grèce)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Chefchaouen (Maroc)</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Venise (Italie)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Chefchaouen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Chefchaouen (Maroc)</a:t>
            </a:r>
          </a:p>
          <a:p>
            <a:pPr algn="l">
              <a:spcAft>
                <a:spcPts val="600"/>
              </a:spcAft>
              <a:defRPr sz="2000" b="0">
                <a:solidFill>
                  <a:srgbClr val="2B2B2B"/>
                </a:solidFill>
              </a:defRPr>
            </a:pPr>
          </a:p>
          <a:p>
            <a:pPr algn="l">
              <a:spcAft>
                <a:spcPts val="600"/>
              </a:spcAft>
              <a:defRPr sz="2000" b="0">
                <a:solidFill>
                  <a:srgbClr val="2B2B2B"/>
                </a:solidFill>
              </a:defRPr>
            </a:pPr>
            <a:r>
              <a:t>Chefchaouen, la « perle bleue » du Rif, au nord du Maroc.</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6/17 : Blanc et bleu… où est-ce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Sidi Bou Saïd (Tunisie)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Sidi Bou Saïd (Tunisie)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Nice (France)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Lisbonne (Portugal)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Sidi Bou Saïd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Sidi Bou Saïd (Tunisie)</a:t>
            </a:r>
          </a:p>
          <a:p>
            <a:pPr algn="l">
              <a:spcAft>
                <a:spcPts val="600"/>
              </a:spcAft>
              <a:defRPr sz="2000" b="0">
                <a:solidFill>
                  <a:srgbClr val="2B2B2B"/>
                </a:solidFill>
              </a:defRPr>
            </a:pPr>
          </a:p>
          <a:p>
            <a:pPr algn="l">
              <a:spcAft>
                <a:spcPts val="600"/>
              </a:spcAft>
              <a:defRPr sz="2000" b="0">
                <a:solidFill>
                  <a:srgbClr val="2B2B2B"/>
                </a:solidFill>
              </a:defRPr>
            </a:pPr>
            <a:r>
              <a:t>Sidi Bou Saïd, village blanc et bleu près de Tunis.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7/17 : Quelle est cette place célèbre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Place Jemaa el-Fna (Marrakech)</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Place Jemaa el-Fna (Marrakech)</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Place Rouge (Moscou)</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Times Square (New York)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Place Jemaa el-Fna (Marrakech)</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Place Jemaa el-Fna (Marrakech)</a:t>
            </a:r>
          </a:p>
          <a:p>
            <a:pPr algn="l">
              <a:spcAft>
                <a:spcPts val="600"/>
              </a:spcAft>
              <a:defRPr sz="2000" b="0">
                <a:solidFill>
                  <a:srgbClr val="2B2B2B"/>
                </a:solidFill>
              </a:defRPr>
            </a:pPr>
          </a:p>
          <a:p>
            <a:pPr algn="l">
              <a:spcAft>
                <a:spcPts val="600"/>
              </a:spcAft>
              <a:defRPr sz="2000" b="0">
                <a:solidFill>
                  <a:srgbClr val="2B2B2B"/>
                </a:solidFill>
              </a:defRPr>
            </a:pPr>
            <a:r>
              <a:t>Jemaa el-Fna, à Marrakech : conteurs, musiciens et marchés le soir.</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8/17 : Comment s'appelle ce plat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Tajine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Fondue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Tajine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Wok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Tajine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Tajine</a:t>
            </a:r>
          </a:p>
          <a:p>
            <a:pPr algn="l">
              <a:spcAft>
                <a:spcPts val="600"/>
              </a:spcAft>
              <a:defRPr sz="2000" b="0">
                <a:solidFill>
                  <a:srgbClr val="2B2B2B"/>
                </a:solidFill>
              </a:defRPr>
            </a:pPr>
          </a:p>
          <a:p>
            <a:pPr algn="l">
              <a:spcAft>
                <a:spcPts val="600"/>
              </a:spcAft>
              <a:defRPr sz="2000" b="0">
                <a:solidFill>
                  <a:srgbClr val="2B2B2B"/>
                </a:solidFill>
              </a:defRPr>
            </a:pPr>
            <a:r>
              <a:t>Le tajine : plat et cuisson à l'étouffée dans un pot en terre.</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9/17 : Quelle est cette vieille ville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La Casbah d'Alger (Algérie)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La Casbah d'Alger (Algérie)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Montmartre (Paris)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 Caire (Égypte)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La Casbah d'Alger (Algérie)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La Casbah d'Alger (Algérie)</a:t>
            </a:r>
          </a:p>
          <a:p>
            <a:pPr algn="l">
              <a:spcAft>
                <a:spcPts val="600"/>
              </a:spcAft>
              <a:defRPr sz="2000" b="0">
                <a:solidFill>
                  <a:srgbClr val="2B2B2B"/>
                </a:solidFill>
              </a:defRPr>
            </a:pPr>
          </a:p>
          <a:p>
            <a:pPr algn="l">
              <a:spcAft>
                <a:spcPts val="600"/>
              </a:spcAft>
              <a:defRPr sz="2000" b="0">
                <a:solidFill>
                  <a:srgbClr val="2B2B2B"/>
                </a:solidFill>
              </a:defRPr>
            </a:pPr>
            <a:r>
              <a:t>La Casbah d'Alger, inscrite au patrimoine mondial de l'UNESCO.</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10/17 : Quelles sont ces montagnes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Le Hoggar (Algérie)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Les Alpes</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Hoggar (Algérie)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Les Rocheuses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Hoggar (Algérie)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Hoggar (Algérie)</a:t>
            </a:r>
          </a:p>
          <a:p>
            <a:pPr algn="l">
              <a:spcAft>
                <a:spcPts val="600"/>
              </a:spcAft>
              <a:defRPr sz="2000" b="0">
                <a:solidFill>
                  <a:srgbClr val="2B2B2B"/>
                </a:solidFill>
              </a:defRPr>
            </a:pPr>
          </a:p>
          <a:p>
            <a:pPr algn="l">
              <a:spcAft>
                <a:spcPts val="600"/>
              </a:spcAft>
              <a:defRPr sz="2000" b="0">
                <a:solidFill>
                  <a:srgbClr val="2B2B2B"/>
                </a:solidFill>
              </a:defRPr>
            </a:pPr>
            <a:r>
              <a:t>Le Hoggar, massif volcanique du Sahara algérien.</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11/17 : Qu'est-ce que c'est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Une oasis</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Une oasis</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Une forêt tropicale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Un jardin parisien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Une oasis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Une oasis</a:t>
            </a:r>
          </a:p>
          <a:p>
            <a:pPr algn="l">
              <a:spcAft>
                <a:spcPts val="600"/>
              </a:spcAft>
              <a:defRPr sz="2000" b="0">
                <a:solidFill>
                  <a:srgbClr val="2B2B2B"/>
                </a:solidFill>
              </a:defRPr>
            </a:pPr>
          </a:p>
          <a:p>
            <a:pPr algn="l">
              <a:spcAft>
                <a:spcPts val="600"/>
              </a:spcAft>
              <a:defRPr sz="2000" b="0">
                <a:solidFill>
                  <a:srgbClr val="2B2B2B"/>
                </a:solidFill>
              </a:defRPr>
            </a:pPr>
            <a:r>
              <a:t>Une oasis : îlot de verdure grâce à l'eau, avec des palmiers-dattiers.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12/17 : Quel est ce sommet enneigé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Toubkal (Haut Atlas,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Mont Blanc</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Kilimandjaro</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Toubkal (Haut Atlas, Maroc)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Toubkal (Haut Atlas,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Toubkal (Haut Atlas, Maroc)</a:t>
            </a:r>
          </a:p>
          <a:p>
            <a:pPr algn="l">
              <a:spcAft>
                <a:spcPts val="600"/>
              </a:spcAft>
              <a:defRPr sz="2000" b="0">
                <a:solidFill>
                  <a:srgbClr val="2B2B2B"/>
                </a:solidFill>
              </a:defRPr>
            </a:pPr>
          </a:p>
          <a:p>
            <a:pPr algn="l">
              <a:spcAft>
                <a:spcPts val="600"/>
              </a:spcAft>
              <a:defRPr sz="2000" b="0">
                <a:solidFill>
                  <a:srgbClr val="2B2B2B"/>
                </a:solidFill>
              </a:defRPr>
            </a:pPr>
            <a:r>
              <a:t>Le Toubkal (4 167 m), plus haut sommet d'Afrique du Nord.</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13/17 : Quelle boisson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Thé à la menthe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Thé à la menthe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Café au lait</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Chocolat chaud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Thé à la menthe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Thé à la menthe</a:t>
            </a:r>
          </a:p>
          <a:p>
            <a:pPr algn="l">
              <a:spcAft>
                <a:spcPts val="600"/>
              </a:spcAft>
              <a:defRPr sz="2000" b="0">
                <a:solidFill>
                  <a:srgbClr val="2B2B2B"/>
                </a:solidFill>
              </a:defRPr>
            </a:pPr>
          </a:p>
          <a:p>
            <a:pPr algn="l">
              <a:spcAft>
                <a:spcPts val="600"/>
              </a:spcAft>
              <a:defRPr sz="2000" b="0">
                <a:solidFill>
                  <a:srgbClr val="2B2B2B"/>
                </a:solidFill>
              </a:defRPr>
            </a:pPr>
            <a:r>
              <a:t>Le thé à la menthe, symbole d'hospitalité au Maghreb.</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14/17 : Quel est ce monument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Grande Mosquée de Kairouan (Tunisie)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Grande Mosquée de Kairouan (Tunisie)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Notre-Dame de Paris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Taj Mahal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Grande Mosquée de Kairouan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Grande Mosquée de Kairouan (Tunisie)</a:t>
            </a:r>
          </a:p>
          <a:p>
            <a:pPr algn="l">
              <a:spcAft>
                <a:spcPts val="600"/>
              </a:spcAft>
              <a:defRPr sz="2000" b="0">
                <a:solidFill>
                  <a:srgbClr val="2B2B2B"/>
                </a:solidFill>
              </a:defRPr>
            </a:pPr>
          </a:p>
          <a:p>
            <a:pPr algn="l">
              <a:spcAft>
                <a:spcPts val="600"/>
              </a:spcAft>
              <a:defRPr sz="2000" b="0">
                <a:solidFill>
                  <a:srgbClr val="2B2B2B"/>
                </a:solidFill>
              </a:defRPr>
            </a:pPr>
            <a:r>
              <a:t>La Grande Mosquée de Kairouan, l'une des plus anciennes d'Afrique du Nord (VIIe–IXe 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15/17 : Quel est cet art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Le zellige (mosaïque)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 zellige (mosaïque)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vitrail</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 graffiti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zellige (mosaïque)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zellige (mosaïque)</a:t>
            </a:r>
          </a:p>
          <a:p>
            <a:pPr algn="l">
              <a:spcAft>
                <a:spcPts val="600"/>
              </a:spcAft>
              <a:defRPr sz="2000" b="0">
                <a:solidFill>
                  <a:srgbClr val="2B2B2B"/>
                </a:solidFill>
              </a:defRPr>
            </a:pPr>
          </a:p>
          <a:p>
            <a:pPr algn="l">
              <a:spcAft>
                <a:spcPts val="600"/>
              </a:spcAft>
              <a:defRPr sz="2000" b="0">
                <a:solidFill>
                  <a:srgbClr val="2B2B2B"/>
                </a:solidFill>
              </a:defRPr>
            </a:pPr>
            <a:r>
              <a:t>Le zellige : mosaïque de petits carreaux d'argile émaillés, typique de l'art maghrébin (motifs géométriques, pas de figures humaines).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16/17 : Que voit-on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rcRect t="20216" b="2021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Une usine en France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Un gisement de pétrole au Sahara</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Un volcan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Un gisement de pétrole au Sahara</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548640" y="1371600"/>
            <a:ext cx="6400800" cy="4029594"/>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Un gisement de pétrole au Sahara</a:t>
            </a:r>
          </a:p>
          <a:p>
            <a:pPr algn="l">
              <a:spcAft>
                <a:spcPts val="600"/>
              </a:spcAft>
              <a:defRPr sz="2000" b="0">
                <a:solidFill>
                  <a:srgbClr val="2B2B2B"/>
                </a:solidFill>
              </a:defRPr>
            </a:pPr>
          </a:p>
          <a:p>
            <a:pPr algn="l">
              <a:spcAft>
                <a:spcPts val="600"/>
              </a:spcAft>
              <a:defRPr sz="2000" b="0">
                <a:solidFill>
                  <a:srgbClr val="2B2B2B"/>
                </a:solidFill>
              </a:defRPr>
            </a:pPr>
            <a:r>
              <a:t>Hassi Messaoud (Algérie) : le pétrole et le gaz sont la 1re richesse de l'Algérie.</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17/17 : Où est cet hôtel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rcRect t="18223" b="18223"/>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Monastir (Tunisie)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Miami (USA)</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Cannes (France)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Monastir (Tunisie)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tretch>
            <a:fillRect/>
          </a:stretch>
        </p:blipFill>
        <p:spPr>
          <a:xfrm>
            <a:off x="548640" y="1371600"/>
            <a:ext cx="6400800" cy="3776869"/>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Monastir (Tunisie)</a:t>
            </a:r>
          </a:p>
          <a:p>
            <a:pPr algn="l">
              <a:spcAft>
                <a:spcPts val="600"/>
              </a:spcAft>
              <a:defRPr sz="2000" b="0">
                <a:solidFill>
                  <a:srgbClr val="2B2B2B"/>
                </a:solidFill>
              </a:defRPr>
            </a:pPr>
          </a:p>
          <a:p>
            <a:pPr algn="l">
              <a:spcAft>
                <a:spcPts val="600"/>
              </a:spcAft>
              <a:defRPr sz="2000" b="0">
                <a:solidFill>
                  <a:srgbClr val="2B2B2B"/>
                </a:solidFill>
              </a:defRPr>
            </a:pPr>
            <a:r>
              <a:t>Monastir : le tourisme balnéaire est essentiel pour la Tunisie depuis les années 1960.</a:t>
            </a:r>
          </a:p>
        </p:txBody>
      </p:sp>
      <p:sp>
        <p:nvSpPr>
          <p:cNvPr id="35" name="Rounded Rectangle 34">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Menu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Menu du voyage — clique sur une étape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a:hlinkClick action="ppaction://hlinksldjump" r:id="rId3"/>
          </p:cNvPr>
          <p:cNvSpPr/>
          <p:nvPr/>
        </p:nvSpPr>
        <p:spPr>
          <a:xfrm>
            <a:off x="457200" y="137160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Devine où c'est ?  (15')</a:t>
            </a:r>
          </a:p>
        </p:txBody>
      </p:sp>
      <p:sp>
        <p:nvSpPr>
          <p:cNvPr id="34" name="Rounded Rectangle 33">
            <a:hlinkClick action="ppaction://hlinksldjump" r:id="rId4"/>
          </p:cNvPr>
          <p:cNvSpPr/>
          <p:nvPr/>
        </p:nvSpPr>
        <p:spPr>
          <a:xfrm>
            <a:off x="3291840" y="137160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Brise-glace  (10')</a:t>
            </a:r>
          </a:p>
        </p:txBody>
      </p:sp>
      <p:sp>
        <p:nvSpPr>
          <p:cNvPr id="35" name="Rounded Rectangle 34">
            <a:hlinkClick action="ppaction://hlinksldjump" r:id="rId5"/>
          </p:cNvPr>
          <p:cNvSpPr/>
          <p:nvPr/>
        </p:nvSpPr>
        <p:spPr>
          <a:xfrm>
            <a:off x="6126480" y="137160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 Carte d'identité &amp; relief  (30')</a:t>
            </a:r>
          </a:p>
        </p:txBody>
      </p:sp>
      <p:sp>
        <p:nvSpPr>
          <p:cNvPr id="36" name="Rounded Rectangle 35">
            <a:hlinkClick action="ppaction://hlinksldjump" r:id="rId6"/>
          </p:cNvPr>
          <p:cNvSpPr/>
          <p:nvPr/>
        </p:nvSpPr>
        <p:spPr>
          <a:xfrm>
            <a:off x="8961120" y="137160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C.O. Vidéo  (20')</a:t>
            </a:r>
          </a:p>
        </p:txBody>
      </p:sp>
      <p:sp>
        <p:nvSpPr>
          <p:cNvPr id="37" name="Rounded Rectangle 36">
            <a:hlinkClick action="ppaction://hlinksldjump" r:id="rId7"/>
          </p:cNvPr>
          <p:cNvSpPr/>
          <p:nvPr/>
        </p:nvSpPr>
        <p:spPr>
          <a:xfrm>
            <a:off x="457200" y="256032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 géo  (10')</a:t>
            </a:r>
          </a:p>
        </p:txBody>
      </p:sp>
      <p:sp>
        <p:nvSpPr>
          <p:cNvPr id="38" name="Rounded Rectangle 37">
            <a:hlinkClick action="ppaction://hlinksldjump" r:id="rId8"/>
          </p:cNvPr>
          <p:cNvSpPr/>
          <p:nvPr/>
        </p:nvSpPr>
        <p:spPr>
          <a:xfrm>
            <a:off x="3291840" y="256032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V. Histoire (3 000 ans)  (40')</a:t>
            </a:r>
          </a:p>
        </p:txBody>
      </p:sp>
      <p:sp>
        <p:nvSpPr>
          <p:cNvPr id="39" name="Rounded Rectangle 38">
            <a:hlinkClick action="ppaction://hlinksldjump" r:id="rId9"/>
          </p:cNvPr>
          <p:cNvSpPr/>
          <p:nvPr/>
        </p:nvSpPr>
        <p:spPr>
          <a:xfrm>
            <a:off x="6126480" y="256032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 Littoral &amp; intérieur  (30')</a:t>
            </a:r>
          </a:p>
        </p:txBody>
      </p:sp>
      <p:sp>
        <p:nvSpPr>
          <p:cNvPr id="40" name="Rounded Rectangle 39">
            <a:hlinkClick action="ppaction://hlinksldjump" r:id="rId10"/>
          </p:cNvPr>
          <p:cNvSpPr/>
          <p:nvPr/>
        </p:nvSpPr>
        <p:spPr>
          <a:xfrm>
            <a:off x="8961120" y="256032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Pause  (10')</a:t>
            </a:r>
          </a:p>
        </p:txBody>
      </p:sp>
      <p:sp>
        <p:nvSpPr>
          <p:cNvPr id="41" name="Rounded Rectangle 40">
            <a:hlinkClick action="ppaction://hlinksldjump" r:id="rId11"/>
          </p:cNvPr>
          <p:cNvSpPr/>
          <p:nvPr/>
        </p:nvSpPr>
        <p:spPr>
          <a:xfrm>
            <a:off x="457200" y="3749039"/>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III. Démographie &amp; émigration  (30')</a:t>
            </a:r>
          </a:p>
        </p:txBody>
      </p:sp>
      <p:sp>
        <p:nvSpPr>
          <p:cNvPr id="42" name="Rounded Rectangle 41">
            <a:hlinkClick action="ppaction://hlinksldjump" r:id="rId12"/>
          </p:cNvPr>
          <p:cNvSpPr/>
          <p:nvPr/>
        </p:nvSpPr>
        <p:spPr>
          <a:xfrm>
            <a:off x="3291840" y="3749039"/>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IV. Islam &amp; conflits  (30')</a:t>
            </a:r>
          </a:p>
        </p:txBody>
      </p:sp>
      <p:sp>
        <p:nvSpPr>
          <p:cNvPr id="43" name="Rounded Rectangle 42">
            <a:hlinkClick action="ppaction://hlinksldjump" r:id="rId13"/>
          </p:cNvPr>
          <p:cNvSpPr/>
          <p:nvPr/>
        </p:nvSpPr>
        <p:spPr>
          <a:xfrm>
            <a:off x="6126480" y="3749039"/>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C.E. Yasmine  (20')</a:t>
            </a:r>
          </a:p>
        </p:txBody>
      </p:sp>
      <p:sp>
        <p:nvSpPr>
          <p:cNvPr id="44" name="Rounded Rectangle 43">
            <a:hlinkClick action="ppaction://hlinksldjump" r:id="rId14"/>
          </p:cNvPr>
          <p:cNvSpPr/>
          <p:nvPr/>
        </p:nvSpPr>
        <p:spPr>
          <a:xfrm>
            <a:off x="8961120" y="3749039"/>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Cuisine &amp; culture  (10')</a:t>
            </a:r>
          </a:p>
        </p:txBody>
      </p:sp>
      <p:sp>
        <p:nvSpPr>
          <p:cNvPr id="45" name="Rounded Rectangle 44">
            <a:hlinkClick action="ppaction://hlinksldjump" r:id="rId15"/>
          </p:cNvPr>
          <p:cNvSpPr/>
          <p:nvPr/>
        </p:nvSpPr>
        <p:spPr>
          <a:xfrm>
            <a:off x="457200" y="493776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Jeux de mots  (10')</a:t>
            </a:r>
          </a:p>
        </p:txBody>
      </p:sp>
      <p:sp>
        <p:nvSpPr>
          <p:cNvPr id="46" name="Rounded Rectangle 45">
            <a:hlinkClick action="ppaction://hlinksldjump" r:id="rId16"/>
          </p:cNvPr>
          <p:cNvSpPr/>
          <p:nvPr/>
        </p:nvSpPr>
        <p:spPr>
          <a:xfrm>
            <a:off x="3291840" y="493776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Défi final  (5')</a:t>
            </a:r>
          </a:p>
        </p:txBody>
      </p:sp>
      <p:sp>
        <p:nvSpPr>
          <p:cNvPr id="47" name="Rounded Rectangle 46">
            <a:hlinkClick action="ppaction://hlinksldjump" r:id="rId17"/>
          </p:cNvPr>
          <p:cNvSpPr/>
          <p:nvPr/>
        </p:nvSpPr>
        <p:spPr>
          <a:xfrm>
            <a:off x="6126480" y="493776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Bilan  (5')</a:t>
            </a:r>
          </a:p>
        </p:txBody>
      </p:sp>
      <p:sp>
        <p:nvSpPr>
          <p:cNvPr id="48" name="TextBox 47"/>
          <p:cNvSpPr txBox="1"/>
          <p:nvPr/>
        </p:nvSpPr>
        <p:spPr>
          <a:xfrm>
            <a:off x="548640" y="6263640"/>
            <a:ext cx="10058400" cy="457200"/>
          </a:xfrm>
          <a:prstGeom prst="rect">
            <a:avLst/>
          </a:prstGeom>
          <a:noFill/>
        </p:spPr>
        <p:txBody>
          <a:bodyPr wrap="square">
            <a:spAutoFit/>
          </a:bodyPr>
          <a:lstStyle/>
          <a:p>
            <a:pPr algn="l">
              <a:spcAft>
                <a:spcPts val="600"/>
              </a:spcAft>
              <a:defRPr sz="1600" b="1">
                <a:solidFill>
                  <a:srgbClr val="1F4E79"/>
                </a:solidFill>
              </a:defRPr>
            </a:pPr>
            <a:r>
              <a:t>Durée totale ≈ 4 h 30 (3 à 4 séances)  •  Score des équipes au tableau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 Brise-glace : le Maghreb en 1 mot</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Tour de table : 1 mot, 1 image, 1 souvenir associé au Maghreb</a:t>
            </a:r>
          </a:p>
          <a:p>
            <a:pPr algn="l">
              <a:spcAft>
                <a:spcPts val="600"/>
              </a:spcAft>
              <a:defRPr sz="2200" b="0">
                <a:solidFill>
                  <a:srgbClr val="2B2B2B"/>
                </a:solidFill>
              </a:defRPr>
            </a:pPr>
            <a:r>
              <a:t>• On construit ensemble un nuage de mots au tableau ☁️</a:t>
            </a:r>
          </a:p>
          <a:p>
            <a:pPr algn="l">
              <a:spcAft>
                <a:spcPts val="600"/>
              </a:spcAft>
              <a:defRPr sz="2200" b="0">
                <a:solidFill>
                  <a:srgbClr val="2B2B2B"/>
                </a:solidFill>
              </a:defRPr>
            </a:pPr>
            <a:r>
              <a:t>• Formez 3 équipes : 🏔️ ATLAS  •  🏜️ SAHARA  •  🕌 MÉDINA</a:t>
            </a:r>
          </a:p>
          <a:p>
            <a:pPr algn="l">
              <a:spcAft>
                <a:spcPts val="600"/>
              </a:spcAft>
              <a:defRPr sz="2200" b="0">
                <a:solidFill>
                  <a:srgbClr val="2B2B2B"/>
                </a:solidFill>
              </a:defRPr>
            </a:pPr>
            <a:r>
              <a:t>• Chaque bonne réponse = 1 point — le score suit toute la séance !</a:t>
            </a:r>
          </a:p>
        </p:txBody>
      </p:sp>
      <p:sp>
        <p:nvSpPr>
          <p:cNvPr id="35" name="TextBox 34"/>
          <p:cNvSpPr txBox="1"/>
          <p:nvPr/>
        </p:nvSpPr>
        <p:spPr>
          <a:xfrm>
            <a:off x="640080" y="4937760"/>
            <a:ext cx="10972800" cy="914400"/>
          </a:xfrm>
          <a:prstGeom prst="rect">
            <a:avLst/>
          </a:prstGeom>
          <a:noFill/>
        </p:spPr>
        <p:txBody>
          <a:bodyPr wrap="square">
            <a:spAutoFit/>
          </a:bodyPr>
          <a:lstStyle/>
          <a:p>
            <a:pPr algn="l">
              <a:spcAft>
                <a:spcPts val="600"/>
              </a:spcAft>
              <a:defRPr sz="2000" b="1">
                <a:solidFill>
                  <a:srgbClr val="B84A1E"/>
                </a:solidFill>
              </a:defRPr>
            </a:pPr>
            <a:r>
              <a:t>« Maghreb » (المغرب) signifie en arabe : « le couchant », l'Occident — là où le soleil se couche.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371600"/>
            <a:ext cx="566928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1463040"/>
            <a:ext cx="5394960" cy="548640"/>
          </a:xfrm>
          <a:prstGeom prst="rect">
            <a:avLst/>
          </a:prstGeom>
          <a:noFill/>
        </p:spPr>
        <p:txBody>
          <a:bodyPr wrap="square">
            <a:spAutoFit/>
          </a:bodyPr>
          <a:lstStyle/>
          <a:p>
            <a:pPr algn="l">
              <a:spcAft>
                <a:spcPts val="600"/>
              </a:spcAft>
              <a:defRPr sz="2200" b="1">
                <a:solidFill>
                  <a:srgbClr val="B84A1E"/>
                </a:solidFill>
              </a:defRPr>
            </a:pPr>
            <a:r>
              <a:t>1) Carte d'identité régionale</a:t>
            </a:r>
          </a:p>
        </p:txBody>
      </p:sp>
      <p:sp>
        <p:nvSpPr>
          <p:cNvPr id="36" name="TextBox 35"/>
          <p:cNvSpPr txBox="1"/>
          <p:nvPr/>
        </p:nvSpPr>
        <p:spPr>
          <a:xfrm>
            <a:off x="731520" y="2011680"/>
            <a:ext cx="5394960" cy="4023360"/>
          </a:xfrm>
          <a:prstGeom prst="rect">
            <a:avLst/>
          </a:prstGeom>
          <a:noFill/>
        </p:spPr>
        <p:txBody>
          <a:bodyPr wrap="square">
            <a:spAutoFit/>
          </a:bodyPr>
          <a:lstStyle/>
          <a:p>
            <a:pPr algn="l">
              <a:spcAft>
                <a:spcPts val="600"/>
              </a:spcAft>
              <a:defRPr sz="1600" b="0">
                <a:solidFill>
                  <a:srgbClr val="2B2B2B"/>
                </a:solidFill>
              </a:defRPr>
            </a:pPr>
            <a:r>
              <a:t>Superficie : ≈ 5,8 millions km² (≈ 10 × la France métropolitaine)</a:t>
            </a:r>
          </a:p>
          <a:p>
            <a:pPr algn="l">
              <a:spcAft>
                <a:spcPts val="600"/>
              </a:spcAft>
              <a:defRPr sz="1600" b="0">
                <a:solidFill>
                  <a:srgbClr val="2B2B2B"/>
                </a:solidFill>
              </a:defRPr>
            </a:pPr>
            <a:r>
              <a:t>Population : ≈ 107 millions d'habitants</a:t>
            </a:r>
          </a:p>
          <a:p>
            <a:pPr algn="l">
              <a:spcAft>
                <a:spcPts val="600"/>
              </a:spcAft>
              <a:defRPr sz="1600" b="0">
                <a:solidFill>
                  <a:srgbClr val="2B2B2B"/>
                </a:solidFill>
              </a:defRPr>
            </a:pPr>
            <a:r>
              <a:t>Densité : ≈ 18 hab/km² (très inégale : côtes peuplées, Sahara presque vide)</a:t>
            </a:r>
          </a:p>
          <a:p>
            <a:pPr algn="l">
              <a:spcAft>
                <a:spcPts val="600"/>
              </a:spcAft>
              <a:defRPr sz="1600" b="0">
                <a:solidFill>
                  <a:srgbClr val="2B2B2B"/>
                </a:solidFill>
              </a:defRPr>
            </a:pPr>
            <a:r>
              <a:t>PIB : ≈ 490 milliards $ (cumulé)</a:t>
            </a:r>
          </a:p>
          <a:p>
            <a:pPr algn="l">
              <a:spcAft>
                <a:spcPts val="600"/>
              </a:spcAft>
              <a:defRPr sz="1600" b="0">
                <a:solidFill>
                  <a:srgbClr val="2B2B2B"/>
                </a:solidFill>
              </a:defRPr>
            </a:pPr>
            <a:r>
              <a:t>Taux de chômage : ≈ 10 à 19 % selon les pays</a:t>
            </a:r>
          </a:p>
          <a:p>
            <a:pPr algn="l">
              <a:spcAft>
                <a:spcPts val="600"/>
              </a:spcAft>
              <a:defRPr sz="1600" b="0">
                <a:solidFill>
                  <a:srgbClr val="2B2B2B"/>
                </a:solidFill>
              </a:defRPr>
            </a:pPr>
            <a:r>
              <a:t>Statut : 5 États indépendants réunis dans l'Union du Maghreb arabe (UMA, 1989)</a:t>
            </a:r>
          </a:p>
          <a:p>
            <a:pPr algn="l">
              <a:spcAft>
                <a:spcPts val="600"/>
              </a:spcAft>
              <a:defRPr sz="1600" b="0">
                <a:solidFill>
                  <a:srgbClr val="2B2B2B"/>
                </a:solidFill>
              </a:defRPr>
            </a:pPr>
            <a:r>
              <a:t>Source : Banque mondiale 2023 (arrondis)</a:t>
            </a:r>
          </a:p>
        </p:txBody>
      </p:sp>
      <p:sp>
        <p:nvSpPr>
          <p:cNvPr id="37" name="Rounded Rectangle 36"/>
          <p:cNvSpPr/>
          <p:nvPr/>
        </p:nvSpPr>
        <p:spPr>
          <a:xfrm>
            <a:off x="6492240" y="1371600"/>
            <a:ext cx="5120640" cy="47548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1463040"/>
            <a:ext cx="4846320" cy="548640"/>
          </a:xfrm>
          <a:prstGeom prst="rect">
            <a:avLst/>
          </a:prstGeom>
          <a:noFill/>
        </p:spPr>
        <p:txBody>
          <a:bodyPr wrap="square">
            <a:spAutoFit/>
          </a:bodyPr>
          <a:lstStyle/>
          <a:p>
            <a:pPr algn="l">
              <a:spcAft>
                <a:spcPts val="600"/>
              </a:spcAft>
              <a:defRPr sz="2200" b="1">
                <a:solidFill>
                  <a:srgbClr val="E0A11B"/>
                </a:solidFill>
              </a:defRPr>
            </a:pPr>
            <a:r>
              <a:t>2) Ce qu'il faut retenir</a:t>
            </a:r>
          </a:p>
        </p:txBody>
      </p:sp>
      <p:sp>
        <p:nvSpPr>
          <p:cNvPr id="39" name="TextBox 38"/>
          <p:cNvSpPr txBox="1"/>
          <p:nvPr/>
        </p:nvSpPr>
        <p:spPr>
          <a:xfrm>
            <a:off x="6675120" y="2011680"/>
            <a:ext cx="4846320" cy="4023360"/>
          </a:xfrm>
          <a:prstGeom prst="rect">
            <a:avLst/>
          </a:prstGeom>
          <a:noFill/>
        </p:spPr>
        <p:txBody>
          <a:bodyPr wrap="square">
            <a:spAutoFit/>
          </a:bodyPr>
          <a:lstStyle/>
          <a:p>
            <a:pPr algn="l">
              <a:spcAft>
                <a:spcPts val="600"/>
              </a:spcAft>
              <a:defRPr sz="1600" b="0">
                <a:solidFill>
                  <a:srgbClr val="FFFFFF"/>
                </a:solidFill>
              </a:defRPr>
            </a:pPr>
            <a:r>
              <a:t>🏔️ Relief varié : montagnes de l'Atlas au nord, plaines et côtes méditerranéennes, Sahara au sud</a:t>
            </a:r>
          </a:p>
          <a:p>
            <a:pPr algn="l">
              <a:spcAft>
                <a:spcPts val="600"/>
              </a:spcAft>
              <a:defRPr sz="1600" b="0">
                <a:solidFill>
                  <a:srgbClr val="FFFFFF"/>
                </a:solidFill>
              </a:defRPr>
            </a:pPr>
            <a:r>
              <a:t>☀️ Climat : méditerranéen au nord (étés chauds, hivers doux), désertique au sud</a:t>
            </a:r>
          </a:p>
          <a:p>
            <a:pPr algn="l">
              <a:spcAft>
                <a:spcPts val="600"/>
              </a:spcAft>
              <a:defRPr sz="1600" b="0">
                <a:solidFill>
                  <a:srgbClr val="FFFFFF"/>
                </a:solidFill>
              </a:defRPr>
            </a:pPr>
            <a:r>
              <a:t>🎶 Culture riche : musique (raï, gnaoua, chaâbi), cuisine épicée, hospitalité</a:t>
            </a:r>
          </a:p>
          <a:p>
            <a:pPr algn="l">
              <a:spcAft>
                <a:spcPts val="600"/>
              </a:spcAft>
              <a:defRPr sz="1600" b="0">
                <a:solidFill>
                  <a:srgbClr val="FFFFFF"/>
                </a:solidFill>
              </a:defRPr>
            </a:pPr>
            <a:r>
              <a:t>🌍 Culture maghrébine : un mélange d'origines berbère (amazighe), arabe, africaine, andalouse et européenne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 pays par pays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1371600"/>
            <a:ext cx="17830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 y="1463040"/>
            <a:ext cx="1737360" cy="640080"/>
          </a:xfrm>
          <a:prstGeom prst="rect">
            <a:avLst/>
          </a:prstGeom>
          <a:noFill/>
        </p:spPr>
        <p:txBody>
          <a:bodyPr wrap="square">
            <a:spAutoFit/>
          </a:bodyPr>
          <a:lstStyle/>
          <a:p>
            <a:pPr algn="l">
              <a:spcAft>
                <a:spcPts val="600"/>
              </a:spcAft>
              <a:defRPr sz="1500" b="1">
                <a:solidFill>
                  <a:srgbClr val="FFFFFF"/>
                </a:solidFill>
              </a:defRPr>
            </a:pPr>
            <a:r>
              <a:t>Pays</a:t>
            </a:r>
          </a:p>
        </p:txBody>
      </p:sp>
      <p:sp>
        <p:nvSpPr>
          <p:cNvPr id="35" name="Rectangle 34"/>
          <p:cNvSpPr/>
          <p:nvPr/>
        </p:nvSpPr>
        <p:spPr>
          <a:xfrm>
            <a:off x="2377440" y="1371600"/>
            <a:ext cx="16916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23160" y="1463040"/>
            <a:ext cx="1645919" cy="640080"/>
          </a:xfrm>
          <a:prstGeom prst="rect">
            <a:avLst/>
          </a:prstGeom>
          <a:noFill/>
        </p:spPr>
        <p:txBody>
          <a:bodyPr wrap="square">
            <a:spAutoFit/>
          </a:bodyPr>
          <a:lstStyle/>
          <a:p>
            <a:pPr algn="l">
              <a:spcAft>
                <a:spcPts val="600"/>
              </a:spcAft>
              <a:defRPr sz="1500" b="1">
                <a:solidFill>
                  <a:srgbClr val="FFFFFF"/>
                </a:solidFill>
              </a:defRPr>
            </a:pPr>
            <a:r>
              <a:t>Superficie</a:t>
            </a:r>
          </a:p>
        </p:txBody>
      </p:sp>
      <p:sp>
        <p:nvSpPr>
          <p:cNvPr id="37" name="Rectangle 36"/>
          <p:cNvSpPr/>
          <p:nvPr/>
        </p:nvSpPr>
        <p:spPr>
          <a:xfrm>
            <a:off x="4114800" y="1371600"/>
            <a:ext cx="12344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1463040"/>
            <a:ext cx="1188719" cy="640080"/>
          </a:xfrm>
          <a:prstGeom prst="rect">
            <a:avLst/>
          </a:prstGeom>
          <a:noFill/>
        </p:spPr>
        <p:txBody>
          <a:bodyPr wrap="square">
            <a:spAutoFit/>
          </a:bodyPr>
          <a:lstStyle/>
          <a:p>
            <a:pPr algn="l">
              <a:spcAft>
                <a:spcPts val="600"/>
              </a:spcAft>
              <a:defRPr sz="1500" b="1">
                <a:solidFill>
                  <a:srgbClr val="FFFFFF"/>
                </a:solidFill>
              </a:defRPr>
            </a:pPr>
            <a:r>
              <a:t>Population</a:t>
            </a:r>
          </a:p>
        </p:txBody>
      </p:sp>
      <p:sp>
        <p:nvSpPr>
          <p:cNvPr id="39" name="Rectangle 38"/>
          <p:cNvSpPr/>
          <p:nvPr/>
        </p:nvSpPr>
        <p:spPr>
          <a:xfrm>
            <a:off x="5394960" y="1371600"/>
            <a:ext cx="105156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1463040"/>
            <a:ext cx="1005839" cy="640080"/>
          </a:xfrm>
          <a:prstGeom prst="rect">
            <a:avLst/>
          </a:prstGeom>
          <a:noFill/>
        </p:spPr>
        <p:txBody>
          <a:bodyPr wrap="square">
            <a:spAutoFit/>
          </a:bodyPr>
          <a:lstStyle/>
          <a:p>
            <a:pPr algn="l">
              <a:spcAft>
                <a:spcPts val="600"/>
              </a:spcAft>
              <a:defRPr sz="1500" b="1">
                <a:solidFill>
                  <a:srgbClr val="FFFFFF"/>
                </a:solidFill>
              </a:defRPr>
            </a:pPr>
            <a:r>
              <a:t>Densité</a:t>
            </a:r>
          </a:p>
        </p:txBody>
      </p:sp>
      <p:sp>
        <p:nvSpPr>
          <p:cNvPr id="41" name="Rectangle 40"/>
          <p:cNvSpPr/>
          <p:nvPr/>
        </p:nvSpPr>
        <p:spPr>
          <a:xfrm>
            <a:off x="6492240" y="1371600"/>
            <a:ext cx="13258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1463040"/>
            <a:ext cx="1280160" cy="640080"/>
          </a:xfrm>
          <a:prstGeom prst="rect">
            <a:avLst/>
          </a:prstGeom>
          <a:noFill/>
        </p:spPr>
        <p:txBody>
          <a:bodyPr wrap="square">
            <a:spAutoFit/>
          </a:bodyPr>
          <a:lstStyle/>
          <a:p>
            <a:pPr algn="l">
              <a:spcAft>
                <a:spcPts val="600"/>
              </a:spcAft>
              <a:defRPr sz="1500" b="1">
                <a:solidFill>
                  <a:srgbClr val="FFFFFF"/>
                </a:solidFill>
              </a:defRPr>
            </a:pPr>
            <a:r>
              <a:t>PIB</a:t>
            </a:r>
          </a:p>
        </p:txBody>
      </p:sp>
      <p:sp>
        <p:nvSpPr>
          <p:cNvPr id="43" name="Rectangle 42"/>
          <p:cNvSpPr/>
          <p:nvPr/>
        </p:nvSpPr>
        <p:spPr>
          <a:xfrm>
            <a:off x="7863840" y="1371600"/>
            <a:ext cx="11430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1463040"/>
            <a:ext cx="1097280" cy="640080"/>
          </a:xfrm>
          <a:prstGeom prst="rect">
            <a:avLst/>
          </a:prstGeom>
          <a:noFill/>
        </p:spPr>
        <p:txBody>
          <a:bodyPr wrap="square">
            <a:spAutoFit/>
          </a:bodyPr>
          <a:lstStyle/>
          <a:p>
            <a:pPr algn="l">
              <a:spcAft>
                <a:spcPts val="600"/>
              </a:spcAft>
              <a:defRPr sz="1500" b="1">
                <a:solidFill>
                  <a:srgbClr val="FFFFFF"/>
                </a:solidFill>
              </a:defRPr>
            </a:pPr>
            <a:r>
              <a:t>Chômage</a:t>
            </a:r>
          </a:p>
        </p:txBody>
      </p:sp>
      <p:sp>
        <p:nvSpPr>
          <p:cNvPr id="45" name="Rectangle 44"/>
          <p:cNvSpPr/>
          <p:nvPr/>
        </p:nvSpPr>
        <p:spPr>
          <a:xfrm>
            <a:off x="9052560" y="1371600"/>
            <a:ext cx="25146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1463040"/>
            <a:ext cx="2468879" cy="640080"/>
          </a:xfrm>
          <a:prstGeom prst="rect">
            <a:avLst/>
          </a:prstGeom>
          <a:noFill/>
        </p:spPr>
        <p:txBody>
          <a:bodyPr wrap="square">
            <a:spAutoFit/>
          </a:bodyPr>
          <a:lstStyle/>
          <a:p>
            <a:pPr algn="l">
              <a:spcAft>
                <a:spcPts val="600"/>
              </a:spcAft>
              <a:defRPr sz="1500" b="1">
                <a:solidFill>
                  <a:srgbClr val="FFFFFF"/>
                </a:solidFill>
              </a:defRPr>
            </a:pPr>
            <a:r>
              <a:t>Statut</a:t>
            </a:r>
          </a:p>
        </p:txBody>
      </p:sp>
      <p:sp>
        <p:nvSpPr>
          <p:cNvPr id="47" name="Rectangle 46"/>
          <p:cNvSpPr/>
          <p:nvPr/>
        </p:nvSpPr>
        <p:spPr>
          <a:xfrm>
            <a:off x="548640" y="214884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2240280"/>
            <a:ext cx="1737360" cy="640080"/>
          </a:xfrm>
          <a:prstGeom prst="rect">
            <a:avLst/>
          </a:prstGeom>
          <a:noFill/>
        </p:spPr>
        <p:txBody>
          <a:bodyPr wrap="square">
            <a:spAutoFit/>
          </a:bodyPr>
          <a:lstStyle/>
          <a:p>
            <a:pPr algn="l">
              <a:spcAft>
                <a:spcPts val="600"/>
              </a:spcAft>
              <a:defRPr sz="1500" b="1">
                <a:solidFill>
                  <a:srgbClr val="2B2B2B"/>
                </a:solidFill>
              </a:defRPr>
            </a:pPr>
            <a:r>
              <a:t>🇲🇦 Maroc</a:t>
            </a:r>
          </a:p>
        </p:txBody>
      </p:sp>
      <p:sp>
        <p:nvSpPr>
          <p:cNvPr id="49" name="Rectangle 48"/>
          <p:cNvSpPr/>
          <p:nvPr/>
        </p:nvSpPr>
        <p:spPr>
          <a:xfrm>
            <a:off x="2377440" y="214884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423160" y="2240280"/>
            <a:ext cx="1645919" cy="640080"/>
          </a:xfrm>
          <a:prstGeom prst="rect">
            <a:avLst/>
          </a:prstGeom>
          <a:noFill/>
        </p:spPr>
        <p:txBody>
          <a:bodyPr wrap="square">
            <a:spAutoFit/>
          </a:bodyPr>
          <a:lstStyle/>
          <a:p>
            <a:pPr algn="l">
              <a:spcAft>
                <a:spcPts val="600"/>
              </a:spcAft>
              <a:defRPr sz="1500" b="0">
                <a:solidFill>
                  <a:srgbClr val="2B2B2B"/>
                </a:solidFill>
              </a:defRPr>
            </a:pPr>
            <a:r>
              <a:t>446 550 km²</a:t>
            </a:r>
          </a:p>
        </p:txBody>
      </p:sp>
      <p:sp>
        <p:nvSpPr>
          <p:cNvPr id="51" name="Rectangle 50"/>
          <p:cNvSpPr/>
          <p:nvPr/>
        </p:nvSpPr>
        <p:spPr>
          <a:xfrm>
            <a:off x="4114800" y="214884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60520" y="2240280"/>
            <a:ext cx="1188719" cy="640080"/>
          </a:xfrm>
          <a:prstGeom prst="rect">
            <a:avLst/>
          </a:prstGeom>
          <a:noFill/>
        </p:spPr>
        <p:txBody>
          <a:bodyPr wrap="square">
            <a:spAutoFit/>
          </a:bodyPr>
          <a:lstStyle/>
          <a:p>
            <a:pPr algn="l">
              <a:spcAft>
                <a:spcPts val="600"/>
              </a:spcAft>
              <a:defRPr sz="1500" b="0">
                <a:solidFill>
                  <a:srgbClr val="2B2B2B"/>
                </a:solidFill>
              </a:defRPr>
            </a:pPr>
            <a:r>
              <a:t>≈ 37 M</a:t>
            </a:r>
          </a:p>
        </p:txBody>
      </p:sp>
      <p:sp>
        <p:nvSpPr>
          <p:cNvPr id="53" name="Rectangle 52"/>
          <p:cNvSpPr/>
          <p:nvPr/>
        </p:nvSpPr>
        <p:spPr>
          <a:xfrm>
            <a:off x="5394960" y="214884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40680" y="2240280"/>
            <a:ext cx="1005839" cy="640080"/>
          </a:xfrm>
          <a:prstGeom prst="rect">
            <a:avLst/>
          </a:prstGeom>
          <a:noFill/>
        </p:spPr>
        <p:txBody>
          <a:bodyPr wrap="square">
            <a:spAutoFit/>
          </a:bodyPr>
          <a:lstStyle/>
          <a:p>
            <a:pPr algn="l">
              <a:spcAft>
                <a:spcPts val="600"/>
              </a:spcAft>
              <a:defRPr sz="1500" b="0">
                <a:solidFill>
                  <a:srgbClr val="2B2B2B"/>
                </a:solidFill>
              </a:defRPr>
            </a:pPr>
            <a:r>
              <a:t>≈ 83</a:t>
            </a:r>
          </a:p>
        </p:txBody>
      </p:sp>
      <p:sp>
        <p:nvSpPr>
          <p:cNvPr id="55" name="Rectangle 54"/>
          <p:cNvSpPr/>
          <p:nvPr/>
        </p:nvSpPr>
        <p:spPr>
          <a:xfrm>
            <a:off x="6492240" y="214884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2240280"/>
            <a:ext cx="1280160" cy="640080"/>
          </a:xfrm>
          <a:prstGeom prst="rect">
            <a:avLst/>
          </a:prstGeom>
          <a:noFill/>
        </p:spPr>
        <p:txBody>
          <a:bodyPr wrap="square">
            <a:spAutoFit/>
          </a:bodyPr>
          <a:lstStyle/>
          <a:p>
            <a:pPr algn="l">
              <a:spcAft>
                <a:spcPts val="600"/>
              </a:spcAft>
              <a:defRPr sz="1500" b="0">
                <a:solidFill>
                  <a:srgbClr val="2B2B2B"/>
                </a:solidFill>
              </a:defRPr>
            </a:pPr>
            <a:r>
              <a:t>≈ 141 Md$</a:t>
            </a:r>
          </a:p>
        </p:txBody>
      </p:sp>
      <p:sp>
        <p:nvSpPr>
          <p:cNvPr id="57" name="Rectangle 56"/>
          <p:cNvSpPr/>
          <p:nvPr/>
        </p:nvSpPr>
        <p:spPr>
          <a:xfrm>
            <a:off x="7863840" y="214884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09560" y="2240280"/>
            <a:ext cx="1097280" cy="640080"/>
          </a:xfrm>
          <a:prstGeom prst="rect">
            <a:avLst/>
          </a:prstGeom>
          <a:noFill/>
        </p:spPr>
        <p:txBody>
          <a:bodyPr wrap="square">
            <a:spAutoFit/>
          </a:bodyPr>
          <a:lstStyle/>
          <a:p>
            <a:pPr algn="l">
              <a:spcAft>
                <a:spcPts val="600"/>
              </a:spcAft>
              <a:defRPr sz="1500" b="0">
                <a:solidFill>
                  <a:srgbClr val="2B2B2B"/>
                </a:solidFill>
              </a:defRPr>
            </a:pPr>
            <a:r>
              <a:t>≈ 13 %</a:t>
            </a:r>
          </a:p>
        </p:txBody>
      </p:sp>
      <p:sp>
        <p:nvSpPr>
          <p:cNvPr id="59" name="Rectangle 58"/>
          <p:cNvSpPr/>
          <p:nvPr/>
        </p:nvSpPr>
        <p:spPr>
          <a:xfrm>
            <a:off x="9052560" y="214884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98280" y="2240280"/>
            <a:ext cx="2468879" cy="640080"/>
          </a:xfrm>
          <a:prstGeom prst="rect">
            <a:avLst/>
          </a:prstGeom>
          <a:noFill/>
        </p:spPr>
        <p:txBody>
          <a:bodyPr wrap="square">
            <a:spAutoFit/>
          </a:bodyPr>
          <a:lstStyle/>
          <a:p>
            <a:pPr algn="l">
              <a:spcAft>
                <a:spcPts val="600"/>
              </a:spcAft>
              <a:defRPr sz="1500" b="0">
                <a:solidFill>
                  <a:srgbClr val="2B2B2B"/>
                </a:solidFill>
              </a:defRPr>
            </a:pPr>
            <a:r>
              <a:t>Monarchie const.</a:t>
            </a:r>
          </a:p>
        </p:txBody>
      </p:sp>
      <p:sp>
        <p:nvSpPr>
          <p:cNvPr id="61" name="Rectangle 60"/>
          <p:cNvSpPr/>
          <p:nvPr/>
        </p:nvSpPr>
        <p:spPr>
          <a:xfrm>
            <a:off x="548640" y="292608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3017520"/>
            <a:ext cx="1737360" cy="640080"/>
          </a:xfrm>
          <a:prstGeom prst="rect">
            <a:avLst/>
          </a:prstGeom>
          <a:noFill/>
        </p:spPr>
        <p:txBody>
          <a:bodyPr wrap="square">
            <a:spAutoFit/>
          </a:bodyPr>
          <a:lstStyle/>
          <a:p>
            <a:pPr algn="l">
              <a:spcAft>
                <a:spcPts val="600"/>
              </a:spcAft>
              <a:defRPr sz="1500" b="1">
                <a:solidFill>
                  <a:srgbClr val="2B2B2B"/>
                </a:solidFill>
              </a:defRPr>
            </a:pPr>
            <a:r>
              <a:t>🇩🇿 Algérie</a:t>
            </a:r>
          </a:p>
        </p:txBody>
      </p:sp>
      <p:sp>
        <p:nvSpPr>
          <p:cNvPr id="63" name="Rectangle 62"/>
          <p:cNvSpPr/>
          <p:nvPr/>
        </p:nvSpPr>
        <p:spPr>
          <a:xfrm>
            <a:off x="2377440" y="292608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423160" y="3017520"/>
            <a:ext cx="1645919" cy="640080"/>
          </a:xfrm>
          <a:prstGeom prst="rect">
            <a:avLst/>
          </a:prstGeom>
          <a:noFill/>
        </p:spPr>
        <p:txBody>
          <a:bodyPr wrap="square">
            <a:spAutoFit/>
          </a:bodyPr>
          <a:lstStyle/>
          <a:p>
            <a:pPr algn="l">
              <a:spcAft>
                <a:spcPts val="600"/>
              </a:spcAft>
              <a:defRPr sz="1500" b="0">
                <a:solidFill>
                  <a:srgbClr val="2B2B2B"/>
                </a:solidFill>
              </a:defRPr>
            </a:pPr>
            <a:r>
              <a:t>2 381 741 km²</a:t>
            </a:r>
          </a:p>
        </p:txBody>
      </p:sp>
      <p:sp>
        <p:nvSpPr>
          <p:cNvPr id="65" name="Rectangle 64"/>
          <p:cNvSpPr/>
          <p:nvPr/>
        </p:nvSpPr>
        <p:spPr>
          <a:xfrm>
            <a:off x="4114800" y="292608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60520" y="3017520"/>
            <a:ext cx="1188719" cy="640080"/>
          </a:xfrm>
          <a:prstGeom prst="rect">
            <a:avLst/>
          </a:prstGeom>
          <a:noFill/>
        </p:spPr>
        <p:txBody>
          <a:bodyPr wrap="square">
            <a:spAutoFit/>
          </a:bodyPr>
          <a:lstStyle/>
          <a:p>
            <a:pPr algn="l">
              <a:spcAft>
                <a:spcPts val="600"/>
              </a:spcAft>
              <a:defRPr sz="1500" b="0">
                <a:solidFill>
                  <a:srgbClr val="2B2B2B"/>
                </a:solidFill>
              </a:defRPr>
            </a:pPr>
            <a:r>
              <a:t>≈ 46 M</a:t>
            </a:r>
          </a:p>
        </p:txBody>
      </p:sp>
      <p:sp>
        <p:nvSpPr>
          <p:cNvPr id="67" name="Rectangle 66"/>
          <p:cNvSpPr/>
          <p:nvPr/>
        </p:nvSpPr>
        <p:spPr>
          <a:xfrm>
            <a:off x="5394960" y="292608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40680" y="3017520"/>
            <a:ext cx="1005839" cy="640080"/>
          </a:xfrm>
          <a:prstGeom prst="rect">
            <a:avLst/>
          </a:prstGeom>
          <a:noFill/>
        </p:spPr>
        <p:txBody>
          <a:bodyPr wrap="square">
            <a:spAutoFit/>
          </a:bodyPr>
          <a:lstStyle/>
          <a:p>
            <a:pPr algn="l">
              <a:spcAft>
                <a:spcPts val="600"/>
              </a:spcAft>
              <a:defRPr sz="1500" b="0">
                <a:solidFill>
                  <a:srgbClr val="2B2B2B"/>
                </a:solidFill>
              </a:defRPr>
            </a:pPr>
            <a:r>
              <a:t>≈ 19</a:t>
            </a:r>
          </a:p>
        </p:txBody>
      </p:sp>
      <p:sp>
        <p:nvSpPr>
          <p:cNvPr id="69" name="Rectangle 68"/>
          <p:cNvSpPr/>
          <p:nvPr/>
        </p:nvSpPr>
        <p:spPr>
          <a:xfrm>
            <a:off x="6492240" y="292608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37960" y="3017520"/>
            <a:ext cx="1280160" cy="640080"/>
          </a:xfrm>
          <a:prstGeom prst="rect">
            <a:avLst/>
          </a:prstGeom>
          <a:noFill/>
        </p:spPr>
        <p:txBody>
          <a:bodyPr wrap="square">
            <a:spAutoFit/>
          </a:bodyPr>
          <a:lstStyle/>
          <a:p>
            <a:pPr algn="l">
              <a:spcAft>
                <a:spcPts val="600"/>
              </a:spcAft>
              <a:defRPr sz="1500" b="0">
                <a:solidFill>
                  <a:srgbClr val="2B2B2B"/>
                </a:solidFill>
              </a:defRPr>
            </a:pPr>
            <a:r>
              <a:t>≈ 240 Md$</a:t>
            </a:r>
          </a:p>
        </p:txBody>
      </p:sp>
      <p:sp>
        <p:nvSpPr>
          <p:cNvPr id="71" name="Rectangle 70"/>
          <p:cNvSpPr/>
          <p:nvPr/>
        </p:nvSpPr>
        <p:spPr>
          <a:xfrm>
            <a:off x="7863840" y="292608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09560" y="3017520"/>
            <a:ext cx="1097280" cy="640080"/>
          </a:xfrm>
          <a:prstGeom prst="rect">
            <a:avLst/>
          </a:prstGeom>
          <a:noFill/>
        </p:spPr>
        <p:txBody>
          <a:bodyPr wrap="square">
            <a:spAutoFit/>
          </a:bodyPr>
          <a:lstStyle/>
          <a:p>
            <a:pPr algn="l">
              <a:spcAft>
                <a:spcPts val="600"/>
              </a:spcAft>
              <a:defRPr sz="1500" b="0">
                <a:solidFill>
                  <a:srgbClr val="2B2B2B"/>
                </a:solidFill>
              </a:defRPr>
            </a:pPr>
            <a:r>
              <a:t>≈ 12 %</a:t>
            </a:r>
          </a:p>
        </p:txBody>
      </p:sp>
      <p:sp>
        <p:nvSpPr>
          <p:cNvPr id="73" name="Rectangle 72"/>
          <p:cNvSpPr/>
          <p:nvPr/>
        </p:nvSpPr>
        <p:spPr>
          <a:xfrm>
            <a:off x="9052560" y="292608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98280" y="301752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75" name="Rectangle 74"/>
          <p:cNvSpPr/>
          <p:nvPr/>
        </p:nvSpPr>
        <p:spPr>
          <a:xfrm>
            <a:off x="548640" y="370332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3794760"/>
            <a:ext cx="1737360" cy="640080"/>
          </a:xfrm>
          <a:prstGeom prst="rect">
            <a:avLst/>
          </a:prstGeom>
          <a:noFill/>
        </p:spPr>
        <p:txBody>
          <a:bodyPr wrap="square">
            <a:spAutoFit/>
          </a:bodyPr>
          <a:lstStyle/>
          <a:p>
            <a:pPr algn="l">
              <a:spcAft>
                <a:spcPts val="600"/>
              </a:spcAft>
              <a:defRPr sz="1500" b="1">
                <a:solidFill>
                  <a:srgbClr val="2B2B2B"/>
                </a:solidFill>
              </a:defRPr>
            </a:pPr>
            <a:r>
              <a:t>🇹🇳 Tunisie</a:t>
            </a:r>
          </a:p>
        </p:txBody>
      </p:sp>
      <p:sp>
        <p:nvSpPr>
          <p:cNvPr id="77" name="Rectangle 76"/>
          <p:cNvSpPr/>
          <p:nvPr/>
        </p:nvSpPr>
        <p:spPr>
          <a:xfrm>
            <a:off x="2377440" y="370332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423160" y="3794760"/>
            <a:ext cx="1645919" cy="640080"/>
          </a:xfrm>
          <a:prstGeom prst="rect">
            <a:avLst/>
          </a:prstGeom>
          <a:noFill/>
        </p:spPr>
        <p:txBody>
          <a:bodyPr wrap="square">
            <a:spAutoFit/>
          </a:bodyPr>
          <a:lstStyle/>
          <a:p>
            <a:pPr algn="l">
              <a:spcAft>
                <a:spcPts val="600"/>
              </a:spcAft>
              <a:defRPr sz="1500" b="0">
                <a:solidFill>
                  <a:srgbClr val="2B2B2B"/>
                </a:solidFill>
              </a:defRPr>
            </a:pPr>
            <a:r>
              <a:t>163 610 km²</a:t>
            </a:r>
          </a:p>
        </p:txBody>
      </p:sp>
      <p:sp>
        <p:nvSpPr>
          <p:cNvPr id="79" name="Rectangle 78"/>
          <p:cNvSpPr/>
          <p:nvPr/>
        </p:nvSpPr>
        <p:spPr>
          <a:xfrm>
            <a:off x="4114800" y="370332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60520" y="3794760"/>
            <a:ext cx="1188719" cy="640080"/>
          </a:xfrm>
          <a:prstGeom prst="rect">
            <a:avLst/>
          </a:prstGeom>
          <a:noFill/>
        </p:spPr>
        <p:txBody>
          <a:bodyPr wrap="square">
            <a:spAutoFit/>
          </a:bodyPr>
          <a:lstStyle/>
          <a:p>
            <a:pPr algn="l">
              <a:spcAft>
                <a:spcPts val="600"/>
              </a:spcAft>
              <a:defRPr sz="1500" b="0">
                <a:solidFill>
                  <a:srgbClr val="2B2B2B"/>
                </a:solidFill>
              </a:defRPr>
            </a:pPr>
            <a:r>
              <a:t>≈ 12 M</a:t>
            </a:r>
          </a:p>
        </p:txBody>
      </p:sp>
      <p:sp>
        <p:nvSpPr>
          <p:cNvPr id="81" name="Rectangle 80"/>
          <p:cNvSpPr/>
          <p:nvPr/>
        </p:nvSpPr>
        <p:spPr>
          <a:xfrm>
            <a:off x="5394960" y="370332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440680" y="3794760"/>
            <a:ext cx="1005839" cy="640080"/>
          </a:xfrm>
          <a:prstGeom prst="rect">
            <a:avLst/>
          </a:prstGeom>
          <a:noFill/>
        </p:spPr>
        <p:txBody>
          <a:bodyPr wrap="square">
            <a:spAutoFit/>
          </a:bodyPr>
          <a:lstStyle/>
          <a:p>
            <a:pPr algn="l">
              <a:spcAft>
                <a:spcPts val="600"/>
              </a:spcAft>
              <a:defRPr sz="1500" b="0">
                <a:solidFill>
                  <a:srgbClr val="2B2B2B"/>
                </a:solidFill>
              </a:defRPr>
            </a:pPr>
            <a:r>
              <a:t>≈ 75</a:t>
            </a:r>
          </a:p>
        </p:txBody>
      </p:sp>
      <p:sp>
        <p:nvSpPr>
          <p:cNvPr id="83" name="Rectangle 82"/>
          <p:cNvSpPr/>
          <p:nvPr/>
        </p:nvSpPr>
        <p:spPr>
          <a:xfrm>
            <a:off x="6492240" y="370332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537960" y="3794760"/>
            <a:ext cx="1280160" cy="640080"/>
          </a:xfrm>
          <a:prstGeom prst="rect">
            <a:avLst/>
          </a:prstGeom>
          <a:noFill/>
        </p:spPr>
        <p:txBody>
          <a:bodyPr wrap="square">
            <a:spAutoFit/>
          </a:bodyPr>
          <a:lstStyle/>
          <a:p>
            <a:pPr algn="l">
              <a:spcAft>
                <a:spcPts val="600"/>
              </a:spcAft>
              <a:defRPr sz="1500" b="0">
                <a:solidFill>
                  <a:srgbClr val="2B2B2B"/>
                </a:solidFill>
              </a:defRPr>
            </a:pPr>
            <a:r>
              <a:t>≈ 48 Md$</a:t>
            </a:r>
          </a:p>
        </p:txBody>
      </p:sp>
      <p:sp>
        <p:nvSpPr>
          <p:cNvPr id="85" name="Rectangle 84"/>
          <p:cNvSpPr/>
          <p:nvPr/>
        </p:nvSpPr>
        <p:spPr>
          <a:xfrm>
            <a:off x="7863840" y="370332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909560" y="3794760"/>
            <a:ext cx="1097280" cy="640080"/>
          </a:xfrm>
          <a:prstGeom prst="rect">
            <a:avLst/>
          </a:prstGeom>
          <a:noFill/>
        </p:spPr>
        <p:txBody>
          <a:bodyPr wrap="square">
            <a:spAutoFit/>
          </a:bodyPr>
          <a:lstStyle/>
          <a:p>
            <a:pPr algn="l">
              <a:spcAft>
                <a:spcPts val="600"/>
              </a:spcAft>
              <a:defRPr sz="1500" b="0">
                <a:solidFill>
                  <a:srgbClr val="2B2B2B"/>
                </a:solidFill>
              </a:defRPr>
            </a:pPr>
            <a:r>
              <a:t>≈ 16 %</a:t>
            </a:r>
          </a:p>
        </p:txBody>
      </p:sp>
      <p:sp>
        <p:nvSpPr>
          <p:cNvPr id="87" name="Rectangle 86"/>
          <p:cNvSpPr/>
          <p:nvPr/>
        </p:nvSpPr>
        <p:spPr>
          <a:xfrm>
            <a:off x="9052560" y="370332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98280" y="379476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89" name="Rectangle 88"/>
          <p:cNvSpPr/>
          <p:nvPr/>
        </p:nvSpPr>
        <p:spPr>
          <a:xfrm>
            <a:off x="548640" y="448056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4572000"/>
            <a:ext cx="1737360" cy="640080"/>
          </a:xfrm>
          <a:prstGeom prst="rect">
            <a:avLst/>
          </a:prstGeom>
          <a:noFill/>
        </p:spPr>
        <p:txBody>
          <a:bodyPr wrap="square">
            <a:spAutoFit/>
          </a:bodyPr>
          <a:lstStyle/>
          <a:p>
            <a:pPr algn="l">
              <a:spcAft>
                <a:spcPts val="600"/>
              </a:spcAft>
              <a:defRPr sz="1500" b="1">
                <a:solidFill>
                  <a:srgbClr val="2B2B2B"/>
                </a:solidFill>
              </a:defRPr>
            </a:pPr>
            <a:r>
              <a:t>🇱🇾 Libye</a:t>
            </a:r>
          </a:p>
        </p:txBody>
      </p:sp>
      <p:sp>
        <p:nvSpPr>
          <p:cNvPr id="91" name="Rectangle 90"/>
          <p:cNvSpPr/>
          <p:nvPr/>
        </p:nvSpPr>
        <p:spPr>
          <a:xfrm>
            <a:off x="2377440" y="448056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423160" y="4572000"/>
            <a:ext cx="1645919" cy="640080"/>
          </a:xfrm>
          <a:prstGeom prst="rect">
            <a:avLst/>
          </a:prstGeom>
          <a:noFill/>
        </p:spPr>
        <p:txBody>
          <a:bodyPr wrap="square">
            <a:spAutoFit/>
          </a:bodyPr>
          <a:lstStyle/>
          <a:p>
            <a:pPr algn="l">
              <a:spcAft>
                <a:spcPts val="600"/>
              </a:spcAft>
              <a:defRPr sz="1500" b="0">
                <a:solidFill>
                  <a:srgbClr val="2B2B2B"/>
                </a:solidFill>
              </a:defRPr>
            </a:pPr>
            <a:r>
              <a:t>1 759 540 km²</a:t>
            </a:r>
          </a:p>
        </p:txBody>
      </p:sp>
      <p:sp>
        <p:nvSpPr>
          <p:cNvPr id="93" name="Rectangle 92"/>
          <p:cNvSpPr/>
          <p:nvPr/>
        </p:nvSpPr>
        <p:spPr>
          <a:xfrm>
            <a:off x="4114800" y="448056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160520" y="4572000"/>
            <a:ext cx="1188719" cy="640080"/>
          </a:xfrm>
          <a:prstGeom prst="rect">
            <a:avLst/>
          </a:prstGeom>
          <a:noFill/>
        </p:spPr>
        <p:txBody>
          <a:bodyPr wrap="square">
            <a:spAutoFit/>
          </a:bodyPr>
          <a:lstStyle/>
          <a:p>
            <a:pPr algn="l">
              <a:spcAft>
                <a:spcPts val="600"/>
              </a:spcAft>
              <a:defRPr sz="1500" b="0">
                <a:solidFill>
                  <a:srgbClr val="2B2B2B"/>
                </a:solidFill>
              </a:defRPr>
            </a:pPr>
            <a:r>
              <a:t>≈ 7 M</a:t>
            </a:r>
          </a:p>
        </p:txBody>
      </p:sp>
      <p:sp>
        <p:nvSpPr>
          <p:cNvPr id="95" name="Rectangle 94"/>
          <p:cNvSpPr/>
          <p:nvPr/>
        </p:nvSpPr>
        <p:spPr>
          <a:xfrm>
            <a:off x="5394960" y="448056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40680" y="4572000"/>
            <a:ext cx="1005839" cy="640080"/>
          </a:xfrm>
          <a:prstGeom prst="rect">
            <a:avLst/>
          </a:prstGeom>
          <a:noFill/>
        </p:spPr>
        <p:txBody>
          <a:bodyPr wrap="square">
            <a:spAutoFit/>
          </a:bodyPr>
          <a:lstStyle/>
          <a:p>
            <a:pPr algn="l">
              <a:spcAft>
                <a:spcPts val="600"/>
              </a:spcAft>
              <a:defRPr sz="1500" b="0">
                <a:solidFill>
                  <a:srgbClr val="2B2B2B"/>
                </a:solidFill>
              </a:defRPr>
            </a:pPr>
            <a:r>
              <a:t>≈ 4</a:t>
            </a:r>
          </a:p>
        </p:txBody>
      </p:sp>
      <p:sp>
        <p:nvSpPr>
          <p:cNvPr id="97" name="Rectangle 96"/>
          <p:cNvSpPr/>
          <p:nvPr/>
        </p:nvSpPr>
        <p:spPr>
          <a:xfrm>
            <a:off x="6492240" y="448056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537960" y="4572000"/>
            <a:ext cx="1280160" cy="640080"/>
          </a:xfrm>
          <a:prstGeom prst="rect">
            <a:avLst/>
          </a:prstGeom>
          <a:noFill/>
        </p:spPr>
        <p:txBody>
          <a:bodyPr wrap="square">
            <a:spAutoFit/>
          </a:bodyPr>
          <a:lstStyle/>
          <a:p>
            <a:pPr algn="l">
              <a:spcAft>
                <a:spcPts val="600"/>
              </a:spcAft>
              <a:defRPr sz="1500" b="0">
                <a:solidFill>
                  <a:srgbClr val="2B2B2B"/>
                </a:solidFill>
              </a:defRPr>
            </a:pPr>
            <a:r>
              <a:t>≈ 50 Md$</a:t>
            </a:r>
          </a:p>
        </p:txBody>
      </p:sp>
      <p:sp>
        <p:nvSpPr>
          <p:cNvPr id="99" name="Rectangle 98"/>
          <p:cNvSpPr/>
          <p:nvPr/>
        </p:nvSpPr>
        <p:spPr>
          <a:xfrm>
            <a:off x="7863840" y="448056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909560" y="4572000"/>
            <a:ext cx="1097280" cy="640080"/>
          </a:xfrm>
          <a:prstGeom prst="rect">
            <a:avLst/>
          </a:prstGeom>
          <a:noFill/>
        </p:spPr>
        <p:txBody>
          <a:bodyPr wrap="square">
            <a:spAutoFit/>
          </a:bodyPr>
          <a:lstStyle/>
          <a:p>
            <a:pPr algn="l">
              <a:spcAft>
                <a:spcPts val="600"/>
              </a:spcAft>
              <a:defRPr sz="1500" b="0">
                <a:solidFill>
                  <a:srgbClr val="2B2B2B"/>
                </a:solidFill>
              </a:defRPr>
            </a:pPr>
            <a:r>
              <a:t>≈ 19 %</a:t>
            </a:r>
          </a:p>
        </p:txBody>
      </p:sp>
      <p:sp>
        <p:nvSpPr>
          <p:cNvPr id="101" name="Rectangle 100"/>
          <p:cNvSpPr/>
          <p:nvPr/>
        </p:nvSpPr>
        <p:spPr>
          <a:xfrm>
            <a:off x="9052560" y="448056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098280" y="4572000"/>
            <a:ext cx="2468879" cy="640080"/>
          </a:xfrm>
          <a:prstGeom prst="rect">
            <a:avLst/>
          </a:prstGeom>
          <a:noFill/>
        </p:spPr>
        <p:txBody>
          <a:bodyPr wrap="square">
            <a:spAutoFit/>
          </a:bodyPr>
          <a:lstStyle/>
          <a:p>
            <a:pPr algn="l">
              <a:spcAft>
                <a:spcPts val="600"/>
              </a:spcAft>
              <a:defRPr sz="1500" b="0">
                <a:solidFill>
                  <a:srgbClr val="2B2B2B"/>
                </a:solidFill>
              </a:defRPr>
            </a:pPr>
            <a:r>
              <a:t>République (transition)</a:t>
            </a:r>
          </a:p>
        </p:txBody>
      </p:sp>
      <p:sp>
        <p:nvSpPr>
          <p:cNvPr id="103" name="Rectangle 102"/>
          <p:cNvSpPr/>
          <p:nvPr/>
        </p:nvSpPr>
        <p:spPr>
          <a:xfrm>
            <a:off x="548640" y="525780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94360" y="5349240"/>
            <a:ext cx="1737360" cy="640080"/>
          </a:xfrm>
          <a:prstGeom prst="rect">
            <a:avLst/>
          </a:prstGeom>
          <a:noFill/>
        </p:spPr>
        <p:txBody>
          <a:bodyPr wrap="square">
            <a:spAutoFit/>
          </a:bodyPr>
          <a:lstStyle/>
          <a:p>
            <a:pPr algn="l">
              <a:spcAft>
                <a:spcPts val="600"/>
              </a:spcAft>
              <a:defRPr sz="1500" b="1">
                <a:solidFill>
                  <a:srgbClr val="2B2B2B"/>
                </a:solidFill>
              </a:defRPr>
            </a:pPr>
            <a:r>
              <a:t>🇲🇷 Mauritanie</a:t>
            </a:r>
          </a:p>
        </p:txBody>
      </p:sp>
      <p:sp>
        <p:nvSpPr>
          <p:cNvPr id="105" name="Rectangle 104"/>
          <p:cNvSpPr/>
          <p:nvPr/>
        </p:nvSpPr>
        <p:spPr>
          <a:xfrm>
            <a:off x="2377440" y="525780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423160" y="5349240"/>
            <a:ext cx="1645919" cy="640080"/>
          </a:xfrm>
          <a:prstGeom prst="rect">
            <a:avLst/>
          </a:prstGeom>
          <a:noFill/>
        </p:spPr>
        <p:txBody>
          <a:bodyPr wrap="square">
            <a:spAutoFit/>
          </a:bodyPr>
          <a:lstStyle/>
          <a:p>
            <a:pPr algn="l">
              <a:spcAft>
                <a:spcPts val="600"/>
              </a:spcAft>
              <a:defRPr sz="1500" b="0">
                <a:solidFill>
                  <a:srgbClr val="2B2B2B"/>
                </a:solidFill>
              </a:defRPr>
            </a:pPr>
            <a:r>
              <a:t>1 030 700 km²</a:t>
            </a:r>
          </a:p>
        </p:txBody>
      </p:sp>
      <p:sp>
        <p:nvSpPr>
          <p:cNvPr id="107" name="Rectangle 106"/>
          <p:cNvSpPr/>
          <p:nvPr/>
        </p:nvSpPr>
        <p:spPr>
          <a:xfrm>
            <a:off x="4114800" y="525780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4160520" y="5349240"/>
            <a:ext cx="1188719" cy="640080"/>
          </a:xfrm>
          <a:prstGeom prst="rect">
            <a:avLst/>
          </a:prstGeom>
          <a:noFill/>
        </p:spPr>
        <p:txBody>
          <a:bodyPr wrap="square">
            <a:spAutoFit/>
          </a:bodyPr>
          <a:lstStyle/>
          <a:p>
            <a:pPr algn="l">
              <a:spcAft>
                <a:spcPts val="600"/>
              </a:spcAft>
              <a:defRPr sz="1500" b="0">
                <a:solidFill>
                  <a:srgbClr val="2B2B2B"/>
                </a:solidFill>
              </a:defRPr>
            </a:pPr>
            <a:r>
              <a:t>≈ 5 M</a:t>
            </a:r>
          </a:p>
        </p:txBody>
      </p:sp>
      <p:sp>
        <p:nvSpPr>
          <p:cNvPr id="109" name="Rectangle 108"/>
          <p:cNvSpPr/>
          <p:nvPr/>
        </p:nvSpPr>
        <p:spPr>
          <a:xfrm>
            <a:off x="5394960" y="525780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440680" y="5349240"/>
            <a:ext cx="1005839" cy="640080"/>
          </a:xfrm>
          <a:prstGeom prst="rect">
            <a:avLst/>
          </a:prstGeom>
          <a:noFill/>
        </p:spPr>
        <p:txBody>
          <a:bodyPr wrap="square">
            <a:spAutoFit/>
          </a:bodyPr>
          <a:lstStyle/>
          <a:p>
            <a:pPr algn="l">
              <a:spcAft>
                <a:spcPts val="600"/>
              </a:spcAft>
              <a:defRPr sz="1500" b="0">
                <a:solidFill>
                  <a:srgbClr val="2B2B2B"/>
                </a:solidFill>
              </a:defRPr>
            </a:pPr>
            <a:r>
              <a:t>≈ 5</a:t>
            </a:r>
          </a:p>
        </p:txBody>
      </p:sp>
      <p:sp>
        <p:nvSpPr>
          <p:cNvPr id="111" name="Rectangle 110"/>
          <p:cNvSpPr/>
          <p:nvPr/>
        </p:nvSpPr>
        <p:spPr>
          <a:xfrm>
            <a:off x="6492240" y="525780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537960" y="5349240"/>
            <a:ext cx="1280160" cy="640080"/>
          </a:xfrm>
          <a:prstGeom prst="rect">
            <a:avLst/>
          </a:prstGeom>
          <a:noFill/>
        </p:spPr>
        <p:txBody>
          <a:bodyPr wrap="square">
            <a:spAutoFit/>
          </a:bodyPr>
          <a:lstStyle/>
          <a:p>
            <a:pPr algn="l">
              <a:spcAft>
                <a:spcPts val="600"/>
              </a:spcAft>
              <a:defRPr sz="1500" b="0">
                <a:solidFill>
                  <a:srgbClr val="2B2B2B"/>
                </a:solidFill>
              </a:defRPr>
            </a:pPr>
            <a:r>
              <a:t>≈ 10 Md$</a:t>
            </a:r>
          </a:p>
        </p:txBody>
      </p:sp>
      <p:sp>
        <p:nvSpPr>
          <p:cNvPr id="113" name="Rectangle 112"/>
          <p:cNvSpPr/>
          <p:nvPr/>
        </p:nvSpPr>
        <p:spPr>
          <a:xfrm>
            <a:off x="7863840" y="525780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909560" y="5349240"/>
            <a:ext cx="1097280" cy="640080"/>
          </a:xfrm>
          <a:prstGeom prst="rect">
            <a:avLst/>
          </a:prstGeom>
          <a:noFill/>
        </p:spPr>
        <p:txBody>
          <a:bodyPr wrap="square">
            <a:spAutoFit/>
          </a:bodyPr>
          <a:lstStyle/>
          <a:p>
            <a:pPr algn="l">
              <a:spcAft>
                <a:spcPts val="600"/>
              </a:spcAft>
              <a:defRPr sz="1500" b="0">
                <a:solidFill>
                  <a:srgbClr val="2B2B2B"/>
                </a:solidFill>
              </a:defRPr>
            </a:pPr>
            <a:r>
              <a:t>≈ 10 %</a:t>
            </a:r>
          </a:p>
        </p:txBody>
      </p:sp>
      <p:sp>
        <p:nvSpPr>
          <p:cNvPr id="115" name="Rectangle 114"/>
          <p:cNvSpPr/>
          <p:nvPr/>
        </p:nvSpPr>
        <p:spPr>
          <a:xfrm>
            <a:off x="9052560" y="525780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098280" y="5349240"/>
            <a:ext cx="2468879" cy="640080"/>
          </a:xfrm>
          <a:prstGeom prst="rect">
            <a:avLst/>
          </a:prstGeom>
          <a:noFill/>
        </p:spPr>
        <p:txBody>
          <a:bodyPr wrap="square">
            <a:spAutoFit/>
          </a:bodyPr>
          <a:lstStyle/>
          <a:p>
            <a:pPr algn="l">
              <a:spcAft>
                <a:spcPts val="600"/>
              </a:spcAft>
              <a:defRPr sz="1500" b="0">
                <a:solidFill>
                  <a:srgbClr val="2B2B2B"/>
                </a:solidFill>
              </a:defRPr>
            </a:pPr>
            <a:r>
              <a:t>Rép. islamique</a:t>
            </a:r>
          </a:p>
        </p:txBody>
      </p:sp>
      <p:sp>
        <p:nvSpPr>
          <p:cNvPr id="117" name="TextBox 116"/>
          <p:cNvSpPr txBox="1"/>
          <p:nvPr/>
        </p:nvSpPr>
        <p:spPr>
          <a:xfrm>
            <a:off x="548640" y="6080760"/>
            <a:ext cx="10058400" cy="365760"/>
          </a:xfrm>
          <a:prstGeom prst="rect">
            <a:avLst/>
          </a:prstGeom>
          <a:noFill/>
        </p:spPr>
        <p:txBody>
          <a:bodyPr wrap="square">
            <a:spAutoFit/>
          </a:bodyPr>
          <a:lstStyle/>
          <a:p>
            <a:pPr algn="l">
              <a:spcAft>
                <a:spcPts val="600"/>
              </a:spcAft>
              <a:defRPr sz="1300" b="0">
                <a:solidFill>
                  <a:srgbClr val="1F4E79"/>
                </a:solidFill>
              </a:defRPr>
            </a:pPr>
            <a:r>
              <a:t>Densité en hab/km² • Source : Banque mondiale 2023 (valeurs arrondies) — capitales : Rabat, Alger, Tunis, Tripoli, Nouakchott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Un monde arabo-musulman • A/ Trois États méditerranéens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arte-muette.png"/>
          <p:cNvPicPr>
            <a:picLocks noChangeAspect="1"/>
          </p:cNvPicPr>
          <p:nvPr/>
        </p:nvPicPr>
        <p:blipFill>
          <a:blip r:embed="rId3"/>
          <a:stretch>
            <a:fillRect/>
          </a:stretch>
        </p:blipFill>
        <p:spPr>
          <a:xfrm>
            <a:off x="548640" y="1371600"/>
            <a:ext cx="6442095" cy="4754880"/>
          </a:xfrm>
          <a:prstGeom prst="rect">
            <a:avLst/>
          </a:prstGeom>
        </p:spPr>
      </p:pic>
      <p:sp>
        <p:nvSpPr>
          <p:cNvPr id="34" name="TextBox 33"/>
          <p:cNvSpPr txBox="1"/>
          <p:nvPr/>
        </p:nvSpPr>
        <p:spPr>
          <a:xfrm>
            <a:off x="7315200" y="1371600"/>
            <a:ext cx="4389120" cy="4572000"/>
          </a:xfrm>
          <a:prstGeom prst="rect">
            <a:avLst/>
          </a:prstGeom>
          <a:noFill/>
        </p:spPr>
        <p:txBody>
          <a:bodyPr wrap="square">
            <a:spAutoFit/>
          </a:bodyPr>
          <a:lstStyle/>
          <a:p>
            <a:pPr algn="l">
              <a:spcAft>
                <a:spcPts val="600"/>
              </a:spcAft>
              <a:defRPr sz="2000" b="0">
                <a:solidFill>
                  <a:srgbClr val="2B2B2B"/>
                </a:solidFill>
              </a:defRPr>
            </a:pPr>
            <a:r>
              <a:t>✏️ Sur ta carte muette, place :</a:t>
            </a:r>
          </a:p>
          <a:p>
            <a:pPr algn="l">
              <a:spcAft>
                <a:spcPts val="600"/>
              </a:spcAft>
              <a:defRPr sz="2000" b="0">
                <a:solidFill>
                  <a:srgbClr val="2B2B2B"/>
                </a:solidFill>
              </a:defRPr>
            </a:pPr>
            <a:r>
              <a:t>🌊 l'océan Atlantique</a:t>
            </a:r>
          </a:p>
          <a:p>
            <a:pPr algn="l">
              <a:spcAft>
                <a:spcPts val="600"/>
              </a:spcAft>
              <a:defRPr sz="2000" b="0">
                <a:solidFill>
                  <a:srgbClr val="2B2B2B"/>
                </a:solidFill>
              </a:defRPr>
            </a:pPr>
            <a:r>
              <a:t>🌊 la mer Méditerranée</a:t>
            </a:r>
          </a:p>
          <a:p>
            <a:pPr algn="l">
              <a:spcAft>
                <a:spcPts val="600"/>
              </a:spcAft>
              <a:defRPr sz="2000" b="0">
                <a:solidFill>
                  <a:srgbClr val="2B2B2B"/>
                </a:solidFill>
              </a:defRPr>
            </a:pPr>
            <a:r>
              <a:t>🗺️ le Maroc, l'Algérie, la Tunisie</a:t>
            </a:r>
          </a:p>
          <a:p>
            <a:pPr algn="l">
              <a:spcAft>
                <a:spcPts val="600"/>
              </a:spcAft>
              <a:defRPr sz="2000" b="0">
                <a:solidFill>
                  <a:srgbClr val="2B2B2B"/>
                </a:solidFill>
              </a:defRPr>
            </a:pPr>
            <a:r>
              <a:t>🇪🇸 l'Espagne</a:t>
            </a:r>
          </a:p>
          <a:p>
            <a:pPr algn="l">
              <a:spcAft>
                <a:spcPts val="600"/>
              </a:spcAft>
              <a:defRPr sz="2000" b="0">
                <a:solidFill>
                  <a:srgbClr val="2B2B2B"/>
                </a:solidFill>
              </a:defRPr>
            </a:pPr>
            <a:r>
              <a:t>↔️ le détroit de Gibraltar</a:t>
            </a:r>
          </a:p>
          <a:p>
            <a:pPr algn="l">
              <a:spcAft>
                <a:spcPts val="600"/>
              </a:spcAft>
              <a:defRPr sz="2000" b="0">
                <a:solidFill>
                  <a:srgbClr val="2B2B2B"/>
                </a:solidFill>
              </a:defRPr>
            </a:pPr>
            <a:r>
              <a:t>☀️ le tropique du Cancer</a:t>
            </a:r>
          </a:p>
        </p:txBody>
      </p:sp>
      <p:sp>
        <p:nvSpPr>
          <p:cNvPr id="35" name="Rounded Rectangle 34">
            <a:hlinkClick action="ppaction://hlinksldjump" r:id="rId5"/>
          </p:cNvPr>
          <p:cNvSpPr/>
          <p:nvPr/>
        </p:nvSpPr>
        <p:spPr>
          <a:xfrm>
            <a:off x="8595360" y="5486400"/>
            <a:ext cx="256032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 relief et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4114800"/>
          </a:xfrm>
          <a:prstGeom prst="rect">
            <a:avLst/>
          </a:prstGeom>
          <a:noFill/>
        </p:spPr>
        <p:txBody>
          <a:bodyPr wrap="square">
            <a:spAutoFit/>
          </a:bodyPr>
          <a:lstStyle/>
          <a:p>
            <a:pPr algn="l">
              <a:spcAft>
                <a:spcPts val="600"/>
              </a:spcAft>
              <a:defRPr sz="1900" b="1">
                <a:solidFill>
                  <a:srgbClr val="1F4E79"/>
                </a:solidFill>
              </a:defRPr>
            </a:pPr>
            <a:r>
              <a:t>❓ Quel massif montagneux domine au Maghreb ?</a:t>
            </a:r>
          </a:p>
          <a:p>
            <a:pPr algn="l">
              <a:spcAft>
                <a:spcPts val="600"/>
              </a:spcAft>
              <a:defRPr sz="1900" b="1">
                <a:solidFill>
                  <a:srgbClr val="1F4E79"/>
                </a:solidFill>
              </a:defRPr>
            </a:pPr>
            <a:r>
              <a:t>❓ Est-il d'un seul bloc ?</a:t>
            </a:r>
          </a:p>
          <a:p>
            <a:pPr algn="l">
              <a:spcAft>
                <a:spcPts val="600"/>
              </a:spcAft>
              <a:defRPr sz="1900" b="1">
                <a:solidFill>
                  <a:srgbClr val="1F4E79"/>
                </a:solidFill>
              </a:defRPr>
            </a:pPr>
            <a:r>
              <a:t>❓ Quelles sont les différentes parties de l'Atlas ?</a:t>
            </a:r>
          </a:p>
          <a:p>
            <a:pPr algn="l">
              <a:spcAft>
                <a:spcPts val="600"/>
              </a:spcAft>
              <a:defRPr sz="1900" b="1">
                <a:solidFill>
                  <a:srgbClr val="1F4E79"/>
                </a:solidFill>
              </a:defRPr>
            </a:pPr>
            <a:r>
              <a:t>❓ Où pleut-il le plus ? Pourquoi ?</a:t>
            </a:r>
          </a:p>
          <a:p>
            <a:pPr algn="l">
              <a:spcAft>
                <a:spcPts val="600"/>
              </a:spcAft>
              <a:defRPr sz="1900" b="1">
                <a:solidFill>
                  <a:srgbClr val="1F4E79"/>
                </a:solidFill>
              </a:defRPr>
            </a:pPr>
            <a:r>
              <a:t>❓ Que trouve-t-on au sud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l'Atlas, un massif en plusieurs parties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700" b="0">
                <a:solidFill>
                  <a:srgbClr val="2B2B2B"/>
                </a:solidFill>
              </a:defRPr>
            </a:pPr>
            <a:r>
              <a:t>✅ L'ATLAS domine le Maghreb.</a:t>
            </a:r>
          </a:p>
          <a:p>
            <a:pPr algn="l">
              <a:spcAft>
                <a:spcPts val="600"/>
              </a:spcAft>
              <a:defRPr sz="1700" b="0">
                <a:solidFill>
                  <a:srgbClr val="2B2B2B"/>
                </a:solidFill>
              </a:defRPr>
            </a:pPr>
            <a:r>
              <a:t>✅ Non, il n'est pas d'un seul bloc : il y a plusieurs parties :</a:t>
            </a:r>
          </a:p>
          <a:p>
            <a:pPr algn="l">
              <a:spcAft>
                <a:spcPts val="600"/>
              </a:spcAft>
              <a:defRPr sz="1700" b="0">
                <a:solidFill>
                  <a:srgbClr val="2B2B2B"/>
                </a:solidFill>
              </a:defRPr>
            </a:pPr>
            <a:r>
              <a:t>   • le Rif (nord du Maroc)</a:t>
            </a:r>
          </a:p>
          <a:p>
            <a:pPr algn="l">
              <a:spcAft>
                <a:spcPts val="600"/>
              </a:spcAft>
              <a:defRPr sz="1700" b="0">
                <a:solidFill>
                  <a:srgbClr val="2B2B2B"/>
                </a:solidFill>
              </a:defRPr>
            </a:pPr>
            <a:r>
              <a:t>   • le Moyen Atlas (près de Fès) ➡️</a:t>
            </a:r>
          </a:p>
          <a:p>
            <a:pPr algn="l">
              <a:spcAft>
                <a:spcPts val="600"/>
              </a:spcAft>
              <a:defRPr sz="1700" b="0">
                <a:solidFill>
                  <a:srgbClr val="2B2B2B"/>
                </a:solidFill>
              </a:defRPr>
            </a:pPr>
            <a:r>
              <a:t>   • le Haut Atlas (Maroc, Toubkal 4 167 m)</a:t>
            </a:r>
          </a:p>
          <a:p>
            <a:pPr algn="l">
              <a:spcAft>
                <a:spcPts val="600"/>
              </a:spcAft>
              <a:defRPr sz="1700" b="0">
                <a:solidFill>
                  <a:srgbClr val="2B2B2B"/>
                </a:solidFill>
              </a:defRPr>
            </a:pPr>
            <a:r>
              <a:t>   • l'Anti-Atlas</a:t>
            </a:r>
          </a:p>
          <a:p>
            <a:pPr algn="l">
              <a:spcAft>
                <a:spcPts val="600"/>
              </a:spcAft>
              <a:defRPr sz="1700" b="0">
                <a:solidFill>
                  <a:srgbClr val="2B2B2B"/>
                </a:solidFill>
              </a:defRPr>
            </a:pPr>
            <a:r>
              <a:t>   • l'Atlas tellien et l'Atlas saharien (Algérie)</a:t>
            </a:r>
          </a:p>
          <a:p>
            <a:pPr algn="l">
              <a:spcAft>
                <a:spcPts val="600"/>
              </a:spcAft>
              <a:defRPr sz="1700" b="0">
                <a:solidFill>
                  <a:srgbClr val="2B2B2B"/>
                </a:solidFill>
              </a:defRPr>
            </a:pPr>
            <a:r>
              <a:t>✅ Il pleut plus au nord (&gt; 300 mm) : la montagne arrête les nuages venus de la mer.</a:t>
            </a:r>
          </a:p>
          <a:p>
            <a:pPr algn="l">
              <a:spcAft>
                <a:spcPts val="600"/>
              </a:spcAft>
              <a:defRPr sz="1700" b="0">
                <a:solidFill>
                  <a:srgbClr val="2B2B2B"/>
                </a:solidFill>
              </a:defRPr>
            </a:pPr>
            <a:r>
              <a:t>✅ Au sud : le Sahara, des oasis et le Hoggar.</a:t>
            </a:r>
          </a:p>
        </p:txBody>
      </p:sp>
      <p:pic>
        <p:nvPicPr>
          <p:cNvPr id="34" name="Picture 33" descr="moyen-atlas.png"/>
          <p:cNvPicPr>
            <a:picLocks noChangeAspect="1"/>
          </p:cNvPicPr>
          <p:nvPr/>
        </p:nvPicPr>
        <p:blipFill>
          <a:blip r:embed="rId2"/>
          <a:stretch>
            <a:fillRect/>
          </a:stretch>
        </p:blipFill>
        <p:spPr>
          <a:xfrm>
            <a:off x="6492240" y="1645920"/>
            <a:ext cx="5303520" cy="2581977"/>
          </a:xfrm>
          <a:prstGeom prst="rect">
            <a:avLst/>
          </a:prstGeom>
        </p:spPr>
      </p:pic>
      <p:sp>
        <p:nvSpPr>
          <p:cNvPr id="35" name="TextBox 34"/>
          <p:cNvSpPr txBox="1"/>
          <p:nvPr/>
        </p:nvSpPr>
        <p:spPr>
          <a:xfrm>
            <a:off x="6492240" y="4389120"/>
            <a:ext cx="5303520" cy="548640"/>
          </a:xfrm>
          <a:prstGeom prst="rect">
            <a:avLst/>
          </a:prstGeom>
          <a:noFill/>
        </p:spPr>
        <p:txBody>
          <a:bodyPr wrap="square">
            <a:spAutoFit/>
          </a:bodyPr>
          <a:lstStyle/>
          <a:p>
            <a:pPr algn="ctr">
              <a:spcAft>
                <a:spcPts val="600"/>
              </a:spcAft>
              <a:defRPr sz="1600" b="1">
                <a:solidFill>
                  <a:srgbClr val="B84A1E"/>
                </a:solidFill>
              </a:defRPr>
            </a:pPr>
            <a:r>
              <a:t>Le Moyen Atlas, près de Fès (Maroc)</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Les autres paysages du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400" b="1">
                <a:solidFill>
                  <a:srgbClr val="1F4E79"/>
                </a:solidFill>
              </a:defRPr>
            </a:pPr>
            <a:r>
              <a:t>❓ Quels sont les autres massifs montagneux du Maghreb ?</a:t>
            </a:r>
          </a:p>
          <a:p>
            <a:pPr algn="l">
              <a:spcAft>
                <a:spcPts val="600"/>
              </a:spcAft>
              <a:defRPr sz="2400" b="1">
                <a:solidFill>
                  <a:srgbClr val="1F4E79"/>
                </a:solidFill>
              </a:defRPr>
            </a:pPr>
            <a:r>
              <a:t>❓ Par quoi se caractérise le littoral ?</a:t>
            </a:r>
          </a:p>
          <a:p>
            <a:pPr algn="l">
              <a:spcAft>
                <a:spcPts val="600"/>
              </a:spcAft>
              <a:defRPr sz="2400" b="1">
                <a:solidFill>
                  <a:srgbClr val="1F4E79"/>
                </a:solidFill>
              </a:defRPr>
            </a:pPr>
            <a:r>
              <a:t>❓ Qu'est-ce qui domine au Maghreb ?</a:t>
            </a:r>
          </a:p>
          <a:p>
            <a:pPr algn="l">
              <a:spcAft>
                <a:spcPts val="600"/>
              </a:spcAft>
              <a:defRPr sz="2400" b="1">
                <a:solidFill>
                  <a:srgbClr val="1F4E79"/>
                </a:solidFill>
              </a:defRPr>
            </a:pPr>
            <a:r>
              <a:t>❓ Comment se nomment les îlots de verdure dans le désert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désert et oasis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2000" b="0">
                <a:solidFill>
                  <a:srgbClr val="2B2B2B"/>
                </a:solidFill>
              </a:defRPr>
            </a:pPr>
            <a:r>
              <a:t>✅ Le Hoggar (sud de l'Algérie).</a:t>
            </a:r>
          </a:p>
          <a:p>
            <a:pPr algn="l">
              <a:spcAft>
                <a:spcPts val="600"/>
              </a:spcAft>
              <a:defRPr sz="2000" b="0">
                <a:solidFill>
                  <a:srgbClr val="2B2B2B"/>
                </a:solidFill>
              </a:defRPr>
            </a:pPr>
            <a:r>
              <a:t>✅ Le littoral se caractérise par des plaines.</a:t>
            </a:r>
          </a:p>
          <a:p>
            <a:pPr algn="l">
              <a:spcAft>
                <a:spcPts val="600"/>
              </a:spcAft>
              <a:defRPr sz="2000" b="0">
                <a:solidFill>
                  <a:srgbClr val="2B2B2B"/>
                </a:solidFill>
              </a:defRPr>
            </a:pPr>
            <a:r>
              <a:t>✅ Le désert (Sahara) domine, avec des îlots de verdure.</a:t>
            </a:r>
          </a:p>
          <a:p>
            <a:pPr algn="l">
              <a:spcAft>
                <a:spcPts val="600"/>
              </a:spcAft>
              <a:defRPr sz="2000" b="0">
                <a:solidFill>
                  <a:srgbClr val="2B2B2B"/>
                </a:solidFill>
              </a:defRPr>
            </a:pPr>
            <a:r>
              <a:t>✅ Ces îlots s'appellent des OASIS 🌴</a:t>
            </a:r>
          </a:p>
        </p:txBody>
      </p:sp>
      <p:sp>
        <p:nvSpPr>
          <p:cNvPr id="34" name="Rounded Rectangle 33"/>
          <p:cNvSpPr/>
          <p:nvPr/>
        </p:nvSpPr>
        <p:spPr>
          <a:xfrm>
            <a:off x="6492240" y="1463040"/>
            <a:ext cx="5303520" cy="31089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0" y="2651760"/>
            <a:ext cx="5303520" cy="731520"/>
          </a:xfrm>
          <a:prstGeom prst="rect">
            <a:avLst/>
          </a:prstGeom>
          <a:noFill/>
        </p:spPr>
        <p:txBody>
          <a:bodyPr wrap="square">
            <a:spAutoFit/>
          </a:bodyPr>
          <a:lstStyle/>
          <a:p>
            <a:pPr algn="ctr">
              <a:spcAft>
                <a:spcPts val="600"/>
              </a:spcAft>
              <a:defRPr sz="1800" b="1">
                <a:solidFill>
                  <a:srgbClr val="B84A1E"/>
                </a:solidFill>
              </a:defRPr>
            </a:pPr>
            <a:r>
              <a:t>📷 Photo : l'oasis de Bou Thramar</a:t>
            </a:r>
          </a:p>
        </p:txBody>
      </p:sp>
      <p:sp>
        <p:nvSpPr>
          <p:cNvPr id="36" name="TextBox 35"/>
          <p:cNvSpPr txBox="1"/>
          <p:nvPr/>
        </p:nvSpPr>
        <p:spPr>
          <a:xfrm>
            <a:off x="6492240" y="4663440"/>
            <a:ext cx="5303520" cy="548640"/>
          </a:xfrm>
          <a:prstGeom prst="rect">
            <a:avLst/>
          </a:prstGeom>
          <a:noFill/>
        </p:spPr>
        <p:txBody>
          <a:bodyPr wrap="square">
            <a:spAutoFit/>
          </a:bodyPr>
          <a:lstStyle/>
          <a:p>
            <a:pPr algn="ctr">
              <a:spcAft>
                <a:spcPts val="600"/>
              </a:spcAft>
              <a:defRPr sz="1600" b="1">
                <a:solidFill>
                  <a:srgbClr val="B84A1E"/>
                </a:solidFill>
              </a:defRPr>
            </a:pPr>
            <a:r>
              <a:t>L'oasis de Bou Thramar (Maroc)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222 :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2743200"/>
          </a:xfrm>
          <a:prstGeom prst="rect">
            <a:avLst/>
          </a:prstGeom>
          <a:noFill/>
        </p:spPr>
        <p:txBody>
          <a:bodyPr wrap="square">
            <a:spAutoFit/>
          </a:bodyPr>
          <a:lstStyle/>
          <a:p>
            <a:pPr algn="l">
              <a:spcAft>
                <a:spcPts val="600"/>
              </a:spcAft>
              <a:defRPr sz="2000" b="1">
                <a:solidFill>
                  <a:srgbClr val="1F4E79"/>
                </a:solidFill>
              </a:defRPr>
            </a:pPr>
            <a:r>
              <a:t>❓ Quel est le niveau des précipitations dans la région ?</a:t>
            </a:r>
          </a:p>
          <a:p>
            <a:pPr algn="l">
              <a:spcAft>
                <a:spcPts val="600"/>
              </a:spcAft>
              <a:defRPr sz="2000" b="1">
                <a:solidFill>
                  <a:srgbClr val="1F4E79"/>
                </a:solidFill>
              </a:defRPr>
            </a:pPr>
            <a:r>
              <a:t>❓ Où pleut-il le plus ?</a:t>
            </a:r>
          </a:p>
        </p:txBody>
      </p:sp>
      <p:sp>
        <p:nvSpPr>
          <p:cNvPr id="35" name="Rounded Rectangle 34">
            <a:hlinkClick action="ppaction://hlinksldjump" r:id="rId5"/>
          </p:cNvPr>
          <p:cNvSpPr/>
          <p:nvPr/>
        </p:nvSpPr>
        <p:spPr>
          <a:xfrm>
            <a:off x="6858000" y="3291840"/>
            <a:ext cx="237744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 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 des précipitations globalement faibles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200" b="0">
                <a:solidFill>
                  <a:srgbClr val="2B2B2B"/>
                </a:solidFill>
              </a:defRPr>
            </a:pPr>
            <a:r>
              <a:t>✅ Les précipitations sont globalement FAIBLES.</a:t>
            </a:r>
          </a:p>
          <a:p>
            <a:pPr algn="l">
              <a:spcAft>
                <a:spcPts val="600"/>
              </a:spcAft>
              <a:defRPr sz="2200" b="0">
                <a:solidFill>
                  <a:srgbClr val="2B2B2B"/>
                </a:solidFill>
              </a:defRPr>
            </a:pPr>
            <a:r>
              <a:t>• Plus de 300 mm/an seulement sur une étroite bande au nord (littoral, Atlas).</a:t>
            </a:r>
          </a:p>
          <a:p>
            <a:pPr algn="l">
              <a:spcAft>
                <a:spcPts val="600"/>
              </a:spcAft>
              <a:defRPr sz="2200" b="0">
                <a:solidFill>
                  <a:srgbClr val="2B2B2B"/>
                </a:solidFill>
              </a:defRPr>
            </a:pPr>
            <a:r>
              <a:t>• Moins de 150 mm/an dans le Sahara : un climat désertique.</a:t>
            </a:r>
          </a:p>
          <a:p>
            <a:pPr algn="l">
              <a:spcAft>
                <a:spcPts val="600"/>
              </a:spcAft>
              <a:defRPr sz="2200" b="0">
                <a:solidFill>
                  <a:srgbClr val="2B2B2B"/>
                </a:solidFill>
              </a:defRPr>
            </a:pPr>
            <a:r>
              <a:t>💡 Comparaison : Paris reçoit environ 640 mm de pluie par an.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Précipitations et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3657600"/>
          </a:xfrm>
          <a:prstGeom prst="rect">
            <a:avLst/>
          </a:prstGeom>
          <a:noFill/>
        </p:spPr>
        <p:txBody>
          <a:bodyPr wrap="square">
            <a:spAutoFit/>
          </a:bodyPr>
          <a:lstStyle/>
          <a:p>
            <a:pPr algn="l">
              <a:spcAft>
                <a:spcPts val="600"/>
              </a:spcAft>
              <a:defRPr sz="2400" b="1">
                <a:solidFill>
                  <a:srgbClr val="1F4E79"/>
                </a:solidFill>
              </a:defRPr>
            </a:pPr>
            <a:r>
              <a:t>❓ Cette faiblesse des précipitations est-elle généralisée ?</a:t>
            </a:r>
          </a:p>
          <a:p>
            <a:pPr algn="l">
              <a:spcAft>
                <a:spcPts val="600"/>
              </a:spcAft>
              <a:defRPr sz="2400" b="1">
                <a:solidFill>
                  <a:srgbClr val="1F4E79"/>
                </a:solidFill>
              </a:defRPr>
            </a:pPr>
            <a:r>
              <a:t>❓ Lesquelles des régions sont plus arrosées ?</a:t>
            </a:r>
          </a:p>
          <a:p>
            <a:pPr algn="l">
              <a:spcAft>
                <a:spcPts val="600"/>
              </a:spcAft>
              <a:defRPr sz="2400" b="1">
                <a:solidFill>
                  <a:srgbClr val="1F4E79"/>
                </a:solidFill>
              </a:defRPr>
            </a:pPr>
            <a:r>
              <a:t>❓ Quels sont les climats du Maghreb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deux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900" b="0">
                <a:solidFill>
                  <a:srgbClr val="2B2B2B"/>
                </a:solidFill>
              </a:defRPr>
            </a:pPr>
            <a:r>
              <a:t>✅ Non : certaines régions sont un peu plus arrosées.</a:t>
            </a:r>
          </a:p>
          <a:p>
            <a:pPr algn="l">
              <a:spcAft>
                <a:spcPts val="600"/>
              </a:spcAft>
              <a:defRPr sz="1900" b="0">
                <a:solidFill>
                  <a:srgbClr val="2B2B2B"/>
                </a:solidFill>
              </a:defRPr>
            </a:pPr>
            <a:r>
              <a:t>✅ Les plaines littorales et les massifs montagneux.</a:t>
            </a:r>
          </a:p>
          <a:p>
            <a:pPr algn="l">
              <a:spcAft>
                <a:spcPts val="600"/>
              </a:spcAft>
              <a:defRPr sz="1900" b="0">
                <a:solidFill>
                  <a:srgbClr val="2B2B2B"/>
                </a:solidFill>
              </a:defRPr>
            </a:pPr>
            <a:r>
              <a:t>⚠️ En dessous de 250 mm/an, plus d'agriculture possible !</a:t>
            </a:r>
          </a:p>
          <a:p>
            <a:pPr algn="l">
              <a:spcAft>
                <a:spcPts val="600"/>
              </a:spcAft>
              <a:defRPr sz="1900" b="0">
                <a:solidFill>
                  <a:srgbClr val="2B2B2B"/>
                </a:solidFill>
              </a:defRPr>
            </a:pPr>
            <a:r>
              <a:t>✅ Au Nord : climat MÉDITERRANÉEN 🌿</a:t>
            </a:r>
          </a:p>
          <a:p>
            <a:pPr algn="l">
              <a:spcAft>
                <a:spcPts val="600"/>
              </a:spcAft>
              <a:defRPr sz="1900" b="0">
                <a:solidFill>
                  <a:srgbClr val="2B2B2B"/>
                </a:solidFill>
              </a:defRPr>
            </a:pPr>
            <a:r>
              <a:t>✅ Au Sud : climat DÉSERTIQUE 🏜️</a:t>
            </a:r>
          </a:p>
          <a:p>
            <a:pPr algn="l">
              <a:spcAft>
                <a:spcPts val="600"/>
              </a:spcAft>
              <a:defRPr sz="1900" b="0">
                <a:solidFill>
                  <a:srgbClr val="2B2B2B"/>
                </a:solidFill>
              </a:defRPr>
            </a:pPr>
            <a:r>
              <a:t>✏️ Sur ta carte : trace l'isohyète des 250 mm et complète la légende.</a:t>
            </a:r>
          </a:p>
        </p:txBody>
      </p:sp>
      <p:pic>
        <p:nvPicPr>
          <p:cNvPr id="34" name="Picture 33" descr="isohyete.png"/>
          <p:cNvPicPr>
            <a:picLocks noChangeAspect="1"/>
          </p:cNvPicPr>
          <p:nvPr/>
        </p:nvPicPr>
        <p:blipFill>
          <a:blip r:embed="rId2"/>
          <a:stretch>
            <a:fillRect/>
          </a:stretch>
        </p:blipFill>
        <p:spPr>
          <a:xfrm>
            <a:off x="6492240" y="1371600"/>
            <a:ext cx="5303520" cy="3549358"/>
          </a:xfrm>
          <a:prstGeom prst="rect">
            <a:avLst/>
          </a:prstGeom>
        </p:spPr>
      </p:pic>
      <p:sp>
        <p:nvSpPr>
          <p:cNvPr id="35" name="TextBox 34"/>
          <p:cNvSpPr txBox="1"/>
          <p:nvPr/>
        </p:nvSpPr>
        <p:spPr>
          <a:xfrm>
            <a:off x="6492240" y="5852160"/>
            <a:ext cx="5303520" cy="457200"/>
          </a:xfrm>
          <a:prstGeom prst="rect">
            <a:avLst/>
          </a:prstGeom>
          <a:noFill/>
        </p:spPr>
        <p:txBody>
          <a:bodyPr wrap="square">
            <a:spAutoFit/>
          </a:bodyPr>
          <a:lstStyle/>
          <a:p>
            <a:pPr algn="ctr">
              <a:spcAft>
                <a:spcPts val="600"/>
              </a:spcAft>
              <a:defRPr sz="1500" b="1">
                <a:solidFill>
                  <a:srgbClr val="1F4E79"/>
                </a:solidFill>
              </a:defRPr>
            </a:pPr>
            <a:r>
              <a:t>━ isohyète 250 mm (ligne bleue)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Complète le tableau</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828800" y="2606040"/>
            <a:ext cx="8503920" cy="640080"/>
          </a:xfrm>
          <a:prstGeom prst="rect">
            <a:avLst/>
          </a:prstGeom>
          <a:noFill/>
        </p:spPr>
        <p:txBody>
          <a:bodyPr wrap="square">
            <a:spAutoFit/>
          </a:bodyPr>
          <a:lstStyle/>
          <a:p>
            <a:pPr algn="ctr">
              <a:spcAft>
                <a:spcPts val="600"/>
              </a:spcAft>
              <a:defRPr sz="2200" b="0">
                <a:solidFill>
                  <a:srgbClr val="2B2B2B"/>
                </a:solidFill>
              </a:defRPr>
            </a:pPr>
            <a:r>
              <a:t>1. ……………………</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28800" y="3703320"/>
            <a:ext cx="8503920" cy="640080"/>
          </a:xfrm>
          <a:prstGeom prst="rect">
            <a:avLst/>
          </a:prstGeom>
          <a:noFill/>
        </p:spPr>
        <p:txBody>
          <a:bodyPr wrap="square">
            <a:spAutoFit/>
          </a:bodyPr>
          <a:lstStyle/>
          <a:p>
            <a:pPr algn="ctr">
              <a:spcAft>
                <a:spcPts val="600"/>
              </a:spcAft>
              <a:defRPr sz="2200" b="0">
                <a:solidFill>
                  <a:srgbClr val="2B2B2B"/>
                </a:solidFill>
              </a:defRPr>
            </a:pPr>
            <a:r>
              <a:t>2. ……………………</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828800" y="4800600"/>
            <a:ext cx="8503920" cy="640080"/>
          </a:xfrm>
          <a:prstGeom prst="rect">
            <a:avLst/>
          </a:prstGeom>
          <a:noFill/>
        </p:spPr>
        <p:txBody>
          <a:bodyPr wrap="square">
            <a:spAutoFit/>
          </a:bodyPr>
          <a:lstStyle/>
          <a:p>
            <a:pPr algn="ctr">
              <a:spcAft>
                <a:spcPts val="600"/>
              </a:spcAft>
              <a:defRPr sz="2200" b="0">
                <a:solidFill>
                  <a:srgbClr val="2B2B2B"/>
                </a:solidFill>
              </a:defRPr>
            </a:pPr>
            <a:r>
              <a:t>3. ……………………</a:t>
            </a:r>
          </a:p>
        </p:txBody>
      </p:sp>
      <p:sp>
        <p:nvSpPr>
          <p:cNvPr id="41" name="Rounded Rectangle 40">
            <a:hlinkClick action="ppaction://hlinksldjump" r:id="rId4"/>
          </p:cNvPr>
          <p:cNvSpPr/>
          <p:nvPr/>
        </p:nvSpPr>
        <p:spPr>
          <a:xfrm>
            <a:off x="8595360" y="5760720"/>
            <a:ext cx="256032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Correction du tableau</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20240" y="2514600"/>
            <a:ext cx="8321040" cy="822960"/>
          </a:xfrm>
          <a:prstGeom prst="rect">
            <a:avLst/>
          </a:prstGeom>
          <a:noFill/>
        </p:spPr>
        <p:txBody>
          <a:bodyPr wrap="square">
            <a:spAutoFit/>
          </a:bodyPr>
          <a:lstStyle/>
          <a:p>
            <a:pPr algn="ctr">
              <a:spcAft>
                <a:spcPts val="600"/>
              </a:spcAft>
              <a:defRPr sz="2000" b="1">
                <a:solidFill>
                  <a:srgbClr val="2B2B2B"/>
                </a:solidFill>
              </a:defRPr>
            </a:pPr>
            <a:r>
              <a:t>Importance du désert</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611880"/>
            <a:ext cx="8321040" cy="822960"/>
          </a:xfrm>
          <a:prstGeom prst="rect">
            <a:avLst/>
          </a:prstGeom>
          <a:noFill/>
        </p:spPr>
        <p:txBody>
          <a:bodyPr wrap="square">
            <a:spAutoFit/>
          </a:bodyPr>
          <a:lstStyle/>
          <a:p>
            <a:pPr algn="ctr">
              <a:spcAft>
                <a:spcPts val="600"/>
              </a:spcAft>
              <a:defRPr sz="2000" b="1">
                <a:solidFill>
                  <a:srgbClr val="2B2B2B"/>
                </a:solidFill>
              </a:defRPr>
            </a:pPr>
            <a:r>
              <a:t>Présence d'un massif montagneux : l'Atlas</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20240" y="4709160"/>
            <a:ext cx="8321040" cy="822960"/>
          </a:xfrm>
          <a:prstGeom prst="rect">
            <a:avLst/>
          </a:prstGeom>
          <a:noFill/>
        </p:spPr>
        <p:txBody>
          <a:bodyPr wrap="square">
            <a:spAutoFit/>
          </a:bodyPr>
          <a:lstStyle/>
          <a:p>
            <a:pPr algn="ctr">
              <a:spcAft>
                <a:spcPts val="600"/>
              </a:spcAft>
              <a:defRPr sz="2000" b="1">
                <a:solidFill>
                  <a:srgbClr val="2B2B2B"/>
                </a:solidFill>
              </a:defRPr>
            </a:pPr>
            <a:r>
              <a:t>Les domaines bioclimatiques méditerranéen et désertique, marqués par l'aridité</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Le Maghreb appartient au monde arabo-musulman</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3"/>
          <a:stretch>
            <a:fillRect/>
          </a:stretch>
        </p:blipFill>
        <p:spPr>
          <a:xfrm>
            <a:off x="457200" y="1371600"/>
            <a:ext cx="5413248" cy="4754880"/>
          </a:xfrm>
          <a:prstGeom prst="rect">
            <a:avLst/>
          </a:prstGeom>
        </p:spPr>
      </p:pic>
      <p:sp>
        <p:nvSpPr>
          <p:cNvPr id="34" name="TextBox 33"/>
          <p:cNvSpPr txBox="1"/>
          <p:nvPr/>
        </p:nvSpPr>
        <p:spPr>
          <a:xfrm>
            <a:off x="6309360" y="1463040"/>
            <a:ext cx="5486400" cy="3657600"/>
          </a:xfrm>
          <a:prstGeom prst="rect">
            <a:avLst/>
          </a:prstGeom>
          <a:noFill/>
        </p:spPr>
        <p:txBody>
          <a:bodyPr wrap="square">
            <a:spAutoFit/>
          </a:bodyPr>
          <a:lstStyle/>
          <a:p>
            <a:pPr algn="l">
              <a:spcAft>
                <a:spcPts val="600"/>
              </a:spcAft>
              <a:defRPr sz="2100" b="1">
                <a:solidFill>
                  <a:srgbClr val="1F4E79"/>
                </a:solidFill>
              </a:defRPr>
            </a:pPr>
            <a:r>
              <a:t>❓ D'après ce document et ce que tu as vu sur l'Afrique, quelle est la religion dominante au Maghreb ?</a:t>
            </a:r>
          </a:p>
          <a:p>
            <a:pPr algn="l">
              <a:spcAft>
                <a:spcPts val="600"/>
              </a:spcAft>
              <a:defRPr sz="2100" b="1">
                <a:solidFill>
                  <a:srgbClr val="1F4E79"/>
                </a:solidFill>
              </a:defRPr>
            </a:pPr>
            <a:r>
              <a:t>❓ Depuis quand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Maghreb musulman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645920"/>
            <a:ext cx="10972800" cy="3657600"/>
          </a:xfrm>
          <a:prstGeom prst="rect">
            <a:avLst/>
          </a:prstGeom>
          <a:noFill/>
        </p:spPr>
        <p:txBody>
          <a:bodyPr wrap="square">
            <a:spAutoFit/>
          </a:bodyPr>
          <a:lstStyle/>
          <a:p>
            <a:pPr algn="l">
              <a:spcAft>
                <a:spcPts val="600"/>
              </a:spcAft>
              <a:defRPr sz="2400" b="0">
                <a:solidFill>
                  <a:srgbClr val="2B2B2B"/>
                </a:solidFill>
              </a:defRPr>
            </a:pPr>
            <a:r>
              <a:t>✅ La religion musulmane (islam) domine.</a:t>
            </a:r>
          </a:p>
          <a:p>
            <a:pPr algn="l">
              <a:spcAft>
                <a:spcPts val="600"/>
              </a:spcAft>
              <a:defRPr sz="2400" b="0">
                <a:solidFill>
                  <a:srgbClr val="2B2B2B"/>
                </a:solidFill>
              </a:defRPr>
            </a:pPr>
            <a:r>
              <a:t>✅ Depuis les VIIe–VIIIe siècles, avec les conquêtes arabo-musulmanes.</a:t>
            </a:r>
          </a:p>
          <a:p>
            <a:pPr algn="l">
              <a:spcAft>
                <a:spcPts val="600"/>
              </a:spcAft>
              <a:defRPr sz="2400" b="0">
                <a:solidFill>
                  <a:srgbClr val="2B2B2B"/>
                </a:solidFill>
              </a:defRPr>
            </a:pPr>
            <a:r>
              <a:t>🕋 Lieux saints de l'islam : La Mecque et Médine (Arabie saoudite).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4 p. 221 : Les Berbères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280160"/>
            <a:ext cx="11064240" cy="5029200"/>
          </a:xfrm>
          <a:prstGeom prst="rect">
            <a:avLst/>
          </a:prstGeom>
          <a:noFill/>
        </p:spPr>
        <p:txBody>
          <a:bodyPr wrap="square">
            <a:spAutoFit/>
          </a:bodyPr>
          <a:lstStyle/>
          <a:p>
            <a:pPr algn="l">
              <a:spcAft>
                <a:spcPts val="600"/>
              </a:spcAft>
              <a:defRPr sz="1700" b="0">
                <a:solidFill>
                  <a:srgbClr val="2B2B2B"/>
                </a:solidFill>
              </a:defRPr>
            </a:pPr>
            <a:r>
              <a:t>« Les Berbères habitent en Algérie, dans les montagnes de Kabylie et des Aurès, et surtout au Maroc, dans les montagnes du Rif et dans l'Atlas.</a:t>
            </a:r>
          </a:p>
          <a:p>
            <a:pPr algn="l">
              <a:spcAft>
                <a:spcPts val="600"/>
              </a:spcAft>
              <a:defRPr sz="1700" b="0">
                <a:solidFill>
                  <a:srgbClr val="2B2B2B"/>
                </a:solidFill>
              </a:defRPr>
            </a:pPr>
            <a:r>
              <a:t>Les Berbères sont au moins bilingues. Ils parlent le berbère et l'arabe. Seuls les très jeunes enfants, les femmes ou les vieillards n'ayant pas séjourné en ville ne parlent que le berbère : dans la ville maghrébine, en effet, on parle arabe, à l'exception de quelques villes comme Agadir au Maroc.</a:t>
            </a:r>
          </a:p>
          <a:p>
            <a:pPr algn="l">
              <a:spcAft>
                <a:spcPts val="600"/>
              </a:spcAft>
              <a:defRPr sz="1700" b="0">
                <a:solidFill>
                  <a:srgbClr val="2B2B2B"/>
                </a:solidFill>
              </a:defRPr>
            </a:pPr>
            <a:r>
              <a:t>Tous les Maghrébins, qu'ils soient arabes ou berbères, accordent une grande valeur sentimentale à des traits de la culture berbère. Il s'agit notamment du « burnous », ce long manteau de laine à capuchon pour les hommes, et surtout du « couscous »¹, le plat le plus prestigieux de la cuisine maghrébine. »</a:t>
            </a:r>
          </a:p>
          <a:p>
            <a:pPr algn="l">
              <a:spcAft>
                <a:spcPts val="600"/>
              </a:spcAft>
              <a:defRPr sz="1700" b="0">
                <a:solidFill>
                  <a:srgbClr val="2B2B2B"/>
                </a:solidFill>
              </a:defRPr>
            </a:pPr>
            <a:r>
              <a:t>D'après Yves Lacoste, Maghreb, 1995.   ¹ Plat à base de semoule de blé.</a:t>
            </a:r>
          </a:p>
        </p:txBody>
      </p:sp>
      <p:sp>
        <p:nvSpPr>
          <p:cNvPr id="35" name="Rounded Rectangle 34">
            <a:hlinkClick action="ppaction://hlinksldjump" r:id="rId4"/>
          </p:cNvPr>
          <p:cNvSpPr/>
          <p:nvPr/>
        </p:nvSpPr>
        <p:spPr>
          <a:xfrm>
            <a:off x="9144000" y="6263640"/>
            <a:ext cx="201168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Quels sont les deux peuples présents au Maghreb ?</a:t>
            </a:r>
          </a:p>
          <a:p>
            <a:pPr algn="l">
              <a:spcAft>
                <a:spcPts val="600"/>
              </a:spcAft>
              <a:defRPr sz="2000" b="0">
                <a:solidFill>
                  <a:srgbClr val="2B2B2B"/>
                </a:solidFill>
              </a:defRPr>
            </a:pPr>
            <a:r>
              <a:t>• 2. Où habitent les Berbères ? Cite 2 pays et 3 régions.</a:t>
            </a:r>
          </a:p>
          <a:p>
            <a:pPr algn="l">
              <a:spcAft>
                <a:spcPts val="600"/>
              </a:spcAft>
              <a:defRPr sz="2000" b="0">
                <a:solidFill>
                  <a:srgbClr val="2B2B2B"/>
                </a:solidFill>
              </a:defRPr>
            </a:pPr>
            <a:r>
              <a:t>• 3. Vrai/Faux : les Berbères ne parlent que le berbère. Justifie avec le texte.</a:t>
            </a:r>
          </a:p>
          <a:p>
            <a:pPr algn="l">
              <a:spcAft>
                <a:spcPts val="600"/>
              </a:spcAft>
              <a:defRPr sz="2000" b="0">
                <a:solidFill>
                  <a:srgbClr val="2B2B2B"/>
                </a:solidFill>
              </a:defRPr>
            </a:pPr>
            <a:r>
              <a:t>• 4. Quelle langue parle-t-on dans les villes ? Quelle exception ?</a:t>
            </a:r>
          </a:p>
          <a:p>
            <a:pPr algn="l">
              <a:spcAft>
                <a:spcPts val="600"/>
              </a:spcAft>
              <a:defRPr sz="2000" b="0">
                <a:solidFill>
                  <a:srgbClr val="2B2B2B"/>
                </a:solidFill>
              </a:defRPr>
            </a:pPr>
            <a:r>
              <a:t>• 5. Qu'est-ce que le « burnous » ?</a:t>
            </a:r>
          </a:p>
          <a:p>
            <a:pPr algn="l">
              <a:spcAft>
                <a:spcPts val="600"/>
              </a:spcAft>
              <a:defRPr sz="2000" b="0">
                <a:solidFill>
                  <a:srgbClr val="2B2B2B"/>
                </a:solidFill>
              </a:defRPr>
            </a:pPr>
            <a:r>
              <a:t>• 6. Quel est « le plat le plus prestigieux » ? De quoi est-il fait ?</a:t>
            </a:r>
          </a:p>
          <a:p>
            <a:pPr algn="l">
              <a:spcAft>
                <a:spcPts val="600"/>
              </a:spcAft>
              <a:defRPr sz="2000" b="0">
                <a:solidFill>
                  <a:srgbClr val="2B2B2B"/>
                </a:solidFill>
              </a:defRPr>
            </a:pPr>
            <a:r>
              <a:t>• 7. Qui est l'auteur ? En quelle année ?</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Les Arabes et les Berbères.</a:t>
            </a:r>
          </a:p>
          <a:p>
            <a:pPr algn="l">
              <a:spcAft>
                <a:spcPts val="600"/>
              </a:spcAft>
              <a:defRPr sz="2000" b="0">
                <a:solidFill>
                  <a:srgbClr val="2B2B2B"/>
                </a:solidFill>
              </a:defRPr>
            </a:pPr>
            <a:r>
              <a:t>• 2. En Algérie (Kabylie, Aurès) et surtout au Maroc (Rif, Atlas).</a:t>
            </a:r>
          </a:p>
          <a:p>
            <a:pPr algn="l">
              <a:spcAft>
                <a:spcPts val="600"/>
              </a:spcAft>
              <a:defRPr sz="2000" b="0">
                <a:solidFill>
                  <a:srgbClr val="2B2B2B"/>
                </a:solidFill>
              </a:defRPr>
            </a:pPr>
            <a:r>
              <a:t>• 3. FAUX : « Les Berbères sont au moins bilingues » (berbère et arabe).</a:t>
            </a:r>
          </a:p>
          <a:p>
            <a:pPr algn="l">
              <a:spcAft>
                <a:spcPts val="600"/>
              </a:spcAft>
              <a:defRPr sz="2000" b="0">
                <a:solidFill>
                  <a:srgbClr val="2B2B2B"/>
                </a:solidFill>
              </a:defRPr>
            </a:pPr>
            <a:r>
              <a:t>• 4. L'arabe, sauf quelques villes comme Agadir (Maroc).</a:t>
            </a:r>
          </a:p>
          <a:p>
            <a:pPr algn="l">
              <a:spcAft>
                <a:spcPts val="600"/>
              </a:spcAft>
              <a:defRPr sz="2000" b="0">
                <a:solidFill>
                  <a:srgbClr val="2B2B2B"/>
                </a:solidFill>
              </a:defRPr>
            </a:pPr>
            <a:r>
              <a:t>• 5. Un long manteau de laine à capuchon pour les hommes.</a:t>
            </a:r>
          </a:p>
          <a:p>
            <a:pPr algn="l">
              <a:spcAft>
                <a:spcPts val="600"/>
              </a:spcAft>
              <a:defRPr sz="2000" b="0">
                <a:solidFill>
                  <a:srgbClr val="2B2B2B"/>
                </a:solidFill>
              </a:defRPr>
            </a:pPr>
            <a:r>
              <a:t>• 6. Le couscous, à base de semoule de blé.</a:t>
            </a:r>
          </a:p>
          <a:p>
            <a:pPr algn="l">
              <a:spcAft>
                <a:spcPts val="600"/>
              </a:spcAft>
              <a:defRPr sz="2000" b="0">
                <a:solidFill>
                  <a:srgbClr val="2B2B2B"/>
                </a:solidFill>
              </a:defRPr>
            </a:pPr>
            <a:r>
              <a:t>• 7. Yves Lacoste, 1995.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5 p. 221 : les Arabes et les Berbères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abes-berberes.png"/>
          <p:cNvPicPr>
            <a:picLocks noChangeAspect="1"/>
          </p:cNvPicPr>
          <p:nvPr/>
        </p:nvPicPr>
        <p:blipFill>
          <a:blip r:embed="rId3"/>
          <a:stretch>
            <a:fillRect/>
          </a:stretch>
        </p:blipFill>
        <p:spPr>
          <a:xfrm>
            <a:off x="457200" y="1280160"/>
            <a:ext cx="5662507" cy="5029200"/>
          </a:xfrm>
          <a:prstGeom prst="rect">
            <a:avLst/>
          </a:prstGeom>
        </p:spPr>
      </p:pic>
      <p:sp>
        <p:nvSpPr>
          <p:cNvPr id="34" name="TextBox 33"/>
          <p:cNvSpPr txBox="1"/>
          <p:nvPr/>
        </p:nvSpPr>
        <p:spPr>
          <a:xfrm>
            <a:off x="6949440" y="1371600"/>
            <a:ext cx="4846320" cy="4114800"/>
          </a:xfrm>
          <a:prstGeom prst="rect">
            <a:avLst/>
          </a:prstGeom>
          <a:noFill/>
        </p:spPr>
        <p:txBody>
          <a:bodyPr wrap="square">
            <a:spAutoFit/>
          </a:bodyPr>
          <a:lstStyle/>
          <a:p>
            <a:pPr algn="l">
              <a:spcAft>
                <a:spcPts val="600"/>
              </a:spcAft>
              <a:defRPr sz="1900" b="1">
                <a:solidFill>
                  <a:srgbClr val="1F4E79"/>
                </a:solidFill>
              </a:defRPr>
            </a:pPr>
            <a:r>
              <a:t>❓ Où vivent les arabophones ?</a:t>
            </a:r>
          </a:p>
          <a:p>
            <a:pPr algn="l">
              <a:spcAft>
                <a:spcPts val="600"/>
              </a:spcAft>
              <a:defRPr sz="1900" b="1">
                <a:solidFill>
                  <a:srgbClr val="1F4E79"/>
                </a:solidFill>
              </a:defRPr>
            </a:pPr>
            <a:r>
              <a:t>❓ Où vivent les berbérophones ?</a:t>
            </a:r>
          </a:p>
          <a:p>
            <a:pPr algn="l">
              <a:spcAft>
                <a:spcPts val="600"/>
              </a:spcAft>
              <a:defRPr sz="1900" b="1">
                <a:solidFill>
                  <a:srgbClr val="1F4E79"/>
                </a:solidFill>
              </a:defRPr>
            </a:pPr>
            <a:r>
              <a:t>❓ Quelle part de la population parle berbère au Maroc ? en Algérie ?</a:t>
            </a:r>
          </a:p>
          <a:p>
            <a:pPr algn="l">
              <a:spcAft>
                <a:spcPts val="600"/>
              </a:spcAft>
              <a:defRPr sz="1900" b="1">
                <a:solidFill>
                  <a:srgbClr val="1F4E79"/>
                </a:solidFill>
              </a:defRPr>
            </a:pPr>
            <a:r>
              <a:t>❓ Pourquoi le Sahara est-il presque vide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Arabes et Berbères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463040"/>
            <a:ext cx="10972800" cy="4846320"/>
          </a:xfrm>
          <a:prstGeom prst="rect">
            <a:avLst/>
          </a:prstGeom>
          <a:noFill/>
        </p:spPr>
        <p:txBody>
          <a:bodyPr wrap="square">
            <a:spAutoFit/>
          </a:bodyPr>
          <a:lstStyle/>
          <a:p>
            <a:pPr algn="l">
              <a:spcAft>
                <a:spcPts val="600"/>
              </a:spcAft>
              <a:defRPr sz="2000" b="0">
                <a:solidFill>
                  <a:srgbClr val="2B2B2B"/>
                </a:solidFill>
              </a:defRPr>
            </a:pPr>
            <a:r>
              <a:t>• Arabophones : plaines littorales et villes (Casablanca, Rabat, Alger, Oran, Tunis).</a:t>
            </a:r>
          </a:p>
          <a:p>
            <a:pPr algn="l">
              <a:spcAft>
                <a:spcPts val="600"/>
              </a:spcAft>
              <a:defRPr sz="2000" b="0">
                <a:solidFill>
                  <a:srgbClr val="2B2B2B"/>
                </a:solidFill>
              </a:defRPr>
            </a:pPr>
            <a:r>
              <a:t>• Berbérophones : surtout dans les montagnes (Rif, Atlas, Kabylie, Aurès) et autour d'Agadir.</a:t>
            </a:r>
          </a:p>
          <a:p>
            <a:pPr algn="l">
              <a:spcAft>
                <a:spcPts val="600"/>
              </a:spcAft>
              <a:defRPr sz="2000" b="0">
                <a:solidFill>
                  <a:srgbClr val="2B2B2B"/>
                </a:solidFill>
              </a:defRPr>
            </a:pPr>
            <a:r>
              <a:t>• Berbérophones : environ 33 % au Maroc et 25 % en Algérie (très peu en Tunisie).</a:t>
            </a:r>
          </a:p>
          <a:p>
            <a:pPr algn="l">
              <a:spcAft>
                <a:spcPts val="600"/>
              </a:spcAft>
              <a:defRPr sz="2000" b="0">
                <a:solidFill>
                  <a:srgbClr val="2B2B2B"/>
                </a:solidFill>
              </a:defRPr>
            </a:pPr>
            <a:r>
              <a:t>• Le Sahara : moins de 10 hab/km², car le climat désertique y rend la vie difficile.</a:t>
            </a:r>
          </a:p>
          <a:p>
            <a:pPr algn="l">
              <a:spcAft>
                <a:spcPts val="600"/>
              </a:spcAft>
              <a:defRPr sz="2000" b="0">
                <a:solidFill>
                  <a:srgbClr val="2B2B2B"/>
                </a:solidFill>
              </a:defRPr>
            </a:pPr>
            <a:r>
              <a:t>• ➡️ Les Berbères sont le peuple d'origine ; les Arabes sont arrivés avec l'islam (VIIe 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Trace écrite — B/ Le monde arabo-musulman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828800"/>
            <a:ext cx="11064240" cy="292608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2011680"/>
            <a:ext cx="10515600" cy="2743200"/>
          </a:xfrm>
          <a:prstGeom prst="rect">
            <a:avLst/>
          </a:prstGeom>
          <a:noFill/>
        </p:spPr>
        <p:txBody>
          <a:bodyPr wrap="square">
            <a:spAutoFit/>
          </a:bodyPr>
          <a:lstStyle/>
          <a:p>
            <a:pPr algn="l">
              <a:spcAft>
                <a:spcPts val="600"/>
              </a:spcAft>
              <a:defRPr sz="2200" b="1">
                <a:solidFill>
                  <a:srgbClr val="1A2FC8"/>
                </a:solidFill>
              </a:defRPr>
            </a:pPr>
            <a:r>
              <a:t>✏️ Trace écrite :</a:t>
            </a:r>
          </a:p>
          <a:p>
            <a:pPr algn="l">
              <a:spcAft>
                <a:spcPts val="600"/>
              </a:spcAft>
              <a:defRPr sz="2200" b="1">
                <a:solidFill>
                  <a:srgbClr val="1A2FC8"/>
                </a:solidFill>
              </a:defRPr>
            </a:pPr>
            <a:r>
              <a:t>La population du Maghreb est composée majoritairement d'Arabes, mais les Berbères sont également nombreux.</a:t>
            </a:r>
          </a:p>
          <a:p>
            <a:pPr algn="l">
              <a:spcAft>
                <a:spcPts val="600"/>
              </a:spcAft>
              <a:defRPr sz="2200" b="1">
                <a:solidFill>
                  <a:srgbClr val="1A2FC8"/>
                </a:solidFill>
              </a:defRPr>
            </a:pPr>
            <a:r>
              <a:t>La religion de la majorité de la population est l'islam.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 Un littoral plus attractif que l'intérieur</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2 : littoral et intérieur</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en quoi le littoral est-il le cœur économique du Maghreb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La répartition de la population   •   B/ Un littoral plus développé</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4 p. 223 : la répartition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partition.png"/>
          <p:cNvPicPr>
            <a:picLocks noChangeAspect="1"/>
          </p:cNvPicPr>
          <p:nvPr/>
        </p:nvPicPr>
        <p:blipFill>
          <a:blip r:embed="rId2"/>
          <a:stretch>
            <a:fillRect/>
          </a:stretch>
        </p:blipFill>
        <p:spPr>
          <a:xfrm>
            <a:off x="457200" y="1280160"/>
            <a:ext cx="6105832" cy="4937760"/>
          </a:xfrm>
          <a:prstGeom prst="rect">
            <a:avLst/>
          </a:prstGeom>
        </p:spPr>
      </p:pic>
      <p:sp>
        <p:nvSpPr>
          <p:cNvPr id="34" name="TextBox 33"/>
          <p:cNvSpPr txBox="1"/>
          <p:nvPr/>
        </p:nvSpPr>
        <p:spPr>
          <a:xfrm>
            <a:off x="6837351" y="1371600"/>
            <a:ext cx="5049848" cy="4206240"/>
          </a:xfrm>
          <a:prstGeom prst="rect">
            <a:avLst/>
          </a:prstGeom>
          <a:noFill/>
        </p:spPr>
        <p:txBody>
          <a:bodyPr wrap="square">
            <a:spAutoFit/>
          </a:bodyPr>
          <a:lstStyle/>
          <a:p>
            <a:pPr algn="l">
              <a:spcAft>
                <a:spcPts val="600"/>
              </a:spcAft>
              <a:defRPr sz="1800" b="1">
                <a:solidFill>
                  <a:srgbClr val="1F4E79"/>
                </a:solidFill>
              </a:defRPr>
            </a:pPr>
            <a:r>
              <a:t>❓ D'après cette carte, où se concentre la population du Maghreb ?</a:t>
            </a:r>
          </a:p>
          <a:p>
            <a:pPr algn="l">
              <a:spcAft>
                <a:spcPts val="600"/>
              </a:spcAft>
              <a:defRPr sz="1800" b="1">
                <a:solidFill>
                  <a:srgbClr val="1F4E79"/>
                </a:solidFill>
              </a:defRPr>
            </a:pPr>
            <a:r>
              <a:t>❓ Quelles sont les densités à l'intérieur du territoire ?</a:t>
            </a:r>
          </a:p>
          <a:p>
            <a:pPr algn="l">
              <a:spcAft>
                <a:spcPts val="600"/>
              </a:spcAft>
              <a:defRPr sz="1800" b="1">
                <a:solidFill>
                  <a:srgbClr val="1F4E79"/>
                </a:solidFill>
              </a:defRPr>
            </a:pPr>
            <a:r>
              <a:t>❓ Quelles sont les causes de cette répartition ?</a:t>
            </a:r>
          </a:p>
          <a:p>
            <a:pPr algn="l">
              <a:spcAft>
                <a:spcPts val="600"/>
              </a:spcAft>
              <a:defRPr sz="1800" b="1">
                <a:solidFill>
                  <a:srgbClr val="1F4E79"/>
                </a:solidFill>
              </a:defRPr>
            </a:pPr>
            <a:r>
              <a:t>❓ Où se situent les villes ? Quelles sont les plus importantes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 répartition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Sur le littoral.</a:t>
            </a:r>
          </a:p>
          <a:p>
            <a:pPr algn="l">
              <a:spcAft>
                <a:spcPts val="600"/>
              </a:spcAft>
              <a:defRPr sz="1900" b="0">
                <a:solidFill>
                  <a:srgbClr val="2B2B2B"/>
                </a:solidFill>
              </a:defRPr>
            </a:pPr>
            <a:r>
              <a:t>✅ Très faibles (moins de 10 hab/km²).</a:t>
            </a:r>
          </a:p>
          <a:p>
            <a:pPr algn="l">
              <a:spcAft>
                <a:spcPts val="600"/>
              </a:spcAft>
              <a:defRPr sz="1900" b="0">
                <a:solidFill>
                  <a:srgbClr val="2B2B2B"/>
                </a:solidFill>
              </a:defRPr>
            </a:pPr>
            <a:r>
              <a:t>✅ Le désert fait fuir les populations.</a:t>
            </a:r>
          </a:p>
          <a:p>
            <a:pPr algn="l">
              <a:spcAft>
                <a:spcPts val="600"/>
              </a:spcAft>
              <a:defRPr sz="1900" b="0">
                <a:solidFill>
                  <a:srgbClr val="2B2B2B"/>
                </a:solidFill>
              </a:defRPr>
            </a:pPr>
            <a:r>
              <a:t>✅ Sur le littoral : Casablanca, Rabat, Alger ; puis Agadir, Tanger, Oran, Tunis.</a:t>
            </a:r>
          </a:p>
          <a:p>
            <a:pPr algn="l">
              <a:spcAft>
                <a:spcPts val="600"/>
              </a:spcAft>
              <a:defRPr sz="1900" b="0">
                <a:solidFill>
                  <a:srgbClr val="2B2B2B"/>
                </a:solidFill>
              </a:defRPr>
            </a:pPr>
            <a:r>
              <a:t>✅ ✏️ Sur ta carte : place les zones de fortes densités et les villes, complète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territoire du Maghreb est principalement occupé par le désert, très faiblement peuplé. Au contraire, le Maghreb littoral regroupe 80 % de la population.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Doc. 3 p. 227 : un gisement pétrolier au Sahara (Hassi Messaoud)</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457200" y="1280160"/>
            <a:ext cx="6583680" cy="4144725"/>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Où a été prise la photographie ?</a:t>
            </a:r>
          </a:p>
          <a:p>
            <a:pPr algn="l">
              <a:spcAft>
                <a:spcPts val="600"/>
              </a:spcAft>
              <a:defRPr sz="1800" b="1">
                <a:solidFill>
                  <a:srgbClr val="1F4E79"/>
                </a:solidFill>
              </a:defRPr>
            </a:pPr>
            <a:r>
              <a:t>❓ Décris ce que tu vois.</a:t>
            </a:r>
          </a:p>
          <a:p>
            <a:pPr algn="l">
              <a:spcAft>
                <a:spcPts val="600"/>
              </a:spcAft>
              <a:defRPr sz="1800" b="1">
                <a:solidFill>
                  <a:srgbClr val="1F4E79"/>
                </a:solidFill>
              </a:defRPr>
            </a:pPr>
            <a:r>
              <a:t>❓ Que produit-on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un gisement pétrolier au Sahara (Hassi Messaoud)</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Au Sahara (Algérie).</a:t>
            </a:r>
          </a:p>
          <a:p>
            <a:pPr algn="l">
              <a:spcAft>
                <a:spcPts val="600"/>
              </a:spcAft>
              <a:defRPr sz="1900" b="0">
                <a:solidFill>
                  <a:srgbClr val="2B2B2B"/>
                </a:solidFill>
              </a:defRPr>
            </a:pPr>
            <a:r>
              <a:t>✅ Un gisement : torchères, réservoirs, fumées.</a:t>
            </a:r>
          </a:p>
          <a:p>
            <a:pPr algn="l">
              <a:spcAft>
                <a:spcPts val="600"/>
              </a:spcAft>
              <a:defRPr sz="1900" b="0">
                <a:solidFill>
                  <a:srgbClr val="2B2B2B"/>
                </a:solidFill>
              </a:defRPr>
            </a:pPr>
            <a:r>
              <a:t>✅ Du pétrole.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227 : les ressources intérieures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ssources.png"/>
          <p:cNvPicPr>
            <a:picLocks noChangeAspect="1"/>
          </p:cNvPicPr>
          <p:nvPr/>
        </p:nvPicPr>
        <p:blipFill>
          <a:blip r:embed="rId2"/>
          <a:stretch>
            <a:fillRect/>
          </a:stretch>
        </p:blipFill>
        <p:spPr>
          <a:xfrm>
            <a:off x="457200" y="1280160"/>
            <a:ext cx="4693920" cy="4937760"/>
          </a:xfrm>
          <a:prstGeom prst="rect">
            <a:avLst/>
          </a:prstGeom>
        </p:spPr>
      </p:pic>
      <p:sp>
        <p:nvSpPr>
          <p:cNvPr id="34" name="TextBox 33"/>
          <p:cNvSpPr txBox="1"/>
          <p:nvPr/>
        </p:nvSpPr>
        <p:spPr>
          <a:xfrm>
            <a:off x="5425440" y="1371600"/>
            <a:ext cx="6461760" cy="4206240"/>
          </a:xfrm>
          <a:prstGeom prst="rect">
            <a:avLst/>
          </a:prstGeom>
          <a:noFill/>
        </p:spPr>
        <p:txBody>
          <a:bodyPr wrap="square">
            <a:spAutoFit/>
          </a:bodyPr>
          <a:lstStyle/>
          <a:p>
            <a:pPr algn="l">
              <a:spcAft>
                <a:spcPts val="600"/>
              </a:spcAft>
              <a:defRPr sz="1800" b="1">
                <a:solidFill>
                  <a:srgbClr val="1F4E79"/>
                </a:solidFill>
              </a:defRPr>
            </a:pPr>
            <a:r>
              <a:t>❓ Quels sont les grands gisements de pétrole ?</a:t>
            </a:r>
          </a:p>
          <a:p>
            <a:pPr algn="l">
              <a:spcAft>
                <a:spcPts val="600"/>
              </a:spcAft>
              <a:defRPr sz="1800" b="1">
                <a:solidFill>
                  <a:srgbClr val="1F4E79"/>
                </a:solidFill>
              </a:defRPr>
            </a:pPr>
            <a:r>
              <a:t>❓ Quels sont les autres gisements ?</a:t>
            </a:r>
          </a:p>
          <a:p>
            <a:pPr algn="l">
              <a:spcAft>
                <a:spcPts val="600"/>
              </a:spcAft>
              <a:defRPr sz="1800" b="1">
                <a:solidFill>
                  <a:srgbClr val="1F4E79"/>
                </a:solidFill>
              </a:defRPr>
            </a:pPr>
            <a:r>
              <a:t>❓ Comment appelle-t-on ces deux produits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ressources intérieures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Hassi Messaoud et Edjeleh.</a:t>
            </a:r>
          </a:p>
          <a:p>
            <a:pPr algn="l">
              <a:spcAft>
                <a:spcPts val="600"/>
              </a:spcAft>
              <a:defRPr sz="1900" b="0">
                <a:solidFill>
                  <a:srgbClr val="2B2B2B"/>
                </a:solidFill>
              </a:defRPr>
            </a:pPr>
            <a:r>
              <a:t>✅ Les gisements de gaz, comme Hassi R'Mel.</a:t>
            </a:r>
          </a:p>
          <a:p>
            <a:pPr algn="l">
              <a:spcAft>
                <a:spcPts val="600"/>
              </a:spcAft>
              <a:defRPr sz="1900" b="0">
                <a:solidFill>
                  <a:srgbClr val="2B2B2B"/>
                </a:solidFill>
              </a:defRPr>
            </a:pPr>
            <a:r>
              <a:t>✅ Des HYDROCARBURES (pétrole + gaz). 📖 Copie la définition.</a:t>
            </a:r>
          </a:p>
          <a:p>
            <a:pPr algn="l">
              <a:spcAft>
                <a:spcPts val="600"/>
              </a:spcAft>
              <a:defRPr sz="1900" b="0">
                <a:solidFill>
                  <a:srgbClr val="2B2B2B"/>
                </a:solidFill>
              </a:defRPr>
            </a:pPr>
            <a:r>
              <a:t>✅ ✏️ Place les gisements de pétrole sur ta carte et complète la légende.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229 : le développement du littoral</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littoral.png"/>
          <p:cNvPicPr>
            <a:picLocks noChangeAspect="1"/>
          </p:cNvPicPr>
          <p:nvPr/>
        </p:nvPicPr>
        <p:blipFill>
          <a:blip r:embed="rId2"/>
          <a:stretch>
            <a:fillRect/>
          </a:stretch>
        </p:blipFill>
        <p:spPr>
          <a:xfrm>
            <a:off x="457200" y="1280160"/>
            <a:ext cx="5788685" cy="4937760"/>
          </a:xfrm>
          <a:prstGeom prst="rect">
            <a:avLst/>
          </a:prstGeom>
        </p:spPr>
      </p:pic>
      <p:sp>
        <p:nvSpPr>
          <p:cNvPr id="34" name="TextBox 33"/>
          <p:cNvSpPr txBox="1"/>
          <p:nvPr/>
        </p:nvSpPr>
        <p:spPr>
          <a:xfrm>
            <a:off x="6520205" y="1371600"/>
            <a:ext cx="5366995" cy="4206240"/>
          </a:xfrm>
          <a:prstGeom prst="rect">
            <a:avLst/>
          </a:prstGeom>
          <a:noFill/>
        </p:spPr>
        <p:txBody>
          <a:bodyPr wrap="square">
            <a:spAutoFit/>
          </a:bodyPr>
          <a:lstStyle/>
          <a:p>
            <a:pPr algn="l">
              <a:spcAft>
                <a:spcPts val="600"/>
              </a:spcAft>
              <a:defRPr sz="1800" b="1">
                <a:solidFill>
                  <a:srgbClr val="1F4E79"/>
                </a:solidFill>
              </a:defRPr>
            </a:pPr>
            <a:r>
              <a:t>❓ Que devient le pétrole extrait dans le désert ?</a:t>
            </a:r>
          </a:p>
          <a:p>
            <a:pPr algn="l">
              <a:spcAft>
                <a:spcPts val="600"/>
              </a:spcAft>
              <a:defRPr sz="1800" b="1">
                <a:solidFill>
                  <a:srgbClr val="1F4E79"/>
                </a:solidFill>
              </a:defRPr>
            </a:pPr>
            <a:r>
              <a:t>❓ Où se situent les régions industrielles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développement du littoral</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Il est surtout exporté vers l'Europe, et utilisé dans les centres industriels.</a:t>
            </a:r>
          </a:p>
          <a:p>
            <a:pPr algn="l">
              <a:spcAft>
                <a:spcPts val="600"/>
              </a:spcAft>
              <a:defRPr sz="1900" b="0">
                <a:solidFill>
                  <a:srgbClr val="2B2B2B"/>
                </a:solidFill>
              </a:defRPr>
            </a:pPr>
            <a:r>
              <a:t>✅ Sur le littoral : Casablanca, Oran-Arzew, Alger, Annaba, Tunis…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3 p. 229 : le complexe industriel d'Arzew</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zew.png"/>
          <p:cNvPicPr>
            <a:picLocks noChangeAspect="1"/>
          </p:cNvPicPr>
          <p:nvPr/>
        </p:nvPicPr>
        <p:blipFill>
          <a:blip r:embed="rId2"/>
          <a:stretch>
            <a:fillRect/>
          </a:stretch>
        </p:blipFill>
        <p:spPr>
          <a:xfrm>
            <a:off x="457200" y="1280160"/>
            <a:ext cx="3619301" cy="4937760"/>
          </a:xfrm>
          <a:prstGeom prst="rect">
            <a:avLst/>
          </a:prstGeom>
        </p:spPr>
      </p:pic>
      <p:sp>
        <p:nvSpPr>
          <p:cNvPr id="34" name="TextBox 33"/>
          <p:cNvSpPr txBox="1"/>
          <p:nvPr/>
        </p:nvSpPr>
        <p:spPr>
          <a:xfrm>
            <a:off x="4350821" y="1371600"/>
            <a:ext cx="7536378" cy="4206240"/>
          </a:xfrm>
          <a:prstGeom prst="rect">
            <a:avLst/>
          </a:prstGeom>
          <a:noFill/>
        </p:spPr>
        <p:txBody>
          <a:bodyPr wrap="square">
            <a:spAutoFit/>
          </a:bodyPr>
          <a:lstStyle/>
          <a:p>
            <a:pPr algn="l">
              <a:spcAft>
                <a:spcPts val="600"/>
              </a:spcAft>
              <a:defRPr sz="1800" b="1">
                <a:solidFill>
                  <a:srgbClr val="1F4E79"/>
                </a:solidFill>
              </a:defRPr>
            </a:pPr>
            <a:r>
              <a:t>❓ Où se situe Arzew ?</a:t>
            </a:r>
          </a:p>
          <a:p>
            <a:pPr algn="l">
              <a:spcAft>
                <a:spcPts val="600"/>
              </a:spcAft>
              <a:defRPr sz="1800" b="1">
                <a:solidFill>
                  <a:srgbClr val="1F4E79"/>
                </a:solidFill>
              </a:defRPr>
            </a:pPr>
            <a:r>
              <a:t>❓ Quelle est la surface de la zone industrielle ?</a:t>
            </a:r>
          </a:p>
          <a:p>
            <a:pPr algn="l">
              <a:spcAft>
                <a:spcPts val="600"/>
              </a:spcAft>
              <a:defRPr sz="1800" b="1">
                <a:solidFill>
                  <a:srgbClr val="1F4E79"/>
                </a:solidFill>
              </a:defRPr>
            </a:pPr>
            <a:r>
              <a:t>❓ Combien de personnes y travaillent ?</a:t>
            </a:r>
          </a:p>
          <a:p>
            <a:pPr algn="l">
              <a:spcAft>
                <a:spcPts val="600"/>
              </a:spcAft>
              <a:defRPr sz="1800" b="1">
                <a:solidFill>
                  <a:srgbClr val="1F4E79"/>
                </a:solidFill>
              </a:defRPr>
            </a:pPr>
            <a:r>
              <a:t>❓ Quelles sont les activités d'Arzew ?</a:t>
            </a:r>
          </a:p>
          <a:p>
            <a:pPr algn="l">
              <a:spcAft>
                <a:spcPts val="600"/>
              </a:spcAft>
              <a:defRPr sz="1800" b="1">
                <a:solidFill>
                  <a:srgbClr val="1F4E79"/>
                </a:solidFill>
              </a:defRPr>
            </a:pPr>
            <a:r>
              <a:t>❓ Comment s'appelle ce type de centre industriel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complexe industriel d'Arzew</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Au nord de l'Algérie, sur le littoral.</a:t>
            </a:r>
          </a:p>
          <a:p>
            <a:pPr algn="l">
              <a:spcAft>
                <a:spcPts val="600"/>
              </a:spcAft>
              <a:defRPr sz="1900" b="0">
                <a:solidFill>
                  <a:srgbClr val="2B2B2B"/>
                </a:solidFill>
              </a:defRPr>
            </a:pPr>
            <a:r>
              <a:t>✅ 1 500 hectares.</a:t>
            </a:r>
          </a:p>
          <a:p>
            <a:pPr algn="l">
              <a:spcAft>
                <a:spcPts val="600"/>
              </a:spcAft>
              <a:defRPr sz="1900" b="0">
                <a:solidFill>
                  <a:srgbClr val="2B2B2B"/>
                </a:solidFill>
              </a:defRPr>
            </a:pPr>
            <a:r>
              <a:t>✅ 10 000 travailleurs.</a:t>
            </a:r>
          </a:p>
          <a:p>
            <a:pPr algn="l">
              <a:spcAft>
                <a:spcPts val="600"/>
              </a:spcAft>
              <a:defRPr sz="1900" b="0">
                <a:solidFill>
                  <a:srgbClr val="2B2B2B"/>
                </a:solidFill>
              </a:defRPr>
            </a:pPr>
            <a:r>
              <a:t>✅ Raffinage du pétrole, liquéfaction du gaz, puis exportation (port d'Arzew + Bethioua).</a:t>
            </a:r>
          </a:p>
          <a:p>
            <a:pPr algn="l">
              <a:spcAft>
                <a:spcPts val="600"/>
              </a:spcAft>
              <a:defRPr sz="1900" b="0">
                <a:solidFill>
                  <a:srgbClr val="2B2B2B"/>
                </a:solidFill>
              </a:defRPr>
            </a:pPr>
            <a:r>
              <a:t>✅ Un COMPLEXE INDUSTRIALO-PORTUAIRE. 📖 Copie la définition.</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Si le désert possède d'importantes réserves en hydrocarbures, ceux-ci sont acheminés vers les ports d'exportation et vers les complexes industrialo-portuaires.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228 : le conditionnement des agrumes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grumes.png"/>
          <p:cNvPicPr>
            <a:picLocks noChangeAspect="1"/>
          </p:cNvPicPr>
          <p:nvPr/>
        </p:nvPicPr>
        <p:blipFill>
          <a:blip r:embed="rId2"/>
          <a:stretch>
            <a:fillRect/>
          </a:stretch>
        </p:blipFill>
        <p:spPr>
          <a:xfrm>
            <a:off x="457200" y="1280160"/>
            <a:ext cx="4608576" cy="4937760"/>
          </a:xfrm>
          <a:prstGeom prst="rect">
            <a:avLst/>
          </a:prstGeom>
        </p:spPr>
      </p:pic>
      <p:sp>
        <p:nvSpPr>
          <p:cNvPr id="34" name="TextBox 33"/>
          <p:cNvSpPr txBox="1"/>
          <p:nvPr/>
        </p:nvSpPr>
        <p:spPr>
          <a:xfrm>
            <a:off x="5340096" y="1371600"/>
            <a:ext cx="6547104" cy="4206240"/>
          </a:xfrm>
          <a:prstGeom prst="rect">
            <a:avLst/>
          </a:prstGeom>
          <a:noFill/>
        </p:spPr>
        <p:txBody>
          <a:bodyPr wrap="square">
            <a:spAutoFit/>
          </a:bodyPr>
          <a:lstStyle/>
          <a:p>
            <a:pPr algn="l">
              <a:spcAft>
                <a:spcPts val="600"/>
              </a:spcAft>
              <a:defRPr sz="1800" b="1">
                <a:solidFill>
                  <a:srgbClr val="1F4E79"/>
                </a:solidFill>
              </a:defRPr>
            </a:pPr>
            <a:r>
              <a:t>❓ Décris l'image.</a:t>
            </a:r>
          </a:p>
          <a:p>
            <a:pPr algn="l">
              <a:spcAft>
                <a:spcPts val="600"/>
              </a:spcAft>
              <a:defRPr sz="1800" b="1">
                <a:solidFill>
                  <a:srgbClr val="1F4E79"/>
                </a:solidFill>
              </a:defRPr>
            </a:pPr>
            <a:r>
              <a:t>❓ Dans quel pays cela se situe-t-il ?</a:t>
            </a:r>
          </a:p>
          <a:p>
            <a:pPr algn="l">
              <a:spcAft>
                <a:spcPts val="600"/>
              </a:spcAft>
              <a:defRPr sz="1800" b="1">
                <a:solidFill>
                  <a:srgbClr val="1F4E79"/>
                </a:solidFill>
              </a:defRPr>
            </a:pPr>
            <a:r>
              <a:t>❓ Quels sont les agrumes ?</a:t>
            </a:r>
          </a:p>
          <a:p>
            <a:pPr algn="l">
              <a:spcAft>
                <a:spcPts val="600"/>
              </a:spcAft>
              <a:defRPr sz="1800" b="1">
                <a:solidFill>
                  <a:srgbClr val="1F4E79"/>
                </a:solidFill>
              </a:defRPr>
            </a:pPr>
            <a:r>
              <a:t>❓ Qui sont les travailleurs ?</a:t>
            </a:r>
          </a:p>
          <a:p>
            <a:pPr algn="l">
              <a:spcAft>
                <a:spcPts val="600"/>
              </a:spcAft>
              <a:defRPr sz="1800" b="1">
                <a:solidFill>
                  <a:srgbClr val="1F4E79"/>
                </a:solidFill>
              </a:defRPr>
            </a:pPr>
            <a:r>
              <a:t>❓ Où se situent les régions agricoles ? Quelles autres activités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conditionnement des agrumes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Une usine de traitement des agrumes (sélection, emballage).</a:t>
            </a:r>
          </a:p>
          <a:p>
            <a:pPr algn="l">
              <a:spcAft>
                <a:spcPts val="600"/>
              </a:spcAft>
              <a:defRPr sz="1900" b="0">
                <a:solidFill>
                  <a:srgbClr val="2B2B2B"/>
                </a:solidFill>
              </a:defRPr>
            </a:pPr>
            <a:r>
              <a:t>✅ Au Maroc.</a:t>
            </a:r>
          </a:p>
          <a:p>
            <a:pPr algn="l">
              <a:spcAft>
                <a:spcPts val="600"/>
              </a:spcAft>
              <a:defRPr sz="1900" b="0">
                <a:solidFill>
                  <a:srgbClr val="2B2B2B"/>
                </a:solidFill>
              </a:defRPr>
            </a:pPr>
            <a:r>
              <a:t>✅ Des oranges.</a:t>
            </a:r>
          </a:p>
          <a:p>
            <a:pPr algn="l">
              <a:spcAft>
                <a:spcPts val="600"/>
              </a:spcAft>
              <a:defRPr sz="1900" b="0">
                <a:solidFill>
                  <a:srgbClr val="2B2B2B"/>
                </a:solidFill>
              </a:defRPr>
            </a:pPr>
            <a:r>
              <a:t>✅ Surtout des femmes, des ouvrières.</a:t>
            </a:r>
          </a:p>
          <a:p>
            <a:pPr algn="l">
              <a:spcAft>
                <a:spcPts val="600"/>
              </a:spcAft>
              <a:defRPr sz="1900" b="0">
                <a:solidFill>
                  <a:srgbClr val="2B2B2B"/>
                </a:solidFill>
              </a:defRPr>
            </a:pPr>
            <a:r>
              <a:t>✅ Dans les plaines littorales : grande céréaliculture, viticulture. ✏️ Ajoute « agriculture moderne » à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littoral est aussi une région agricole où l'on pratique une agriculture moderne pour l'exportation.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5 et 6 p. 229 : le tourisme en Tunisie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tretch>
            <a:fillRect/>
          </a:stretch>
        </p:blipFill>
        <p:spPr>
          <a:xfrm>
            <a:off x="457200" y="1280160"/>
            <a:ext cx="6583680" cy="3884780"/>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Quand est apparu le tourisme en Tunisie ?</a:t>
            </a:r>
          </a:p>
          <a:p>
            <a:pPr algn="l">
              <a:spcAft>
                <a:spcPts val="600"/>
              </a:spcAft>
              <a:defRPr sz="1800" b="1">
                <a:solidFill>
                  <a:srgbClr val="1F4E79"/>
                </a:solidFill>
              </a:defRPr>
            </a:pPr>
            <a:r>
              <a:t>❓ Qui sont les touristes ?</a:t>
            </a:r>
          </a:p>
          <a:p>
            <a:pPr algn="l">
              <a:spcAft>
                <a:spcPts val="600"/>
              </a:spcAft>
              <a:defRPr sz="1800" b="1">
                <a:solidFill>
                  <a:srgbClr val="1F4E79"/>
                </a:solidFill>
              </a:defRPr>
            </a:pPr>
            <a:r>
              <a:t>❓ Quelle place a le tourisme dans l'économie ?</a:t>
            </a:r>
          </a:p>
          <a:p>
            <a:pPr algn="l">
              <a:spcAft>
                <a:spcPts val="600"/>
              </a:spcAft>
              <a:defRPr sz="1800" b="1">
                <a:solidFill>
                  <a:srgbClr val="1F4E79"/>
                </a:solidFill>
              </a:defRPr>
            </a:pPr>
            <a:r>
              <a:t>❓ Qu'est-ce qui attire les touristes ? Comment viennent-ils ?</a:t>
            </a:r>
          </a:p>
          <a:p>
            <a:pPr algn="l">
              <a:spcAft>
                <a:spcPts val="600"/>
              </a:spcAft>
              <a:defRPr sz="1800" b="1">
                <a:solidFill>
                  <a:srgbClr val="1F4E79"/>
                </a:solidFill>
              </a:defRPr>
            </a:pPr>
            <a:r>
              <a:t>❓ Quelles sont les grandes stations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tourisme en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Dans les années 1960.</a:t>
            </a:r>
          </a:p>
          <a:p>
            <a:pPr algn="l">
              <a:spcAft>
                <a:spcPts val="600"/>
              </a:spcAft>
              <a:defRPr sz="1900" b="0">
                <a:solidFill>
                  <a:srgbClr val="2B2B2B"/>
                </a:solidFill>
              </a:defRPr>
            </a:pPr>
            <a:r>
              <a:t>✅ Les Européens, puis les Algériens et Libyens, et les Tunisiens eux-mêmes.</a:t>
            </a:r>
          </a:p>
          <a:p>
            <a:pPr algn="l">
              <a:spcAft>
                <a:spcPts val="600"/>
              </a:spcAft>
              <a:defRPr sz="1900" b="0">
                <a:solidFill>
                  <a:srgbClr val="2B2B2B"/>
                </a:solidFill>
              </a:defRPr>
            </a:pPr>
            <a:r>
              <a:t>✅ Une place importante (5e–6e rang méditerranéen).</a:t>
            </a:r>
          </a:p>
          <a:p>
            <a:pPr algn="l">
              <a:spcAft>
                <a:spcPts val="600"/>
              </a:spcAft>
              <a:defRPr sz="1900" b="0">
                <a:solidFill>
                  <a:srgbClr val="2B2B2B"/>
                </a:solidFill>
              </a:defRPr>
            </a:pPr>
            <a:r>
              <a:t>✅ Le soleil, la mer ; ils viennent en avion (aéroport nécessaire).</a:t>
            </a:r>
          </a:p>
          <a:p>
            <a:pPr algn="l">
              <a:spcAft>
                <a:spcPts val="600"/>
              </a:spcAft>
              <a:defRPr sz="1900" b="0">
                <a:solidFill>
                  <a:srgbClr val="2B2B2B"/>
                </a:solidFill>
              </a:defRPr>
            </a:pPr>
            <a:r>
              <a:t>✅ Hammamet et Monastir.</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les années 1960, le Maroc et la Tunisie se sont lancés dans l'activité touristique.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III. Les problèmes démographiques et sociaux</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3</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quels sont les problèmes du Maghreb d'aujourd'hui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Une population en augmentation   •   B/ Un foyer d'émigration vers l'Europe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1 p. 224 : l'évolution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evolution.png"/>
          <p:cNvPicPr>
            <a:picLocks noChangeAspect="1"/>
          </p:cNvPicPr>
          <p:nvPr/>
        </p:nvPicPr>
        <p:blipFill>
          <a:blip r:embed="rId2"/>
          <a:stretch>
            <a:fillRect/>
          </a:stretch>
        </p:blipFill>
        <p:spPr>
          <a:xfrm>
            <a:off x="457200" y="1280160"/>
            <a:ext cx="5523596" cy="4937760"/>
          </a:xfrm>
          <a:prstGeom prst="rect">
            <a:avLst/>
          </a:prstGeom>
        </p:spPr>
      </p:pic>
      <p:sp>
        <p:nvSpPr>
          <p:cNvPr id="34" name="TextBox 33"/>
          <p:cNvSpPr txBox="1"/>
          <p:nvPr/>
        </p:nvSpPr>
        <p:spPr>
          <a:xfrm>
            <a:off x="6255116" y="1371600"/>
            <a:ext cx="5632084" cy="4206240"/>
          </a:xfrm>
          <a:prstGeom prst="rect">
            <a:avLst/>
          </a:prstGeom>
          <a:noFill/>
        </p:spPr>
        <p:txBody>
          <a:bodyPr wrap="square">
            <a:spAutoFit/>
          </a:bodyPr>
          <a:lstStyle/>
          <a:p>
            <a:pPr algn="l">
              <a:spcAft>
                <a:spcPts val="600"/>
              </a:spcAft>
              <a:defRPr sz="1800" b="1">
                <a:solidFill>
                  <a:srgbClr val="1F4E79"/>
                </a:solidFill>
              </a:defRPr>
            </a:pPr>
            <a:r>
              <a:t>❓ Quelle est la population des trois pays en 2000 ?</a:t>
            </a:r>
          </a:p>
          <a:p>
            <a:pPr algn="l">
              <a:spcAft>
                <a:spcPts val="600"/>
              </a:spcAft>
              <a:defRPr sz="1800" b="1">
                <a:solidFill>
                  <a:srgbClr val="1F4E79"/>
                </a:solidFill>
              </a:defRPr>
            </a:pPr>
            <a:r>
              <a:t>❓ Comment a-t-elle évolué depuis 1950 ?</a:t>
            </a:r>
          </a:p>
          <a:p>
            <a:pPr algn="l">
              <a:spcAft>
                <a:spcPts val="600"/>
              </a:spcAft>
              <a:defRPr sz="1800" b="1">
                <a:solidFill>
                  <a:srgbClr val="1F4E79"/>
                </a:solidFill>
              </a:defRPr>
            </a:pPr>
            <a:r>
              <a:t>❓ 🎲 Défi calcul : par combien la population de l'Algérie a-t-elle été multipliée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l'évolution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Algérie : 31 M • Maroc : 30 M • Tunisie : 9,5 M.</a:t>
            </a:r>
          </a:p>
          <a:p>
            <a:pPr algn="l">
              <a:spcAft>
                <a:spcPts val="600"/>
              </a:spcAft>
              <a:defRPr sz="1900" b="0">
                <a:solidFill>
                  <a:srgbClr val="2B2B2B"/>
                </a:solidFill>
              </a:defRPr>
            </a:pPr>
            <a:r>
              <a:t>✅ Elle a fortement augmenté : environ × 3 en 50 ans.</a:t>
            </a:r>
          </a:p>
          <a:p>
            <a:pPr algn="l">
              <a:spcAft>
                <a:spcPts val="600"/>
              </a:spcAft>
              <a:defRPr sz="1900" b="0">
                <a:solidFill>
                  <a:srgbClr val="2B2B2B"/>
                </a:solidFill>
              </a:defRPr>
            </a:pPr>
            <a:r>
              <a:t>✅ 9 M → 31 M : environ × 3,4.</a:t>
            </a:r>
          </a:p>
          <a:p>
            <a:pPr algn="l">
              <a:spcAft>
                <a:spcPts val="600"/>
              </a:spcAft>
              <a:defRPr sz="1900" b="0">
                <a:solidFill>
                  <a:srgbClr val="2B2B2B"/>
                </a:solidFill>
              </a:defRPr>
            </a:pPr>
            <a:r>
              <a:t>✅ 💡 Aujourd'hui : Algérie ≈ 46 M, Maroc ≈ 37 M, Tunisie ≈ 12 M.</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compte environ 70 millions d'habitants (en 2000). La population a fortement augmenté depuis 50 ans.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2 p. 224 : de lourdes conséquences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onsequences.png"/>
          <p:cNvPicPr>
            <a:picLocks noChangeAspect="1"/>
          </p:cNvPicPr>
          <p:nvPr/>
        </p:nvPicPr>
        <p:blipFill>
          <a:blip r:embed="rId2"/>
          <a:stretch>
            <a:fillRect/>
          </a:stretch>
        </p:blipFill>
        <p:spPr>
          <a:xfrm>
            <a:off x="457200" y="1280160"/>
            <a:ext cx="2803310" cy="4937760"/>
          </a:xfrm>
          <a:prstGeom prst="rect">
            <a:avLst/>
          </a:prstGeom>
        </p:spPr>
      </p:pic>
      <p:sp>
        <p:nvSpPr>
          <p:cNvPr id="34" name="TextBox 33"/>
          <p:cNvSpPr txBox="1"/>
          <p:nvPr/>
        </p:nvSpPr>
        <p:spPr>
          <a:xfrm>
            <a:off x="3534830" y="1371600"/>
            <a:ext cx="8352369" cy="4206240"/>
          </a:xfrm>
          <a:prstGeom prst="rect">
            <a:avLst/>
          </a:prstGeom>
          <a:noFill/>
        </p:spPr>
        <p:txBody>
          <a:bodyPr wrap="square">
            <a:spAutoFit/>
          </a:bodyPr>
          <a:lstStyle/>
          <a:p>
            <a:pPr algn="l">
              <a:spcAft>
                <a:spcPts val="600"/>
              </a:spcAft>
              <a:defRPr sz="1800" b="1">
                <a:solidFill>
                  <a:srgbClr val="1F4E79"/>
                </a:solidFill>
              </a:defRPr>
            </a:pPr>
            <a:r>
              <a:t>❓ Évolution des effectifs scolaires algériens entre 1966 et 1988 ?</a:t>
            </a:r>
          </a:p>
          <a:p>
            <a:pPr algn="l">
              <a:spcAft>
                <a:spcPts val="600"/>
              </a:spcAft>
              <a:defRPr sz="1800" b="1">
                <a:solidFill>
                  <a:srgbClr val="1F4E79"/>
                </a:solidFill>
              </a:defRPr>
            </a:pPr>
            <a:r>
              <a:t>❓ Quelle part du budget de l'État va à l'éducation ?</a:t>
            </a:r>
          </a:p>
          <a:p>
            <a:pPr algn="l">
              <a:spcAft>
                <a:spcPts val="600"/>
              </a:spcAft>
              <a:defRPr sz="1800" b="1">
                <a:solidFill>
                  <a:srgbClr val="1F4E79"/>
                </a:solidFill>
              </a:defRPr>
            </a:pPr>
            <a:r>
              <a:t>❓ Tout le monde est-il scolarisé ? Dans quelles conditions ?</a:t>
            </a:r>
          </a:p>
          <a:p>
            <a:pPr algn="l">
              <a:spcAft>
                <a:spcPts val="600"/>
              </a:spcAft>
              <a:defRPr sz="1800" b="1">
                <a:solidFill>
                  <a:srgbClr val="1F4E79"/>
                </a:solidFill>
              </a:defRPr>
            </a:pPr>
            <a:r>
              <a:t>❓ Quelle est la 2e conséquence de la hausse du nombre de jeunes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lourdes conséquences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 1,5 million à plus de 6 millions d'élèves.</a:t>
            </a:r>
          </a:p>
          <a:p>
            <a:pPr algn="l">
              <a:spcAft>
                <a:spcPts val="600"/>
              </a:spcAft>
              <a:defRPr sz="1900" b="0">
                <a:solidFill>
                  <a:srgbClr val="2B2B2B"/>
                </a:solidFill>
              </a:defRPr>
            </a:pPr>
            <a:r>
              <a:t>✅ 30 %, c'est-à-dire beaucoup.</a:t>
            </a:r>
          </a:p>
          <a:p>
            <a:pPr algn="l">
              <a:spcAft>
                <a:spcPts val="600"/>
              </a:spcAft>
              <a:defRPr sz="1900" b="0">
                <a:solidFill>
                  <a:srgbClr val="2B2B2B"/>
                </a:solidFill>
              </a:defRPr>
            </a:pPr>
            <a:r>
              <a:t>✅ Non, seulement 80 % des jeunes, dans de mauvaises conditions.</a:t>
            </a:r>
          </a:p>
          <a:p>
            <a:pPr algn="l">
              <a:spcAft>
                <a:spcPts val="600"/>
              </a:spcAft>
              <a:defRPr sz="1900" b="0">
                <a:solidFill>
                  <a:srgbClr val="2B2B2B"/>
                </a:solidFill>
              </a:defRPr>
            </a:pPr>
            <a:r>
              <a:t>✅ Le chômage : 250 000 jeunes arrivent chaque année sur le marché du travail, mais seulement 80 000 emplois créés.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225 : le taux d'urbanisation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urbanisation.png"/>
          <p:cNvPicPr>
            <a:picLocks noChangeAspect="1"/>
          </p:cNvPicPr>
          <p:nvPr/>
        </p:nvPicPr>
        <p:blipFill>
          <a:blip r:embed="rId2"/>
          <a:stretch>
            <a:fillRect/>
          </a:stretch>
        </p:blipFill>
        <p:spPr>
          <a:xfrm>
            <a:off x="457200" y="1280160"/>
            <a:ext cx="5203231" cy="4937760"/>
          </a:xfrm>
          <a:prstGeom prst="rect">
            <a:avLst/>
          </a:prstGeom>
        </p:spPr>
      </p:pic>
      <p:sp>
        <p:nvSpPr>
          <p:cNvPr id="34" name="TextBox 33"/>
          <p:cNvSpPr txBox="1"/>
          <p:nvPr/>
        </p:nvSpPr>
        <p:spPr>
          <a:xfrm>
            <a:off x="5934751" y="1371600"/>
            <a:ext cx="5952449" cy="4206240"/>
          </a:xfrm>
          <a:prstGeom prst="rect">
            <a:avLst/>
          </a:prstGeom>
          <a:noFill/>
        </p:spPr>
        <p:txBody>
          <a:bodyPr wrap="square">
            <a:spAutoFit/>
          </a:bodyPr>
          <a:lstStyle/>
          <a:p>
            <a:pPr algn="l">
              <a:spcAft>
                <a:spcPts val="600"/>
              </a:spcAft>
              <a:defRPr sz="1800" b="1">
                <a:solidFill>
                  <a:srgbClr val="1F4E79"/>
                </a:solidFill>
              </a:defRPr>
            </a:pPr>
            <a:r>
              <a:t>❓ Comment a évolué la population urbaine ?</a:t>
            </a:r>
          </a:p>
          <a:p>
            <a:pPr algn="l">
              <a:spcAft>
                <a:spcPts val="600"/>
              </a:spcAft>
              <a:defRPr sz="1800" b="1">
                <a:solidFill>
                  <a:srgbClr val="1F4E79"/>
                </a:solidFill>
              </a:defRPr>
            </a:pPr>
            <a:r>
              <a:t>❓ À quoi ce phénomène est-il dû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taux d'urbanisation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d'environ 40 % à près de 60 % de la population (1970 → 2000).</a:t>
            </a:r>
          </a:p>
          <a:p>
            <a:pPr algn="l">
              <a:spcAft>
                <a:spcPts val="600"/>
              </a:spcAft>
              <a:defRPr sz="1900" b="0">
                <a:solidFill>
                  <a:srgbClr val="2B2B2B"/>
                </a:solidFill>
              </a:defRPr>
            </a:pPr>
            <a:r>
              <a:t>✅ Au chômage dans les campagnes (exode rural) et à la forte croissance de la population.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6 p. 225 : les problèmes dans les villes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villes.png"/>
          <p:cNvPicPr>
            <a:picLocks noChangeAspect="1"/>
          </p:cNvPicPr>
          <p:nvPr/>
        </p:nvPicPr>
        <p:blipFill>
          <a:blip r:embed="rId2"/>
          <a:stretch>
            <a:fillRect/>
          </a:stretch>
        </p:blipFill>
        <p:spPr>
          <a:xfrm>
            <a:off x="457200" y="1280160"/>
            <a:ext cx="2587386" cy="4937760"/>
          </a:xfrm>
          <a:prstGeom prst="rect">
            <a:avLst/>
          </a:prstGeom>
        </p:spPr>
      </p:pic>
      <p:sp>
        <p:nvSpPr>
          <p:cNvPr id="34" name="TextBox 33"/>
          <p:cNvSpPr txBox="1"/>
          <p:nvPr/>
        </p:nvSpPr>
        <p:spPr>
          <a:xfrm>
            <a:off x="3318906" y="1371600"/>
            <a:ext cx="8568294" cy="4206240"/>
          </a:xfrm>
          <a:prstGeom prst="rect">
            <a:avLst/>
          </a:prstGeom>
          <a:noFill/>
        </p:spPr>
        <p:txBody>
          <a:bodyPr wrap="square">
            <a:spAutoFit/>
          </a:bodyPr>
          <a:lstStyle/>
          <a:p>
            <a:pPr algn="l">
              <a:spcAft>
                <a:spcPts val="600"/>
              </a:spcAft>
              <a:defRPr sz="1800" b="1">
                <a:solidFill>
                  <a:srgbClr val="1F4E79"/>
                </a:solidFill>
              </a:defRPr>
            </a:pPr>
            <a:r>
              <a:t>❓ Quels problèmes la forte urbanisation a-t-elle entraînés ?</a:t>
            </a:r>
          </a:p>
          <a:p>
            <a:pPr algn="l">
              <a:spcAft>
                <a:spcPts val="600"/>
              </a:spcAft>
              <a:defRPr sz="1800" b="1">
                <a:solidFill>
                  <a:srgbClr val="1F4E79"/>
                </a:solidFill>
              </a:defRPr>
            </a:pPr>
            <a:r>
              <a:t>❓ Combien de personnes par logement en moyenne ?</a:t>
            </a:r>
          </a:p>
          <a:p>
            <a:pPr algn="l">
              <a:spcAft>
                <a:spcPts val="600"/>
              </a:spcAft>
              <a:defRPr sz="1800" b="1">
                <a:solidFill>
                  <a:srgbClr val="1F4E79"/>
                </a:solidFill>
              </a:defRPr>
            </a:pPr>
            <a:r>
              <a:t>❓ Où se concentrent les mécontentements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problèmes dans les villes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Logement (bidonvilles), circulation, transports, manque d'emplois.</a:t>
            </a:r>
          </a:p>
          <a:p>
            <a:pPr algn="l">
              <a:spcAft>
                <a:spcPts val="600"/>
              </a:spcAft>
              <a:defRPr sz="1900" b="0">
                <a:solidFill>
                  <a:srgbClr val="2B2B2B"/>
                </a:solidFill>
              </a:defRPr>
            </a:pPr>
            <a:r>
              <a:t>✅ 8 personnes par logement.</a:t>
            </a:r>
          </a:p>
          <a:p>
            <a:pPr algn="l">
              <a:spcAft>
                <a:spcPts val="600"/>
              </a:spcAft>
              <a:defRPr sz="1900" b="0">
                <a:solidFill>
                  <a:srgbClr val="2B2B2B"/>
                </a:solidFill>
              </a:defRPr>
            </a:pPr>
            <a:r>
              <a:t>✅ Dans les quartiers pauvres des villes : « la poudrière du pays ».</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 les conséquences de la croissance démographique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a:hlinkClick action="ppaction://hlinksldjump" r:id="rId4"/>
          </p:cNvPr>
          <p:cNvSpPr/>
          <p:nvPr/>
        </p:nvSpPr>
        <p:spPr>
          <a:xfrm>
            <a:off x="73152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1</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a:hlinkClick action="ppaction://hlinksldjump" r:id="rId4"/>
          </p:cNvPr>
          <p:cNvSpPr/>
          <p:nvPr/>
        </p:nvSpPr>
        <p:spPr>
          <a:xfrm>
            <a:off x="4480559"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2</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a:hlinkClick action="ppaction://hlinksldjump" r:id="rId4"/>
          </p:cNvPr>
          <p:cNvSpPr/>
          <p:nvPr/>
        </p:nvSpPr>
        <p:spPr>
          <a:xfrm>
            <a:off x="822960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complété</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3152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Scolarisation de tous les enfants difficile</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80559"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Exode rural, forte croissance urbaine, bidonvilles</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22960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Chômage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 C.E. — Doc. 2 p. 230 : les migrations au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igrations.png"/>
          <p:cNvPicPr>
            <a:picLocks noChangeAspect="1"/>
          </p:cNvPicPr>
          <p:nvPr/>
        </p:nvPicPr>
        <p:blipFill>
          <a:blip r:embed="rId2"/>
          <a:stretch>
            <a:fillRect/>
          </a:stretch>
        </p:blipFill>
        <p:spPr>
          <a:xfrm>
            <a:off x="457200" y="1280160"/>
            <a:ext cx="3271266" cy="4937760"/>
          </a:xfrm>
          <a:prstGeom prst="rect">
            <a:avLst/>
          </a:prstGeom>
        </p:spPr>
      </p:pic>
      <p:sp>
        <p:nvSpPr>
          <p:cNvPr id="34" name="TextBox 33"/>
          <p:cNvSpPr txBox="1"/>
          <p:nvPr/>
        </p:nvSpPr>
        <p:spPr>
          <a:xfrm>
            <a:off x="4002786" y="1371600"/>
            <a:ext cx="7884413" cy="4206240"/>
          </a:xfrm>
          <a:prstGeom prst="rect">
            <a:avLst/>
          </a:prstGeom>
          <a:noFill/>
        </p:spPr>
        <p:txBody>
          <a:bodyPr wrap="square">
            <a:spAutoFit/>
          </a:bodyPr>
          <a:lstStyle/>
          <a:p>
            <a:pPr algn="l">
              <a:spcAft>
                <a:spcPts val="600"/>
              </a:spcAft>
              <a:defRPr sz="1800" b="1">
                <a:solidFill>
                  <a:srgbClr val="1F4E79"/>
                </a:solidFill>
              </a:defRPr>
            </a:pPr>
            <a:r>
              <a:t>❓ Face à la pauvreté, que fait une partie de la population ?</a:t>
            </a:r>
          </a:p>
          <a:p>
            <a:pPr algn="l">
              <a:spcAft>
                <a:spcPts val="600"/>
              </a:spcAft>
              <a:defRPr sz="1800" b="1">
                <a:solidFill>
                  <a:srgbClr val="1F4E79"/>
                </a:solidFill>
              </a:defRPr>
            </a:pPr>
            <a:r>
              <a:t>❓ Quelles sont les motivations ?</a:t>
            </a:r>
          </a:p>
          <a:p>
            <a:pPr algn="l">
              <a:spcAft>
                <a:spcPts val="600"/>
              </a:spcAft>
              <a:defRPr sz="1800" b="1">
                <a:solidFill>
                  <a:srgbClr val="1F4E79"/>
                </a:solidFill>
              </a:defRPr>
            </a:pPr>
            <a:r>
              <a:t>❓ Vers quels pays se dirigent les émigrés ?</a:t>
            </a:r>
          </a:p>
          <a:p>
            <a:pPr algn="l">
              <a:spcAft>
                <a:spcPts val="600"/>
              </a:spcAft>
              <a:defRPr sz="1800" b="1">
                <a:solidFill>
                  <a:srgbClr val="1F4E79"/>
                </a:solidFill>
              </a:defRPr>
            </a:pPr>
            <a:r>
              <a:t>❓ Ce phénomène est-il du passé ou du présent ?</a:t>
            </a:r>
          </a:p>
          <a:p>
            <a:pPr algn="l">
              <a:spcAft>
                <a:spcPts val="600"/>
              </a:spcAft>
              <a:defRPr sz="1800" b="1">
                <a:solidFill>
                  <a:srgbClr val="1F4E79"/>
                </a:solidFill>
              </a:defRPr>
            </a:pPr>
            <a:r>
              <a:t>❓ Quelle part des revenus du Maroc représentait l'argent envoyé en 1993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migrations au Maghreb</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Elle émigre vers l'Europe.</a:t>
            </a:r>
          </a:p>
          <a:p>
            <a:pPr algn="l">
              <a:spcAft>
                <a:spcPts val="600"/>
              </a:spcAft>
              <a:defRPr sz="1900" b="0">
                <a:solidFill>
                  <a:srgbClr val="2B2B2B"/>
                </a:solidFill>
              </a:defRPr>
            </a:pPr>
            <a:r>
              <a:t>✅ Le travail.</a:t>
            </a:r>
          </a:p>
          <a:p>
            <a:pPr algn="l">
              <a:spcAft>
                <a:spcPts val="600"/>
              </a:spcAft>
              <a:defRPr sz="1900" b="0">
                <a:solidFill>
                  <a:srgbClr val="2B2B2B"/>
                </a:solidFill>
              </a:defRPr>
            </a:pPr>
            <a:r>
              <a:t>✅ La France, le Benelux, l'Italie et l'Espagne.</a:t>
            </a:r>
          </a:p>
          <a:p>
            <a:pPr algn="l">
              <a:spcAft>
                <a:spcPts val="600"/>
              </a:spcAft>
              <a:defRPr sz="1900" b="0">
                <a:solidFill>
                  <a:srgbClr val="2B2B2B"/>
                </a:solidFill>
              </a:defRPr>
            </a:pPr>
            <a:r>
              <a:t>✅ Surtout du passé : l'Europe a fermé ses frontières ; aujourd'hui surtout regroupement familial (et clandestins).</a:t>
            </a:r>
          </a:p>
          <a:p>
            <a:pPr algn="l">
              <a:spcAft>
                <a:spcPts val="600"/>
              </a:spcAft>
              <a:defRPr sz="1900" b="0">
                <a:solidFill>
                  <a:srgbClr val="2B2B2B"/>
                </a:solidFill>
              </a:defRPr>
            </a:pPr>
            <a:r>
              <a:t>✅ 7,5 % (4,5 % pour la Tunisie, 2,5 % pour l'Algérie).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environ 40 ans, beaucoup de Maghrébins ont choisi d'émigrer vers l'Europe pour travailler. Aujourd'hui, l'Europe a fermé ses frontières et seul le regroupement familial est autorisé. Certains tentent toutefois encore d'émigrer : on parle de clandestins.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Islam, Moyen-Orient et conflits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011680"/>
            <a:ext cx="10972800" cy="914400"/>
          </a:xfrm>
          <a:prstGeom prst="rect">
            <a:avLst/>
          </a:prstGeom>
          <a:noFill/>
        </p:spPr>
        <p:txBody>
          <a:bodyPr wrap="square">
            <a:spAutoFit/>
          </a:bodyPr>
          <a:lstStyle/>
          <a:p>
            <a:pPr algn="ctr">
              <a:spcAft>
                <a:spcPts val="600"/>
              </a:spcAft>
              <a:defRPr sz="3400" b="1">
                <a:solidFill>
                  <a:srgbClr val="E0A11B"/>
                </a:solidFill>
              </a:defRPr>
            </a:pPr>
            <a:r>
              <a:t>Une région riche d'histoire… mais aussi de tensions</a:t>
            </a:r>
          </a:p>
        </p:txBody>
      </p:sp>
      <p:sp>
        <p:nvSpPr>
          <p:cNvPr id="35" name="TextBox 34"/>
          <p:cNvSpPr txBox="1"/>
          <p:nvPr/>
        </p:nvSpPr>
        <p:spPr>
          <a:xfrm>
            <a:off x="548640" y="3291840"/>
            <a:ext cx="10972800" cy="1371600"/>
          </a:xfrm>
          <a:prstGeom prst="rect">
            <a:avLst/>
          </a:prstGeom>
          <a:noFill/>
        </p:spPr>
        <p:txBody>
          <a:bodyPr wrap="square">
            <a:spAutoFit/>
          </a:bodyPr>
          <a:lstStyle/>
          <a:p>
            <a:pPr algn="ctr">
              <a:spcAft>
                <a:spcPts val="600"/>
              </a:spcAft>
              <a:defRPr sz="2200" b="0">
                <a:solidFill>
                  <a:srgbClr val="FFFFFF"/>
                </a:solidFill>
              </a:defRPr>
            </a:pPr>
            <a:r>
              <a:t>A/ L'arrivée de l'islam   •   B/ Sunnites et chiites</a:t>
            </a:r>
          </a:p>
          <a:p>
            <a:pPr algn="ctr">
              <a:spcAft>
                <a:spcPts val="600"/>
              </a:spcAft>
              <a:defRPr sz="2200" b="0">
                <a:solidFill>
                  <a:srgbClr val="FFFFFF"/>
                </a:solidFill>
              </a:defRPr>
            </a:pPr>
            <a:r>
              <a:t>C/ Les conflits au Moyen-Orient   •   D/ Printemps arabe et terrorisme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Quand l'islam est-il arrivé au Maghreb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610</a:t>
            </a:r>
          </a:p>
        </p:txBody>
      </p:sp>
      <p:sp>
        <p:nvSpPr>
          <p:cNvPr id="34" name="TextBox 33"/>
          <p:cNvSpPr txBox="1"/>
          <p:nvPr/>
        </p:nvSpPr>
        <p:spPr>
          <a:xfrm>
            <a:off x="2194560" y="1463040"/>
            <a:ext cx="9509760" cy="731520"/>
          </a:xfrm>
          <a:prstGeom prst="rect">
            <a:avLst/>
          </a:prstGeom>
          <a:noFill/>
        </p:spPr>
        <p:txBody>
          <a:bodyPr wrap="square">
            <a:spAutoFit/>
          </a:bodyPr>
          <a:lstStyle/>
          <a:p>
            <a:pPr algn="l">
              <a:spcAft>
                <a:spcPts val="600"/>
              </a:spcAft>
              <a:defRPr sz="1900" b="0">
                <a:solidFill>
                  <a:srgbClr val="2B2B2B"/>
                </a:solidFill>
              </a:defRPr>
            </a:pPr>
            <a:r>
              <a:t>Mahomet reçoit la Révélation à La Mecque</a:t>
            </a:r>
          </a:p>
        </p:txBody>
      </p:sp>
      <p:sp>
        <p:nvSpPr>
          <p:cNvPr id="35" name="Rounded Rectangle 34"/>
          <p:cNvSpPr/>
          <p:nvPr/>
        </p:nvSpPr>
        <p:spPr>
          <a:xfrm>
            <a:off x="548640" y="2240280"/>
            <a:ext cx="146304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622</a:t>
            </a:r>
          </a:p>
        </p:txBody>
      </p:sp>
      <p:sp>
        <p:nvSpPr>
          <p:cNvPr id="36" name="TextBox 35"/>
          <p:cNvSpPr txBox="1"/>
          <p:nvPr/>
        </p:nvSpPr>
        <p:spPr>
          <a:xfrm>
            <a:off x="2194560" y="2331720"/>
            <a:ext cx="9509760" cy="731520"/>
          </a:xfrm>
          <a:prstGeom prst="rect">
            <a:avLst/>
          </a:prstGeom>
          <a:noFill/>
        </p:spPr>
        <p:txBody>
          <a:bodyPr wrap="square">
            <a:spAutoFit/>
          </a:bodyPr>
          <a:lstStyle/>
          <a:p>
            <a:pPr algn="l">
              <a:spcAft>
                <a:spcPts val="600"/>
              </a:spcAft>
              <a:defRPr sz="1900" b="0">
                <a:solidFill>
                  <a:srgbClr val="2B2B2B"/>
                </a:solidFill>
              </a:defRPr>
            </a:pPr>
            <a:r>
              <a:t>Hégire : départ pour Médine (an 1 du calendrier musulman)</a:t>
            </a:r>
          </a:p>
        </p:txBody>
      </p:sp>
      <p:sp>
        <p:nvSpPr>
          <p:cNvPr id="37" name="Rounded Rectangle 36"/>
          <p:cNvSpPr/>
          <p:nvPr/>
        </p:nvSpPr>
        <p:spPr>
          <a:xfrm>
            <a:off x="548640" y="3108960"/>
            <a:ext cx="1463040" cy="7315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632</a:t>
            </a:r>
          </a:p>
        </p:txBody>
      </p:sp>
      <p:sp>
        <p:nvSpPr>
          <p:cNvPr id="38" name="TextBox 37"/>
          <p:cNvSpPr txBox="1"/>
          <p:nvPr/>
        </p:nvSpPr>
        <p:spPr>
          <a:xfrm>
            <a:off x="2194560" y="3200400"/>
            <a:ext cx="9509760" cy="731520"/>
          </a:xfrm>
          <a:prstGeom prst="rect">
            <a:avLst/>
          </a:prstGeom>
          <a:noFill/>
        </p:spPr>
        <p:txBody>
          <a:bodyPr wrap="square">
            <a:spAutoFit/>
          </a:bodyPr>
          <a:lstStyle/>
          <a:p>
            <a:pPr algn="l">
              <a:spcAft>
                <a:spcPts val="600"/>
              </a:spcAft>
              <a:defRPr sz="1900" b="0">
                <a:solidFill>
                  <a:srgbClr val="2B2B2B"/>
                </a:solidFill>
              </a:defRPr>
            </a:pPr>
            <a:r>
              <a:t>Mort de Mahomet</a:t>
            </a:r>
          </a:p>
        </p:txBody>
      </p:sp>
      <p:sp>
        <p:nvSpPr>
          <p:cNvPr id="39" name="Rounded Rectangle 38"/>
          <p:cNvSpPr/>
          <p:nvPr/>
        </p:nvSpPr>
        <p:spPr>
          <a:xfrm>
            <a:off x="548640" y="3977639"/>
            <a:ext cx="146304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670</a:t>
            </a:r>
          </a:p>
        </p:txBody>
      </p:sp>
      <p:sp>
        <p:nvSpPr>
          <p:cNvPr id="40" name="TextBox 39"/>
          <p:cNvSpPr txBox="1"/>
          <p:nvPr/>
        </p:nvSpPr>
        <p:spPr>
          <a:xfrm>
            <a:off x="2194560" y="4069079"/>
            <a:ext cx="9509760" cy="731520"/>
          </a:xfrm>
          <a:prstGeom prst="rect">
            <a:avLst/>
          </a:prstGeom>
          <a:noFill/>
        </p:spPr>
        <p:txBody>
          <a:bodyPr wrap="square">
            <a:spAutoFit/>
          </a:bodyPr>
          <a:lstStyle/>
          <a:p>
            <a:pPr algn="l">
              <a:spcAft>
                <a:spcPts val="600"/>
              </a:spcAft>
              <a:defRPr sz="1900" b="0">
                <a:solidFill>
                  <a:srgbClr val="2B2B2B"/>
                </a:solidFill>
              </a:defRPr>
            </a:pPr>
            <a:r>
              <a:t>Fondation de Kairouan (Tunisie), 1re grande ville musulmane du Maghreb</a:t>
            </a:r>
          </a:p>
        </p:txBody>
      </p:sp>
      <p:sp>
        <p:nvSpPr>
          <p:cNvPr id="41" name="Rounded Rectangle 40"/>
          <p:cNvSpPr/>
          <p:nvPr/>
        </p:nvSpPr>
        <p:spPr>
          <a:xfrm>
            <a:off x="548640" y="484632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711</a:t>
            </a:r>
          </a:p>
        </p:txBody>
      </p:sp>
      <p:sp>
        <p:nvSpPr>
          <p:cNvPr id="42" name="TextBox 41"/>
          <p:cNvSpPr txBox="1"/>
          <p:nvPr/>
        </p:nvSpPr>
        <p:spPr>
          <a:xfrm>
            <a:off x="2194560" y="4937760"/>
            <a:ext cx="9509760" cy="731520"/>
          </a:xfrm>
          <a:prstGeom prst="rect">
            <a:avLst/>
          </a:prstGeom>
          <a:noFill/>
        </p:spPr>
        <p:txBody>
          <a:bodyPr wrap="square">
            <a:spAutoFit/>
          </a:bodyPr>
          <a:lstStyle/>
          <a:p>
            <a:pPr algn="l">
              <a:spcAft>
                <a:spcPts val="600"/>
              </a:spcAft>
              <a:defRPr sz="1900" b="0">
                <a:solidFill>
                  <a:srgbClr val="2B2B2B"/>
                </a:solidFill>
              </a:defRPr>
            </a:pPr>
            <a:r>
              <a:t>Tariq ibn Ziyad traverse vers l'Espagne (Gibraltar = « Djebel Tariq »)</a:t>
            </a:r>
          </a:p>
        </p:txBody>
      </p:sp>
      <p:sp>
        <p:nvSpPr>
          <p:cNvPr id="43" name="TextBox 42"/>
          <p:cNvSpPr txBox="1"/>
          <p:nvPr/>
        </p:nvSpPr>
        <p:spPr>
          <a:xfrm>
            <a:off x="548640" y="5806440"/>
            <a:ext cx="10972800" cy="457200"/>
          </a:xfrm>
          <a:prstGeom prst="rect">
            <a:avLst/>
          </a:prstGeom>
          <a:noFill/>
        </p:spPr>
        <p:txBody>
          <a:bodyPr wrap="square">
            <a:spAutoFit/>
          </a:bodyPr>
          <a:lstStyle/>
          <a:p>
            <a:pPr algn="l">
              <a:spcAft>
                <a:spcPts val="600"/>
              </a:spcAft>
              <a:defRPr sz="1600" b="1">
                <a:solidFill>
                  <a:srgbClr val="B84A1E"/>
                </a:solidFill>
              </a:defRPr>
            </a:pPr>
            <a:r>
              <a:t>➡️ Les Berbères se convertissent peu à peu ; l'arabe devient la langue de la religion et des villes.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Sunnites et chiites : quelle différence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457200" y="1280160"/>
            <a:ext cx="5621450" cy="4937760"/>
          </a:xfrm>
          <a:prstGeom prst="rect">
            <a:avLst/>
          </a:prstGeom>
        </p:spPr>
      </p:pic>
      <p:sp>
        <p:nvSpPr>
          <p:cNvPr id="34" name="TextBox 33"/>
          <p:cNvSpPr txBox="1"/>
          <p:nvPr/>
        </p:nvSpPr>
        <p:spPr>
          <a:xfrm>
            <a:off x="6352970" y="1371600"/>
            <a:ext cx="5534230" cy="4206240"/>
          </a:xfrm>
          <a:prstGeom prst="rect">
            <a:avLst/>
          </a:prstGeom>
          <a:noFill/>
        </p:spPr>
        <p:txBody>
          <a:bodyPr wrap="square">
            <a:spAutoFit/>
          </a:bodyPr>
          <a:lstStyle/>
          <a:p>
            <a:pPr algn="l">
              <a:spcAft>
                <a:spcPts val="600"/>
              </a:spcAft>
              <a:defRPr sz="1800" b="1">
                <a:solidFill>
                  <a:srgbClr val="1F4E79"/>
                </a:solidFill>
              </a:defRPr>
            </a:pPr>
            <a:r>
              <a:t>❓ Pourquoi les musulmans se sont-ils divisés après 632 ?</a:t>
            </a:r>
          </a:p>
          <a:p>
            <a:pPr algn="l">
              <a:spcAft>
                <a:spcPts val="600"/>
              </a:spcAft>
              <a:defRPr sz="1800" b="1">
                <a:solidFill>
                  <a:srgbClr val="1F4E79"/>
                </a:solidFill>
              </a:defRPr>
            </a:pPr>
            <a:r>
              <a:t>❓ Que pensent les sunnites ? les chiites ?</a:t>
            </a:r>
          </a:p>
          <a:p>
            <a:pPr algn="l">
              <a:spcAft>
                <a:spcPts val="600"/>
              </a:spcAft>
              <a:defRPr sz="1800" b="1">
                <a:solidFill>
                  <a:srgbClr val="1F4E79"/>
                </a:solidFill>
              </a:defRPr>
            </a:pPr>
            <a:r>
              <a:t>❓ Le Maghreb est-il sunnite ou chiite ?</a:t>
            </a:r>
          </a:p>
          <a:p>
            <a:pPr algn="l">
              <a:spcAft>
                <a:spcPts val="600"/>
              </a:spcAft>
              <a:defRPr sz="1800" b="1">
                <a:solidFill>
                  <a:srgbClr val="1F4E79"/>
                </a:solidFill>
              </a:defRPr>
            </a:pPr>
            <a:r>
              <a:t>❓ Où vivent surtout les chiites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quelle différence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Désaccord sur la succession de Mahomet (qui doit diriger les musulmans ?).</a:t>
            </a:r>
          </a:p>
          <a:p>
            <a:pPr algn="l">
              <a:spcAft>
                <a:spcPts val="600"/>
              </a:spcAft>
              <a:defRPr sz="1900" b="0">
                <a:solidFill>
                  <a:srgbClr val="2B2B2B"/>
                </a:solidFill>
              </a:defRPr>
            </a:pPr>
            <a:r>
              <a:t>✅ Sunnites (≈ 85-90 %) : le chef (calife) est choisi parmi les fidèles. Chiites (≈ 10-15 %) : il doit descendre d'Ali, gendre de Mahomet (bataille de Kerbala, 680).</a:t>
            </a:r>
          </a:p>
          <a:p>
            <a:pPr algn="l">
              <a:spcAft>
                <a:spcPts val="600"/>
              </a:spcAft>
              <a:defRPr sz="1900" b="0">
                <a:solidFill>
                  <a:srgbClr val="2B2B2B"/>
                </a:solidFill>
              </a:defRPr>
            </a:pPr>
            <a:r>
              <a:t>✅ Presque entièrement sunnite (rite malékite).</a:t>
            </a:r>
          </a:p>
          <a:p>
            <a:pPr algn="l">
              <a:spcAft>
                <a:spcPts val="600"/>
              </a:spcAft>
              <a:defRPr sz="1900" b="0">
                <a:solidFill>
                  <a:srgbClr val="2B2B2B"/>
                </a:solidFill>
              </a:defRPr>
            </a:pPr>
            <a:r>
              <a:t>✅ Iran, Irak, Bahreïn, Liban (en partie).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est musulman sunnite. La division sunnites/chiites, née d'une querelle de succession, alimente aujourd'hui des rivalités au Moyen-Orient (Arabie saoudite sunnite / Iran chiite).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 Le Moyen-Orient : une région de conflits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1948 →</a:t>
            </a:r>
          </a:p>
        </p:txBody>
      </p:sp>
      <p:sp>
        <p:nvSpPr>
          <p:cNvPr id="34" name="TextBox 33"/>
          <p:cNvSpPr txBox="1"/>
          <p:nvPr/>
        </p:nvSpPr>
        <p:spPr>
          <a:xfrm>
            <a:off x="2651760" y="1417320"/>
            <a:ext cx="8961120" cy="640080"/>
          </a:xfrm>
          <a:prstGeom prst="rect">
            <a:avLst/>
          </a:prstGeom>
          <a:noFill/>
        </p:spPr>
        <p:txBody>
          <a:bodyPr wrap="square">
            <a:spAutoFit/>
          </a:bodyPr>
          <a:lstStyle/>
          <a:p>
            <a:pPr algn="l">
              <a:spcAft>
                <a:spcPts val="600"/>
              </a:spcAft>
              <a:defRPr sz="1900" b="0">
                <a:solidFill>
                  <a:srgbClr val="2B2B2B"/>
                </a:solidFill>
              </a:defRPr>
            </a:pPr>
            <a:r>
              <a:t>Conflit israélo-palestinien</a:t>
            </a:r>
          </a:p>
        </p:txBody>
      </p:sp>
      <p:sp>
        <p:nvSpPr>
          <p:cNvPr id="35" name="Rounded Rectangle 34"/>
          <p:cNvSpPr/>
          <p:nvPr/>
        </p:nvSpPr>
        <p:spPr>
          <a:xfrm>
            <a:off x="548640" y="2121408"/>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1980–1988</a:t>
            </a:r>
          </a:p>
        </p:txBody>
      </p:sp>
      <p:sp>
        <p:nvSpPr>
          <p:cNvPr id="36" name="TextBox 35"/>
          <p:cNvSpPr txBox="1"/>
          <p:nvPr/>
        </p:nvSpPr>
        <p:spPr>
          <a:xfrm>
            <a:off x="2651760" y="2167128"/>
            <a:ext cx="8961120" cy="640080"/>
          </a:xfrm>
          <a:prstGeom prst="rect">
            <a:avLst/>
          </a:prstGeom>
          <a:noFill/>
        </p:spPr>
        <p:txBody>
          <a:bodyPr wrap="square">
            <a:spAutoFit/>
          </a:bodyPr>
          <a:lstStyle/>
          <a:p>
            <a:pPr algn="l">
              <a:spcAft>
                <a:spcPts val="600"/>
              </a:spcAft>
              <a:defRPr sz="1900" b="0">
                <a:solidFill>
                  <a:srgbClr val="2B2B2B"/>
                </a:solidFill>
              </a:defRPr>
            </a:pPr>
            <a:r>
              <a:t>Guerre Iran–Irak</a:t>
            </a:r>
          </a:p>
        </p:txBody>
      </p:sp>
      <p:sp>
        <p:nvSpPr>
          <p:cNvPr id="37" name="Rounded Rectangle 36"/>
          <p:cNvSpPr/>
          <p:nvPr/>
        </p:nvSpPr>
        <p:spPr>
          <a:xfrm>
            <a:off x="548640" y="2871215"/>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2003</a:t>
            </a:r>
          </a:p>
        </p:txBody>
      </p:sp>
      <p:sp>
        <p:nvSpPr>
          <p:cNvPr id="38" name="TextBox 37"/>
          <p:cNvSpPr txBox="1"/>
          <p:nvPr/>
        </p:nvSpPr>
        <p:spPr>
          <a:xfrm>
            <a:off x="2651760" y="2916936"/>
            <a:ext cx="8961120" cy="640080"/>
          </a:xfrm>
          <a:prstGeom prst="rect">
            <a:avLst/>
          </a:prstGeom>
          <a:noFill/>
        </p:spPr>
        <p:txBody>
          <a:bodyPr wrap="square">
            <a:spAutoFit/>
          </a:bodyPr>
          <a:lstStyle/>
          <a:p>
            <a:pPr algn="l">
              <a:spcAft>
                <a:spcPts val="600"/>
              </a:spcAft>
              <a:defRPr sz="1900" b="0">
                <a:solidFill>
                  <a:srgbClr val="2B2B2B"/>
                </a:solidFill>
              </a:defRPr>
            </a:pPr>
            <a:r>
              <a:t>Guerre en Irak (intervention américaine)</a:t>
            </a:r>
          </a:p>
        </p:txBody>
      </p:sp>
      <p:sp>
        <p:nvSpPr>
          <p:cNvPr id="39" name="Rounded Rectangle 38"/>
          <p:cNvSpPr/>
          <p:nvPr/>
        </p:nvSpPr>
        <p:spPr>
          <a:xfrm>
            <a:off x="548640" y="3621024"/>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2011 →</a:t>
            </a:r>
          </a:p>
        </p:txBody>
      </p:sp>
      <p:sp>
        <p:nvSpPr>
          <p:cNvPr id="40" name="TextBox 39"/>
          <p:cNvSpPr txBox="1"/>
          <p:nvPr/>
        </p:nvSpPr>
        <p:spPr>
          <a:xfrm>
            <a:off x="2651760" y="3666744"/>
            <a:ext cx="8961120" cy="640080"/>
          </a:xfrm>
          <a:prstGeom prst="rect">
            <a:avLst/>
          </a:prstGeom>
          <a:noFill/>
        </p:spPr>
        <p:txBody>
          <a:bodyPr wrap="square">
            <a:spAutoFit/>
          </a:bodyPr>
          <a:lstStyle/>
          <a:p>
            <a:pPr algn="l">
              <a:spcAft>
                <a:spcPts val="600"/>
              </a:spcAft>
              <a:defRPr sz="1900" b="0">
                <a:solidFill>
                  <a:srgbClr val="2B2B2B"/>
                </a:solidFill>
              </a:defRPr>
            </a:pPr>
            <a:r>
              <a:t>Guerre civile en Syrie</a:t>
            </a:r>
          </a:p>
        </p:txBody>
      </p:sp>
      <p:sp>
        <p:nvSpPr>
          <p:cNvPr id="41" name="Rounded Rectangle 40"/>
          <p:cNvSpPr/>
          <p:nvPr/>
        </p:nvSpPr>
        <p:spPr>
          <a:xfrm>
            <a:off x="548640" y="4370831"/>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2014–2019</a:t>
            </a:r>
          </a:p>
        </p:txBody>
      </p:sp>
      <p:sp>
        <p:nvSpPr>
          <p:cNvPr id="42" name="TextBox 41"/>
          <p:cNvSpPr txBox="1"/>
          <p:nvPr/>
        </p:nvSpPr>
        <p:spPr>
          <a:xfrm>
            <a:off x="2651760" y="4416552"/>
            <a:ext cx="8961120" cy="640080"/>
          </a:xfrm>
          <a:prstGeom prst="rect">
            <a:avLst/>
          </a:prstGeom>
          <a:noFill/>
        </p:spPr>
        <p:txBody>
          <a:bodyPr wrap="square">
            <a:spAutoFit/>
          </a:bodyPr>
          <a:lstStyle/>
          <a:p>
            <a:pPr algn="l">
              <a:spcAft>
                <a:spcPts val="600"/>
              </a:spcAft>
              <a:defRPr sz="1900" b="0">
                <a:solidFill>
                  <a:srgbClr val="2B2B2B"/>
                </a:solidFill>
              </a:defRPr>
            </a:pPr>
            <a:r>
              <a:t>L'État islamique (Daech) en Irak et en Syrie</a:t>
            </a:r>
          </a:p>
        </p:txBody>
      </p:sp>
      <p:sp>
        <p:nvSpPr>
          <p:cNvPr id="43" name="Rounded Rectangle 42"/>
          <p:cNvSpPr/>
          <p:nvPr/>
        </p:nvSpPr>
        <p:spPr>
          <a:xfrm>
            <a:off x="548640" y="5120640"/>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2015 →</a:t>
            </a:r>
          </a:p>
        </p:txBody>
      </p:sp>
      <p:sp>
        <p:nvSpPr>
          <p:cNvPr id="44" name="TextBox 43"/>
          <p:cNvSpPr txBox="1"/>
          <p:nvPr/>
        </p:nvSpPr>
        <p:spPr>
          <a:xfrm>
            <a:off x="2651760" y="5166359"/>
            <a:ext cx="8961120" cy="640080"/>
          </a:xfrm>
          <a:prstGeom prst="rect">
            <a:avLst/>
          </a:prstGeom>
          <a:noFill/>
        </p:spPr>
        <p:txBody>
          <a:bodyPr wrap="square">
            <a:spAutoFit/>
          </a:bodyPr>
          <a:lstStyle/>
          <a:p>
            <a:pPr algn="l">
              <a:spcAft>
                <a:spcPts val="600"/>
              </a:spcAft>
              <a:defRPr sz="1900" b="0">
                <a:solidFill>
                  <a:srgbClr val="2B2B2B"/>
                </a:solidFill>
              </a:defRPr>
            </a:pPr>
            <a:r>
              <a:t>Guerre au Yémen (rivalité Arabie saoudite / Iran)</a:t>
            </a:r>
          </a:p>
        </p:txBody>
      </p:sp>
      <p:sp>
        <p:nvSpPr>
          <p:cNvPr id="45" name="TextBox 44"/>
          <p:cNvSpPr txBox="1"/>
          <p:nvPr/>
        </p:nvSpPr>
        <p:spPr>
          <a:xfrm>
            <a:off x="548640" y="5943600"/>
            <a:ext cx="10972800" cy="457200"/>
          </a:xfrm>
          <a:prstGeom prst="rect">
            <a:avLst/>
          </a:prstGeom>
          <a:noFill/>
        </p:spPr>
        <p:txBody>
          <a:bodyPr wrap="square">
            <a:spAutoFit/>
          </a:bodyPr>
          <a:lstStyle/>
          <a:p>
            <a:pPr algn="l">
              <a:spcAft>
                <a:spcPts val="600"/>
              </a:spcAft>
              <a:defRPr sz="1600" b="1">
                <a:solidFill>
                  <a:srgbClr val="1F4E79"/>
                </a:solidFill>
              </a:defRPr>
            </a:pPr>
            <a:r>
              <a:t>💡 Causes mêlées : pétrole, frontières, religion (sunnites/chiites), rivalités entre puissances.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Printemps arabe (2010–2011)</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2377440" cy="731520"/>
          </a:xfrm>
          <a:prstGeom prst="rect">
            <a:avLst/>
          </a:prstGeom>
          <a:noFill/>
        </p:spPr>
        <p:txBody>
          <a:bodyPr wrap="square">
            <a:spAutoFit/>
          </a:bodyPr>
          <a:lstStyle/>
          <a:p>
            <a:pPr algn="l">
              <a:spcAft>
                <a:spcPts val="600"/>
              </a:spcAft>
              <a:defRPr sz="2000" b="1">
                <a:solidFill>
                  <a:srgbClr val="B84A1E"/>
                </a:solidFill>
              </a:defRPr>
            </a:pPr>
            <a:r>
              <a:t>🇹🇳 Tunisie</a:t>
            </a:r>
          </a:p>
        </p:txBody>
      </p:sp>
      <p:sp>
        <p:nvSpPr>
          <p:cNvPr id="34" name="TextBox 33"/>
          <p:cNvSpPr txBox="1"/>
          <p:nvPr/>
        </p:nvSpPr>
        <p:spPr>
          <a:xfrm>
            <a:off x="2926080" y="1389888"/>
            <a:ext cx="8778240" cy="731520"/>
          </a:xfrm>
          <a:prstGeom prst="rect">
            <a:avLst/>
          </a:prstGeom>
          <a:noFill/>
        </p:spPr>
        <p:txBody>
          <a:bodyPr wrap="square">
            <a:spAutoFit/>
          </a:bodyPr>
          <a:lstStyle/>
          <a:p>
            <a:pPr algn="l">
              <a:spcAft>
                <a:spcPts val="600"/>
              </a:spcAft>
              <a:defRPr sz="1800" b="0">
                <a:solidFill>
                  <a:srgbClr val="2B2B2B"/>
                </a:solidFill>
              </a:defRPr>
            </a:pPr>
            <a:r>
              <a:t>17 déc. 2010 : immolation de Mohamed Bouazizi → départ de Ben Ali (14 janv. 2011)</a:t>
            </a:r>
          </a:p>
        </p:txBody>
      </p:sp>
      <p:sp>
        <p:nvSpPr>
          <p:cNvPr id="35" name="TextBox 34"/>
          <p:cNvSpPr txBox="1"/>
          <p:nvPr/>
        </p:nvSpPr>
        <p:spPr>
          <a:xfrm>
            <a:off x="548640" y="2148840"/>
            <a:ext cx="2377440" cy="731520"/>
          </a:xfrm>
          <a:prstGeom prst="rect">
            <a:avLst/>
          </a:prstGeom>
          <a:noFill/>
        </p:spPr>
        <p:txBody>
          <a:bodyPr wrap="square">
            <a:spAutoFit/>
          </a:bodyPr>
          <a:lstStyle/>
          <a:p>
            <a:pPr algn="l">
              <a:spcAft>
                <a:spcPts val="600"/>
              </a:spcAft>
              <a:defRPr sz="2000" b="1">
                <a:solidFill>
                  <a:srgbClr val="B84A1E"/>
                </a:solidFill>
              </a:defRPr>
            </a:pPr>
            <a:r>
              <a:t>🇪🇬 Égypte</a:t>
            </a:r>
          </a:p>
        </p:txBody>
      </p:sp>
      <p:sp>
        <p:nvSpPr>
          <p:cNvPr id="36" name="TextBox 35"/>
          <p:cNvSpPr txBox="1"/>
          <p:nvPr/>
        </p:nvSpPr>
        <p:spPr>
          <a:xfrm>
            <a:off x="2926080" y="2167128"/>
            <a:ext cx="8778240" cy="731520"/>
          </a:xfrm>
          <a:prstGeom prst="rect">
            <a:avLst/>
          </a:prstGeom>
          <a:noFill/>
        </p:spPr>
        <p:txBody>
          <a:bodyPr wrap="square">
            <a:spAutoFit/>
          </a:bodyPr>
          <a:lstStyle/>
          <a:p>
            <a:pPr algn="l">
              <a:spcAft>
                <a:spcPts val="600"/>
              </a:spcAft>
              <a:defRPr sz="1800" b="0">
                <a:solidFill>
                  <a:srgbClr val="2B2B2B"/>
                </a:solidFill>
              </a:defRPr>
            </a:pPr>
            <a:r>
              <a:t>Février 2011 : chute de Moubarak</a:t>
            </a:r>
          </a:p>
        </p:txBody>
      </p:sp>
      <p:sp>
        <p:nvSpPr>
          <p:cNvPr id="37" name="TextBox 36"/>
          <p:cNvSpPr txBox="1"/>
          <p:nvPr/>
        </p:nvSpPr>
        <p:spPr>
          <a:xfrm>
            <a:off x="548640" y="2926080"/>
            <a:ext cx="2377440" cy="731520"/>
          </a:xfrm>
          <a:prstGeom prst="rect">
            <a:avLst/>
          </a:prstGeom>
          <a:noFill/>
        </p:spPr>
        <p:txBody>
          <a:bodyPr wrap="square">
            <a:spAutoFit/>
          </a:bodyPr>
          <a:lstStyle/>
          <a:p>
            <a:pPr algn="l">
              <a:spcAft>
                <a:spcPts val="600"/>
              </a:spcAft>
              <a:defRPr sz="2000" b="1">
                <a:solidFill>
                  <a:srgbClr val="B84A1E"/>
                </a:solidFill>
              </a:defRPr>
            </a:pPr>
            <a:r>
              <a:t>🇱🇾 Libye</a:t>
            </a:r>
          </a:p>
        </p:txBody>
      </p:sp>
      <p:sp>
        <p:nvSpPr>
          <p:cNvPr id="38" name="TextBox 37"/>
          <p:cNvSpPr txBox="1"/>
          <p:nvPr/>
        </p:nvSpPr>
        <p:spPr>
          <a:xfrm>
            <a:off x="2926080" y="2944368"/>
            <a:ext cx="8778240" cy="731520"/>
          </a:xfrm>
          <a:prstGeom prst="rect">
            <a:avLst/>
          </a:prstGeom>
          <a:noFill/>
        </p:spPr>
        <p:txBody>
          <a:bodyPr wrap="square">
            <a:spAutoFit/>
          </a:bodyPr>
          <a:lstStyle/>
          <a:p>
            <a:pPr algn="l">
              <a:spcAft>
                <a:spcPts val="600"/>
              </a:spcAft>
              <a:defRPr sz="1800" b="0">
                <a:solidFill>
                  <a:srgbClr val="2B2B2B"/>
                </a:solidFill>
              </a:defRPr>
            </a:pPr>
            <a:r>
              <a:t>2011 : guerre civile, mort de Kadhafi ; le pays reste divisé</a:t>
            </a:r>
          </a:p>
        </p:txBody>
      </p:sp>
      <p:sp>
        <p:nvSpPr>
          <p:cNvPr id="39" name="TextBox 38"/>
          <p:cNvSpPr txBox="1"/>
          <p:nvPr/>
        </p:nvSpPr>
        <p:spPr>
          <a:xfrm>
            <a:off x="548640" y="3703320"/>
            <a:ext cx="2377440" cy="731520"/>
          </a:xfrm>
          <a:prstGeom prst="rect">
            <a:avLst/>
          </a:prstGeom>
          <a:noFill/>
        </p:spPr>
        <p:txBody>
          <a:bodyPr wrap="square">
            <a:spAutoFit/>
          </a:bodyPr>
          <a:lstStyle/>
          <a:p>
            <a:pPr algn="l">
              <a:spcAft>
                <a:spcPts val="600"/>
              </a:spcAft>
              <a:defRPr sz="2000" b="1">
                <a:solidFill>
                  <a:srgbClr val="B84A1E"/>
                </a:solidFill>
              </a:defRPr>
            </a:pPr>
            <a:r>
              <a:t>🇲🇦 Maroc</a:t>
            </a:r>
          </a:p>
        </p:txBody>
      </p:sp>
      <p:sp>
        <p:nvSpPr>
          <p:cNvPr id="40" name="TextBox 39"/>
          <p:cNvSpPr txBox="1"/>
          <p:nvPr/>
        </p:nvSpPr>
        <p:spPr>
          <a:xfrm>
            <a:off x="2926080" y="3721608"/>
            <a:ext cx="8778240" cy="731520"/>
          </a:xfrm>
          <a:prstGeom prst="rect">
            <a:avLst/>
          </a:prstGeom>
          <a:noFill/>
        </p:spPr>
        <p:txBody>
          <a:bodyPr wrap="square">
            <a:spAutoFit/>
          </a:bodyPr>
          <a:lstStyle/>
          <a:p>
            <a:pPr algn="l">
              <a:spcAft>
                <a:spcPts val="600"/>
              </a:spcAft>
              <a:defRPr sz="1800" b="0">
                <a:solidFill>
                  <a:srgbClr val="2B2B2B"/>
                </a:solidFill>
              </a:defRPr>
            </a:pPr>
            <a:r>
              <a:t>2011 : manifestations, nouvelle Constitution</a:t>
            </a:r>
          </a:p>
        </p:txBody>
      </p:sp>
      <p:sp>
        <p:nvSpPr>
          <p:cNvPr id="41" name="TextBox 40"/>
          <p:cNvSpPr txBox="1"/>
          <p:nvPr/>
        </p:nvSpPr>
        <p:spPr>
          <a:xfrm>
            <a:off x="548640" y="4480560"/>
            <a:ext cx="2377440" cy="731520"/>
          </a:xfrm>
          <a:prstGeom prst="rect">
            <a:avLst/>
          </a:prstGeom>
          <a:noFill/>
        </p:spPr>
        <p:txBody>
          <a:bodyPr wrap="square">
            <a:spAutoFit/>
          </a:bodyPr>
          <a:lstStyle/>
          <a:p>
            <a:pPr algn="l">
              <a:spcAft>
                <a:spcPts val="600"/>
              </a:spcAft>
              <a:defRPr sz="2000" b="1">
                <a:solidFill>
                  <a:srgbClr val="B84A1E"/>
                </a:solidFill>
              </a:defRPr>
            </a:pPr>
            <a:r>
              <a:t>🇩🇿 Algérie</a:t>
            </a:r>
          </a:p>
        </p:txBody>
      </p:sp>
      <p:sp>
        <p:nvSpPr>
          <p:cNvPr id="42" name="TextBox 41"/>
          <p:cNvSpPr txBox="1"/>
          <p:nvPr/>
        </p:nvSpPr>
        <p:spPr>
          <a:xfrm>
            <a:off x="2926080" y="4498848"/>
            <a:ext cx="8778240" cy="731520"/>
          </a:xfrm>
          <a:prstGeom prst="rect">
            <a:avLst/>
          </a:prstGeom>
          <a:noFill/>
        </p:spPr>
        <p:txBody>
          <a:bodyPr wrap="square">
            <a:spAutoFit/>
          </a:bodyPr>
          <a:lstStyle/>
          <a:p>
            <a:pPr algn="l">
              <a:spcAft>
                <a:spcPts val="600"/>
              </a:spcAft>
              <a:defRPr sz="1800" b="0">
                <a:solidFill>
                  <a:srgbClr val="2B2B2B"/>
                </a:solidFill>
              </a:defRPr>
            </a:pPr>
            <a:r>
              <a:t>2019 : le Hirak pousse Bouteflika à partir</a:t>
            </a:r>
          </a:p>
        </p:txBody>
      </p:sp>
      <p:sp>
        <p:nvSpPr>
          <p:cNvPr id="43" name="TextBox 42"/>
          <p:cNvSpPr txBox="1"/>
          <p:nvPr/>
        </p:nvSpPr>
        <p:spPr>
          <a:xfrm>
            <a:off x="548640" y="5257800"/>
            <a:ext cx="2377440" cy="731520"/>
          </a:xfrm>
          <a:prstGeom prst="rect">
            <a:avLst/>
          </a:prstGeom>
          <a:noFill/>
        </p:spPr>
        <p:txBody>
          <a:bodyPr wrap="square">
            <a:spAutoFit/>
          </a:bodyPr>
          <a:lstStyle/>
          <a:p>
            <a:pPr algn="l">
              <a:spcAft>
                <a:spcPts val="600"/>
              </a:spcAft>
              <a:defRPr sz="2000" b="1">
                <a:solidFill>
                  <a:srgbClr val="B84A1E"/>
                </a:solidFill>
              </a:defRPr>
            </a:pPr>
            <a:r>
              <a:t>🇸🇾 Syrie</a:t>
            </a:r>
          </a:p>
        </p:txBody>
      </p:sp>
      <p:sp>
        <p:nvSpPr>
          <p:cNvPr id="44" name="TextBox 43"/>
          <p:cNvSpPr txBox="1"/>
          <p:nvPr/>
        </p:nvSpPr>
        <p:spPr>
          <a:xfrm>
            <a:off x="2926080" y="5276088"/>
            <a:ext cx="8778240" cy="731520"/>
          </a:xfrm>
          <a:prstGeom prst="rect">
            <a:avLst/>
          </a:prstGeom>
          <a:noFill/>
        </p:spPr>
        <p:txBody>
          <a:bodyPr wrap="square">
            <a:spAutoFit/>
          </a:bodyPr>
          <a:lstStyle/>
          <a:p>
            <a:pPr algn="l">
              <a:spcAft>
                <a:spcPts val="600"/>
              </a:spcAft>
              <a:defRPr sz="1800" b="0">
                <a:solidFill>
                  <a:srgbClr val="2B2B2B"/>
                </a:solidFill>
              </a:defRPr>
            </a:pPr>
            <a:r>
              <a:t>2011 : révolte réprimée → guerre civile</a:t>
            </a:r>
          </a:p>
        </p:txBody>
      </p:sp>
      <p:sp>
        <p:nvSpPr>
          <p:cNvPr id="45" name="TextBox 44"/>
          <p:cNvSpPr txBox="1"/>
          <p:nvPr/>
        </p:nvSpPr>
        <p:spPr>
          <a:xfrm>
            <a:off x="548640" y="6035040"/>
            <a:ext cx="10972800" cy="457200"/>
          </a:xfrm>
          <a:prstGeom prst="rect">
            <a:avLst/>
          </a:prstGeom>
          <a:noFill/>
        </p:spPr>
        <p:txBody>
          <a:bodyPr wrap="square">
            <a:spAutoFit/>
          </a:bodyPr>
          <a:lstStyle/>
          <a:p>
            <a:pPr algn="l">
              <a:spcAft>
                <a:spcPts val="600"/>
              </a:spcAft>
              <a:defRPr sz="1600" b="1">
                <a:solidFill>
                  <a:srgbClr val="1F4E79"/>
                </a:solidFill>
              </a:defRPr>
            </a:pPr>
            <a:r>
              <a:t>❓ Débat : pourquoi les jeunes se sont-ils révoltés ? (chômage, corruption, manque de libertés)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terrorisme : de quoi parle-t-on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457200" y="1280160"/>
            <a:ext cx="5621450" cy="4937760"/>
          </a:xfrm>
          <a:prstGeom prst="rect">
            <a:avLst/>
          </a:prstGeom>
        </p:spPr>
      </p:pic>
      <p:sp>
        <p:nvSpPr>
          <p:cNvPr id="34" name="TextBox 33"/>
          <p:cNvSpPr txBox="1"/>
          <p:nvPr/>
        </p:nvSpPr>
        <p:spPr>
          <a:xfrm>
            <a:off x="6352970" y="1371600"/>
            <a:ext cx="5534230" cy="4206240"/>
          </a:xfrm>
          <a:prstGeom prst="rect">
            <a:avLst/>
          </a:prstGeom>
          <a:noFill/>
        </p:spPr>
        <p:txBody>
          <a:bodyPr wrap="square">
            <a:spAutoFit/>
          </a:bodyPr>
          <a:lstStyle/>
          <a:p>
            <a:pPr algn="l">
              <a:spcAft>
                <a:spcPts val="600"/>
              </a:spcAft>
              <a:defRPr sz="1800" b="1">
                <a:solidFill>
                  <a:srgbClr val="1F4E79"/>
                </a:solidFill>
              </a:defRPr>
            </a:pPr>
            <a:r>
              <a:t>❓ Islam et islamisme, est-ce la même chose ?</a:t>
            </a:r>
          </a:p>
          <a:p>
            <a:pPr algn="l">
              <a:spcAft>
                <a:spcPts val="600"/>
              </a:spcAft>
              <a:defRPr sz="1800" b="1">
                <a:solidFill>
                  <a:srgbClr val="1F4E79"/>
                </a:solidFill>
              </a:defRPr>
            </a:pPr>
            <a:r>
              <a:t>❓ Qu'est-ce que la « décennie noire » en Algérie ?</a:t>
            </a:r>
          </a:p>
          <a:p>
            <a:pPr algn="l">
              <a:spcAft>
                <a:spcPts val="600"/>
              </a:spcAft>
              <a:defRPr sz="1800" b="1">
                <a:solidFill>
                  <a:srgbClr val="1F4E79"/>
                </a:solidFill>
              </a:defRPr>
            </a:pPr>
            <a:r>
              <a:t>❓ Cite des attentats au Maghreb.</a:t>
            </a:r>
          </a:p>
          <a:p>
            <a:pPr algn="l">
              <a:spcAft>
                <a:spcPts val="600"/>
              </a:spcAft>
              <a:defRPr sz="1800" b="1">
                <a:solidFill>
                  <a:srgbClr val="1F4E79"/>
                </a:solidFill>
              </a:defRPr>
            </a:pPr>
            <a:r>
              <a:t>❓ Qui sont les principales victimes du terrorisme islamiste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quoi parle-t-on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Non ! L'islam est une religion ; l'islamisme radical est une idéologie politique violente rejetée par la grande majorité des musulmans.</a:t>
            </a:r>
          </a:p>
          <a:p>
            <a:pPr algn="l">
              <a:spcAft>
                <a:spcPts val="600"/>
              </a:spcAft>
              <a:defRPr sz="1900" b="0">
                <a:solidFill>
                  <a:srgbClr val="2B2B2B"/>
                </a:solidFill>
              </a:defRPr>
            </a:pPr>
            <a:r>
              <a:t>✅ 1991-2002 : guerre entre l'État et des groupes islamistes armés (GIA…), des dizaines de milliers de morts.</a:t>
            </a:r>
          </a:p>
          <a:p>
            <a:pPr algn="l">
              <a:spcAft>
                <a:spcPts val="600"/>
              </a:spcAft>
              <a:defRPr sz="1900" b="0">
                <a:solidFill>
                  <a:srgbClr val="2B2B2B"/>
                </a:solidFill>
              </a:defRPr>
            </a:pPr>
            <a:r>
              <a:t>✅ Casablanca (2003), musée du Bardo et Sousse en Tunisie (2015)…</a:t>
            </a:r>
          </a:p>
          <a:p>
            <a:pPr algn="l">
              <a:spcAft>
                <a:spcPts val="600"/>
              </a:spcAft>
              <a:defRPr sz="1900" b="0">
                <a:solidFill>
                  <a:srgbClr val="2B2B2B"/>
                </a:solidFill>
              </a:defRPr>
            </a:pPr>
            <a:r>
              <a:t>✅ Surtout des musulmans eux-mêmes, au Maghreb et au Moyen-Orient.</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a connu le terrorisme islamiste (décennie noire en Algérie, attentats au Maroc et en Tunisie). Il ne faut pas confondre islam et terrorisme.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Vrai ou faux ? (islam &amp; conflits)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7680960" cy="731520"/>
          </a:xfrm>
          <a:prstGeom prst="rect">
            <a:avLst/>
          </a:prstGeom>
          <a:noFill/>
        </p:spPr>
        <p:txBody>
          <a:bodyPr wrap="square">
            <a:spAutoFit/>
          </a:bodyPr>
          <a:lstStyle/>
          <a:p>
            <a:pPr algn="l">
              <a:spcAft>
                <a:spcPts val="600"/>
              </a:spcAft>
              <a:defRPr sz="1900" b="0">
                <a:solidFill>
                  <a:srgbClr val="2B2B2B"/>
                </a:solidFill>
              </a:defRPr>
            </a:pPr>
            <a:r>
              <a:t>1. L'islam est arrivé au Maghreb au VIIe siècle.</a:t>
            </a:r>
          </a:p>
        </p:txBody>
      </p:sp>
      <p:sp>
        <p:nvSpPr>
          <p:cNvPr id="34" name="Rounded Rectangle 33">
            <a:hlinkClick action="ppaction://hlinksldjump" r:id="rId3"/>
          </p:cNvPr>
          <p:cNvSpPr/>
          <p:nvPr/>
        </p:nvSpPr>
        <p:spPr>
          <a:xfrm>
            <a:off x="8503920" y="1371600"/>
            <a:ext cx="310896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5" name="TextBox 34"/>
          <p:cNvSpPr txBox="1"/>
          <p:nvPr/>
        </p:nvSpPr>
        <p:spPr>
          <a:xfrm>
            <a:off x="548640" y="2240280"/>
            <a:ext cx="7680960" cy="731520"/>
          </a:xfrm>
          <a:prstGeom prst="rect">
            <a:avLst/>
          </a:prstGeom>
          <a:noFill/>
        </p:spPr>
        <p:txBody>
          <a:bodyPr wrap="square">
            <a:spAutoFit/>
          </a:bodyPr>
          <a:lstStyle/>
          <a:p>
            <a:pPr algn="l">
              <a:spcAft>
                <a:spcPts val="600"/>
              </a:spcAft>
              <a:defRPr sz="1900" b="0">
                <a:solidFill>
                  <a:srgbClr val="2B2B2B"/>
                </a:solidFill>
              </a:defRPr>
            </a:pPr>
            <a:r>
              <a:t>2. Le Maghreb est majoritairement chiite.</a:t>
            </a:r>
          </a:p>
        </p:txBody>
      </p:sp>
      <p:sp>
        <p:nvSpPr>
          <p:cNvPr id="36" name="Rounded Rectangle 35">
            <a:hlinkClick action="ppaction://hlinksldjump" r:id="rId3"/>
          </p:cNvPr>
          <p:cNvSpPr/>
          <p:nvPr/>
        </p:nvSpPr>
        <p:spPr>
          <a:xfrm>
            <a:off x="8503920" y="2240280"/>
            <a:ext cx="310896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7" name="TextBox 36"/>
          <p:cNvSpPr txBox="1"/>
          <p:nvPr/>
        </p:nvSpPr>
        <p:spPr>
          <a:xfrm>
            <a:off x="548640" y="3108960"/>
            <a:ext cx="7680960" cy="731520"/>
          </a:xfrm>
          <a:prstGeom prst="rect">
            <a:avLst/>
          </a:prstGeom>
          <a:noFill/>
        </p:spPr>
        <p:txBody>
          <a:bodyPr wrap="square">
            <a:spAutoFit/>
          </a:bodyPr>
          <a:lstStyle/>
          <a:p>
            <a:pPr algn="l">
              <a:spcAft>
                <a:spcPts val="600"/>
              </a:spcAft>
              <a:defRPr sz="1900" b="0">
                <a:solidFill>
                  <a:srgbClr val="2B2B2B"/>
                </a:solidFill>
              </a:defRPr>
            </a:pPr>
            <a:r>
              <a:t>3. Le Printemps arabe a commencé en Tunisie.</a:t>
            </a:r>
          </a:p>
        </p:txBody>
      </p:sp>
      <p:sp>
        <p:nvSpPr>
          <p:cNvPr id="38" name="Rounded Rectangle 37">
            <a:hlinkClick action="ppaction://hlinksldjump" r:id="rId3"/>
          </p:cNvPr>
          <p:cNvSpPr/>
          <p:nvPr/>
        </p:nvSpPr>
        <p:spPr>
          <a:xfrm>
            <a:off x="8503920" y="3108960"/>
            <a:ext cx="310896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9" name="TextBox 38"/>
          <p:cNvSpPr txBox="1"/>
          <p:nvPr/>
        </p:nvSpPr>
        <p:spPr>
          <a:xfrm>
            <a:off x="548640" y="3977639"/>
            <a:ext cx="7680960" cy="731520"/>
          </a:xfrm>
          <a:prstGeom prst="rect">
            <a:avLst/>
          </a:prstGeom>
          <a:noFill/>
        </p:spPr>
        <p:txBody>
          <a:bodyPr wrap="square">
            <a:spAutoFit/>
          </a:bodyPr>
          <a:lstStyle/>
          <a:p>
            <a:pPr algn="l">
              <a:spcAft>
                <a:spcPts val="600"/>
              </a:spcAft>
              <a:defRPr sz="1900" b="0">
                <a:solidFill>
                  <a:srgbClr val="2B2B2B"/>
                </a:solidFill>
              </a:defRPr>
            </a:pPr>
            <a:r>
              <a:t>4. Tous les musulmans soutiennent le terrorisme.</a:t>
            </a:r>
          </a:p>
        </p:txBody>
      </p:sp>
      <p:sp>
        <p:nvSpPr>
          <p:cNvPr id="40" name="Rounded Rectangle 39">
            <a:hlinkClick action="ppaction://hlinksldjump" r:id="rId3"/>
          </p:cNvPr>
          <p:cNvSpPr/>
          <p:nvPr/>
        </p:nvSpPr>
        <p:spPr>
          <a:xfrm>
            <a:off x="8503920" y="3977639"/>
            <a:ext cx="3108960" cy="68580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41" name="TextBox 40"/>
          <p:cNvSpPr txBox="1"/>
          <p:nvPr/>
        </p:nvSpPr>
        <p:spPr>
          <a:xfrm>
            <a:off x="548640" y="4846320"/>
            <a:ext cx="7680960" cy="731520"/>
          </a:xfrm>
          <a:prstGeom prst="rect">
            <a:avLst/>
          </a:prstGeom>
          <a:noFill/>
        </p:spPr>
        <p:txBody>
          <a:bodyPr wrap="square">
            <a:spAutoFit/>
          </a:bodyPr>
          <a:lstStyle/>
          <a:p>
            <a:pPr algn="l">
              <a:spcAft>
                <a:spcPts val="600"/>
              </a:spcAft>
              <a:defRPr sz="1900" b="0">
                <a:solidFill>
                  <a:srgbClr val="2B2B2B"/>
                </a:solidFill>
              </a:defRPr>
            </a:pPr>
            <a:r>
              <a:t>5. Gibraltar vient de « Djebel Tariq ».</a:t>
            </a:r>
          </a:p>
        </p:txBody>
      </p:sp>
      <p:sp>
        <p:nvSpPr>
          <p:cNvPr id="42" name="Rounded Rectangle 41">
            <a:hlinkClick action="ppaction://hlinksldjump" r:id="rId3"/>
          </p:cNvPr>
          <p:cNvSpPr/>
          <p:nvPr/>
        </p:nvSpPr>
        <p:spPr>
          <a:xfrm>
            <a:off x="8503920" y="4846320"/>
            <a:ext cx="310896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Correction du vrai/faux</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000" b="0">
                <a:solidFill>
                  <a:srgbClr val="2B2B2B"/>
                </a:solidFill>
              </a:defRPr>
            </a:pPr>
            <a:r>
              <a:t>1. L'islam est arrivé au Maghreb au VIIe siècle.  ➜  VRAI</a:t>
            </a:r>
          </a:p>
          <a:p>
            <a:pPr algn="l">
              <a:spcAft>
                <a:spcPts val="600"/>
              </a:spcAft>
              <a:defRPr sz="2000" b="0">
                <a:solidFill>
                  <a:srgbClr val="2B2B2B"/>
                </a:solidFill>
              </a:defRPr>
            </a:pPr>
            <a:r>
              <a:t>2. Le Maghreb est majoritairement chiite.  ➜  FAUX : sunnite</a:t>
            </a:r>
          </a:p>
          <a:p>
            <a:pPr algn="l">
              <a:spcAft>
                <a:spcPts val="600"/>
              </a:spcAft>
              <a:defRPr sz="2000" b="0">
                <a:solidFill>
                  <a:srgbClr val="2B2B2B"/>
                </a:solidFill>
              </a:defRPr>
            </a:pPr>
            <a:r>
              <a:t>3. Le Printemps arabe a commencé en Tunisie.  ➜  VRAI (déc. 2010)</a:t>
            </a:r>
          </a:p>
          <a:p>
            <a:pPr algn="l">
              <a:spcAft>
                <a:spcPts val="600"/>
              </a:spcAft>
              <a:defRPr sz="2000" b="0">
                <a:solidFill>
                  <a:srgbClr val="2B2B2B"/>
                </a:solidFill>
              </a:defRPr>
            </a:pPr>
            <a:r>
              <a:t>4. Tous les musulmans soutiennent le terrorisme.  ➜  FAUX : ils en sont les 1res victimes</a:t>
            </a:r>
          </a:p>
          <a:p>
            <a:pPr algn="l">
              <a:spcAft>
                <a:spcPts val="600"/>
              </a:spcAft>
              <a:defRPr sz="2000" b="0">
                <a:solidFill>
                  <a:srgbClr val="2B2B2B"/>
                </a:solidFill>
              </a:defRPr>
            </a:pPr>
            <a:r>
              <a:t>5. Gibraltar vient de « Djebel Tariq ».  ➜  VRAI</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Paysages : de la mer au désert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554480"/>
            <a:ext cx="2697480" cy="38404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828800"/>
            <a:ext cx="2514600" cy="914400"/>
          </a:xfrm>
          <a:prstGeom prst="rect">
            <a:avLst/>
          </a:prstGeom>
          <a:noFill/>
        </p:spPr>
        <p:txBody>
          <a:bodyPr wrap="square">
            <a:spAutoFit/>
          </a:bodyPr>
          <a:lstStyle/>
          <a:p>
            <a:pPr algn="ctr">
              <a:spcAft>
                <a:spcPts val="600"/>
              </a:spcAft>
              <a:defRPr sz="2400" b="1">
                <a:solidFill>
                  <a:srgbClr val="FFFFFF"/>
                </a:solidFill>
              </a:defRPr>
            </a:pPr>
            <a:r>
              <a:t>🌊 Méditerranée</a:t>
            </a:r>
          </a:p>
        </p:txBody>
      </p:sp>
      <p:sp>
        <p:nvSpPr>
          <p:cNvPr id="35" name="TextBox 34"/>
          <p:cNvSpPr txBox="1"/>
          <p:nvPr/>
        </p:nvSpPr>
        <p:spPr>
          <a:xfrm>
            <a:off x="640080" y="3017520"/>
            <a:ext cx="2514600" cy="1828800"/>
          </a:xfrm>
          <a:prstGeom prst="rect">
            <a:avLst/>
          </a:prstGeom>
          <a:noFill/>
        </p:spPr>
        <p:txBody>
          <a:bodyPr wrap="square">
            <a:spAutoFit/>
          </a:bodyPr>
          <a:lstStyle/>
          <a:p>
            <a:pPr algn="ctr">
              <a:spcAft>
                <a:spcPts val="600"/>
              </a:spcAft>
              <a:defRPr sz="1800" b="0">
                <a:solidFill>
                  <a:srgbClr val="FFFFFF"/>
                </a:solidFill>
              </a:defRPr>
            </a:pPr>
            <a:r>
              <a:t>Côtes, ports, plages au nord</a:t>
            </a:r>
          </a:p>
        </p:txBody>
      </p:sp>
      <p:sp>
        <p:nvSpPr>
          <p:cNvPr id="36" name="Rounded Rectangle 35"/>
          <p:cNvSpPr/>
          <p:nvPr/>
        </p:nvSpPr>
        <p:spPr>
          <a:xfrm>
            <a:off x="3429000" y="1554480"/>
            <a:ext cx="2697480" cy="38404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20439" y="1828800"/>
            <a:ext cx="2514600" cy="914400"/>
          </a:xfrm>
          <a:prstGeom prst="rect">
            <a:avLst/>
          </a:prstGeom>
          <a:noFill/>
        </p:spPr>
        <p:txBody>
          <a:bodyPr wrap="square">
            <a:spAutoFit/>
          </a:bodyPr>
          <a:lstStyle/>
          <a:p>
            <a:pPr algn="ctr">
              <a:spcAft>
                <a:spcPts val="600"/>
              </a:spcAft>
              <a:defRPr sz="2400" b="1">
                <a:solidFill>
                  <a:srgbClr val="FFFFFF"/>
                </a:solidFill>
              </a:defRPr>
            </a:pPr>
            <a:r>
              <a:t>🏔️ Atlas</a:t>
            </a:r>
          </a:p>
        </p:txBody>
      </p:sp>
      <p:sp>
        <p:nvSpPr>
          <p:cNvPr id="38" name="TextBox 37"/>
          <p:cNvSpPr txBox="1"/>
          <p:nvPr/>
        </p:nvSpPr>
        <p:spPr>
          <a:xfrm>
            <a:off x="3520439" y="3017520"/>
            <a:ext cx="2514600" cy="1828800"/>
          </a:xfrm>
          <a:prstGeom prst="rect">
            <a:avLst/>
          </a:prstGeom>
          <a:noFill/>
        </p:spPr>
        <p:txBody>
          <a:bodyPr wrap="square">
            <a:spAutoFit/>
          </a:bodyPr>
          <a:lstStyle/>
          <a:p>
            <a:pPr algn="ctr">
              <a:spcAft>
                <a:spcPts val="600"/>
              </a:spcAft>
              <a:defRPr sz="1800" b="0">
                <a:solidFill>
                  <a:srgbClr val="FFFFFF"/>
                </a:solidFill>
              </a:defRPr>
            </a:pPr>
            <a:r>
              <a:t>Montagnes jusqu'à 4 167 m (Toubkal)</a:t>
            </a:r>
          </a:p>
        </p:txBody>
      </p:sp>
      <p:sp>
        <p:nvSpPr>
          <p:cNvPr id="39" name="Rounded Rectangle 38"/>
          <p:cNvSpPr/>
          <p:nvPr/>
        </p:nvSpPr>
        <p:spPr>
          <a:xfrm>
            <a:off x="6309359" y="1554480"/>
            <a:ext cx="2697480" cy="38404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1828800"/>
            <a:ext cx="2514600" cy="914400"/>
          </a:xfrm>
          <a:prstGeom prst="rect">
            <a:avLst/>
          </a:prstGeom>
          <a:noFill/>
        </p:spPr>
        <p:txBody>
          <a:bodyPr wrap="square">
            <a:spAutoFit/>
          </a:bodyPr>
          <a:lstStyle/>
          <a:p>
            <a:pPr algn="ctr">
              <a:spcAft>
                <a:spcPts val="600"/>
              </a:spcAft>
              <a:defRPr sz="2400" b="1">
                <a:solidFill>
                  <a:srgbClr val="FFFFFF"/>
                </a:solidFill>
              </a:defRPr>
            </a:pPr>
            <a:r>
              <a:t>🏜️ Sahara</a:t>
            </a:r>
          </a:p>
        </p:txBody>
      </p:sp>
      <p:sp>
        <p:nvSpPr>
          <p:cNvPr id="41" name="TextBox 40"/>
          <p:cNvSpPr txBox="1"/>
          <p:nvPr/>
        </p:nvSpPr>
        <p:spPr>
          <a:xfrm>
            <a:off x="6400800" y="3017520"/>
            <a:ext cx="2514600" cy="1828800"/>
          </a:xfrm>
          <a:prstGeom prst="rect">
            <a:avLst/>
          </a:prstGeom>
          <a:noFill/>
        </p:spPr>
        <p:txBody>
          <a:bodyPr wrap="square">
            <a:spAutoFit/>
          </a:bodyPr>
          <a:lstStyle/>
          <a:p>
            <a:pPr algn="ctr">
              <a:spcAft>
                <a:spcPts val="600"/>
              </a:spcAft>
              <a:defRPr sz="1800" b="0">
                <a:solidFill>
                  <a:srgbClr val="FFFFFF"/>
                </a:solidFill>
              </a:defRPr>
            </a:pPr>
            <a:r>
              <a:t>Le plus grand désert chaud du monde</a:t>
            </a:r>
          </a:p>
        </p:txBody>
      </p:sp>
      <p:sp>
        <p:nvSpPr>
          <p:cNvPr id="42" name="Rounded Rectangle 41"/>
          <p:cNvSpPr/>
          <p:nvPr/>
        </p:nvSpPr>
        <p:spPr>
          <a:xfrm>
            <a:off x="9189719" y="1554480"/>
            <a:ext cx="2697480" cy="38404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81159" y="1828800"/>
            <a:ext cx="2514600" cy="914400"/>
          </a:xfrm>
          <a:prstGeom prst="rect">
            <a:avLst/>
          </a:prstGeom>
          <a:noFill/>
        </p:spPr>
        <p:txBody>
          <a:bodyPr wrap="square">
            <a:spAutoFit/>
          </a:bodyPr>
          <a:lstStyle/>
          <a:p>
            <a:pPr algn="ctr">
              <a:spcAft>
                <a:spcPts val="600"/>
              </a:spcAft>
              <a:defRPr sz="2400" b="1">
                <a:solidFill>
                  <a:srgbClr val="FFFFFF"/>
                </a:solidFill>
              </a:defRPr>
            </a:pPr>
            <a:r>
              <a:t>🌴 Oasis</a:t>
            </a:r>
          </a:p>
        </p:txBody>
      </p:sp>
      <p:sp>
        <p:nvSpPr>
          <p:cNvPr id="44" name="TextBox 43"/>
          <p:cNvSpPr txBox="1"/>
          <p:nvPr/>
        </p:nvSpPr>
        <p:spPr>
          <a:xfrm>
            <a:off x="9281159" y="3017520"/>
            <a:ext cx="2514600" cy="1828800"/>
          </a:xfrm>
          <a:prstGeom prst="rect">
            <a:avLst/>
          </a:prstGeom>
          <a:noFill/>
        </p:spPr>
        <p:txBody>
          <a:bodyPr wrap="square">
            <a:spAutoFit/>
          </a:bodyPr>
          <a:lstStyle/>
          <a:p>
            <a:pPr algn="ctr">
              <a:spcAft>
                <a:spcPts val="600"/>
              </a:spcAft>
              <a:defRPr sz="1800" b="0">
                <a:solidFill>
                  <a:srgbClr val="FFFFFF"/>
                </a:solidFill>
              </a:defRPr>
            </a:pPr>
            <a:r>
              <a:t>Palmiers-dattiers, eau et vie</a:t>
            </a:r>
          </a:p>
        </p:txBody>
      </p:sp>
      <p:sp>
        <p:nvSpPr>
          <p:cNvPr id="45" name="TextBox 44"/>
          <p:cNvSpPr txBox="1"/>
          <p:nvPr/>
        </p:nvSpPr>
        <p:spPr>
          <a:xfrm>
            <a:off x="548640" y="5577840"/>
            <a:ext cx="10972800" cy="640080"/>
          </a:xfrm>
          <a:prstGeom prst="rect">
            <a:avLst/>
          </a:prstGeom>
          <a:noFill/>
        </p:spPr>
        <p:txBody>
          <a:bodyPr wrap="square">
            <a:spAutoFit/>
          </a:bodyPr>
          <a:lstStyle/>
          <a:p>
            <a:pPr algn="l">
              <a:spcAft>
                <a:spcPts val="600"/>
              </a:spcAft>
              <a:defRPr sz="2000" b="1">
                <a:solidFill>
                  <a:srgbClr val="B84A1E"/>
                </a:solidFill>
              </a:defRPr>
            </a:pPr>
            <a:r>
              <a:t>🎯 Activité : à l'oral, décris ton paysage préféré avec 3 adjectifs.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 Compréhension orale : vidéo</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731520" y="1463040"/>
            <a:ext cx="6035040" cy="384048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a:hlinkClick r:id="rId3"/>
          </p:cNvPr>
          <p:cNvSpPr/>
          <p:nvPr/>
        </p:nvSpPr>
        <p:spPr>
          <a:xfrm>
            <a:off x="2377440" y="2926080"/>
            <a:ext cx="2743200" cy="9144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LANCER LA VIDÉO</a:t>
            </a:r>
          </a:p>
        </p:txBody>
      </p:sp>
      <p:sp>
        <p:nvSpPr>
          <p:cNvPr id="36" name="TextBox 35"/>
          <p:cNvSpPr txBox="1"/>
          <p:nvPr/>
        </p:nvSpPr>
        <p:spPr>
          <a:xfrm>
            <a:off x="731520" y="5394960"/>
            <a:ext cx="6035040" cy="731520"/>
          </a:xfrm>
          <a:prstGeom prst="rect">
            <a:avLst/>
          </a:prstGeom>
          <a:noFill/>
        </p:spPr>
        <p:txBody>
          <a:bodyPr wrap="square">
            <a:spAutoFit/>
          </a:bodyPr>
          <a:lstStyle/>
          <a:p>
            <a:pPr algn="ctr">
              <a:spcAft>
                <a:spcPts val="600"/>
              </a:spcAft>
              <a:defRPr sz="1400" b="0">
                <a:solidFill>
                  <a:srgbClr val="1F4E79"/>
                </a:solidFill>
              </a:defRPr>
            </a:pPr>
            <a:r>
              <a:t>(Clique pour ouvrir la vidéo — ou insère ton .mp4 ici)</a:t>
            </a:r>
          </a:p>
        </p:txBody>
      </p:sp>
      <p:sp>
        <p:nvSpPr>
          <p:cNvPr id="37" name="TextBox 36"/>
          <p:cNvSpPr txBox="1"/>
          <p:nvPr/>
        </p:nvSpPr>
        <p:spPr>
          <a:xfrm>
            <a:off x="7040880" y="1463040"/>
            <a:ext cx="4754880" cy="4572000"/>
          </a:xfrm>
          <a:prstGeom prst="rect">
            <a:avLst/>
          </a:prstGeom>
          <a:noFill/>
        </p:spPr>
        <p:txBody>
          <a:bodyPr wrap="square">
            <a:spAutoFit/>
          </a:bodyPr>
          <a:lstStyle/>
          <a:p>
            <a:pPr algn="l">
              <a:spcAft>
                <a:spcPts val="600"/>
              </a:spcAft>
              <a:defRPr sz="1800" b="0">
                <a:solidFill>
                  <a:srgbClr val="2B2B2B"/>
                </a:solidFill>
              </a:defRPr>
            </a:pPr>
            <a:r>
              <a:t>📺 Visionnage 1 — sans le son :</a:t>
            </a:r>
          </a:p>
          <a:p>
            <a:pPr algn="l">
              <a:spcAft>
                <a:spcPts val="600"/>
              </a:spcAft>
              <a:defRPr sz="1800" b="0">
                <a:solidFill>
                  <a:srgbClr val="2B2B2B"/>
                </a:solidFill>
              </a:defRPr>
            </a:pPr>
            <a:r>
              <a:t>   Quels lieux, couleurs, objets vois-tu ?</a:t>
            </a:r>
          </a:p>
          <a:p>
            <a:pPr algn="l">
              <a:spcAft>
                <a:spcPts val="600"/>
              </a:spcAft>
              <a:defRPr sz="1800" b="0">
                <a:solidFill>
                  <a:srgbClr val="2B2B2B"/>
                </a:solidFill>
              </a:defRPr>
            </a:pPr>
            <a:r>
              <a:t>📺 Visionnage 2 — avec le son :</a:t>
            </a:r>
          </a:p>
          <a:p>
            <a:pPr algn="l">
              <a:spcAft>
                <a:spcPts val="600"/>
              </a:spcAft>
              <a:defRPr sz="1800" b="0">
                <a:solidFill>
                  <a:srgbClr val="2B2B2B"/>
                </a:solidFill>
              </a:defRPr>
            </a:pPr>
            <a:r>
              <a:t>   Note 3 pays, 2 villes, 1 plat.</a:t>
            </a:r>
          </a:p>
          <a:p>
            <a:pPr algn="l">
              <a:spcAft>
                <a:spcPts val="600"/>
              </a:spcAft>
              <a:defRPr sz="1800" b="0">
                <a:solidFill>
                  <a:srgbClr val="2B2B2B"/>
                </a:solidFill>
              </a:defRPr>
            </a:pPr>
            <a:r>
              <a:t>📺 Visionnage 3 :</a:t>
            </a:r>
          </a:p>
          <a:p>
            <a:pPr algn="l">
              <a:spcAft>
                <a:spcPts val="600"/>
              </a:spcAft>
              <a:defRPr sz="1800" b="0">
                <a:solidFill>
                  <a:srgbClr val="2B2B2B"/>
                </a:solidFill>
              </a:defRPr>
            </a:pPr>
            <a:r>
              <a:t>   Réponds à la fiche vidéo ➡️</a:t>
            </a:r>
          </a:p>
        </p:txBody>
      </p:sp>
      <p:sp>
        <p:nvSpPr>
          <p:cNvPr id="38" name="Rounded Rectangle 37">
            <a:hlinkClick action="ppaction://hlinksldjump" r:id="rId5"/>
          </p:cNvPr>
          <p:cNvSpPr/>
          <p:nvPr/>
        </p:nvSpPr>
        <p:spPr>
          <a:xfrm>
            <a:off x="8686800" y="5486400"/>
            <a:ext cx="246888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Fiche vidéo ➡️</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as-tu bien regardé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Quels pays sont présentés ?</a:t>
            </a:r>
          </a:p>
          <a:p>
            <a:pPr algn="l">
              <a:spcAft>
                <a:spcPts val="600"/>
              </a:spcAft>
              <a:defRPr sz="2200" b="0">
                <a:solidFill>
                  <a:srgbClr val="2B2B2B"/>
                </a:solidFill>
              </a:defRPr>
            </a:pPr>
            <a:r>
              <a:t>• Cite une ville et ce qu'on y voit.</a:t>
            </a:r>
          </a:p>
          <a:p>
            <a:pPr algn="l">
              <a:spcAft>
                <a:spcPts val="600"/>
              </a:spcAft>
              <a:defRPr sz="2200" b="0">
                <a:solidFill>
                  <a:srgbClr val="2B2B2B"/>
                </a:solidFill>
              </a:defRPr>
            </a:pPr>
            <a:r>
              <a:t>• Quel paysage t'a le plus surpris ? Pourquoi ?</a:t>
            </a:r>
          </a:p>
          <a:p>
            <a:pPr algn="l">
              <a:spcAft>
                <a:spcPts val="600"/>
              </a:spcAft>
              <a:defRPr sz="2200" b="0">
                <a:solidFill>
                  <a:srgbClr val="2B2B2B"/>
                </a:solidFill>
              </a:defRPr>
            </a:pPr>
            <a:r>
              <a:t>• Quelles langues entend-on ?</a:t>
            </a:r>
          </a:p>
          <a:p>
            <a:pPr algn="l">
              <a:spcAft>
                <a:spcPts val="600"/>
              </a:spcAft>
              <a:defRPr sz="2200" b="0">
                <a:solidFill>
                  <a:srgbClr val="2B2B2B"/>
                </a:solidFill>
              </a:defRPr>
            </a:pPr>
            <a:r>
              <a:t>• Vrai ou faux : le Maghreb est uniquement désertique.</a:t>
            </a:r>
          </a:p>
        </p:txBody>
      </p:sp>
      <p:sp>
        <p:nvSpPr>
          <p:cNvPr id="34" name="Rounded Rectangle 33">
            <a:hlinkClick action="ppaction://hlinksldjump" r:id="rId3"/>
          </p:cNvPr>
          <p:cNvSpPr/>
          <p:nvPr/>
        </p:nvSpPr>
        <p:spPr>
          <a:xfrm>
            <a:off x="8961120" y="548640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Maroc, Algérie, Tunisie (et parfois Libye, Mauritanie)</a:t>
            </a:r>
          </a:p>
          <a:p>
            <a:pPr algn="l">
              <a:spcAft>
                <a:spcPts val="600"/>
              </a:spcAft>
              <a:defRPr sz="2200" b="0">
                <a:solidFill>
                  <a:srgbClr val="2B2B2B"/>
                </a:solidFill>
              </a:defRPr>
            </a:pPr>
            <a:r>
              <a:t>• Ex. : Marrakech (place Jemaa el-Fna), Alger (la Casbah), Tunis (la médina)</a:t>
            </a:r>
          </a:p>
          <a:p>
            <a:pPr algn="l">
              <a:spcAft>
                <a:spcPts val="600"/>
              </a:spcAft>
              <a:defRPr sz="2200" b="0">
                <a:solidFill>
                  <a:srgbClr val="2B2B2B"/>
                </a:solidFill>
              </a:defRPr>
            </a:pPr>
            <a:r>
              <a:t>• Réponse libre — justifie avec « parce que… »</a:t>
            </a:r>
          </a:p>
          <a:p>
            <a:pPr algn="l">
              <a:spcAft>
                <a:spcPts val="600"/>
              </a:spcAft>
              <a:defRPr sz="2200" b="0">
                <a:solidFill>
                  <a:srgbClr val="2B2B2B"/>
                </a:solidFill>
              </a:defRPr>
            </a:pPr>
            <a:r>
              <a:t>• Arabe (darija), tamazight (berbère), français</a:t>
            </a:r>
          </a:p>
          <a:p>
            <a:pPr algn="l">
              <a:spcAft>
                <a:spcPts val="600"/>
              </a:spcAft>
              <a:defRPr sz="2200" b="0">
                <a:solidFill>
                  <a:srgbClr val="2B2B2B"/>
                </a:solidFill>
              </a:defRPr>
            </a:pPr>
            <a:r>
              <a:t>• FAUX ❌ : il y a aussi la mer, les montagnes, les villes, les oasis !</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1/5</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est la capitale du Maroc ?</a:t>
            </a:r>
          </a:p>
        </p:txBody>
      </p:sp>
      <p:sp>
        <p:nvSpPr>
          <p:cNvPr id="35" name="Rounded Rectangle 34">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Casablanca</a:t>
            </a:r>
          </a:p>
        </p:txBody>
      </p:sp>
      <p:sp>
        <p:nvSpPr>
          <p:cNvPr id="36" name="Rounded Rectangle 35">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Rabat</a:t>
            </a:r>
          </a:p>
        </p:txBody>
      </p:sp>
      <p:sp>
        <p:nvSpPr>
          <p:cNvPr id="37" name="Rounded Rectangle 36">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Marrakech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Rabat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2/5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 est le plus grand pays d'Afrique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Algérie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Libye</a:t>
            </a:r>
          </a:p>
        </p:txBody>
      </p:sp>
      <p:sp>
        <p:nvSpPr>
          <p:cNvPr id="36" name="Rounded Rectangle 35">
            <a:hlinkClick action="ppaction://hlinksldjump" r:id="rId4"/>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Égypte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Algérie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3/5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 signifie « Maghreb »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 désert</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Le couchant</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La mer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Le couchant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4/5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montagne traverse le Maghreb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Les Alpes</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L'Atlas</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L'Himalaya</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L'Atlas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5/5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mer borde le Maghreb au nord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Mer Rouge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Méditerranée</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Mer Noire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Méditerranée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Histoire : la frise du temps (récap)</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3291840"/>
            <a:ext cx="11064240" cy="109728"/>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7160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2011680"/>
            <a:ext cx="2194560" cy="914400"/>
          </a:xfrm>
          <a:prstGeom prst="rect">
            <a:avLst/>
          </a:prstGeom>
          <a:noFill/>
        </p:spPr>
        <p:txBody>
          <a:bodyPr wrap="square">
            <a:spAutoFit/>
          </a:bodyPr>
          <a:lstStyle/>
          <a:p>
            <a:pPr algn="ctr">
              <a:spcAft>
                <a:spcPts val="600"/>
              </a:spcAft>
              <a:defRPr sz="2000" b="1">
                <a:solidFill>
                  <a:srgbClr val="1F4E79"/>
                </a:solidFill>
              </a:defRPr>
            </a:pPr>
            <a:r>
              <a:t>Antiquité</a:t>
            </a:r>
          </a:p>
        </p:txBody>
      </p:sp>
      <p:sp>
        <p:nvSpPr>
          <p:cNvPr id="36" name="TextBox 35"/>
          <p:cNvSpPr txBox="1"/>
          <p:nvPr/>
        </p:nvSpPr>
        <p:spPr>
          <a:xfrm>
            <a:off x="548640" y="3840480"/>
            <a:ext cx="2194560" cy="1463040"/>
          </a:xfrm>
          <a:prstGeom prst="rect">
            <a:avLst/>
          </a:prstGeom>
          <a:noFill/>
        </p:spPr>
        <p:txBody>
          <a:bodyPr wrap="square">
            <a:spAutoFit/>
          </a:bodyPr>
          <a:lstStyle/>
          <a:p>
            <a:pPr algn="ctr">
              <a:spcAft>
                <a:spcPts val="600"/>
              </a:spcAft>
              <a:defRPr sz="1500" b="0">
                <a:solidFill>
                  <a:srgbClr val="2B2B2B"/>
                </a:solidFill>
              </a:defRPr>
            </a:pPr>
            <a:r>
              <a:t>Berbères (Amazighs), Carthage (814 av. J.-C.), Rome</a:t>
            </a:r>
          </a:p>
        </p:txBody>
      </p:sp>
      <p:sp>
        <p:nvSpPr>
          <p:cNvPr id="37" name="Oval 36"/>
          <p:cNvSpPr/>
          <p:nvPr/>
        </p:nvSpPr>
        <p:spPr>
          <a:xfrm>
            <a:off x="361188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88920" y="2011680"/>
            <a:ext cx="2194560" cy="914400"/>
          </a:xfrm>
          <a:prstGeom prst="rect">
            <a:avLst/>
          </a:prstGeom>
          <a:noFill/>
        </p:spPr>
        <p:txBody>
          <a:bodyPr wrap="square">
            <a:spAutoFit/>
          </a:bodyPr>
          <a:lstStyle/>
          <a:p>
            <a:pPr algn="ctr">
              <a:spcAft>
                <a:spcPts val="600"/>
              </a:spcAft>
              <a:defRPr sz="2000" b="1">
                <a:solidFill>
                  <a:srgbClr val="1F4E79"/>
                </a:solidFill>
              </a:defRPr>
            </a:pPr>
            <a:r>
              <a:t>VIIe s.</a:t>
            </a:r>
          </a:p>
        </p:txBody>
      </p:sp>
      <p:sp>
        <p:nvSpPr>
          <p:cNvPr id="39" name="TextBox 38"/>
          <p:cNvSpPr txBox="1"/>
          <p:nvPr/>
        </p:nvSpPr>
        <p:spPr>
          <a:xfrm>
            <a:off x="2788920" y="3840480"/>
            <a:ext cx="2194560" cy="1463040"/>
          </a:xfrm>
          <a:prstGeom prst="rect">
            <a:avLst/>
          </a:prstGeom>
          <a:noFill/>
        </p:spPr>
        <p:txBody>
          <a:bodyPr wrap="square">
            <a:spAutoFit/>
          </a:bodyPr>
          <a:lstStyle/>
          <a:p>
            <a:pPr algn="ctr">
              <a:spcAft>
                <a:spcPts val="600"/>
              </a:spcAft>
              <a:defRPr sz="1500" b="0">
                <a:solidFill>
                  <a:srgbClr val="2B2B2B"/>
                </a:solidFill>
              </a:defRPr>
            </a:pPr>
            <a:r>
              <a:t>Conquête arabe : islam et langue arabe</a:t>
            </a:r>
          </a:p>
        </p:txBody>
      </p:sp>
      <p:sp>
        <p:nvSpPr>
          <p:cNvPr id="40" name="Oval 39"/>
          <p:cNvSpPr/>
          <p:nvPr/>
        </p:nvSpPr>
        <p:spPr>
          <a:xfrm>
            <a:off x="585216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0" y="2011680"/>
            <a:ext cx="2194560" cy="914400"/>
          </a:xfrm>
          <a:prstGeom prst="rect">
            <a:avLst/>
          </a:prstGeom>
          <a:noFill/>
        </p:spPr>
        <p:txBody>
          <a:bodyPr wrap="square">
            <a:spAutoFit/>
          </a:bodyPr>
          <a:lstStyle/>
          <a:p>
            <a:pPr algn="ctr">
              <a:spcAft>
                <a:spcPts val="600"/>
              </a:spcAft>
              <a:defRPr sz="2000" b="1">
                <a:solidFill>
                  <a:srgbClr val="1F4E79"/>
                </a:solidFill>
              </a:defRPr>
            </a:pPr>
            <a:r>
              <a:t>XVIe s.</a:t>
            </a:r>
          </a:p>
        </p:txBody>
      </p:sp>
      <p:sp>
        <p:nvSpPr>
          <p:cNvPr id="42" name="TextBox 41"/>
          <p:cNvSpPr txBox="1"/>
          <p:nvPr/>
        </p:nvSpPr>
        <p:spPr>
          <a:xfrm>
            <a:off x="5029200" y="3840480"/>
            <a:ext cx="2194560" cy="1463040"/>
          </a:xfrm>
          <a:prstGeom prst="rect">
            <a:avLst/>
          </a:prstGeom>
          <a:noFill/>
        </p:spPr>
        <p:txBody>
          <a:bodyPr wrap="square">
            <a:spAutoFit/>
          </a:bodyPr>
          <a:lstStyle/>
          <a:p>
            <a:pPr algn="ctr">
              <a:spcAft>
                <a:spcPts val="600"/>
              </a:spcAft>
              <a:defRPr sz="1500" b="0">
                <a:solidFill>
                  <a:srgbClr val="2B2B2B"/>
                </a:solidFill>
              </a:defRPr>
            </a:pPr>
            <a:r>
              <a:t>Empire ottoman (Alger, Tunis, Tripoli) ; Maroc indépendant</a:t>
            </a:r>
          </a:p>
        </p:txBody>
      </p:sp>
      <p:sp>
        <p:nvSpPr>
          <p:cNvPr id="43" name="Oval 42"/>
          <p:cNvSpPr/>
          <p:nvPr/>
        </p:nvSpPr>
        <p:spPr>
          <a:xfrm>
            <a:off x="809244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2011680"/>
            <a:ext cx="2194560" cy="914400"/>
          </a:xfrm>
          <a:prstGeom prst="rect">
            <a:avLst/>
          </a:prstGeom>
          <a:noFill/>
        </p:spPr>
        <p:txBody>
          <a:bodyPr wrap="square">
            <a:spAutoFit/>
          </a:bodyPr>
          <a:lstStyle/>
          <a:p>
            <a:pPr algn="ctr">
              <a:spcAft>
                <a:spcPts val="600"/>
              </a:spcAft>
              <a:defRPr sz="2000" b="1">
                <a:solidFill>
                  <a:srgbClr val="1F4E79"/>
                </a:solidFill>
              </a:defRPr>
            </a:pPr>
            <a:r>
              <a:t>1830–1912</a:t>
            </a:r>
          </a:p>
        </p:txBody>
      </p:sp>
      <p:sp>
        <p:nvSpPr>
          <p:cNvPr id="45" name="TextBox 44"/>
          <p:cNvSpPr txBox="1"/>
          <p:nvPr/>
        </p:nvSpPr>
        <p:spPr>
          <a:xfrm>
            <a:off x="7269480" y="3840480"/>
            <a:ext cx="2194560" cy="1463040"/>
          </a:xfrm>
          <a:prstGeom prst="rect">
            <a:avLst/>
          </a:prstGeom>
          <a:noFill/>
        </p:spPr>
        <p:txBody>
          <a:bodyPr wrap="square">
            <a:spAutoFit/>
          </a:bodyPr>
          <a:lstStyle/>
          <a:p>
            <a:pPr algn="ctr">
              <a:spcAft>
                <a:spcPts val="600"/>
              </a:spcAft>
              <a:defRPr sz="1500" b="0">
                <a:solidFill>
                  <a:srgbClr val="2B2B2B"/>
                </a:solidFill>
              </a:defRPr>
            </a:pPr>
            <a:r>
              <a:t>Colonisation : France (Algérie, Tunisie, Maroc), Italie (Libye)</a:t>
            </a:r>
          </a:p>
        </p:txBody>
      </p:sp>
      <p:sp>
        <p:nvSpPr>
          <p:cNvPr id="46" name="Oval 45"/>
          <p:cNvSpPr/>
          <p:nvPr/>
        </p:nvSpPr>
        <p:spPr>
          <a:xfrm>
            <a:off x="1033272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509760" y="2011680"/>
            <a:ext cx="2194560" cy="914400"/>
          </a:xfrm>
          <a:prstGeom prst="rect">
            <a:avLst/>
          </a:prstGeom>
          <a:noFill/>
        </p:spPr>
        <p:txBody>
          <a:bodyPr wrap="square">
            <a:spAutoFit/>
          </a:bodyPr>
          <a:lstStyle/>
          <a:p>
            <a:pPr algn="ctr">
              <a:spcAft>
                <a:spcPts val="600"/>
              </a:spcAft>
              <a:defRPr sz="2000" b="1">
                <a:solidFill>
                  <a:srgbClr val="1F4E79"/>
                </a:solidFill>
              </a:defRPr>
            </a:pPr>
            <a:r>
              <a:t>1951–1962</a:t>
            </a:r>
          </a:p>
        </p:txBody>
      </p:sp>
      <p:sp>
        <p:nvSpPr>
          <p:cNvPr id="48" name="TextBox 47"/>
          <p:cNvSpPr txBox="1"/>
          <p:nvPr/>
        </p:nvSpPr>
        <p:spPr>
          <a:xfrm>
            <a:off x="9509760" y="3840480"/>
            <a:ext cx="2194560" cy="1463040"/>
          </a:xfrm>
          <a:prstGeom prst="rect">
            <a:avLst/>
          </a:prstGeom>
          <a:noFill/>
        </p:spPr>
        <p:txBody>
          <a:bodyPr wrap="square">
            <a:spAutoFit/>
          </a:bodyPr>
          <a:lstStyle/>
          <a:p>
            <a:pPr algn="ctr">
              <a:spcAft>
                <a:spcPts val="600"/>
              </a:spcAft>
              <a:defRPr sz="1500" b="0">
                <a:solidFill>
                  <a:srgbClr val="2B2B2B"/>
                </a:solidFill>
              </a:defRPr>
            </a:pPr>
            <a:r>
              <a:t>Indépendances</a:t>
            </a:r>
          </a:p>
        </p:txBody>
      </p:sp>
      <p:sp>
        <p:nvSpPr>
          <p:cNvPr id="49" name="TextBox 48"/>
          <p:cNvSpPr txBox="1"/>
          <p:nvPr/>
        </p:nvSpPr>
        <p:spPr>
          <a:xfrm>
            <a:off x="548640" y="5486400"/>
            <a:ext cx="10972800" cy="731520"/>
          </a:xfrm>
          <a:prstGeom prst="rect">
            <a:avLst/>
          </a:prstGeom>
          <a:noFill/>
        </p:spPr>
        <p:txBody>
          <a:bodyPr wrap="square">
            <a:spAutoFit/>
          </a:bodyPr>
          <a:lstStyle/>
          <a:p>
            <a:pPr algn="l">
              <a:spcAft>
                <a:spcPts val="600"/>
              </a:spcAft>
              <a:defRPr sz="1600" b="1">
                <a:solidFill>
                  <a:srgbClr val="B84A1E"/>
                </a:solidFill>
              </a:defRPr>
            </a:pPr>
            <a:r>
              <a:t>🗣️ Langues : arabe (darija), tamazight (ⵜⴰⵎⴰⵣⵉⵖⵜ), français • Salam = bonjour • Choukran = merci • Azul = bonjour (berbère)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Histoire : quelques données clés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1951</a:t>
            </a:r>
          </a:p>
        </p:txBody>
      </p:sp>
      <p:sp>
        <p:nvSpPr>
          <p:cNvPr id="34" name="TextBox 33"/>
          <p:cNvSpPr txBox="1"/>
          <p:nvPr/>
        </p:nvSpPr>
        <p:spPr>
          <a:xfrm>
            <a:off x="2560320" y="14173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0574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1956</a:t>
            </a:r>
          </a:p>
        </p:txBody>
      </p:sp>
      <p:sp>
        <p:nvSpPr>
          <p:cNvPr id="36" name="TextBox 35"/>
          <p:cNvSpPr txBox="1"/>
          <p:nvPr/>
        </p:nvSpPr>
        <p:spPr>
          <a:xfrm>
            <a:off x="2560320" y="2103120"/>
            <a:ext cx="9144000" cy="548640"/>
          </a:xfrm>
          <a:prstGeom prst="rect">
            <a:avLst/>
          </a:prstGeom>
          <a:noFill/>
        </p:spPr>
        <p:txBody>
          <a:bodyPr wrap="square">
            <a:spAutoFit/>
          </a:bodyPr>
          <a:lstStyle/>
          <a:p>
            <a:pPr algn="l">
              <a:spcAft>
                <a:spcPts val="600"/>
              </a:spcAft>
              <a:defRPr sz="1800" b="0">
                <a:solidFill>
                  <a:srgbClr val="2B2B2B"/>
                </a:solidFill>
              </a:defRPr>
            </a:pPr>
            <a:r>
              <a:t>Indépendance du Maroc (2 mars) et de la Tunisie (20 mars)</a:t>
            </a:r>
          </a:p>
        </p:txBody>
      </p:sp>
      <p:sp>
        <p:nvSpPr>
          <p:cNvPr id="37" name="Rounded Rectangle 36"/>
          <p:cNvSpPr/>
          <p:nvPr/>
        </p:nvSpPr>
        <p:spPr>
          <a:xfrm>
            <a:off x="548640" y="27432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1954–1962</a:t>
            </a:r>
          </a:p>
        </p:txBody>
      </p:sp>
      <p:sp>
        <p:nvSpPr>
          <p:cNvPr id="38" name="TextBox 37"/>
          <p:cNvSpPr txBox="1"/>
          <p:nvPr/>
        </p:nvSpPr>
        <p:spPr>
          <a:xfrm>
            <a:off x="2560320" y="2788920"/>
            <a:ext cx="9144000" cy="548640"/>
          </a:xfrm>
          <a:prstGeom prst="rect">
            <a:avLst/>
          </a:prstGeom>
          <a:noFill/>
        </p:spPr>
        <p:txBody>
          <a:bodyPr wrap="square">
            <a:spAutoFit/>
          </a:bodyPr>
          <a:lstStyle/>
          <a:p>
            <a:pPr algn="l">
              <a:spcAft>
                <a:spcPts val="600"/>
              </a:spcAft>
              <a:defRPr sz="1800" b="0">
                <a:solidFill>
                  <a:srgbClr val="2B2B2B"/>
                </a:solidFill>
              </a:defRPr>
            </a:pPr>
            <a:r>
              <a:t>Guerre d'Algérie → indépendance le 5 juillet 1962</a:t>
            </a:r>
          </a:p>
        </p:txBody>
      </p:sp>
      <p:sp>
        <p:nvSpPr>
          <p:cNvPr id="39" name="Rounded Rectangle 38"/>
          <p:cNvSpPr/>
          <p:nvPr/>
        </p:nvSpPr>
        <p:spPr>
          <a:xfrm>
            <a:off x="548640" y="34290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1960</a:t>
            </a:r>
          </a:p>
        </p:txBody>
      </p:sp>
      <p:sp>
        <p:nvSpPr>
          <p:cNvPr id="40" name="TextBox 39"/>
          <p:cNvSpPr txBox="1"/>
          <p:nvPr/>
        </p:nvSpPr>
        <p:spPr>
          <a:xfrm>
            <a:off x="2560320" y="34747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Mauritanie</a:t>
            </a:r>
          </a:p>
        </p:txBody>
      </p:sp>
      <p:sp>
        <p:nvSpPr>
          <p:cNvPr id="41" name="Rounded Rectangle 40"/>
          <p:cNvSpPr/>
          <p:nvPr/>
        </p:nvSpPr>
        <p:spPr>
          <a:xfrm>
            <a:off x="548640" y="41148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1989</a:t>
            </a:r>
          </a:p>
        </p:txBody>
      </p:sp>
      <p:sp>
        <p:nvSpPr>
          <p:cNvPr id="42" name="TextBox 41"/>
          <p:cNvSpPr txBox="1"/>
          <p:nvPr/>
        </p:nvSpPr>
        <p:spPr>
          <a:xfrm>
            <a:off x="2560320" y="4160520"/>
            <a:ext cx="9144000" cy="548640"/>
          </a:xfrm>
          <a:prstGeom prst="rect">
            <a:avLst/>
          </a:prstGeom>
          <a:noFill/>
        </p:spPr>
        <p:txBody>
          <a:bodyPr wrap="square">
            <a:spAutoFit/>
          </a:bodyPr>
          <a:lstStyle/>
          <a:p>
            <a:pPr algn="l">
              <a:spcAft>
                <a:spcPts val="600"/>
              </a:spcAft>
              <a:defRPr sz="1800" b="0">
                <a:solidFill>
                  <a:srgbClr val="2B2B2B"/>
                </a:solidFill>
              </a:defRPr>
            </a:pPr>
            <a:r>
              <a:t>Création de l'Union du Maghreb arabe (Marrakech)</a:t>
            </a:r>
          </a:p>
        </p:txBody>
      </p:sp>
      <p:sp>
        <p:nvSpPr>
          <p:cNvPr id="43" name="Rounded Rectangle 42"/>
          <p:cNvSpPr/>
          <p:nvPr/>
        </p:nvSpPr>
        <p:spPr>
          <a:xfrm>
            <a:off x="548640" y="48006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2011</a:t>
            </a:r>
          </a:p>
        </p:txBody>
      </p:sp>
      <p:sp>
        <p:nvSpPr>
          <p:cNvPr id="44" name="TextBox 43"/>
          <p:cNvSpPr txBox="1"/>
          <p:nvPr/>
        </p:nvSpPr>
        <p:spPr>
          <a:xfrm>
            <a:off x="2560320" y="4846320"/>
            <a:ext cx="9144000" cy="548640"/>
          </a:xfrm>
          <a:prstGeom prst="rect">
            <a:avLst/>
          </a:prstGeom>
          <a:noFill/>
        </p:spPr>
        <p:txBody>
          <a:bodyPr wrap="square">
            <a:spAutoFit/>
          </a:bodyPr>
          <a:lstStyle/>
          <a:p>
            <a:pPr algn="l">
              <a:spcAft>
                <a:spcPts val="600"/>
              </a:spcAft>
              <a:defRPr sz="1800" b="0">
                <a:solidFill>
                  <a:srgbClr val="2B2B2B"/>
                </a:solidFill>
              </a:defRPr>
            </a:pPr>
            <a:r>
              <a:t>« Printemps arabe » : départ de Ben Ali (Tunisie), chute de Kadhafi (Libye)</a:t>
            </a:r>
          </a:p>
        </p:txBody>
      </p:sp>
      <p:sp>
        <p:nvSpPr>
          <p:cNvPr id="45" name="Rounded Rectangle 44"/>
          <p:cNvSpPr/>
          <p:nvPr/>
        </p:nvSpPr>
        <p:spPr>
          <a:xfrm>
            <a:off x="548640" y="54864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2020</a:t>
            </a:r>
          </a:p>
        </p:txBody>
      </p:sp>
      <p:sp>
        <p:nvSpPr>
          <p:cNvPr id="46" name="TextBox 45"/>
          <p:cNvSpPr txBox="1"/>
          <p:nvPr/>
        </p:nvSpPr>
        <p:spPr>
          <a:xfrm>
            <a:off x="2560320" y="5532120"/>
            <a:ext cx="9144000" cy="548640"/>
          </a:xfrm>
          <a:prstGeom prst="rect">
            <a:avLst/>
          </a:prstGeom>
          <a:noFill/>
        </p:spPr>
        <p:txBody>
          <a:bodyPr wrap="square">
            <a:spAutoFit/>
          </a:bodyPr>
          <a:lstStyle/>
          <a:p>
            <a:pPr algn="l">
              <a:spcAft>
                <a:spcPts val="600"/>
              </a:spcAft>
              <a:defRPr sz="1800" b="0">
                <a:solidFill>
                  <a:srgbClr val="2B2B2B"/>
                </a:solidFill>
              </a:defRPr>
            </a:pPr>
            <a:r>
              <a:t>Le couscous inscrit au patrimoine de l'UNESCO (candidature commune)</a:t>
            </a:r>
          </a:p>
        </p:txBody>
      </p:sp>
      <p:sp>
        <p:nvSpPr>
          <p:cNvPr id="47" name="TextBox 46"/>
          <p:cNvSpPr txBox="1"/>
          <p:nvPr/>
        </p:nvSpPr>
        <p:spPr>
          <a:xfrm>
            <a:off x="548640" y="6217920"/>
            <a:ext cx="10058400" cy="365760"/>
          </a:xfrm>
          <a:prstGeom prst="rect">
            <a:avLst/>
          </a:prstGeom>
          <a:noFill/>
        </p:spPr>
        <p:txBody>
          <a:bodyPr wrap="square">
            <a:spAutoFit/>
          </a:bodyPr>
          <a:lstStyle/>
          <a:p>
            <a:pPr algn="l">
              <a:spcAft>
                <a:spcPts val="600"/>
              </a:spcAft>
              <a:defRPr sz="1500" b="1">
                <a:solidFill>
                  <a:srgbClr val="1F4E79"/>
                </a:solidFill>
              </a:defRPr>
            </a:pPr>
            <a:r>
              <a:t>🎯 Question : combien d'années séparent l'indépendance de la Libye de celle de l'Algérie ? (11 ans)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V. 3 000 ans d'histoire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40'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737360"/>
            <a:ext cx="10972800" cy="914400"/>
          </a:xfrm>
          <a:prstGeom prst="rect">
            <a:avLst/>
          </a:prstGeom>
          <a:noFill/>
        </p:spPr>
        <p:txBody>
          <a:bodyPr wrap="square">
            <a:spAutoFit/>
          </a:bodyPr>
          <a:lstStyle/>
          <a:p>
            <a:pPr algn="ctr">
              <a:spcAft>
                <a:spcPts val="600"/>
              </a:spcAft>
              <a:defRPr sz="3400" b="1">
                <a:solidFill>
                  <a:srgbClr val="E0A11B"/>
                </a:solidFill>
              </a:defRPr>
            </a:pPr>
            <a:r>
              <a:t>📜 Le Maghreb, un carrefour de civilisations</a:t>
            </a:r>
          </a:p>
        </p:txBody>
      </p:sp>
      <p:sp>
        <p:nvSpPr>
          <p:cNvPr id="35" name="Rounded Rectangle 34">
            <a:hlinkClick action="ppaction://hlinksldjump" r:id="rId4"/>
          </p:cNvPr>
          <p:cNvSpPr/>
          <p:nvPr/>
        </p:nvSpPr>
        <p:spPr>
          <a:xfrm>
            <a:off x="822960" y="3108960"/>
            <a:ext cx="329184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Antiquité</a:t>
            </a:r>
          </a:p>
        </p:txBody>
      </p:sp>
      <p:sp>
        <p:nvSpPr>
          <p:cNvPr id="36" name="Rounded Rectangle 35">
            <a:hlinkClick action="ppaction://hlinksldjump" r:id="rId5"/>
          </p:cNvPr>
          <p:cNvSpPr/>
          <p:nvPr/>
        </p:nvSpPr>
        <p:spPr>
          <a:xfrm>
            <a:off x="4480560" y="3108960"/>
            <a:ext cx="329184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Islam &amp; dynasties</a:t>
            </a:r>
          </a:p>
        </p:txBody>
      </p:sp>
      <p:sp>
        <p:nvSpPr>
          <p:cNvPr id="37" name="Rounded Rectangle 36">
            <a:hlinkClick action="ppaction://hlinksldjump" r:id="rId6"/>
          </p:cNvPr>
          <p:cNvSpPr/>
          <p:nvPr/>
        </p:nvSpPr>
        <p:spPr>
          <a:xfrm>
            <a:off x="8138160" y="3108960"/>
            <a:ext cx="329184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Ottomans</a:t>
            </a:r>
          </a:p>
        </p:txBody>
      </p:sp>
      <p:sp>
        <p:nvSpPr>
          <p:cNvPr id="38" name="Rounded Rectangle 37">
            <a:hlinkClick action="ppaction://hlinksldjump" r:id="rId7"/>
          </p:cNvPr>
          <p:cNvSpPr/>
          <p:nvPr/>
        </p:nvSpPr>
        <p:spPr>
          <a:xfrm>
            <a:off x="822960" y="4389120"/>
            <a:ext cx="329184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Colonisation</a:t>
            </a:r>
          </a:p>
        </p:txBody>
      </p:sp>
      <p:sp>
        <p:nvSpPr>
          <p:cNvPr id="39" name="Rounded Rectangle 38">
            <a:hlinkClick action="ppaction://hlinksldjump" r:id="rId8"/>
          </p:cNvPr>
          <p:cNvSpPr/>
          <p:nvPr/>
        </p:nvSpPr>
        <p:spPr>
          <a:xfrm>
            <a:off x="4480560" y="4389120"/>
            <a:ext cx="329184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Indépendances</a:t>
            </a:r>
          </a:p>
        </p:txBody>
      </p:sp>
      <p:sp>
        <p:nvSpPr>
          <p:cNvPr id="40" name="Rounded Rectangle 39">
            <a:hlinkClick action="ppaction://hlinksldjump" r:id="rId9"/>
          </p:cNvPr>
          <p:cNvSpPr/>
          <p:nvPr/>
        </p:nvSpPr>
        <p:spPr>
          <a:xfrm>
            <a:off x="8138160" y="4389120"/>
            <a:ext cx="329184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Qui suis-je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L'Antiquité : Berbères, Carthage et Rome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3000 av.</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Les Berbères (Amazighs, « hommes libres ») peuplent l'Afrique du Nord</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814 av. J.-C.</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Les Phéniciens fondent Carthage (près de Tunis)</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218 av. J.-C.</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Hannibal traverse les Alpes avec des éléphants pour attaquer Rome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146 av. J.-C.</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Rome détruit Carthage : l'« Africa » devient province romaine</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354–430</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Saint Augustin, Berbère né en Algérie, grand penseur chrétien</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Vestiges</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Timgad, Djemila (Algérie), Volubilis (Maroc), El Jem (Tunisie)</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 signifie « Amazigh », le nom des Berbères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L'Antiquité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 signifie « Amazigh », le nom des Berbères ?</a:t>
            </a:r>
          </a:p>
          <a:p>
            <a:pPr algn="ctr">
              <a:spcAft>
                <a:spcPts val="600"/>
              </a:spcAft>
              <a:defRPr sz="2400" b="1">
                <a:solidFill>
                  <a:srgbClr val="2B2B2B"/>
                </a:solidFill>
              </a:defRPr>
            </a:pPr>
          </a:p>
          <a:p>
            <a:pPr algn="ctr">
              <a:spcAft>
                <a:spcPts val="600"/>
              </a:spcAft>
              <a:defRPr sz="2400" b="1">
                <a:solidFill>
                  <a:srgbClr val="2B2B2B"/>
                </a:solidFill>
              </a:defRPr>
            </a:pPr>
            <a:r>
              <a:t>➡️ « Homme libre ». Le Maghreb est berbère bien avant d'être arabe !</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L'islam et les grandes dynasties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670</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Fondation de Kairouan ; conquête arabe du Maghreb</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711</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Tariq ibn Ziyad passe en Espagne : début d'Al-Andalus</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789</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Fondation de Fès par les Idrissides (Maroc)</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859</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Fatima al-Fihri fonde la Qarawiyyin à Fès</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XIe–XIIIe s.</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Almoravides puis Almohades : empires berbères de l'Espagne au Sahara</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1325–1354</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Ibn Battuta, né à Tanger, voyage jusqu'en Chine</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Qui a fondé la plus ancienne université du monde encore en activité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L'islam et les grandes dynasties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Qui a fondé la plus ancienne université du monde encore en activité ?</a:t>
            </a:r>
          </a:p>
          <a:p>
            <a:pPr algn="ctr">
              <a:spcAft>
                <a:spcPts val="600"/>
              </a:spcAft>
              <a:defRPr sz="2400" b="1">
                <a:solidFill>
                  <a:srgbClr val="2B2B2B"/>
                </a:solidFill>
              </a:defRPr>
            </a:pPr>
          </a:p>
          <a:p>
            <a:pPr algn="ctr">
              <a:spcAft>
                <a:spcPts val="600"/>
              </a:spcAft>
              <a:defRPr sz="2400" b="1">
                <a:solidFill>
                  <a:srgbClr val="2B2B2B"/>
                </a:solidFill>
              </a:defRPr>
            </a:pPr>
            <a:r>
              <a:t>➡️ Une femme : Fatima al-Fihri, en 859, à Fès (la Qarawiyyin).</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Ottomans et corsaires (XVIe–XIXe 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1492</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Fin d'Al-Andalus : musulmans et juifs d'Espagne se réfugient au Maghreb</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1516–1529</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Les frères Barberousse prennent Alger</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XVIe s.</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Alger, Tunis et Tripoli passent sous l'Empire ottoman</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Maroc</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Reste indépendant (dynasties saadienne puis alaouite, encore au pouvoir)</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XVIIe s.</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Les corsaires « barbaresques » capturent des navires en Méditerranée</a:t>
            </a:r>
          </a:p>
        </p:txBody>
      </p:sp>
      <p:sp>
        <p:nvSpPr>
          <p:cNvPr id="43" name="Rounded Rectangle 42"/>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Quel pays du Maghreb n'a jamais été ottoman ?</a:t>
            </a:r>
          </a:p>
        </p:txBody>
      </p:sp>
      <p:sp>
        <p:nvSpPr>
          <p:cNvPr id="45" name="Rounded Rectangle 44">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Ottomans et corsaires (XVIe–XIXe 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Quel pays du Maghreb n'a jamais été ottoman ?</a:t>
            </a:r>
          </a:p>
          <a:p>
            <a:pPr algn="ctr">
              <a:spcAft>
                <a:spcPts val="600"/>
              </a:spcAft>
              <a:defRPr sz="2400" b="1">
                <a:solidFill>
                  <a:srgbClr val="2B2B2B"/>
                </a:solidFill>
              </a:defRPr>
            </a:pPr>
          </a:p>
          <a:p>
            <a:pPr algn="ctr">
              <a:spcAft>
                <a:spcPts val="600"/>
              </a:spcAft>
              <a:defRPr sz="2400" b="1">
                <a:solidFill>
                  <a:srgbClr val="2B2B2B"/>
                </a:solidFill>
              </a:defRPr>
            </a:pPr>
            <a:r>
              <a:t>➡️ Le Maroc, gouverné par la dynastie alaouite depuis le XVIIe siècle (le roi actuel, Mohammed VI, en fait partie).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La colonisation européenne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1830</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La France prend Alger ; l'Algérie devient française (3 départements)</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1832–1847</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L'émir Abd el-Kader résiste à la conquête</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1881</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Protectorat français sur la Tunisie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1911–1912</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Italie en Libye ; protectorats français et espagnol sur le Maroc</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1914–1945</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Des tirailleurs maghrébins combattent pour la France dans les deux guerres mondiales</a:t>
            </a:r>
          </a:p>
        </p:txBody>
      </p:sp>
      <p:sp>
        <p:nvSpPr>
          <p:cNvPr id="43" name="Rounded Rectangle 42"/>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Quelle différence entre une colonie et un protectorat ?</a:t>
            </a:r>
          </a:p>
        </p:txBody>
      </p:sp>
      <p:sp>
        <p:nvSpPr>
          <p:cNvPr id="45" name="Rounded Rectangle 44">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La colonisation européenne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Quelle différence entre une colonie et un protectorat ?</a:t>
            </a:r>
          </a:p>
          <a:p>
            <a:pPr algn="ctr">
              <a:spcAft>
                <a:spcPts val="600"/>
              </a:spcAft>
              <a:defRPr sz="2400" b="1">
                <a:solidFill>
                  <a:srgbClr val="2B2B2B"/>
                </a:solidFill>
              </a:defRPr>
            </a:pPr>
          </a:p>
          <a:p>
            <a:pPr algn="ctr">
              <a:spcAft>
                <a:spcPts val="600"/>
              </a:spcAft>
              <a:defRPr sz="2400" b="1">
                <a:solidFill>
                  <a:srgbClr val="2B2B2B"/>
                </a:solidFill>
              </a:defRPr>
            </a:pPr>
            <a:r>
              <a:t>➡️ Colonie (Algérie) : le pays est annexé et gouverné directement. Protectorat (Maroc, Tunisie) : le souverain local reste, mais la France contrôle.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Les indépendances et la guerre d'Algérie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1951</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1956</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Indépendance du Maroc (Mohammed V) et de la Tunisie (Bourguiba)</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1er nov. 1954</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 Toussaint rouge » : le FLN déclenche la guerre d'Algérie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1962</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Accords d'Évian → indépendance de l'Algérie (5 juillet)</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1962</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Environ 1 million de pieds-noirs et des harkis partent pour la France</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Aujourd'hui</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Une histoire commune : des millions de Français ont des origines maghrébines</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Combien de temps a duré la guerre d'Algérie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Les indépendances et la guerre d'Algérie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Combien de temps a duré la guerre d'Algérie ?</a:t>
            </a:r>
          </a:p>
          <a:p>
            <a:pPr algn="ctr">
              <a:spcAft>
                <a:spcPts val="600"/>
              </a:spcAft>
              <a:defRPr sz="2400" b="1">
                <a:solidFill>
                  <a:srgbClr val="2B2B2B"/>
                </a:solidFill>
              </a:defRPr>
            </a:pPr>
          </a:p>
          <a:p>
            <a:pPr algn="ctr">
              <a:spcAft>
                <a:spcPts val="600"/>
              </a:spcAft>
              <a:defRPr sz="2400" b="1">
                <a:solidFill>
                  <a:srgbClr val="2B2B2B"/>
                </a:solidFill>
              </a:defRPr>
            </a:pPr>
            <a:r>
              <a:t>➡️ Près de 8 ans (1954-1962), avec des centaines de milliers de morts. Une mémoire encore sensible des deux côtés de la Méditerranée.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Qui suis-je ? Les grands personnages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1508760"/>
            <a:ext cx="3291840" cy="1371600"/>
          </a:xfrm>
          <a:prstGeom prst="rect">
            <a:avLst/>
          </a:prstGeom>
          <a:noFill/>
        </p:spPr>
        <p:txBody>
          <a:bodyPr wrap="square">
            <a:spAutoFit/>
          </a:bodyPr>
          <a:lstStyle/>
          <a:p>
            <a:pPr algn="l">
              <a:spcAft>
                <a:spcPts val="600"/>
              </a:spcAft>
              <a:defRPr sz="1500" b="0">
                <a:solidFill>
                  <a:srgbClr val="2B2B2B"/>
                </a:solidFill>
              </a:defRPr>
            </a:pPr>
            <a:r>
              <a:t>« Je suis né à Carthage et j'ai traversé les Alpes avec des éléphants. »</a:t>
            </a:r>
          </a:p>
        </p:txBody>
      </p:sp>
      <p:sp>
        <p:nvSpPr>
          <p:cNvPr id="35" name="Rounded Rectangle 34">
            <a:hlinkClick action="ppaction://hlinksldjump" r:id="rId4"/>
          </p:cNvPr>
          <p:cNvSpPr/>
          <p:nvPr/>
        </p:nvSpPr>
        <p:spPr>
          <a:xfrm>
            <a:off x="1097280" y="2880360"/>
            <a:ext cx="2468880" cy="5029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36" name="Rounded Rectangle 35"/>
          <p:cNvSpPr/>
          <p:nvPr/>
        </p:nvSpPr>
        <p:spPr>
          <a:xfrm>
            <a:off x="434340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1508760"/>
            <a:ext cx="3291840" cy="1371600"/>
          </a:xfrm>
          <a:prstGeom prst="rect">
            <a:avLst/>
          </a:prstGeom>
          <a:noFill/>
        </p:spPr>
        <p:txBody>
          <a:bodyPr wrap="square">
            <a:spAutoFit/>
          </a:bodyPr>
          <a:lstStyle/>
          <a:p>
            <a:pPr algn="l">
              <a:spcAft>
                <a:spcPts val="600"/>
              </a:spcAft>
              <a:defRPr sz="1500" b="0">
                <a:solidFill>
                  <a:srgbClr val="2B2B2B"/>
                </a:solidFill>
              </a:defRPr>
            </a:pPr>
            <a:r>
              <a:t>« Je suis né à Thagaste (Algérie) et je suis un saint chrétien. »</a:t>
            </a:r>
          </a:p>
        </p:txBody>
      </p:sp>
      <p:sp>
        <p:nvSpPr>
          <p:cNvPr id="38" name="Rounded Rectangle 37">
            <a:hlinkClick action="ppaction://hlinksldjump" r:id="rId4"/>
          </p:cNvPr>
          <p:cNvSpPr/>
          <p:nvPr/>
        </p:nvSpPr>
        <p:spPr>
          <a:xfrm>
            <a:off x="4892040" y="2880360"/>
            <a:ext cx="2468880" cy="5029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39" name="Rounded Rectangle 38"/>
          <p:cNvSpPr/>
          <p:nvPr/>
        </p:nvSpPr>
        <p:spPr>
          <a:xfrm>
            <a:off x="813816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320" y="1508760"/>
            <a:ext cx="3291840" cy="1371600"/>
          </a:xfrm>
          <a:prstGeom prst="rect">
            <a:avLst/>
          </a:prstGeom>
          <a:noFill/>
        </p:spPr>
        <p:txBody>
          <a:bodyPr wrap="square">
            <a:spAutoFit/>
          </a:bodyPr>
          <a:lstStyle/>
          <a:p>
            <a:pPr algn="l">
              <a:spcAft>
                <a:spcPts val="600"/>
              </a:spcAft>
              <a:defRPr sz="1500" b="0">
                <a:solidFill>
                  <a:srgbClr val="2B2B2B"/>
                </a:solidFill>
              </a:defRPr>
            </a:pPr>
            <a:r>
              <a:t>« Un rocher d'Espagne porte mon nom. »</a:t>
            </a:r>
          </a:p>
        </p:txBody>
      </p:sp>
      <p:sp>
        <p:nvSpPr>
          <p:cNvPr id="41" name="Rounded Rectangle 40">
            <a:hlinkClick action="ppaction://hlinksldjump" r:id="rId4"/>
          </p:cNvPr>
          <p:cNvSpPr/>
          <p:nvPr/>
        </p:nvSpPr>
        <p:spPr>
          <a:xfrm>
            <a:off x="8686800" y="2880360"/>
            <a:ext cx="246888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2" name="Rounded Rectangle 41"/>
          <p:cNvSpPr/>
          <p:nvPr/>
        </p:nvSpPr>
        <p:spPr>
          <a:xfrm>
            <a:off x="54864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3886200"/>
            <a:ext cx="3291840" cy="1371600"/>
          </a:xfrm>
          <a:prstGeom prst="rect">
            <a:avLst/>
          </a:prstGeom>
          <a:noFill/>
        </p:spPr>
        <p:txBody>
          <a:bodyPr wrap="square">
            <a:spAutoFit/>
          </a:bodyPr>
          <a:lstStyle/>
          <a:p>
            <a:pPr algn="l">
              <a:spcAft>
                <a:spcPts val="600"/>
              </a:spcAft>
              <a:defRPr sz="1500" b="0">
                <a:solidFill>
                  <a:srgbClr val="2B2B2B"/>
                </a:solidFill>
              </a:defRPr>
            </a:pPr>
            <a:r>
              <a:t>« Né à Tanger, j'ai voyagé 30 ans jusqu'en Chine. »</a:t>
            </a:r>
          </a:p>
        </p:txBody>
      </p:sp>
      <p:sp>
        <p:nvSpPr>
          <p:cNvPr id="44" name="Rounded Rectangle 43">
            <a:hlinkClick action="ppaction://hlinksldjump" r:id="rId4"/>
          </p:cNvPr>
          <p:cNvSpPr/>
          <p:nvPr/>
        </p:nvSpPr>
        <p:spPr>
          <a:xfrm>
            <a:off x="1097280" y="5257800"/>
            <a:ext cx="2468880" cy="5029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5" name="Rounded Rectangle 44"/>
          <p:cNvSpPr/>
          <p:nvPr/>
        </p:nvSpPr>
        <p:spPr>
          <a:xfrm>
            <a:off x="434340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80560" y="3886200"/>
            <a:ext cx="3291840" cy="1371600"/>
          </a:xfrm>
          <a:prstGeom prst="rect">
            <a:avLst/>
          </a:prstGeom>
          <a:noFill/>
        </p:spPr>
        <p:txBody>
          <a:bodyPr wrap="square">
            <a:spAutoFit/>
          </a:bodyPr>
          <a:lstStyle/>
          <a:p>
            <a:pPr algn="l">
              <a:spcAft>
                <a:spcPts val="600"/>
              </a:spcAft>
              <a:defRPr sz="1500" b="0">
                <a:solidFill>
                  <a:srgbClr val="2B2B2B"/>
                </a:solidFill>
              </a:defRPr>
            </a:pPr>
            <a:r>
              <a:t>« J'ai combattu la conquête française de l'Algérie. »</a:t>
            </a:r>
          </a:p>
        </p:txBody>
      </p:sp>
      <p:sp>
        <p:nvSpPr>
          <p:cNvPr id="47" name="Rounded Rectangle 46">
            <a:hlinkClick action="ppaction://hlinksldjump" r:id="rId4"/>
          </p:cNvPr>
          <p:cNvSpPr/>
          <p:nvPr/>
        </p:nvSpPr>
        <p:spPr>
          <a:xfrm>
            <a:off x="4892040" y="5257800"/>
            <a:ext cx="2468880" cy="5029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8" name="Rounded Rectangle 47"/>
          <p:cNvSpPr/>
          <p:nvPr/>
        </p:nvSpPr>
        <p:spPr>
          <a:xfrm>
            <a:off x="813816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75320" y="3886200"/>
            <a:ext cx="3291840" cy="1371600"/>
          </a:xfrm>
          <a:prstGeom prst="rect">
            <a:avLst/>
          </a:prstGeom>
          <a:noFill/>
        </p:spPr>
        <p:txBody>
          <a:bodyPr wrap="square">
            <a:spAutoFit/>
          </a:bodyPr>
          <a:lstStyle/>
          <a:p>
            <a:pPr algn="l">
              <a:spcAft>
                <a:spcPts val="600"/>
              </a:spcAft>
              <a:defRPr sz="1500" b="0">
                <a:solidFill>
                  <a:srgbClr val="2B2B2B"/>
                </a:solidFill>
              </a:defRPr>
            </a:pPr>
            <a:r>
              <a:t>« J'ai été le 1er président de la Tunisie et j'ai donné des droits aux femmes. »</a:t>
            </a:r>
          </a:p>
        </p:txBody>
      </p:sp>
      <p:sp>
        <p:nvSpPr>
          <p:cNvPr id="50" name="Rounded Rectangle 49">
            <a:hlinkClick action="ppaction://hlinksldjump" r:id="rId4"/>
          </p:cNvPr>
          <p:cNvSpPr/>
          <p:nvPr/>
        </p:nvSpPr>
        <p:spPr>
          <a:xfrm>
            <a:off x="8686800" y="5257800"/>
            <a:ext cx="246888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Réponses : qui suis-je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400" b="1">
                <a:solidFill>
                  <a:srgbClr val="B84A1E"/>
                </a:solidFill>
              </a:defRPr>
            </a:pPr>
            <a:r>
              <a:t>1. Hannibal</a:t>
            </a:r>
          </a:p>
          <a:p>
            <a:pPr algn="l">
              <a:spcAft>
                <a:spcPts val="600"/>
              </a:spcAft>
              <a:defRPr sz="2400" b="1">
                <a:solidFill>
                  <a:srgbClr val="B84A1E"/>
                </a:solidFill>
              </a:defRPr>
            </a:pPr>
            <a:r>
              <a:t>2. Saint Augustin</a:t>
            </a:r>
          </a:p>
          <a:p>
            <a:pPr algn="l">
              <a:spcAft>
                <a:spcPts val="600"/>
              </a:spcAft>
              <a:defRPr sz="2400" b="1">
                <a:solidFill>
                  <a:srgbClr val="B84A1E"/>
                </a:solidFill>
              </a:defRPr>
            </a:pPr>
            <a:r>
              <a:t>3. Tariq ibn Ziyad</a:t>
            </a:r>
          </a:p>
          <a:p>
            <a:pPr algn="l">
              <a:spcAft>
                <a:spcPts val="600"/>
              </a:spcAft>
              <a:defRPr sz="2400" b="1">
                <a:solidFill>
                  <a:srgbClr val="B84A1E"/>
                </a:solidFill>
              </a:defRPr>
            </a:pPr>
            <a:r>
              <a:t>4. Ibn Battuta</a:t>
            </a:r>
          </a:p>
          <a:p>
            <a:pPr algn="l">
              <a:spcAft>
                <a:spcPts val="600"/>
              </a:spcAft>
              <a:defRPr sz="2400" b="1">
                <a:solidFill>
                  <a:srgbClr val="B84A1E"/>
                </a:solidFill>
              </a:defRPr>
            </a:pPr>
            <a:r>
              <a:t>5. L'émir Abd el-Kader</a:t>
            </a:r>
          </a:p>
          <a:p>
            <a:pPr algn="l">
              <a:spcAft>
                <a:spcPts val="600"/>
              </a:spcAft>
              <a:defRPr sz="2400" b="1">
                <a:solidFill>
                  <a:srgbClr val="B84A1E"/>
                </a:solidFill>
              </a:defRPr>
            </a:pPr>
            <a:r>
              <a:t>6. Habib Bourguiba</a:t>
            </a:r>
          </a:p>
        </p:txBody>
      </p:sp>
      <p:sp>
        <p:nvSpPr>
          <p:cNvPr id="34" name="Rounded Rectangle 33">
            <a:hlinkClick action="ppaction://hlinksldjump" r:id="rId3"/>
          </p:cNvPr>
          <p:cNvSpPr/>
          <p:nvPr/>
        </p:nvSpPr>
        <p:spPr>
          <a:xfrm>
            <a:off x="8595360" y="548640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Époques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Remets l'histoire dans l'ordre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822960" y="1554480"/>
            <a:ext cx="3291840" cy="10972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Indépendance de l'Algérie</a:t>
            </a:r>
          </a:p>
        </p:txBody>
      </p:sp>
      <p:sp>
        <p:nvSpPr>
          <p:cNvPr id="34" name="Rounded Rectangle 33"/>
          <p:cNvSpPr/>
          <p:nvPr/>
        </p:nvSpPr>
        <p:spPr>
          <a:xfrm>
            <a:off x="4480560" y="1554480"/>
            <a:ext cx="3291840" cy="10972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Carthage</a:t>
            </a:r>
          </a:p>
        </p:txBody>
      </p:sp>
      <p:sp>
        <p:nvSpPr>
          <p:cNvPr id="35" name="Rounded Rectangle 34"/>
          <p:cNvSpPr/>
          <p:nvPr/>
        </p:nvSpPr>
        <p:spPr>
          <a:xfrm>
            <a:off x="8138160" y="1554480"/>
            <a:ext cx="3291840" cy="10972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Kairouan</a:t>
            </a:r>
          </a:p>
        </p:txBody>
      </p:sp>
      <p:sp>
        <p:nvSpPr>
          <p:cNvPr id="36" name="Rounded Rectangle 35"/>
          <p:cNvSpPr/>
          <p:nvPr/>
        </p:nvSpPr>
        <p:spPr>
          <a:xfrm>
            <a:off x="822960" y="3017520"/>
            <a:ext cx="3291840" cy="10972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Prise d'Alger par la France</a:t>
            </a:r>
          </a:p>
        </p:txBody>
      </p:sp>
      <p:sp>
        <p:nvSpPr>
          <p:cNvPr id="37" name="Rounded Rectangle 36"/>
          <p:cNvSpPr/>
          <p:nvPr/>
        </p:nvSpPr>
        <p:spPr>
          <a:xfrm>
            <a:off x="4480560" y="3017520"/>
            <a:ext cx="3291840" cy="10972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la Qarawiyyin</a:t>
            </a:r>
          </a:p>
        </p:txBody>
      </p:sp>
      <p:sp>
        <p:nvSpPr>
          <p:cNvPr id="38" name="Rounded Rectangle 37"/>
          <p:cNvSpPr/>
          <p:nvPr/>
        </p:nvSpPr>
        <p:spPr>
          <a:xfrm>
            <a:off x="8138160" y="3017520"/>
            <a:ext cx="3291840" cy="10972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Printemps arabe</a:t>
            </a:r>
          </a:p>
        </p:txBody>
      </p:sp>
      <p:sp>
        <p:nvSpPr>
          <p:cNvPr id="39" name="Rounded Rectangle 38">
            <a:hlinkClick action="ppaction://hlinksldjump" r:id="rId4"/>
          </p:cNvPr>
          <p:cNvSpPr/>
          <p:nvPr/>
        </p:nvSpPr>
        <p:spPr>
          <a:xfrm>
            <a:off x="4754880" y="4937760"/>
            <a:ext cx="265176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Correction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L'ordre chronologique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400" b="0">
                <a:solidFill>
                  <a:srgbClr val="2B2B2B"/>
                </a:solidFill>
              </a:defRPr>
            </a:pPr>
            <a:r>
              <a:t>1. Fondation de Carthage — 814 av. J.-C.</a:t>
            </a:r>
          </a:p>
          <a:p>
            <a:pPr algn="l">
              <a:spcAft>
                <a:spcPts val="600"/>
              </a:spcAft>
              <a:defRPr sz="2400" b="0">
                <a:solidFill>
                  <a:srgbClr val="2B2B2B"/>
                </a:solidFill>
              </a:defRPr>
            </a:pPr>
            <a:r>
              <a:t>2. Fondation de Kairouan — 670</a:t>
            </a:r>
          </a:p>
          <a:p>
            <a:pPr algn="l">
              <a:spcAft>
                <a:spcPts val="600"/>
              </a:spcAft>
              <a:defRPr sz="2400" b="0">
                <a:solidFill>
                  <a:srgbClr val="2B2B2B"/>
                </a:solidFill>
              </a:defRPr>
            </a:pPr>
            <a:r>
              <a:t>3. Fondation de la Qarawiyyin — 859</a:t>
            </a:r>
          </a:p>
          <a:p>
            <a:pPr algn="l">
              <a:spcAft>
                <a:spcPts val="600"/>
              </a:spcAft>
              <a:defRPr sz="2400" b="0">
                <a:solidFill>
                  <a:srgbClr val="2B2B2B"/>
                </a:solidFill>
              </a:defRPr>
            </a:pPr>
            <a:r>
              <a:t>4. Prise d'Alger par la France — 1830</a:t>
            </a:r>
          </a:p>
          <a:p>
            <a:pPr algn="l">
              <a:spcAft>
                <a:spcPts val="600"/>
              </a:spcAft>
              <a:defRPr sz="2400" b="0">
                <a:solidFill>
                  <a:srgbClr val="2B2B2B"/>
                </a:solidFill>
              </a:defRPr>
            </a:pPr>
            <a:r>
              <a:t>5. Indépendance de l'Algérie — 1962</a:t>
            </a:r>
          </a:p>
          <a:p>
            <a:pPr algn="l">
              <a:spcAft>
                <a:spcPts val="600"/>
              </a:spcAft>
              <a:defRPr sz="2400" b="0">
                <a:solidFill>
                  <a:srgbClr val="2B2B2B"/>
                </a:solidFill>
              </a:defRPr>
            </a:pPr>
            <a:r>
              <a:t>6. Printemps arabe — 2010-2011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3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PAUSE — thé à la menthe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94560"/>
            <a:ext cx="10972800" cy="1828800"/>
          </a:xfrm>
          <a:prstGeom prst="rect">
            <a:avLst/>
          </a:prstGeom>
          <a:noFill/>
        </p:spPr>
        <p:txBody>
          <a:bodyPr wrap="square">
            <a:spAutoFit/>
          </a:bodyPr>
          <a:lstStyle/>
          <a:p>
            <a:pPr algn="ctr">
              <a:spcAft>
                <a:spcPts val="600"/>
              </a:spcAft>
              <a:defRPr sz="3000" b="1">
                <a:solidFill>
                  <a:srgbClr val="1E7B4A"/>
                </a:solidFill>
              </a:defRPr>
            </a:pPr>
            <a:r>
              <a:t>🫖 15 minutes de pause</a:t>
            </a:r>
          </a:p>
          <a:p>
            <a:pPr algn="ctr">
              <a:spcAft>
                <a:spcPts val="600"/>
              </a:spcAft>
              <a:defRPr sz="3000" b="1">
                <a:solidFill>
                  <a:srgbClr val="1E7B4A"/>
                </a:solidFill>
              </a:defRPr>
            </a:pPr>
            <a:r>
              <a:t>Le thé à la menthe, symbole d'hospitalité, se sert « de haut » pour faire de la mousse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Compréhension écrite : la lettre de Yasmine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371600"/>
            <a:ext cx="11064240" cy="4846320"/>
          </a:xfrm>
          <a:prstGeom prst="rect">
            <a:avLst/>
          </a:prstGeom>
          <a:noFill/>
        </p:spPr>
        <p:txBody>
          <a:bodyPr wrap="square">
            <a:spAutoFit/>
          </a:bodyPr>
          <a:lstStyle/>
          <a:p>
            <a:pPr algn="l">
              <a:spcAft>
                <a:spcPts val="600"/>
              </a:spcAft>
              <a:defRPr sz="1700" b="0">
                <a:solidFill>
                  <a:srgbClr val="2B2B2B"/>
                </a:solidFill>
              </a:defRPr>
            </a:pPr>
            <a:r>
              <a:t>Lettre de Yasmine, depuis Marrakech</a:t>
            </a:r>
          </a:p>
          <a:p>
            <a:pPr algn="l">
              <a:spcAft>
                <a:spcPts val="600"/>
              </a:spcAft>
              <a:defRPr sz="1700" b="0">
                <a:solidFill>
                  <a:srgbClr val="2B2B2B"/>
                </a:solidFill>
              </a:defRPr>
            </a:pPr>
            <a:r>
              <a:t>Chère Léa,</a:t>
            </a:r>
          </a:p>
          <a:p>
            <a:pPr algn="l">
              <a:spcAft>
                <a:spcPts val="600"/>
              </a:spcAft>
              <a:defRPr sz="1700" b="0">
                <a:solidFill>
                  <a:srgbClr val="2B2B2B"/>
                </a:solidFill>
              </a:defRPr>
            </a:pPr>
            <a:r>
              <a:t>Me voici enfin à Marrakech, chez ma grand-mère ! Hier matin, nous sommes allées au souk : quel spectacle ! Des épices de toutes les couleurs, des tapis, des lanternes en cuivre… On a acheté du cumin et du safran pour le couscous du vendredi.</a:t>
            </a:r>
          </a:p>
          <a:p>
            <a:pPr algn="l">
              <a:spcAft>
                <a:spcPts val="600"/>
              </a:spcAft>
              <a:defRPr sz="1700" b="0">
                <a:solidFill>
                  <a:srgbClr val="2B2B2B"/>
                </a:solidFill>
              </a:defRPr>
            </a:pPr>
            <a:r>
              <a:t>Le soir, la place Jemaa el-Fna se transforme : il y a des conteurs, des musiciens gnaoua et des dizaines de petits restaurants. J'ai goûté une harira, une soupe délicieuse.</a:t>
            </a:r>
          </a:p>
          <a:p>
            <a:pPr algn="l">
              <a:spcAft>
                <a:spcPts val="600"/>
              </a:spcAft>
              <a:defRPr sz="1700" b="0">
                <a:solidFill>
                  <a:srgbClr val="2B2B2B"/>
                </a:solidFill>
              </a:defRPr>
            </a:pPr>
            <a:r>
              <a:t>Samedi, nous partons trois jours dans le désert, près de Merzouga. Nous dormirons sous une tente berbère et nous monterons à dos de dromadaire pour voir le lever du soleil sur les dunes. J'ai hâte !</a:t>
            </a:r>
          </a:p>
          <a:p>
            <a:pPr algn="l">
              <a:spcAft>
                <a:spcPts val="600"/>
              </a:spcAft>
              <a:defRPr sz="1700" b="0">
                <a:solidFill>
                  <a:srgbClr val="2B2B2B"/>
                </a:solidFill>
              </a:defRPr>
            </a:pPr>
            <a:r>
              <a:t>Je t'envoie plein de soleil. Bisous, Yasmine</a:t>
            </a:r>
          </a:p>
        </p:txBody>
      </p:sp>
      <p:sp>
        <p:nvSpPr>
          <p:cNvPr id="35" name="Rounded Rectangle 34">
            <a:hlinkClick action="ppaction://hlinksldjump" r:id="rId4"/>
          </p:cNvPr>
          <p:cNvSpPr/>
          <p:nvPr/>
        </p:nvSpPr>
        <p:spPr>
          <a:xfrm>
            <a:off x="9326880" y="6263640"/>
            <a:ext cx="182880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Qui écrit ? À qui ? D'où ?</a:t>
            </a:r>
          </a:p>
          <a:p>
            <a:pPr algn="l">
              <a:spcAft>
                <a:spcPts val="600"/>
              </a:spcAft>
              <a:defRPr sz="2100" b="0">
                <a:solidFill>
                  <a:srgbClr val="2B2B2B"/>
                </a:solidFill>
              </a:defRPr>
            </a:pPr>
            <a:r>
              <a:t>• 2. Vrai/Faux : Yasmine est en vacances chez sa tante. Justifie.</a:t>
            </a:r>
          </a:p>
          <a:p>
            <a:pPr algn="l">
              <a:spcAft>
                <a:spcPts val="600"/>
              </a:spcAft>
              <a:defRPr sz="2100" b="0">
                <a:solidFill>
                  <a:srgbClr val="2B2B2B"/>
                </a:solidFill>
              </a:defRPr>
            </a:pPr>
            <a:r>
              <a:t>• 3. Cite 3 choses qu'on trouve au souk.</a:t>
            </a:r>
          </a:p>
          <a:p>
            <a:pPr algn="l">
              <a:spcAft>
                <a:spcPts val="600"/>
              </a:spcAft>
              <a:defRPr sz="2100" b="0">
                <a:solidFill>
                  <a:srgbClr val="2B2B2B"/>
                </a:solidFill>
              </a:defRPr>
            </a:pPr>
            <a:r>
              <a:t>• 4. Que se passe-t-il le soir sur la place Jemaa el-Fna ?</a:t>
            </a:r>
          </a:p>
          <a:p>
            <a:pPr algn="l">
              <a:spcAft>
                <a:spcPts val="600"/>
              </a:spcAft>
              <a:defRPr sz="2100" b="0">
                <a:solidFill>
                  <a:srgbClr val="2B2B2B"/>
                </a:solidFill>
              </a:defRPr>
            </a:pPr>
            <a:r>
              <a:t>• 5. Qu'est-ce que la harira ?</a:t>
            </a:r>
          </a:p>
          <a:p>
            <a:pPr algn="l">
              <a:spcAft>
                <a:spcPts val="600"/>
              </a:spcAft>
              <a:defRPr sz="2100" b="0">
                <a:solidFill>
                  <a:srgbClr val="2B2B2B"/>
                </a:solidFill>
              </a:defRPr>
            </a:pPr>
            <a:r>
              <a:t>• 6. Combien de temps durera l'excursion dans le désert ?</a:t>
            </a:r>
          </a:p>
          <a:p>
            <a:pPr algn="l">
              <a:spcAft>
                <a:spcPts val="600"/>
              </a:spcAft>
              <a:defRPr sz="2100" b="0">
                <a:solidFill>
                  <a:srgbClr val="2B2B2B"/>
                </a:solidFill>
              </a:defRPr>
            </a:pPr>
            <a:r>
              <a:t>• 7. ✍️ Production : réponds à Yasmine (5 lignes) en racontant un voyage.</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Yasmine écrit à Léa, depuis Marrakech (Maroc).</a:t>
            </a:r>
          </a:p>
          <a:p>
            <a:pPr algn="l">
              <a:spcAft>
                <a:spcPts val="600"/>
              </a:spcAft>
              <a:defRPr sz="2100" b="0">
                <a:solidFill>
                  <a:srgbClr val="2B2B2B"/>
                </a:solidFill>
              </a:defRPr>
            </a:pPr>
            <a:r>
              <a:t>• 2. FAUX : elle est chez sa grand-mère.</a:t>
            </a:r>
          </a:p>
          <a:p>
            <a:pPr algn="l">
              <a:spcAft>
                <a:spcPts val="600"/>
              </a:spcAft>
              <a:defRPr sz="2100" b="0">
                <a:solidFill>
                  <a:srgbClr val="2B2B2B"/>
                </a:solidFill>
              </a:defRPr>
            </a:pPr>
            <a:r>
              <a:t>• 3. Épices, tapis, lanternes en cuivre.</a:t>
            </a:r>
          </a:p>
          <a:p>
            <a:pPr algn="l">
              <a:spcAft>
                <a:spcPts val="600"/>
              </a:spcAft>
              <a:defRPr sz="2100" b="0">
                <a:solidFill>
                  <a:srgbClr val="2B2B2B"/>
                </a:solidFill>
              </a:defRPr>
            </a:pPr>
            <a:r>
              <a:t>• 4. Conteurs, musiciens gnaoua, petits restaurants.</a:t>
            </a:r>
          </a:p>
          <a:p>
            <a:pPr algn="l">
              <a:spcAft>
                <a:spcPts val="600"/>
              </a:spcAft>
              <a:defRPr sz="2100" b="0">
                <a:solidFill>
                  <a:srgbClr val="2B2B2B"/>
                </a:solidFill>
              </a:defRPr>
            </a:pPr>
            <a:r>
              <a:t>• 5. Une soupe (traditionnelle).</a:t>
            </a:r>
          </a:p>
          <a:p>
            <a:pPr algn="l">
              <a:spcAft>
                <a:spcPts val="600"/>
              </a:spcAft>
              <a:defRPr sz="2100" b="0">
                <a:solidFill>
                  <a:srgbClr val="2B2B2B"/>
                </a:solidFill>
              </a:defRPr>
            </a:pPr>
            <a:r>
              <a:t>• 6. Trois jours.</a:t>
            </a:r>
          </a:p>
          <a:p>
            <a:pPr algn="l">
              <a:spcAft>
                <a:spcPts val="600"/>
              </a:spcAft>
              <a:defRPr sz="2100" b="0">
                <a:solidFill>
                  <a:srgbClr val="2B2B2B"/>
                </a:solidFill>
              </a:defRPr>
            </a:pPr>
            <a:r>
              <a:t>• 7. Production libre — critères : formule d'appel, passé composé, 3 détails, formule finale.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7. Cuisine &amp; culture : devine l'image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36" name="TextBox 35"/>
          <p:cNvSpPr txBox="1"/>
          <p:nvPr/>
        </p:nvSpPr>
        <p:spPr>
          <a:xfrm>
            <a:off x="640080" y="2651760"/>
            <a:ext cx="2514600" cy="1828800"/>
          </a:xfrm>
          <a:prstGeom prst="rect">
            <a:avLst/>
          </a:prstGeom>
          <a:noFill/>
        </p:spPr>
        <p:txBody>
          <a:bodyPr wrap="square">
            <a:spAutoFit/>
          </a:bodyPr>
          <a:lstStyle/>
          <a:p>
            <a:pPr algn="ctr">
              <a:spcAft>
                <a:spcPts val="600"/>
              </a:spcAft>
              <a:defRPr sz="1600" b="0">
                <a:solidFill>
                  <a:srgbClr val="2B2B2B"/>
                </a:solidFill>
              </a:defRPr>
            </a:pPr>
            <a:r>
              <a:t>« Je cuis dans un plat en terre au couvercle pointu. »</a:t>
            </a:r>
          </a:p>
        </p:txBody>
      </p:sp>
      <p:sp>
        <p:nvSpPr>
          <p:cNvPr id="37" name="Rounded Rectangle 36">
            <a:hlinkClick action="ppaction://hlinksldjump" r:id="rId4"/>
          </p:cNvPr>
          <p:cNvSpPr/>
          <p:nvPr/>
        </p:nvSpPr>
        <p:spPr>
          <a:xfrm>
            <a:off x="914400" y="4937760"/>
            <a:ext cx="19659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38" name="Rounded Rectangle 37"/>
          <p:cNvSpPr/>
          <p:nvPr/>
        </p:nvSpPr>
        <p:spPr>
          <a:xfrm>
            <a:off x="342900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2900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0" name="TextBox 39"/>
          <p:cNvSpPr txBox="1"/>
          <p:nvPr/>
        </p:nvSpPr>
        <p:spPr>
          <a:xfrm>
            <a:off x="3520440" y="2651760"/>
            <a:ext cx="2514600" cy="1828800"/>
          </a:xfrm>
          <a:prstGeom prst="rect">
            <a:avLst/>
          </a:prstGeom>
          <a:noFill/>
        </p:spPr>
        <p:txBody>
          <a:bodyPr wrap="square">
            <a:spAutoFit/>
          </a:bodyPr>
          <a:lstStyle/>
          <a:p>
            <a:pPr algn="ctr">
              <a:spcAft>
                <a:spcPts val="600"/>
              </a:spcAft>
              <a:defRPr sz="1600" b="0">
                <a:solidFill>
                  <a:srgbClr val="2B2B2B"/>
                </a:solidFill>
              </a:defRPr>
            </a:pPr>
            <a:r>
              <a:t>« Graine de semoule, je suis servi le vendredi. »</a:t>
            </a:r>
          </a:p>
        </p:txBody>
      </p:sp>
      <p:sp>
        <p:nvSpPr>
          <p:cNvPr id="41" name="Rounded Rectangle 40">
            <a:hlinkClick action="ppaction://hlinksldjump" r:id="rId4"/>
          </p:cNvPr>
          <p:cNvSpPr/>
          <p:nvPr/>
        </p:nvSpPr>
        <p:spPr>
          <a:xfrm>
            <a:off x="3794760" y="4937760"/>
            <a:ext cx="19659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2" name="Rounded Rectangle 41"/>
          <p:cNvSpPr/>
          <p:nvPr/>
        </p:nvSpPr>
        <p:spPr>
          <a:xfrm>
            <a:off x="630935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5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4" name="TextBox 43"/>
          <p:cNvSpPr txBox="1"/>
          <p:nvPr/>
        </p:nvSpPr>
        <p:spPr>
          <a:xfrm>
            <a:off x="6400799" y="2651760"/>
            <a:ext cx="2514600" cy="1828800"/>
          </a:xfrm>
          <a:prstGeom prst="rect">
            <a:avLst/>
          </a:prstGeom>
          <a:noFill/>
        </p:spPr>
        <p:txBody>
          <a:bodyPr wrap="square">
            <a:spAutoFit/>
          </a:bodyPr>
          <a:lstStyle/>
          <a:p>
            <a:pPr algn="ctr">
              <a:spcAft>
                <a:spcPts val="600"/>
              </a:spcAft>
              <a:defRPr sz="1600" b="0">
                <a:solidFill>
                  <a:srgbClr val="2B2B2B"/>
                </a:solidFill>
              </a:defRPr>
            </a:pPr>
            <a:r>
              <a:t>« Chaussure en cuir, souvent jaune. »</a:t>
            </a:r>
          </a:p>
        </p:txBody>
      </p:sp>
      <p:sp>
        <p:nvSpPr>
          <p:cNvPr id="45" name="Rounded Rectangle 44">
            <a:hlinkClick action="ppaction://hlinksldjump" r:id="rId4"/>
          </p:cNvPr>
          <p:cNvSpPr/>
          <p:nvPr/>
        </p:nvSpPr>
        <p:spPr>
          <a:xfrm>
            <a:off x="6675120" y="4937760"/>
            <a:ext cx="196596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6" name="Rounded Rectangle 45"/>
          <p:cNvSpPr/>
          <p:nvPr/>
        </p:nvSpPr>
        <p:spPr>
          <a:xfrm>
            <a:off x="918971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1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8" name="TextBox 47"/>
          <p:cNvSpPr txBox="1"/>
          <p:nvPr/>
        </p:nvSpPr>
        <p:spPr>
          <a:xfrm>
            <a:off x="9281159" y="2651760"/>
            <a:ext cx="2514600" cy="1828800"/>
          </a:xfrm>
          <a:prstGeom prst="rect">
            <a:avLst/>
          </a:prstGeom>
          <a:noFill/>
        </p:spPr>
        <p:txBody>
          <a:bodyPr wrap="square">
            <a:spAutoFit/>
          </a:bodyPr>
          <a:lstStyle/>
          <a:p>
            <a:pPr algn="ctr">
              <a:spcAft>
                <a:spcPts val="600"/>
              </a:spcAft>
              <a:defRPr sz="1600" b="0">
                <a:solidFill>
                  <a:srgbClr val="2B2B2B"/>
                </a:solidFill>
              </a:defRPr>
            </a:pPr>
            <a:r>
              <a:t>« Marché traditionnel couvert. »</a:t>
            </a:r>
          </a:p>
        </p:txBody>
      </p:sp>
      <p:sp>
        <p:nvSpPr>
          <p:cNvPr id="49" name="Rounded Rectangle 48">
            <a:hlinkClick action="ppaction://hlinksldjump" r:id="rId4"/>
          </p:cNvPr>
          <p:cNvSpPr/>
          <p:nvPr/>
        </p:nvSpPr>
        <p:spPr>
          <a:xfrm>
            <a:off x="9555480" y="4937760"/>
            <a:ext cx="1965960" cy="6400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tajine • couscous • babouche • souk</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 Le TAJINE — plat et cuisson à l'étouffée</a:t>
            </a:r>
          </a:p>
          <a:p>
            <a:pPr algn="l">
              <a:spcAft>
                <a:spcPts val="600"/>
              </a:spcAft>
              <a:defRPr sz="2200" b="0">
                <a:solidFill>
                  <a:srgbClr val="2B2B2B"/>
                </a:solidFill>
              </a:defRPr>
            </a:pPr>
            <a:r>
              <a:t>• 🥣 Le COUSCOUS — classé au patrimoine de l'UNESCO (2020)</a:t>
            </a:r>
          </a:p>
          <a:p>
            <a:pPr algn="l">
              <a:spcAft>
                <a:spcPts val="600"/>
              </a:spcAft>
              <a:defRPr sz="2200" b="0">
                <a:solidFill>
                  <a:srgbClr val="2B2B2B"/>
                </a:solidFill>
              </a:defRPr>
            </a:pPr>
            <a:r>
              <a:t>• 🥾 La BABOUCHE</a:t>
            </a:r>
          </a:p>
          <a:p>
            <a:pPr algn="l">
              <a:spcAft>
                <a:spcPts val="600"/>
              </a:spcAft>
              <a:defRPr sz="2200" b="0">
                <a:solidFill>
                  <a:srgbClr val="2B2B2B"/>
                </a:solidFill>
              </a:defRPr>
            </a:pPr>
            <a:r>
              <a:t>• 🏺 Le SOUK</a:t>
            </a:r>
          </a:p>
          <a:p>
            <a:pPr algn="l">
              <a:spcAft>
                <a:spcPts val="600"/>
              </a:spcAft>
              <a:defRPr sz="2200" b="0">
                <a:solidFill>
                  <a:srgbClr val="2B2B2B"/>
                </a:solidFill>
              </a:defRPr>
            </a:pPr>
            <a:r>
              <a:t>• 🎵 Bonus : raï, chaâbi, gnaoua — quelles musiques connais-tu ?</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8. Jeux de mots : le mot mystère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4800" b="1">
                <a:solidFill>
                  <a:srgbClr val="1F4E79"/>
                </a:solidFill>
              </a:defRPr>
            </a:pPr>
            <a:r>
              <a:t>_ _ _ _ _ _ _   (7 lettres)</a:t>
            </a:r>
          </a:p>
        </p:txBody>
      </p:sp>
      <p:sp>
        <p:nvSpPr>
          <p:cNvPr id="35" name="TextBox 34"/>
          <p:cNvSpPr txBox="1"/>
          <p:nvPr/>
        </p:nvSpPr>
        <p:spPr>
          <a:xfrm>
            <a:off x="548640" y="2743200"/>
            <a:ext cx="10972800" cy="914400"/>
          </a:xfrm>
          <a:prstGeom prst="rect">
            <a:avLst/>
          </a:prstGeom>
          <a:noFill/>
        </p:spPr>
        <p:txBody>
          <a:bodyPr wrap="square">
            <a:spAutoFit/>
          </a:bodyPr>
          <a:lstStyle/>
          <a:p>
            <a:pPr algn="ctr">
              <a:spcAft>
                <a:spcPts val="600"/>
              </a:spcAft>
              <a:defRPr sz="2400" b="0">
                <a:solidFill>
                  <a:srgbClr val="2B2B2B"/>
                </a:solidFill>
              </a:defRPr>
            </a:pPr>
            <a:r>
              <a:t>Indice : arbre des oasis qui donne des dattes 🌴</a:t>
            </a:r>
          </a:p>
        </p:txBody>
      </p:sp>
      <p:sp>
        <p:nvSpPr>
          <p:cNvPr id="36" name="Rounded Rectangle 35">
            <a:hlinkClick action="ppaction://hlinksldjump" r:id="rId4"/>
          </p:cNvPr>
          <p:cNvSpPr/>
          <p:nvPr/>
        </p:nvSpPr>
        <p:spPr>
          <a:xfrm>
            <a:off x="4754880" y="402336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Révéler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du mot mystère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828800"/>
            <a:ext cx="10972800" cy="1371600"/>
          </a:xfrm>
          <a:prstGeom prst="rect">
            <a:avLst/>
          </a:prstGeom>
          <a:noFill/>
        </p:spPr>
        <p:txBody>
          <a:bodyPr wrap="square">
            <a:spAutoFit/>
          </a:bodyPr>
          <a:lstStyle/>
          <a:p>
            <a:pPr algn="ctr">
              <a:spcAft>
                <a:spcPts val="600"/>
              </a:spcAft>
              <a:defRPr sz="4000" b="1">
                <a:solidFill>
                  <a:srgbClr val="B84A1E"/>
                </a:solidFill>
              </a:defRPr>
            </a:pPr>
            <a:r>
              <a:t>D A T T I E R  ✅</a:t>
            </a:r>
          </a:p>
          <a:p>
            <a:pPr algn="ctr">
              <a:spcAft>
                <a:spcPts val="600"/>
              </a:spcAft>
              <a:defRPr sz="4000" b="1">
                <a:solidFill>
                  <a:srgbClr val="B84A1E"/>
                </a:solidFill>
              </a:defRPr>
            </a:pPr>
            <a:r>
              <a:t>Le palmier-dattier : l'arbre roi des oasis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Jeu : associe le mot et la définition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731520" y="14630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Médina</a:t>
            </a:r>
          </a:p>
        </p:txBody>
      </p:sp>
      <p:sp>
        <p:nvSpPr>
          <p:cNvPr id="34" name="Rectangle 33"/>
          <p:cNvSpPr/>
          <p:nvPr/>
        </p:nvSpPr>
        <p:spPr>
          <a:xfrm>
            <a:off x="5486400" y="14630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0" y="1554480"/>
            <a:ext cx="5852160" cy="548640"/>
          </a:xfrm>
          <a:prstGeom prst="rect">
            <a:avLst/>
          </a:prstGeom>
          <a:noFill/>
        </p:spPr>
        <p:txBody>
          <a:bodyPr wrap="square">
            <a:spAutoFit/>
          </a:bodyPr>
          <a:lstStyle/>
          <a:p>
            <a:pPr algn="l">
              <a:spcAft>
                <a:spcPts val="600"/>
              </a:spcAft>
              <a:defRPr sz="1800" b="0">
                <a:solidFill>
                  <a:srgbClr val="2B2B2B"/>
                </a:solidFill>
              </a:defRPr>
            </a:pPr>
            <a:r>
              <a:t>A. Vieille ville entourée de remparts</a:t>
            </a:r>
          </a:p>
        </p:txBody>
      </p:sp>
      <p:sp>
        <p:nvSpPr>
          <p:cNvPr id="36" name="Rounded Rectangle 35"/>
          <p:cNvSpPr/>
          <p:nvPr/>
        </p:nvSpPr>
        <p:spPr>
          <a:xfrm>
            <a:off x="731520" y="23774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Casbah</a:t>
            </a:r>
          </a:p>
        </p:txBody>
      </p:sp>
      <p:sp>
        <p:nvSpPr>
          <p:cNvPr id="37" name="Rectangle 36"/>
          <p:cNvSpPr/>
          <p:nvPr/>
        </p:nvSpPr>
        <p:spPr>
          <a:xfrm>
            <a:off x="5486400" y="23774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0" y="2468880"/>
            <a:ext cx="5852160" cy="548640"/>
          </a:xfrm>
          <a:prstGeom prst="rect">
            <a:avLst/>
          </a:prstGeom>
          <a:noFill/>
        </p:spPr>
        <p:txBody>
          <a:bodyPr wrap="square">
            <a:spAutoFit/>
          </a:bodyPr>
          <a:lstStyle/>
          <a:p>
            <a:pPr algn="l">
              <a:spcAft>
                <a:spcPts val="600"/>
              </a:spcAft>
              <a:defRPr sz="1800" b="0">
                <a:solidFill>
                  <a:srgbClr val="2B2B2B"/>
                </a:solidFill>
              </a:defRPr>
            </a:pPr>
            <a:r>
              <a:t>B. Point d'eau dans le désert</a:t>
            </a:r>
          </a:p>
        </p:txBody>
      </p:sp>
      <p:sp>
        <p:nvSpPr>
          <p:cNvPr id="39" name="Rounded Rectangle 38"/>
          <p:cNvSpPr/>
          <p:nvPr/>
        </p:nvSpPr>
        <p:spPr>
          <a:xfrm>
            <a:off x="731520" y="32918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Oasis</a:t>
            </a:r>
          </a:p>
        </p:txBody>
      </p:sp>
      <p:sp>
        <p:nvSpPr>
          <p:cNvPr id="40" name="Rectangle 39"/>
          <p:cNvSpPr/>
          <p:nvPr/>
        </p:nvSpPr>
        <p:spPr>
          <a:xfrm>
            <a:off x="5486400" y="32918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383280"/>
            <a:ext cx="5852160" cy="548640"/>
          </a:xfrm>
          <a:prstGeom prst="rect">
            <a:avLst/>
          </a:prstGeom>
          <a:noFill/>
        </p:spPr>
        <p:txBody>
          <a:bodyPr wrap="square">
            <a:spAutoFit/>
          </a:bodyPr>
          <a:lstStyle/>
          <a:p>
            <a:pPr algn="l">
              <a:spcAft>
                <a:spcPts val="600"/>
              </a:spcAft>
              <a:defRPr sz="1800" b="0">
                <a:solidFill>
                  <a:srgbClr val="2B2B2B"/>
                </a:solidFill>
              </a:defRPr>
            </a:pPr>
            <a:r>
              <a:t>C. Bain de vapeur traditionnel</a:t>
            </a:r>
          </a:p>
        </p:txBody>
      </p:sp>
      <p:sp>
        <p:nvSpPr>
          <p:cNvPr id="42" name="Rounded Rectangle 41"/>
          <p:cNvSpPr/>
          <p:nvPr/>
        </p:nvSpPr>
        <p:spPr>
          <a:xfrm>
            <a:off x="731520" y="42062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Hammam</a:t>
            </a:r>
          </a:p>
        </p:txBody>
      </p:sp>
      <p:sp>
        <p:nvSpPr>
          <p:cNvPr id="43" name="Rectangle 42"/>
          <p:cNvSpPr/>
          <p:nvPr/>
        </p:nvSpPr>
        <p:spPr>
          <a:xfrm>
            <a:off x="5486400" y="42062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69280" y="4297680"/>
            <a:ext cx="5852160" cy="548640"/>
          </a:xfrm>
          <a:prstGeom prst="rect">
            <a:avLst/>
          </a:prstGeom>
          <a:noFill/>
        </p:spPr>
        <p:txBody>
          <a:bodyPr wrap="square">
            <a:spAutoFit/>
          </a:bodyPr>
          <a:lstStyle/>
          <a:p>
            <a:pPr algn="l">
              <a:spcAft>
                <a:spcPts val="600"/>
              </a:spcAft>
              <a:defRPr sz="1800" b="0">
                <a:solidFill>
                  <a:srgbClr val="2B2B2B"/>
                </a:solidFill>
              </a:defRPr>
            </a:pPr>
            <a:r>
              <a:t>D. Maison avec jardin intérieur</a:t>
            </a:r>
          </a:p>
        </p:txBody>
      </p:sp>
      <p:sp>
        <p:nvSpPr>
          <p:cNvPr id="45" name="Rounded Rectangle 44"/>
          <p:cNvSpPr/>
          <p:nvPr/>
        </p:nvSpPr>
        <p:spPr>
          <a:xfrm>
            <a:off x="731520" y="51206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Riad</a:t>
            </a:r>
          </a:p>
        </p:txBody>
      </p:sp>
      <p:sp>
        <p:nvSpPr>
          <p:cNvPr id="46" name="Rectangle 45"/>
          <p:cNvSpPr/>
          <p:nvPr/>
        </p:nvSpPr>
        <p:spPr>
          <a:xfrm>
            <a:off x="5486400" y="51206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0" y="5212080"/>
            <a:ext cx="5852160" cy="548640"/>
          </a:xfrm>
          <a:prstGeom prst="rect">
            <a:avLst/>
          </a:prstGeom>
          <a:noFill/>
        </p:spPr>
        <p:txBody>
          <a:bodyPr wrap="square">
            <a:spAutoFit/>
          </a:bodyPr>
          <a:lstStyle/>
          <a:p>
            <a:pPr algn="l">
              <a:spcAft>
                <a:spcPts val="600"/>
              </a:spcAft>
              <a:defRPr sz="1800" b="0">
                <a:solidFill>
                  <a:srgbClr val="2B2B2B"/>
                </a:solidFill>
              </a:defRPr>
            </a:pPr>
            <a:r>
              <a:t>E. Citadelle, quartier fortifié</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9. Défi final : 60 secondes chrono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8000" b="1">
                <a:solidFill>
                  <a:srgbClr val="C0392B"/>
                </a:solidFill>
              </a:defRPr>
            </a:pPr>
            <a:r>
              <a:t>⏳ 60 s</a:t>
            </a:r>
          </a:p>
        </p:txBody>
      </p:sp>
      <p:sp>
        <p:nvSpPr>
          <p:cNvPr id="35" name="TextBox 34"/>
          <p:cNvSpPr txBox="1"/>
          <p:nvPr/>
        </p:nvSpPr>
        <p:spPr>
          <a:xfrm>
            <a:off x="640080" y="3291840"/>
            <a:ext cx="10972800" cy="4846320"/>
          </a:xfrm>
          <a:prstGeom prst="rect">
            <a:avLst/>
          </a:prstGeom>
          <a:noFill/>
        </p:spPr>
        <p:txBody>
          <a:bodyPr wrap="square">
            <a:spAutoFit/>
          </a:bodyPr>
          <a:lstStyle/>
          <a:p>
            <a:pPr algn="l">
              <a:spcAft>
                <a:spcPts val="600"/>
              </a:spcAft>
              <a:defRPr sz="2200" b="0">
                <a:solidFill>
                  <a:srgbClr val="2B2B2B"/>
                </a:solidFill>
              </a:defRPr>
            </a:pPr>
            <a:r>
              <a:t>• Cite le plus de mots possibles sur le Maghreb (villes, plats, paysages…)</a:t>
            </a:r>
          </a:p>
          <a:p>
            <a:pPr algn="l">
              <a:spcAft>
                <a:spcPts val="600"/>
              </a:spcAft>
              <a:defRPr sz="2200" b="0">
                <a:solidFill>
                  <a:srgbClr val="2B2B2B"/>
                </a:solidFill>
              </a:defRPr>
            </a:pPr>
            <a:r>
              <a:t>• 1 mot correct = 1 point • pas de répétition !</a:t>
            </a:r>
          </a:p>
          <a:p>
            <a:pPr algn="l">
              <a:spcAft>
                <a:spcPts val="600"/>
              </a:spcAft>
              <a:defRPr sz="2200" b="0">
                <a:solidFill>
                  <a:srgbClr val="2B2B2B"/>
                </a:solidFill>
              </a:defRPr>
            </a:pPr>
            <a:r>
              <a:t>• 🏆 L'équipe gagnante choisit la musique de fin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10. Bilan : qu'as-tu appris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463040"/>
            <a:ext cx="10972800" cy="4846320"/>
          </a:xfrm>
          <a:prstGeom prst="rect">
            <a:avLst/>
          </a:prstGeom>
          <a:noFill/>
        </p:spPr>
        <p:txBody>
          <a:bodyPr wrap="square">
            <a:spAutoFit/>
          </a:bodyPr>
          <a:lstStyle/>
          <a:p>
            <a:pPr algn="l">
              <a:spcAft>
                <a:spcPts val="600"/>
              </a:spcAft>
              <a:defRPr sz="2400" b="0">
                <a:solidFill>
                  <a:srgbClr val="2B2B2B"/>
                </a:solidFill>
              </a:defRPr>
            </a:pPr>
            <a:r>
              <a:t>• 🎯 3 choses que j'ai apprises…</a:t>
            </a:r>
          </a:p>
          <a:p>
            <a:pPr algn="l">
              <a:spcAft>
                <a:spcPts val="600"/>
              </a:spcAft>
              <a:defRPr sz="2400" b="0">
                <a:solidFill>
                  <a:srgbClr val="2B2B2B"/>
                </a:solidFill>
              </a:defRPr>
            </a:pPr>
            <a:r>
              <a:t>• ❤️ 2 choses que j'ai aimées…</a:t>
            </a:r>
          </a:p>
          <a:p>
            <a:pPr algn="l">
              <a:spcAft>
                <a:spcPts val="600"/>
              </a:spcAft>
              <a:defRPr sz="2400" b="0">
                <a:solidFill>
                  <a:srgbClr val="2B2B2B"/>
                </a:solidFill>
              </a:defRPr>
            </a:pPr>
            <a:r>
              <a:t>• ❓ 1 question qu'il me reste…</a:t>
            </a:r>
          </a:p>
          <a:p>
            <a:pPr algn="l">
              <a:spcAft>
                <a:spcPts val="600"/>
              </a:spcAft>
              <a:defRPr sz="2400" b="0">
                <a:solidFill>
                  <a:srgbClr val="2B2B2B"/>
                </a:solidFill>
              </a:defRPr>
            </a:pPr>
            <a:r>
              <a:t>• ✍️ Ticket de sortie : écris une carte postale du Maghreb (3 phrases)</a:t>
            </a:r>
          </a:p>
        </p:txBody>
      </p:sp>
      <p:sp>
        <p:nvSpPr>
          <p:cNvPr id="35" name="TextBox 34"/>
          <p:cNvSpPr txBox="1"/>
          <p:nvPr/>
        </p:nvSpPr>
        <p:spPr>
          <a:xfrm>
            <a:off x="548640" y="5120640"/>
            <a:ext cx="10972800" cy="914400"/>
          </a:xfrm>
          <a:prstGeom prst="rect">
            <a:avLst/>
          </a:prstGeom>
          <a:noFill/>
        </p:spPr>
        <p:txBody>
          <a:bodyPr wrap="square">
            <a:spAutoFit/>
          </a:bodyPr>
          <a:lstStyle/>
          <a:p>
            <a:pPr algn="ctr">
              <a:spcAft>
                <a:spcPts val="600"/>
              </a:spcAft>
              <a:defRPr sz="3600" b="1">
                <a:solidFill>
                  <a:srgbClr val="B84A1E"/>
                </a:solidFill>
              </a:defRPr>
            </a:pPr>
            <a:r>
              <a:t>Choukran • Tanemmirt • Merci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