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d'environ 3 h. Cliquez sur les boutons pour naviguer (mode diaporama). Le bouton 🏠 revient au menu.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Chacun dit un mot qui lui évoque le Maghreb ; on construit un nuage de mots au tableau. Puis formation de 3 équipes : Atlas, Sahara, Médina.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Projeter une carte muette, faire placer les pays par les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Remplacer le lien par la vidéo choisie (ou insérer un fichier .mp4 : Insertion &gt; Vidéo). 1er visionnage sans son, 2e avec son, 3e pour vérifier.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Activité : distribuer les étiquettes dans le désordre, les équipes les remettent dans l'ordre.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Lecture silencieuse 10', questions en binômes 15', correction collective 10'.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Clique sur chaque carte pour révéler la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équipes devinent lettre par lettre (pendu).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Solution : Médina → Vieille ville entourée de remparts ; Casbah → Citadelle, quartier fortifié ; Oasis → Point d'eau dans le désert ; Hammam → Bain de vapeur traditionnel ; Riad → Maison avec jardin intérieur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équipe cite le plus de mots liés au Maghreb en 60 s. 1 mot = 1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6.xml"/><Relationship Id="rId6" Type="http://schemas.openxmlformats.org/officeDocument/2006/relationships/slide" Target="slide9.xml"/><Relationship Id="rId7" Type="http://schemas.openxmlformats.org/officeDocument/2006/relationships/slide" Target="slide24.xml"/><Relationship Id="rId8" Type="http://schemas.openxmlformats.org/officeDocument/2006/relationships/slide" Target="slide25.xml"/><Relationship Id="rId9" Type="http://schemas.openxmlformats.org/officeDocument/2006/relationships/slide" Target="slide26.xml"/><Relationship Id="rId10" Type="http://schemas.openxmlformats.org/officeDocument/2006/relationships/slide" Target="slide29.xml"/><Relationship Id="rId11" Type="http://schemas.openxmlformats.org/officeDocument/2006/relationships/slide" Target="slide31.xml"/><Relationship Id="rId12" Type="http://schemas.openxmlformats.org/officeDocument/2006/relationships/slide" Target="slide34.xml"/><Relationship Id="rId13" Type="http://schemas.openxmlformats.org/officeDocument/2006/relationships/slide" Target="slide3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youtube.com/results?search_query=le+maghreb+documentaire+maroc+alg%C3%A9rie+tunisie" TargetMode="External"/><Relationship Id="rId4" Type="http://schemas.openxmlformats.org/officeDocument/2006/relationships/slide" Target="slide2.xml"/><Relationship Id="rId5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1.xml"/><Relationship Id="rId4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3.xml"/><Relationship Id="rId4" Type="http://schemas.openxmlformats.org/officeDocument/2006/relationships/slide" Target="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7.xml"/><Relationship Id="rId4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0.xml"/><Relationship Id="rId4" Type="http://schemas.openxmlformats.org/officeDocument/2006/relationships/slide" Target="slide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3.xml"/><Relationship Id="rId4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Relationship Id="rId4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Relationship Id="rId4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Relationship Id="rId4" Type="http://schemas.openxmlformats.org/officeDocument/2006/relationships/slide" Target="slide3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4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3716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8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8288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860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6576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3152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3152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7724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7724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2296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6868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6868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1440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1440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6012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0584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0584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156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5156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0972800" y="6309360"/>
            <a:ext cx="457200" cy="54864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972800" y="0"/>
            <a:ext cx="457200" cy="22860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0" y="6309360"/>
            <a:ext cx="457200" cy="5486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1430000" y="0"/>
            <a:ext cx="457200" cy="228600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1887200" y="6309360"/>
            <a:ext cx="457200" cy="548640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887200" y="0"/>
            <a:ext cx="457200" cy="22860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57200" y="146304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6000" b="1">
                <a:solidFill>
                  <a:srgbClr val="E0A11B"/>
                </a:solidFill>
              </a:defRPr>
            </a:pPr>
            <a:r>
              <a:t>🐪  Le MAGHREB  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28346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800" b="0">
                <a:solidFill>
                  <a:srgbClr val="FFFFFF"/>
                </a:solidFill>
              </a:defRPr>
            </a:pPr>
            <a:r>
              <a:t>Voyage ludique et interactif au pays du soleil couchant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3749039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000" b="0">
                <a:solidFill>
                  <a:srgbClr val="F6E7C8"/>
                </a:solidFill>
              </a:defRPr>
            </a:pPr>
            <a:r>
              <a:t>Algérie • Maroc • Tunisie  (+ Libye &amp; Mauritanie : le « Grand Maghreb »)</a:t>
            </a:r>
          </a:p>
        </p:txBody>
      </p:sp>
      <p:sp>
        <p:nvSpPr>
          <p:cNvPr id="60" name="Rounded Rectangle 59">
            <a:hlinkClick action="ppaction://hlinksldjump" r:id="rId3"/>
          </p:cNvPr>
          <p:cNvSpPr/>
          <p:nvPr/>
        </p:nvSpPr>
        <p:spPr>
          <a:xfrm>
            <a:off x="4754880" y="475488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▶ COMMENCER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🗺️ Menu du voyage — clique sur une étape !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548640" y="146304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1. Brise-glace  (15')</a:t>
            </a:r>
          </a:p>
        </p:txBody>
      </p:sp>
      <p:sp>
        <p:nvSpPr>
          <p:cNvPr id="34" name="Rounded Rectangle 33">
            <a:hlinkClick action="ppaction://hlinksldjump" r:id="rId4"/>
          </p:cNvPr>
          <p:cNvSpPr/>
          <p:nvPr/>
        </p:nvSpPr>
        <p:spPr>
          <a:xfrm>
            <a:off x="4297679" y="146304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2. Découvrir le Maghreb  (20')</a:t>
            </a:r>
          </a:p>
        </p:txBody>
      </p:sp>
      <p:sp>
        <p:nvSpPr>
          <p:cNvPr id="35" name="Rounded Rectangle 34">
            <a:hlinkClick action="ppaction://hlinksldjump" r:id="rId5"/>
          </p:cNvPr>
          <p:cNvSpPr/>
          <p:nvPr/>
        </p:nvSpPr>
        <p:spPr>
          <a:xfrm>
            <a:off x="8046719" y="146304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3. 🎬 Vidéo  (25')</a:t>
            </a:r>
          </a:p>
        </p:txBody>
      </p:sp>
      <p:sp>
        <p:nvSpPr>
          <p:cNvPr id="36" name="Rounded Rectangle 35">
            <a:hlinkClick action="ppaction://hlinksldjump" r:id="rId6"/>
          </p:cNvPr>
          <p:cNvSpPr/>
          <p:nvPr/>
        </p:nvSpPr>
        <p:spPr>
          <a:xfrm>
            <a:off x="548640" y="2651760"/>
            <a:ext cx="3474720" cy="91440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4. Quiz géo  (15')</a:t>
            </a:r>
          </a:p>
        </p:txBody>
      </p:sp>
      <p:sp>
        <p:nvSpPr>
          <p:cNvPr id="37" name="Rounded Rectangle 36">
            <a:hlinkClick action="ppaction://hlinksldjump" r:id="rId7"/>
          </p:cNvPr>
          <p:cNvSpPr/>
          <p:nvPr/>
        </p:nvSpPr>
        <p:spPr>
          <a:xfrm>
            <a:off x="4297679" y="265176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5. Histoire &amp; langues  (15')</a:t>
            </a:r>
          </a:p>
        </p:txBody>
      </p:sp>
      <p:sp>
        <p:nvSpPr>
          <p:cNvPr id="38" name="Rounded Rectangle 37">
            <a:hlinkClick action="ppaction://hlinksldjump" r:id="rId8"/>
          </p:cNvPr>
          <p:cNvSpPr/>
          <p:nvPr/>
        </p:nvSpPr>
        <p:spPr>
          <a:xfrm>
            <a:off x="8046719" y="265176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☕ Pause  (15')</a:t>
            </a:r>
          </a:p>
        </p:txBody>
      </p:sp>
      <p:sp>
        <p:nvSpPr>
          <p:cNvPr id="39" name="Rounded Rectangle 38">
            <a:hlinkClick action="ppaction://hlinksldjump" r:id="rId9"/>
          </p:cNvPr>
          <p:cNvSpPr/>
          <p:nvPr/>
        </p:nvSpPr>
        <p:spPr>
          <a:xfrm>
            <a:off x="548640" y="384048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6. 📖 C.E. Compréhension écrite  (35')</a:t>
            </a:r>
          </a:p>
        </p:txBody>
      </p:sp>
      <p:sp>
        <p:nvSpPr>
          <p:cNvPr id="40" name="Rounded Rectangle 39">
            <a:hlinkClick action="ppaction://hlinksldjump" r:id="rId10"/>
          </p:cNvPr>
          <p:cNvSpPr/>
          <p:nvPr/>
        </p:nvSpPr>
        <p:spPr>
          <a:xfrm>
            <a:off x="4297679" y="3840480"/>
            <a:ext cx="3474720" cy="91440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7. Cuisine &amp; culture  (15')</a:t>
            </a:r>
          </a:p>
        </p:txBody>
      </p:sp>
      <p:sp>
        <p:nvSpPr>
          <p:cNvPr id="41" name="Rounded Rectangle 40">
            <a:hlinkClick action="ppaction://hlinksldjump" r:id="rId11"/>
          </p:cNvPr>
          <p:cNvSpPr/>
          <p:nvPr/>
        </p:nvSpPr>
        <p:spPr>
          <a:xfrm>
            <a:off x="8046719" y="3840480"/>
            <a:ext cx="3474720" cy="91440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8. Jeux de mots  (15')</a:t>
            </a:r>
          </a:p>
        </p:txBody>
      </p:sp>
      <p:sp>
        <p:nvSpPr>
          <p:cNvPr id="42" name="Rounded Rectangle 41">
            <a:hlinkClick action="ppaction://hlinksldjump" r:id="rId12"/>
          </p:cNvPr>
          <p:cNvSpPr/>
          <p:nvPr/>
        </p:nvSpPr>
        <p:spPr>
          <a:xfrm>
            <a:off x="548640" y="5029200"/>
            <a:ext cx="3474720" cy="9144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9. Défi final par équipes  (10')</a:t>
            </a:r>
          </a:p>
        </p:txBody>
      </p:sp>
      <p:sp>
        <p:nvSpPr>
          <p:cNvPr id="43" name="Rounded Rectangle 42">
            <a:hlinkClick action="ppaction://hlinksldjump" r:id="rId13"/>
          </p:cNvPr>
          <p:cNvSpPr/>
          <p:nvPr/>
        </p:nvSpPr>
        <p:spPr>
          <a:xfrm>
            <a:off x="4297679" y="5029200"/>
            <a:ext cx="3474720" cy="9144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10. Bilan &amp; production  (10')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2636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1F4E79"/>
                </a:solidFill>
              </a:defRPr>
            </a:pPr>
            <a:r>
              <a:t>Durée totale ≈ 3 h  •  Score des équipes au tableau  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1. Brise-glace : le Maghreb en 1 mot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Tour de table : 1 mot, 1 image, 1 souvenir associé au Maghreb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On construit ensemble un nuage de mots au tableau ☁️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Formez 3 équipes : 🏔️ ATLAS  •  🏜️ SAHARA  •  🕌 MÉDINA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Chaque bonne réponse = 1 point — le score suit toute la séance !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84A1E"/>
                </a:solidFill>
              </a:defRPr>
            </a:pPr>
            <a:r>
              <a:t>« Maghreb » (المغرب) signifie en arabe : « le couchant », l'Occident — là où le soleil se couche.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2. Découvrir le Maghreb : carte d'identité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137160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520" y="15087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B84A1E"/>
                </a:solidFill>
              </a:defRPr>
            </a:pPr>
            <a:r>
              <a:t>🇲🇦 Maroc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153619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Capitale : Rabat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1536192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≈ 37 M hab.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1536192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1F4E79"/>
                </a:solidFill>
              </a:defRPr>
            </a:pPr>
            <a:r>
              <a:t>Dirham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28600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24231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B84A1E"/>
                </a:solidFill>
              </a:defRPr>
            </a:pPr>
            <a:r>
              <a:t>🇩🇿 Algérie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74720" y="245059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Capitale : Alger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2450592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≈ 46 M hab. — plus grand pays d'Afrique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60" y="2450592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1F4E79"/>
                </a:solidFill>
              </a:defRPr>
            </a:pPr>
            <a:r>
              <a:t>Dinar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320040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33375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B84A1E"/>
                </a:solidFill>
              </a:defRPr>
            </a:pPr>
            <a:r>
              <a:t>🇹🇳 Tunisie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74720" y="336499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Capitale : Tunis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5040" y="3364992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≈ 12 M hab.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60" y="3364992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1F4E79"/>
                </a:solidFill>
              </a:defRPr>
            </a:pPr>
            <a:r>
              <a:t>Dinar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411480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42519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B84A1E"/>
                </a:solidFill>
              </a:defRPr>
            </a:pPr>
            <a:r>
              <a:t>🇱🇾 Libye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74720" y="427939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Capitale : Tripoli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35040" y="4279392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≈ 7 M hab.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279392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1F4E79"/>
                </a:solidFill>
              </a:defRPr>
            </a:pPr>
            <a:r>
              <a:t>Dinar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5029200"/>
            <a:ext cx="110642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1520" y="5166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1">
                <a:solidFill>
                  <a:srgbClr val="B84A1E"/>
                </a:solidFill>
              </a:defRPr>
            </a:pPr>
            <a:r>
              <a:t>🇲🇷 Mauritanie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4720" y="5193792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Capitale : Nouakchott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035040" y="5193792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≈ 5 M hab.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60" y="5193792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600" b="1">
                <a:solidFill>
                  <a:srgbClr val="1F4E79"/>
                </a:solidFill>
              </a:defRPr>
            </a:pPr>
            <a:r>
              <a:t>Ouguiya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Paysages : de la mer au désert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1554480"/>
            <a:ext cx="2697480" cy="38404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🌊 Méditerranée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Côtes, ports, plages au nord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29000" y="1554480"/>
            <a:ext cx="2697480" cy="38404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20439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🏔️ Atlas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0439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Montagnes jusqu'à 4 167 m (Toubkal)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09359" y="1554480"/>
            <a:ext cx="2697480" cy="384048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🏜️ Sahara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Le plus grand désert chaud du monde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89719" y="1554480"/>
            <a:ext cx="2697480" cy="38404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81159" y="1828800"/>
            <a:ext cx="2514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1">
                <a:solidFill>
                  <a:srgbClr val="FFFFFF"/>
                </a:solidFill>
              </a:defRPr>
            </a:pPr>
            <a:r>
              <a:t>🌴 Oasis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81159" y="301752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800" b="0">
                <a:solidFill>
                  <a:srgbClr val="FFFFFF"/>
                </a:solidFill>
              </a:defRPr>
            </a:pPr>
            <a:r>
              <a:t>Palmiers-dattiers, eau et vie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000" b="1">
                <a:solidFill>
                  <a:srgbClr val="B84A1E"/>
                </a:solidFill>
              </a:defRPr>
            </a:pPr>
            <a:r>
              <a:t>🎯 Activité : à l'oral, décris ton paysage préféré avec 3 adjectifs.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3. 🎬 Vidéo : « Le Maghreb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25'</a:t>
            </a:r>
          </a:p>
        </p:txBody>
      </p:sp>
      <p:sp>
        <p:nvSpPr>
          <p:cNvPr id="33" name="Rounded Rectangle 32">
            <a:hlinkClick action="ppaction://hlinksldjump" r:id="rId4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1463040"/>
            <a:ext cx="6035040" cy="3840480"/>
          </a:xfrm>
          <a:prstGeom prst="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>
            <a:hlinkClick r:id="rId3"/>
          </p:cNvPr>
          <p:cNvSpPr/>
          <p:nvPr/>
        </p:nvSpPr>
        <p:spPr>
          <a:xfrm>
            <a:off x="2377440" y="2926080"/>
            <a:ext cx="2743200" cy="9144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▶ LANCER LA VIDÉO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3949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400" b="0">
                <a:solidFill>
                  <a:srgbClr val="1F4E79"/>
                </a:solidFill>
              </a:defRPr>
            </a:pPr>
            <a:r>
              <a:t>(Clique pour ouvrir la vidéo — ou insère ton .mp4 ici)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1 — sans le son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Quels lieux, couleurs, objets vois-tu ?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2 — avec le son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Note 3 pays, 2 villes, 1 plat.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📺 Visionnage 3 :</a:t>
            </a:r>
          </a:p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   Réponds à la fiche vidéo ➡️</a:t>
            </a:r>
          </a:p>
        </p:txBody>
      </p:sp>
      <p:sp>
        <p:nvSpPr>
          <p:cNvPr id="38" name="Rounded Rectangle 37">
            <a:hlinkClick action="ppaction://hlinksldjump" r:id="rId5"/>
          </p:cNvPr>
          <p:cNvSpPr/>
          <p:nvPr/>
        </p:nvSpPr>
        <p:spPr>
          <a:xfrm>
            <a:off x="8686800" y="5486400"/>
            <a:ext cx="246888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Fiche vidéo ➡️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Fiche vidéo : as-tu bien regardé ?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Quels pays sont présentés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Cite une ville et ce qu'on y voit.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 paysage t'a le plus surpris ? Pourquoi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Quelles langues entend-on ?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Vrai ou faux : le Maghreb est uniquement désertique.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8961120" y="5486400"/>
            <a:ext cx="21945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Fiche vidéo : correction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Maroc, Algérie, Tunisie (et parfois Libye, Mauritanie)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Ex. : Marrakech (place Jemaa el-Fna), Alger (la Casbah), Tunis (la médina)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Réponse libre — justifie avec « parce que… »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Arabe (darija), tamazight (berbère), français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FAUX ❌ : il y a aussi la mer, les montagnes, les villes, les oasis 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4. Quiz géo — Question 1/5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est la capitale du Maroc ?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Casablanca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Rabat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Marrakech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Rabat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4. Quiz géo — Question 2/5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 est le plus grand pays d'Afrique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Algérie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Libye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Égypte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Algérie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4. Quiz géo — Question 3/5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 signifie « Maghreb »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Le désert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Le couchant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La mer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Le couchant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4. Quiz géo — Question 4/5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montagne traverse le Maghreb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Les Alpes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L'Atlas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L'Himalaya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L'Atlas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4. Quiz géo — Question 5/5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463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F4E79"/>
                </a:solidFill>
              </a:defRPr>
            </a:pPr>
            <a:r>
              <a:t>❓ Quelle mer borde le Maghreb au nord ?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914400" y="3017520"/>
            <a:ext cx="3291840" cy="12801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A. Mer Rouge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4480560" y="3017520"/>
            <a:ext cx="3291840" cy="128016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B. Méditerranée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8046720" y="3017520"/>
            <a:ext cx="3291840" cy="12801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C. Mer Noire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5F0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✅ BRAVO ! +1 point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1E7B4A"/>
                </a:solidFill>
              </a:defRPr>
            </a:pPr>
            <a:r>
              <a:t>Bonne réponse : Méditerranée 🎉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Suivant ➡️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D7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❌ Oups ! Essaie encore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286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C0392B"/>
                </a:solidFill>
              </a:defRPr>
            </a:pPr>
            <a:r>
              <a:t>Ce n'est pas la bonne réponse… 🤔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4754880" y="411480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⬅️ Réessayer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5. Histoire &amp; langues : la frise du temps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291840"/>
            <a:ext cx="11064240" cy="109728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37160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F4E79"/>
                </a:solidFill>
              </a:defRPr>
            </a:pPr>
            <a:r>
              <a:t>Antiquité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384048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Berbères (Amazighs), Carthage</a:t>
            </a:r>
          </a:p>
        </p:txBody>
      </p:sp>
      <p:sp>
        <p:nvSpPr>
          <p:cNvPr id="38" name="Oval 37"/>
          <p:cNvSpPr/>
          <p:nvPr/>
        </p:nvSpPr>
        <p:spPr>
          <a:xfrm>
            <a:off x="361188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8892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F4E79"/>
                </a:solidFill>
              </a:defRPr>
            </a:pPr>
            <a:r>
              <a:t>VIIe 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8920" y="384048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Arrivée de l'islam et de l'arabe</a:t>
            </a:r>
          </a:p>
        </p:txBody>
      </p:sp>
      <p:sp>
        <p:nvSpPr>
          <p:cNvPr id="41" name="Oval 40"/>
          <p:cNvSpPr/>
          <p:nvPr/>
        </p:nvSpPr>
        <p:spPr>
          <a:xfrm>
            <a:off x="585216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F4E79"/>
                </a:solidFill>
              </a:defRPr>
            </a:pPr>
            <a:r>
              <a:t>XIXe–XXe 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384048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Colonisation française</a:t>
            </a:r>
          </a:p>
        </p:txBody>
      </p:sp>
      <p:sp>
        <p:nvSpPr>
          <p:cNvPr id="44" name="Oval 43"/>
          <p:cNvSpPr/>
          <p:nvPr/>
        </p:nvSpPr>
        <p:spPr>
          <a:xfrm>
            <a:off x="809244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6948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F4E79"/>
                </a:solidFill>
              </a:defRPr>
            </a:pPr>
            <a:r>
              <a:t>1956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69480" y="384048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Indépendance Maroc &amp; Tunisie</a:t>
            </a:r>
          </a:p>
        </p:txBody>
      </p:sp>
      <p:sp>
        <p:nvSpPr>
          <p:cNvPr id="47" name="Oval 46"/>
          <p:cNvSpPr/>
          <p:nvPr/>
        </p:nvSpPr>
        <p:spPr>
          <a:xfrm>
            <a:off x="10332720" y="3063240"/>
            <a:ext cx="548640" cy="548640"/>
          </a:xfrm>
          <a:prstGeom prst="ellipse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0" y="2011680"/>
            <a:ext cx="2194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200" b="1">
                <a:solidFill>
                  <a:srgbClr val="1F4E79"/>
                </a:solidFill>
              </a:defRPr>
            </a:pPr>
            <a:r>
              <a:t>1962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3840480"/>
            <a:ext cx="2194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Indépendance de l'Algérie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3949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1">
                <a:solidFill>
                  <a:srgbClr val="B84A1E"/>
                </a:solidFill>
              </a:defRPr>
            </a:pPr>
            <a:r>
              <a:t>🗣️ Langues : arabe (darija), tamazight (berbère — ⵜⴰⵎⴰⵣⵉⵖⵜ), français. Apprends : Salam = bonjour • Choukran = merci • Azul = bonjour (berbère)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3F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☕ PAUSE — thé à la menthe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19456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000" b="1">
                <a:solidFill>
                  <a:srgbClr val="1E7B4A"/>
                </a:solidFill>
              </a:defRPr>
            </a:pPr>
            <a:r>
              <a:t>🫖 15 minutes de pause</a:t>
            </a:r>
          </a:p>
          <a:p>
            <a:pPr algn="ctr">
              <a:spcAft>
                <a:spcPts val="600"/>
              </a:spcAft>
              <a:defRPr sz="3000" b="1">
                <a:solidFill>
                  <a:srgbClr val="1E7B4A"/>
                </a:solidFill>
              </a:defRPr>
            </a:pPr>
            <a:r>
              <a:t>Le thé à la menthe, symbole d'hospitalité, se sert « de haut » pour faire de la mousse !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6. 📖 C.E. — Compréhension écrite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35'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37160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Lettre de Yasmine, depuis Marrakech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Chère Léa,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Me voici enfin à Marrakech, chez ma grand-mère ! Hier matin, nous sommes allées au souk : quel spectacle ! Des épices de toutes les couleurs, des tapis, des lanternes en cuivre… On a acheté du cumin et du safran pour le couscous du vendredi.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Le soir, la place Jemaa el-Fna se transforme : il y a des conteurs, des musiciens gnaoua et des dizaines de petits restaurants. J'ai goûté une harira, une soupe délicieuse.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Samedi, nous partons trois jours dans le désert, près de Merzouga. Nous dormirons sous une tente berbère et nous monterons à dos de dromadaire pour voir le lever du soleil sur les dunes. J'ai hâte !</a:t>
            </a:r>
          </a:p>
          <a:p>
            <a:pPr algn="l">
              <a:spcAft>
                <a:spcPts val="600"/>
              </a:spcAft>
              <a:defRPr sz="1700" b="0">
                <a:solidFill>
                  <a:srgbClr val="2B2B2B"/>
                </a:solidFill>
              </a:defRPr>
            </a:pPr>
            <a:r>
              <a:t>Je t'envoie plein de soleil. Bisous, Yasmine</a:t>
            </a:r>
          </a:p>
        </p:txBody>
      </p:sp>
      <p:sp>
        <p:nvSpPr>
          <p:cNvPr id="35" name="Rounded Rectangle 34">
            <a:hlinkClick action="ppaction://hlinksldjump" r:id="rId4"/>
          </p:cNvPr>
          <p:cNvSpPr/>
          <p:nvPr/>
        </p:nvSpPr>
        <p:spPr>
          <a:xfrm>
            <a:off x="9326880" y="6263640"/>
            <a:ext cx="182880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Questions ➡️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C.E. — Questions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1. Qui écrit ? À qui ? D'où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2. Vrai/Faux : Yasmine est en vacances chez sa tante. Justifie.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3. Cite 3 choses qu'on trouve au souk.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4. Que se passe-t-il le soir sur la place Jemaa el-Fna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5. Qu'est-ce que la harira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6. Combien de temps durera l'excursion dans le désert ?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7. ✍️ Production : réponds à Yasmine (5 lignes) en racontant un voyage.</a:t>
            </a:r>
          </a:p>
        </p:txBody>
      </p:sp>
      <p:sp>
        <p:nvSpPr>
          <p:cNvPr id="34" name="Rounded Rectangle 33">
            <a:hlinkClick action="ppaction://hlinksldjump" r:id="rId3"/>
          </p:cNvPr>
          <p:cNvSpPr/>
          <p:nvPr/>
        </p:nvSpPr>
        <p:spPr>
          <a:xfrm>
            <a:off x="8961120" y="5577840"/>
            <a:ext cx="21945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Correction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C.E. — Correction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1. Yasmine écrit à Léa, depuis Marrakech (Maroc).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2. FAUX : elle est chez sa grand-mère.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3. Épices, tapis, lanternes en cuivre.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4. Conteurs, musiciens gnaoua, petits restaurants.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5. Une soupe (traditionnelle).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6. Trois jours.</a:t>
            </a:r>
          </a:p>
          <a:p>
            <a:pPr algn="l">
              <a:spcAft>
                <a:spcPts val="600"/>
              </a:spcAft>
              <a:defRPr sz="2100" b="0">
                <a:solidFill>
                  <a:srgbClr val="2B2B2B"/>
                </a:solidFill>
              </a:defRPr>
            </a:pPr>
            <a:r>
              <a:t>• 7. Production libre — critères : formule d'appel, passé composé, 3 détails, formule finale.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7. Cuisine &amp; culture : devine l'image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Je cuis dans un plat en terre au couvercle pointu. »</a:t>
            </a:r>
          </a:p>
        </p:txBody>
      </p:sp>
      <p:sp>
        <p:nvSpPr>
          <p:cNvPr id="37" name="Rounded Rectangle 36">
            <a:hlinkClick action="ppaction://hlinksldjump" r:id="rId4"/>
          </p:cNvPr>
          <p:cNvSpPr/>
          <p:nvPr/>
        </p:nvSpPr>
        <p:spPr>
          <a:xfrm>
            <a:off x="914400" y="4937760"/>
            <a:ext cx="1965960" cy="64008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29000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29000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Graine de semoule, je suis servi le vendredi. »</a:t>
            </a:r>
          </a:p>
        </p:txBody>
      </p:sp>
      <p:sp>
        <p:nvSpPr>
          <p:cNvPr id="41" name="Rounded Rectangle 40">
            <a:hlinkClick action="ppaction://hlinksldjump" r:id="rId4"/>
          </p:cNvPr>
          <p:cNvSpPr/>
          <p:nvPr/>
        </p:nvSpPr>
        <p:spPr>
          <a:xfrm>
            <a:off x="3794760" y="4937760"/>
            <a:ext cx="1965960" cy="64008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309359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59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799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Chaussure en cuir, souvent jaune. »</a:t>
            </a:r>
          </a:p>
        </p:txBody>
      </p:sp>
      <p:sp>
        <p:nvSpPr>
          <p:cNvPr id="45" name="Rounded Rectangle 44">
            <a:hlinkClick action="ppaction://hlinksldjump" r:id="rId4"/>
          </p:cNvPr>
          <p:cNvSpPr/>
          <p:nvPr/>
        </p:nvSpPr>
        <p:spPr>
          <a:xfrm>
            <a:off x="6675120" y="4937760"/>
            <a:ext cx="1965960" cy="6400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89719" y="1463040"/>
            <a:ext cx="2697480" cy="3291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89719" y="1554480"/>
            <a:ext cx="2697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0">
                <a:solidFill>
                  <a:srgbClr val="2B2B2B"/>
                </a:solidFill>
              </a:defRPr>
            </a:pPr>
            <a:r>
              <a:t>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81159" y="2651760"/>
            <a:ext cx="2514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1600" b="0">
                <a:solidFill>
                  <a:srgbClr val="2B2B2B"/>
                </a:solidFill>
              </a:defRPr>
            </a:pPr>
            <a:r>
              <a:t>« Marché traditionnel couvert. »</a:t>
            </a:r>
          </a:p>
        </p:txBody>
      </p:sp>
      <p:sp>
        <p:nvSpPr>
          <p:cNvPr id="49" name="Rounded Rectangle 48">
            <a:hlinkClick action="ppaction://hlinksldjump" r:id="rId4"/>
          </p:cNvPr>
          <p:cNvSpPr/>
          <p:nvPr/>
        </p:nvSpPr>
        <p:spPr>
          <a:xfrm>
            <a:off x="9555480" y="4937760"/>
            <a:ext cx="1965960" cy="640080"/>
          </a:xfrm>
          <a:prstGeom prst="round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Qui suis-je 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Réponses : tajine • couscous • babouche • souk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1371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🍲 Le TAJINE — plat et cuisson à l'étouffée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🥣 Le COUSCOUS — classé au patrimoine de l'UNESCO (2020)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🥾 La BABOUCHE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🏺 Le SOUK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🎵 Bonus : raï, chaâbi, gnaoua — quelles musiques connais-tu 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8. Jeux de mots : le mot mystère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15'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800" b="1">
                <a:solidFill>
                  <a:srgbClr val="1F4E79"/>
                </a:solidFill>
              </a:defRPr>
            </a:pPr>
            <a:r>
              <a:t>_ _ _ _ _ _ _   (7 lettres)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27432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Indice : arbre des oasis qui donne des dattes 🌴</a:t>
            </a:r>
          </a:p>
        </p:txBody>
      </p:sp>
      <p:sp>
        <p:nvSpPr>
          <p:cNvPr id="36" name="Rounded Rectangle 35">
            <a:hlinkClick action="ppaction://hlinksldjump" r:id="rId4"/>
          </p:cNvPr>
          <p:cNvSpPr/>
          <p:nvPr/>
        </p:nvSpPr>
        <p:spPr>
          <a:xfrm>
            <a:off x="4754880" y="4023360"/>
            <a:ext cx="2651760" cy="822960"/>
          </a:xfrm>
          <a:prstGeom prst="round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FFFF"/>
                </a:solidFill>
              </a:defRPr>
            </a:pPr>
            <a:r>
              <a:t>Révéler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Réponse du mot mystère</a:t>
            </a:r>
          </a:p>
        </p:txBody>
      </p:sp>
      <p:sp>
        <p:nvSpPr>
          <p:cNvPr id="32" name="Rounded Rectangle 31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18288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4000" b="1">
                <a:solidFill>
                  <a:srgbClr val="B84A1E"/>
                </a:solidFill>
              </a:defRPr>
            </a:pPr>
            <a:r>
              <a:t>D A T T I E R  ✅</a:t>
            </a:r>
          </a:p>
          <a:p>
            <a:pPr algn="ctr">
              <a:spcAft>
                <a:spcPts val="600"/>
              </a:spcAft>
              <a:defRPr sz="4000" b="1">
                <a:solidFill>
                  <a:srgbClr val="B84A1E"/>
                </a:solidFill>
              </a:defRPr>
            </a:pPr>
            <a:r>
              <a:t>Le palmier-dattier : l'arbre roi des oasis 🌴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Jeu : associe le mot et la définition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14630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Médina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0" y="14630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5544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A. Vieille ville entourée de remparts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31520" y="23774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Casbah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23774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669280" y="24688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B. Point d'eau dans le désert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32918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Oasis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32918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33832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C. Bain de vapeur traditionnel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42062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Hammam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0" y="42062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0" y="42976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D. Maison avec jardin intérieur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5120640"/>
            <a:ext cx="2743200" cy="73152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Riad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0" y="5120640"/>
            <a:ext cx="603504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669280" y="521208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800" b="0">
                <a:solidFill>
                  <a:srgbClr val="2B2B2B"/>
                </a:solidFill>
              </a:defRPr>
            </a:pPr>
            <a:r>
              <a:t>E. Citadelle, quartier fortifié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9. Défi final : 60 secondes chrono !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3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8000" b="1">
                <a:solidFill>
                  <a:srgbClr val="C0392B"/>
                </a:solidFill>
              </a:defRPr>
            </a:pPr>
            <a:r>
              <a:t>⏳ 60 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2918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Cite le plus de mots possibles sur le Maghreb (villes, plats, paysages…)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1 mot correct = 1 point • pas de répétition !</a:t>
            </a:r>
          </a:p>
          <a:p>
            <a:pPr algn="l">
              <a:spcAft>
                <a:spcPts val="600"/>
              </a:spcAft>
              <a:defRPr sz="2200" b="0">
                <a:solidFill>
                  <a:srgbClr val="2B2B2B"/>
                </a:solidFill>
              </a:defRPr>
            </a:pPr>
            <a:r>
              <a:t>• 🏆 L'équipe gagnante choisit la musique de fin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E7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B84A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28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286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8580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1440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012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584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5156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72800" y="1005840"/>
            <a:ext cx="457200" cy="109728"/>
          </a:xfrm>
          <a:prstGeom prst="rect">
            <a:avLst/>
          </a:prstGeom>
          <a:solidFill>
            <a:srgbClr val="E0A1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0" y="1005840"/>
            <a:ext cx="457200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1887200" y="1005840"/>
            <a:ext cx="457200" cy="109728"/>
          </a:xfrm>
          <a:prstGeom prst="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137160"/>
            <a:ext cx="9601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3200" b="1">
                <a:solidFill>
                  <a:srgbClr val="FFFFFF"/>
                </a:solidFill>
              </a:defRPr>
            </a:pPr>
            <a:r>
              <a:t>10. Bilan : qu'as-tu appris ?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228600"/>
            <a:ext cx="1828800" cy="54864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⏱ 10'</a:t>
            </a:r>
          </a:p>
        </p:txBody>
      </p:sp>
      <p:sp>
        <p:nvSpPr>
          <p:cNvPr id="33" name="Rounded Rectangle 32">
            <a:hlinkClick action="ppaction://hlinksldjump" r:id="rId2"/>
          </p:cNvPr>
          <p:cNvSpPr/>
          <p:nvPr/>
        </p:nvSpPr>
        <p:spPr>
          <a:xfrm>
            <a:off x="11292840" y="6263640"/>
            <a:ext cx="777240" cy="457200"/>
          </a:xfrm>
          <a:prstGeom prst="roundRect">
            <a:avLst/>
          </a:prstGeom>
          <a:solidFill>
            <a:srgbClr val="1E7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146304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🎯 3 choses que j'ai apprises…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❤️ 2 choses que j'ai aimées…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❓ 1 question qu'il me reste…</a:t>
            </a:r>
          </a:p>
          <a:p>
            <a:pPr algn="l">
              <a:spcAft>
                <a:spcPts val="600"/>
              </a:spcAft>
              <a:defRPr sz="2400" b="0">
                <a:solidFill>
                  <a:srgbClr val="2B2B2B"/>
                </a:solidFill>
              </a:defRPr>
            </a:pPr>
            <a:r>
              <a:t>• ✍️ Ticket de sortie : écris une carte postale du Maghreb (3 phrases)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206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  <a:defRPr sz="3600" b="1">
                <a:solidFill>
                  <a:srgbClr val="B84A1E"/>
                </a:solidFill>
              </a:defRPr>
            </a:pPr>
            <a:r>
              <a:t>Choukran • Tanemmirt • Merci ! 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